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8"/>
  </p:notesMasterIdLst>
  <p:sldIdLst>
    <p:sldId id="911" r:id="rId2"/>
    <p:sldId id="1054" r:id="rId3"/>
    <p:sldId id="1146" r:id="rId4"/>
    <p:sldId id="1034" r:id="rId5"/>
    <p:sldId id="915" r:id="rId6"/>
    <p:sldId id="1060" r:id="rId7"/>
    <p:sldId id="917" r:id="rId8"/>
    <p:sldId id="1191" r:id="rId9"/>
    <p:sldId id="1181" r:id="rId10"/>
    <p:sldId id="1107" r:id="rId11"/>
    <p:sldId id="989" r:id="rId12"/>
    <p:sldId id="1182" r:id="rId13"/>
    <p:sldId id="923" r:id="rId14"/>
    <p:sldId id="1192" r:id="rId15"/>
    <p:sldId id="1208" r:id="rId16"/>
    <p:sldId id="1169" r:id="rId17"/>
    <p:sldId id="1177" r:id="rId18"/>
    <p:sldId id="1170" r:id="rId19"/>
    <p:sldId id="1171" r:id="rId20"/>
    <p:sldId id="1180" r:id="rId21"/>
    <p:sldId id="1153" r:id="rId22"/>
    <p:sldId id="1120" r:id="rId23"/>
    <p:sldId id="1209" r:id="rId24"/>
    <p:sldId id="1210" r:id="rId25"/>
    <p:sldId id="1106" r:id="rId26"/>
    <p:sldId id="1200" r:id="rId27"/>
    <p:sldId id="1157" r:id="rId28"/>
    <p:sldId id="1186" r:id="rId29"/>
    <p:sldId id="1211" r:id="rId30"/>
    <p:sldId id="1197" r:id="rId31"/>
    <p:sldId id="1188" r:id="rId32"/>
    <p:sldId id="1125" r:id="rId33"/>
    <p:sldId id="1189" r:id="rId34"/>
    <p:sldId id="1201" r:id="rId35"/>
    <p:sldId id="1165" r:id="rId36"/>
    <p:sldId id="1212" r:id="rId3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visión metodológica" initials="R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24"/>
    <p:restoredTop sz="96498"/>
  </p:normalViewPr>
  <p:slideViewPr>
    <p:cSldViewPr snapToGrid="0">
      <p:cViewPr varScale="1">
        <p:scale>
          <a:sx n="99" d="100"/>
          <a:sy n="99" d="100"/>
        </p:scale>
        <p:origin x="200" y="9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440495-245D-0A48-BA7A-DC1E9A25CC85}" type="datetimeFigureOut">
              <a:rPr lang="es-CL" smtClean="0"/>
              <a:t>14-09-26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BE8A2C-6DD3-E04A-86AC-93F2BBF504FA}" type="slidenum">
              <a:rPr lang="es-CL" smtClean="0"/>
              <a:t>‹Nº›</a:t>
            </a:fld>
            <a:endParaRPr lang="es-CL"/>
          </a:p>
        </p:txBody>
      </p:sp>
    </p:spTree>
    <p:extLst>
      <p:ext uri="{BB962C8B-B14F-4D97-AF65-F5344CB8AC3E}">
        <p14:creationId xmlns:p14="http://schemas.microsoft.com/office/powerpoint/2010/main" val="2517898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Portada de la propuesta: valor organizacional de OpenKOS, con antecedentes, mecanismos de valor y propuesta de medición.</a:t>
            </a:r>
          </a:p>
          <a:p>
            <a:r>
              <a:rPr lang="es-CL" dirty="0"/>
              <a:t>La presentación no defiende una herramienta: propone un marco de evaluación. La pregunta que la ordena es si una representación estructurada, persistente y trazable del conocimiento decisional puede producir resultados de trabajo valiosos, y hasta dónde puede demostrarlo una tesis.</a:t>
            </a:r>
          </a:p>
          <a:p>
            <a:r>
              <a:rPr lang="es-CL" dirty="0"/>
              <a:t>El recorrido va del problema organizacional documentado al diseño experimental: qué cuenta como decisión, cómo se construye la referencia humana, cómo se evalúa la extracción, cómo se compara C1 con C2 y bajo qué condiciones esos resultados podrían traducirse a valor.</a:t>
            </a:r>
          </a:p>
          <a:p>
            <a:r>
              <a:rPr lang="es-CL" dirty="0"/>
              <a:t>Conviene anticipar el alcance: la tesis entrega evidencia de fidelidad de extracción y de utilidad funcional; productividad, continuidad y economía quedan como hipótesis para estudios posteriores.</a:t>
            </a:r>
          </a:p>
          <a:p>
            <a:r>
              <a:rPr lang="es-CL" dirty="0"/>
              <a:t>Transición: partimos por explicitar la cadena de evidencia que usaremos para hablar de valor.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Esta slide fija la cadena que usaremos toda la presentación: capacidad, utilidad, resultado y valor.</a:t>
            </a:r>
          </a:p>
          <a:p>
            <a:r>
              <a:rPr lang="es-CL" dirty="0"/>
              <a:t>Importa porque separa cuatro niveles que suelen confundirse. Una capacidad técnica —persistencia, estructuración, procedencia, relaciones, vigencia— sólo se convierte en utilidad si mejora una tarea frente a una alternativa comparable; sólo hay resultado si cambia tiempo, esfuerzo, calidad, costo o riesgo; y sólo hay valor si ese beneficio supera los costos de construir y mantener la representación.</a:t>
            </a:r>
          </a:p>
          <a:p>
            <a:r>
              <a:rPr lang="es-CL" dirty="0"/>
              <a:t>Cada eslabón exige su propia evidencia: el diseño experimental de la tesis cubre los dos primeros, y los dos últimos quedan como cadena de medición posterior.</a:t>
            </a:r>
          </a:p>
          <a:p>
            <a:r>
              <a:rPr lang="es-CL" dirty="0"/>
              <a:t>Límite: esta es la lógica del marco, no un resultado. Lo enunciamos una vez aquí y después lo usamos, en lugar de repetirlo en cada slide.</a:t>
            </a:r>
          </a:p>
          <a:p>
            <a:r>
              <a:rPr lang="es-CL" dirty="0"/>
              <a:t>Transición: veamos cómo se lee un resultado concreto cuando la métrica mejora.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Tres lecturas posibles de un mismo resultado: mejora técnica sin efecto en la tarea, mejora técnica que sí cambia el resultado, y resultado dependiente del contexto.</a:t>
            </a:r>
          </a:p>
          <a:p>
            <a:r>
              <a:rPr lang="es-CL" dirty="0"/>
              <a:t>Importa porque define de antemano cómo interpretaremos el contraste C2 menos C1. El escenario A evita el error más común: celebrar una métrica que no cambia el trabajo. El escenario B muestra que la mejora técnica se traduce en un resultado observable de tarea: eso constituye evidencia más cercana a utilidad para el usuario, pero todavía no demuestra impacto organizacional. El escenario C, la heterogeneidad, es especialmente informativo porque permite identificar condiciones de frontera: la ventaja puede existir sólo en cierto tipo de tarea o cierta profundidad histórica.</a:t>
            </a:r>
          </a:p>
          <a:p>
            <a:r>
              <a:rPr lang="es-CL" dirty="0"/>
              <a:t>Esto se conecta con el análisis por estratos que veremos en el banco de preguntas y en la matriz final de condiciones de frontera.</a:t>
            </a:r>
          </a:p>
          <a:p>
            <a:r>
              <a:rPr lang="es-CL" dirty="0"/>
              <a:t>Límite: los tres escenarios son marcos de lectura preespecificados, no predicciones.</a:t>
            </a:r>
          </a:p>
          <a:p>
            <a:r>
              <a:rPr lang="es-CL" dirty="0"/>
              <a:t>Transición: si el resultado importa, hay que decir en qué dimensiones lo buscamos.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Cinco dimensiones delimitan dónde buscaríamos valor: productividad, continuidad, trazabilidad, calidad y riesgo, y economía.</a:t>
            </a:r>
          </a:p>
          <a:p>
            <a:r>
              <a:rPr lang="es-CL" dirty="0"/>
              <a:t>Importa porque el valor se trata como vector y no como puntuación única. No existe un indicador agregado que resuma la utilidad organizacional: cada dimensión tiene su propia evidencia, su propio costo de medición y su propio horizonte.</a:t>
            </a:r>
          </a:p>
          <a:p>
            <a:r>
              <a:rPr lang="es-CL" dirty="0"/>
              <a:t>En el diseño de la tesis, trazabilidad, calidad y parte de la temporalidad son observables en el sistema; productividad y continuidad requieren participantes; economía requiere volumen y costos reales.</a:t>
            </a:r>
          </a:p>
          <a:p>
            <a:r>
              <a:rPr lang="es-CL" dirty="0"/>
              <a:t>Límite: ninguna de estas dimensiones se declara alcanzada aquí; sólo se declara qué se observaría en cada una.</a:t>
            </a:r>
          </a:p>
          <a:p>
            <a:r>
              <a:rPr lang="es-CL" dirty="0"/>
              <a:t>Transición: pasamos a los antecedentes que justifican por qué estas dimensiones son relevantes.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Divisor de la primera sección: antecedentes organizacionales.</a:t>
            </a:r>
          </a:p>
          <a:p>
            <a:r>
              <a:rPr lang="es-CL" dirty="0"/>
              <a:t>La función de esta sección es acotada: mostrar que los problemas sobre los que actúa la propuesta están documentados, y que existe un mecanismo plausible que podría intervenir en ellos.</a:t>
            </a:r>
          </a:p>
          <a:p>
            <a:r>
              <a:rPr lang="es-CL" dirty="0"/>
              <a:t>Recorremos cinco antecedentes con una función argumental cada uno: memoria organizacional, costo de búsqueda y reconstrucción, continuidad frente a rotación, procedencia y temporalidad.</a:t>
            </a:r>
          </a:p>
          <a:p>
            <a:r>
              <a:rPr lang="es-CL" dirty="0"/>
              <a:t>Límite: la literatura sostiene la relevancia del problema y la plausibilidad del mecanismo; no sostiene por sí sola que esta propuesta genere valor. Por eso la sección es breve y no una revisión bibliográfica completa.</a:t>
            </a:r>
          </a:p>
          <a:p>
            <a:r>
              <a:rPr lang="es-CL" dirty="0"/>
              <a:t>Transición: empezamos por el costo real del trabajo de conocimiento.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El ciclo del trabajo de conocimiento: localizar, relacionar, verificar y reconstruir.</a:t>
            </a:r>
          </a:p>
          <a:p>
            <a:r>
              <a:rPr lang="es-CL" dirty="0"/>
              <a:t>Importa porque muestra dónde está el costo. Almacenar es barato; lo caro es reconstruir conocimiento decisional cada vez que alguien vuelve a preguntar. La literatura sobre sobrecarga de información y costo de búsqueda documenta ese esfuerzo repetido. Los porcentajes del Microsoft Work Trend Index, 62 % y 68 %, son evidencia contextual y observacional: documentan que la búsqueda de información y la falta de tiempo de concentración son problemas reportados en trabajo de conocimiento. No son evidencia causal ni específica de OpenKOS y no indican cuánto tiempo ahorraría el sistema.</a:t>
            </a:r>
          </a:p>
          <a:p>
            <a:r>
              <a:rPr lang="es-CL" dirty="0"/>
              <a:t>El mecanismo plausible es directo: si la información queda persistente y preorganizada, parte de ese ciclo podría no repetirse. El Experimento B pone a prueba una parte funcional de ese mecanismo: si la representación estructurada mejora recuperación, respuesta, trazabilidad o temporalidad frente al enfoque documental. La reducción de esfuerzo humano requeriría posteriormente un estudio con usuarios.</a:t>
            </a:r>
          </a:p>
          <a:p>
            <a:r>
              <a:rPr lang="es-CL" dirty="0"/>
              <a:t>Límite: el mecanismo es plausible, no demostrado; y la reducción de búsquedas sólo cuenta si no degrada la calidad de la respuesta.</a:t>
            </a:r>
          </a:p>
          <a:p>
            <a:r>
              <a:rPr lang="es-CL" dirty="0"/>
              <a:t>Transición: el segundo antecedente mira qué ocurre cuando ese contexto vive sólo en las personas.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Contraste entre conocimiento que vive en las personas y conocimiento externalizado en objetos persistentes.</a:t>
            </a:r>
          </a:p>
          <a:p>
            <a:r>
              <a:rPr lang="es-CL" dirty="0"/>
              <a:t>Importa porque conecta con memoria organizacional y pérdida de conocimiento por rotación: cuando el razonamiento histórico sólo existe en quien participó, los traspasos se vuelven costosos y la incorporación depende de expertos.</a:t>
            </a:r>
          </a:p>
          <a:p>
            <a:r>
              <a:rPr lang="es-CL" dirty="0"/>
              <a:t>La capacidad relacionada es la persistencia con procedencia: decisiones, evidencia y relaciones consultables sin reconstruir desde cero. Esa es la propiedad que el diseño evalúa, primero en fidelidad y después en utilidad funcional.</a:t>
            </a:r>
          </a:p>
          <a:p>
            <a:r>
              <a:rPr lang="es-CL" dirty="0"/>
              <a:t>Límite: externalizar no elimina la dependencia de personas; puede reducirla si la representación es suficientemente fiel, y puede empeorarla si introduce errores.</a:t>
            </a:r>
          </a:p>
          <a:p>
            <a:r>
              <a:rPr lang="es-CL" dirty="0"/>
              <a:t>Transición: la fidelidad exige poder verificar el origen y la vigencia de lo que se afirma.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Tres preguntas distintas: de dónde proviene una afirmación, si sigue vigente y cómo cambió.</a:t>
            </a:r>
          </a:p>
          <a:p>
            <a:r>
              <a:rPr lang="es-CL" dirty="0"/>
              <a:t>Importa porque fija la terminología del resto de la presentación. Procedencia es el origen de la información; trazabilidad es la capacidad de seguir la cadena afirmación, evidencia y origen; temporalidad es la evolución en el tiempo; vigencia es el estado actual. Son constructos separados y se miden con métricas separadas.</a:t>
            </a:r>
          </a:p>
          <a:p>
            <a:r>
              <a:rPr lang="es-CL" dirty="0"/>
              <a:t>Los antecedentes revisados sobre procedencia, trazabilidad y temporalidad permiten distinguir entre corrección semántica, verificabilidad y vigencia de una respuesta: una respuesta puede ser semánticamente correcta y, aun así, no ser verificable o no reflejar el estado vigente; ese es el hueco que la representación estructurada podría cubrir.</a:t>
            </a:r>
          </a:p>
          <a:p>
            <a:r>
              <a:rPr lang="es-CL" dirty="0"/>
              <a:t>Límite: aquí se describe la propiedad deseada; su cumplimiento se mide con Evidence Support Rate, corrección de procedencia, Current State Accuracy y SDER.</a:t>
            </a:r>
          </a:p>
          <a:p>
            <a:r>
              <a:rPr lang="es-CL" dirty="0"/>
              <a:t>Transición: veamos el artefacto que se evalúa.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Arquitectura de OpenKOS en cinco capas y anatomía del objeto de decisión.</a:t>
            </a:r>
          </a:p>
          <a:p>
            <a:r>
              <a:rPr lang="es-CL" dirty="0"/>
              <a:t>Importa porque define el artefacto bajo evaluación y el esquema del objeto: identificador persistente, enunciado, evidencia, eventos, relaciones, procedencia y estado. Una propuesta/candidata no constituye por sí sola una decisión adoptada. Los eventos de una decisión adoptada pueden incluir adopción, confirmación, revisión/modificación, reemplazo y, cuando el corpus lo permita, cierre/cancelación. Los casos no resolubles conservan ambigüedad. Ese esquema es el que anotan los anotadores humanos y el que debe producir el extractor automático. El campo provenance registra el origen de la información: procedencia es el origen y no es sinónimo de trazabilidad. La trazabilidad no es un campo del objeto, surge de combinar objeto, evidencia, procedencia y relaciones.</a:t>
            </a:r>
          </a:p>
          <a:p>
            <a:r>
              <a:rPr lang="es-CL" dirty="0"/>
              <a:t>Precisión necesaria: el diagrama describe la arquitectura contemplada por el diseño. La versión evaluada en la tesis incluye sólo los componentes efectivamente entregados; las capas derivadas y de análisis se presentan como capacidad prevista, no como funcionalidad ya demostrada.</a:t>
            </a:r>
          </a:p>
          <a:p>
            <a:r>
              <a:rPr lang="es-CL" dirty="0"/>
              <a:t>Límite: OpenKOS aparece aquí como artefacto tecnológico en evaluación. Su documentación primaria se usa para describir la arquitectura, nunca como evidencia de valor.</a:t>
            </a:r>
          </a:p>
          <a:p>
            <a:r>
              <a:rPr lang="es-CL" dirty="0"/>
              <a:t>Transición: si la arquitectura es la promesa, hay que declarar qué nivel de evidencia puede alcanzar esta tesis.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Modelo de madurez de evidencia, del nivel 0 al 5, con el alcance real de la tesis marcado.</a:t>
            </a:r>
          </a:p>
          <a:p>
            <a:r>
              <a:rPr lang="es-CL" dirty="0"/>
              <a:t>Importa porque es la slide que evita la sobreafirmación. La tesis se sitúa en los niveles 1 y 2: viabilidad técnica mediante el Experimento A y utilidad funcional mediante el Experimento B con evaluación de respuestas.</a:t>
            </a:r>
          </a:p>
          <a:p>
            <a:r>
              <a:rPr lang="es-CL" dirty="0"/>
              <a:t>El nivel 3, utilidad humana, es extensión con participantes; los niveles 4 y 5, valor operacional y económico, requieren piloto real y datos de costo y volumen. Ninguno de los dos está comprometido como resultado de esta tesis.</a:t>
            </a:r>
          </a:p>
          <a:p>
            <a:r>
              <a:rPr lang="es-CL" dirty="0"/>
              <a:t>Límite: por eso no se reporta retorno de inversión ni ahorro laboral. Lo que la tesis puede aportar es evidencia inicial y condiciones bajo las cuales valdría la pena medir los niveles superiores.</a:t>
            </a:r>
          </a:p>
          <a:p>
            <a:r>
              <a:rPr lang="es-CL" dirty="0"/>
              <a:t>Transición: con el alcance declarado, pasamos al diseño de evaluación.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Divisor de la segunda sección: diseño de evaluación.</a:t>
            </a:r>
          </a:p>
          <a:p>
            <a:r>
              <a:rPr lang="es-CL" dirty="0"/>
              <a:t>Aquí cambia el registro: pasamos del marco conceptual a las decisiones metodológicas concretas que hacen falta para que el estudio sea ejecutable y defendible.</a:t>
            </a:r>
          </a:p>
          <a:p>
            <a:r>
              <a:rPr lang="es-CL" dirty="0"/>
              <a:t>El orden de la sección responde al feedback de la comisión: qué cuenta como decisión, cómo se sigue su evolución, qué unidades intervienen, cómo se construye la referencia humana, cómo se evalúa la extracción y cómo se compara C1 con C2.</a:t>
            </a:r>
          </a:p>
          <a:p>
            <a:r>
              <a:rPr lang="es-CL" dirty="0"/>
              <a:t>Límite: en esta sección hablamos de diseño congelado, no de resultados; algunos parámetros empíricos se determinan con el corpus y el piloto.</a:t>
            </a:r>
          </a:p>
          <a:p>
            <a:r>
              <a:rPr lang="es-CL" dirty="0"/>
              <a:t>Transición: partimos con el resumen de cómo se operacionalizó el feedback.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Las cinco observaciones del feedback de Semana 04 y la decisión metodológica con que cada una quedó operacionalizada.</a:t>
            </a:r>
          </a:p>
          <a:p>
            <a:r>
              <a:rPr lang="es-CL" dirty="0"/>
              <a:t>Importa porque muestra explícitamente cómo se respondió a la comisión: métricas ligadas a constructos y experimentos, unidad de anotación, unidad de recuperación y unidad primaria de comparación diferenciadas, más una estructura de dependencia estadística, definición operacional de decisión, identidad persistente con secuencia de eventos y alcance longitudinal controlado mediante N.</a:t>
            </a:r>
          </a:p>
          <a:p>
            <a:r>
              <a:rPr lang="es-CL" dirty="0"/>
              <a:t>Conviene ser preciso con el lenguaje: decimos operacionalizada, no resuelta. Cada observación tiene hoy una respuesta metodológica explícita y verificable.</a:t>
            </a:r>
          </a:p>
          <a:p>
            <a:r>
              <a:rPr lang="es-CL" dirty="0"/>
              <a:t>Límite importante, sobre todo en la quinta: la decisión metodológica ya adoptada es controlar la profundidad histórica mediante N o niveles de N. El valor o los niveles concretos de N constituyen un parámetro empírico pendiente y deben determinarse a partir de las características del corpus y/o de un piloto independiente antes del Experimento B. No se seleccionan retrospectivamente según el resultado C2 − C1. N es profundidad histórica: no es el tamaño muestral ni un umbral de calidad.</a:t>
            </a:r>
          </a:p>
          <a:p>
            <a:r>
              <a:rPr lang="es-CL" dirty="0"/>
              <a:t>Transición: la primera observación exige definir qué cuenta como decisión.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Definición operacional de decisión: qué no basta por sí solo, qué sí califica y cómo queda registrada la unidad.</a:t>
            </a:r>
          </a:p>
          <a:p>
            <a:r>
              <a:rPr lang="es-CL" dirty="0"/>
              <a:t>Importa porque sin esta definición no hay anotación replicable ni métrica interpretable. Una propuesta, una opinión, una intención, una pregunta o una posibilidad discutida no constituyen por sí solas una decisión; sí califica una elección, un acuerdo, un compromiso o un curso de acción suficientemente determinado y respaldado por evidencia observable en la transcripción.</a:t>
            </a:r>
          </a:p>
          <a:p>
            <a:r>
              <a:rPr lang="es-CL" dirty="0"/>
              <a:t>La anatomía de la unidad reutiliza el esquema del objeto: identificador, enunciado, evidencia, eventos, relaciones, procedencia y estado.</a:t>
            </a:r>
          </a:p>
          <a:p>
            <a:r>
              <a:rPr lang="es-CL" dirty="0"/>
              <a:t>Límite explícito: es una definición operacional de este estudio, no una definición universal de decisión. Su función es hacer comparables las anotaciones y las métricas, y se congela antes de construir la referencia humana.</a:t>
            </a:r>
          </a:p>
          <a:p>
            <a:r>
              <a:rPr lang="es-CL" dirty="0"/>
              <a:t>Transición: con la unidad definida, hay que poder seguirla cuando cambia entre reuniones.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Ejemplo longitudinal de una trayectoria decisional vinculada a través de cuatro reuniones: una propuesta/candidata inicial y, posteriormente, eventos de adopción, revisión y reemplazo. Una vez consolidado el linaje, decision_id permite seguir la identidad de la decisión a lo largo de cuatro reuniones.</a:t>
            </a:r>
          </a:p>
          <a:p>
            <a:r>
              <a:rPr lang="es-CL" dirty="0"/>
              <a:t>Importa porque distingue cuatro cosas que suelen colapsarse: identidad, qué decisión seguimos; evento, qué ocurrió en esta reunión; estado, cuál es su condición ahora; y evidencia, qué fragmento lo sostiene.</a:t>
            </a:r>
          </a:p>
          <a:p>
            <a:r>
              <a:rPr lang="es-CL" dirty="0"/>
              <a:t>La primera reunión contiene una propuesta o candidata, que todavía no constituye una decisión adoptada. La adopción ocurre cuando existe evidencia suficiente de que el grupo acepta un curso de acción o criterio. Cuando posteriormente existe continuidad semántica y evidencia suficiente, la referencia humana puede vincular esas menciones mediante un decision_id estable y una secuencia de eventos.</a:t>
            </a:r>
          </a:p>
          <a:p>
            <a:r>
              <a:rPr lang="es-CL" dirty="0"/>
              <a:t>Límite: cuando esa evidencia de vinculación no existe, el caso se conserva como ambiguo en lugar de forzar una cadena.</a:t>
            </a:r>
          </a:p>
          <a:p>
            <a:r>
              <a:rPr lang="es-CL" dirty="0"/>
              <a:t>Transición: esto obliga a declarar con precisión qué unidades intervienen en el estudio.</a:t>
            </a:r>
          </a:p>
          <a:p>
            <a:r>
              <a:rPr lang="es-CL" dirty="0"/>
              <a:t>El identificador persistente representa el linaje decisional consolidado; no implica que la propuesta de R1 ya fuera una decisión adoptada en ese momento. La identidad D001 puede asignarse retrospectivamente al linaje una vez que existe evidencia suficiente para vincular la propuesta y la decisión adoptada.</a:t>
            </a:r>
          </a:p>
          <a:p>
            <a:r>
              <a:rPr lang="es-CL" dirty="0"/>
              <a:t>No toda propuesta se convierte en objeto de decisión: una propuesta no cuenta por sí sola como decisión adoptada.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El diseño distingue tres unidades metodológicas —unidad de anotación, unidad de recuperación y unidad primaria de comparación— más una estructura de dependencia estadística dada por la serie de reuniones y, cuando corresponda, la decisión.</a:t>
            </a:r>
          </a:p>
          <a:p>
            <a:r>
              <a:rPr lang="es-CL" dirty="0"/>
              <a:t>La partición del corpus se documenta y se congela antes de la evaluación. Para la recuperación, C1 y C2 devuelven unidades distintas —fragmentos y objetos de decisión—, de modo que la comparabilidad se establece mediante las mismas necesidades de información y la evidencia relevante definida en la referencia humana.</a:t>
            </a:r>
          </a:p>
          <a:p>
            <a:r>
              <a:rPr lang="es-CL" dirty="0"/>
              <a:t>Importa porque responde directamente a la observación de la comisión. La unidad de anotación es la decisión con sus eventos y evidencia, y es donde se construye la referencia humana. La unidad de recuperación difiere por condición: fragmentos o pasajes documentales en C1, objetos estructurados con evidencia y relaciones en C2. La unidad primaria de comparación del Experimento B es la instancia pregunta–caso evaluada en ambas condiciones. La estructura de dependencia estadística está dada por la serie de reuniones y, cuando corresponda, por la decisión: no es una cuarta unidad equivalente, y las preguntas de una misma serie no deben asumirse independientes.</a:t>
            </a:r>
          </a:p>
          <a:p>
            <a:r>
              <a:rPr lang="es-CL" dirty="0"/>
              <a:t>Esta distinción no es cosmética: define qué se anota, qué se recupera, qué se contrasta y cómo se agrupan los datos en la inferencia.</a:t>
            </a:r>
          </a:p>
          <a:p>
            <a:r>
              <a:rPr lang="es-CL" dirty="0"/>
              <a:t>Límite: decir simplemente que la unidad de análisis es la decisión sería metodológicamente incompleto, porque mezcla niveles que se miden distinto.</a:t>
            </a:r>
          </a:p>
          <a:p>
            <a:r>
              <a:rPr lang="es-CL" dirty="0"/>
              <a:t>Transición: la unidad de anotación nos lleva a cómo se construye el Ground Truth.</a:t>
            </a:r>
          </a:p>
          <a:p>
            <a:r>
              <a:rPr lang="es-CL" dirty="0"/>
              <a:t>TRAZABILIDAD DEL AJUSTE · AJUSTE: se precisó que la dependencia estadística corresponde a la serie de reuniones y, cuando corresponda, a la decisión.</a:t>
            </a:r>
          </a:p>
          <a:p>
            <a:r>
              <a:rPr lang="es-CL" dirty="0"/>
              <a:t>RAZÓN: la instancia pregunta–caso sigue siendo la unidad primaria de comparación; serie y decisión son estructura de agrupación, no una cuarta unidad.</a:t>
            </a:r>
          </a:p>
          <a:p>
            <a:r>
              <a:rPr lang="es-CL" dirty="0"/>
              <a:t>CONEXIÓN CON FEEDBACK: responde al requerimiento de distinguir con precisión unidad de anotación, de recuperación, de comparación y estructura de dependencia estadística.</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Cómo se construye la referencia humana de evaluación.</a:t>
            </a:r>
          </a:p>
          <a:p>
            <a:r>
              <a:rPr lang="es-CL" dirty="0"/>
              <a:t>El Ground Truth se construye mediante anotación humana, acuerdo y adjudicación, se congela antes de la evaluación final y se utiliza exclusivamente como referencia de evaluación.</a:t>
            </a:r>
          </a:p>
          <a:p>
            <a:r>
              <a:rPr lang="es-CL" dirty="0"/>
              <a:t>No construye C2, no la corrige durante el test, no completa objetos omitidos y no se utiliza para seleccionar retrospectivamente el extractor que favorezca el resultado end-to-end.</a:t>
            </a:r>
          </a:p>
          <a:p>
            <a:r>
              <a:rPr lang="es-CL" dirty="0"/>
              <a:t>La anotación registra decision_id, enunciado normalizado, evidencia, reunión de origen, eventos, estado, relaciones, procedencia y ambigüedad, con la definición y el manual ya fijados.</a:t>
            </a:r>
          </a:p>
          <a:p>
            <a:r>
              <a:rPr lang="es-CL" dirty="0"/>
              <a:t>Transición: con la referencia congelada se puede evaluar la fidelidad de la extracción automática.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Experimento A mide con qué fidelidad puede construirse automáticamente la representación de decisiones a partir de las transcripciones.</a:t>
            </a:r>
          </a:p>
          <a:p>
            <a:r>
              <a:rPr lang="es-CL" dirty="0"/>
              <a:t>Los métodos candidatos de extracción se definen y documentan antes de la evaluación y se comparan bajo el mismo protocolo: misma entrada, mismo contexto y el mismo Ground Truth congelado. La presentación no fija cuántos candidatos habrá ni de qué familia son: eso se documenta en el diseño antes de evaluar.</a:t>
            </a:r>
          </a:p>
          <a:p>
            <a:r>
              <a:rPr lang="es-CL" dirty="0"/>
              <a:t>Las dimensiones evaluadas son detección, atributos y relaciones, y temporalidad. Las métricas son precision, recall y F1 para detección; evidence matching, relation accuracy, state accuracy y temporal relation accuracy para atributos, relaciones y estado; Current State Accuracy, Temporal Correctness y Decision Lineage Accuracy para temporalidad, esta última sólo cuando existe una referencia longitudinal válida.</a:t>
            </a:r>
          </a:p>
          <a:p>
            <a:r>
              <a:rPr lang="es-CL" dirty="0"/>
              <a:t>La eficiencia técnica —latencia, tokens, memoria y costo de inferencia— se reporta en la slide general de métricas, no como una dimensión propia del Experimento A.</a:t>
            </a:r>
          </a:p>
          <a:p>
            <a:r>
              <a:rPr lang="es-CL" dirty="0"/>
              <a:t>Límite: A informa sobre la calidad de la extracción; no anticipa el resultado end-to-end del Experimento B ni presupone qué candidato obtiene mejor desempeño.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Cómo se decide qué extractor construye C2.</a:t>
            </a:r>
          </a:p>
          <a:p>
            <a:r>
              <a:rPr lang="es-CL" dirty="0"/>
              <a:t>Los candidatos se evalúan en el Experimento A y el extractor se selecciona con criterios predefinidos a partir de las métricas de calidad de extracción. El criterio se define antes del Experimento B; el research no fija todavía una fórmula ni ponderaciones para ese criterio.</a:t>
            </a:r>
          </a:p>
          <a:p>
            <a:r>
              <a:rPr lang="es-CL" dirty="0"/>
              <a:t>Seleccionado el extractor, se congela: modelo, versión, prompt y parámetros quedan fijados y C2 se construye exclusivamente con su salida automática, sin corrección manual y sin que el Ground Truth complete objetos omitidos.</a:t>
            </a:r>
          </a:p>
          <a:p>
            <a:r>
              <a:rPr lang="es-CL" dirty="0"/>
              <a:t>Límite: no se elige retrospectivamente el extractor que favorezca el resultado de C2 en el Experimento B. La selección se justifica con la evidencia del Experimento A.</a:t>
            </a:r>
          </a:p>
          <a:p>
            <a:r>
              <a:rPr lang="es-CL" dirty="0"/>
              <a:t>Transición: con el extractor congelado se pasa al diseño de la comparación end-to-end.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Slide central del diseño: los dos pipelines del Experimento B, etapa por etapa.</a:t>
            </a:r>
          </a:p>
          <a:p>
            <a:r>
              <a:rPr lang="es-CL" dirty="0"/>
              <a:t>Los valores de k para retrieval quedan documentados antes del análisis final, junto con el presupuesto de contexto. C1 y C2 recuperan unidades distintas —fragmentos y objetos de decisión—, de modo que no se exige que devuelvan el mismo tipo de objeto: la comparabilidad se establece por las mismas necesidades de información y la evidencia relevante de la referencia humana.</a:t>
            </a:r>
          </a:p>
          <a:p>
            <a:r>
              <a:rPr lang="es-CL" dirty="0"/>
              <a:t>C1 es recuperación documental sobre las transcripciones originales: fragmentación, índice documental, recuperación de pasajes, contexto y generación. C2 parte de las mismas transcripciones, pasa por el extractor congelado, construye objetos de decisión, hace recuperación estructurada y usa el mismo generador con el mismo presupuesto de contexto.</a:t>
            </a:r>
          </a:p>
          <a:p>
            <a:r>
              <a:rPr lang="es-CL" dirty="0"/>
              <a:t>Se mantienen constantes, en la medida de lo posible, corpus e historial disponible, banco de preguntas, generador, instrucciones de respuesta, presupuesto de contexto y hardware y configuración de medición cuando se compare eficiencia.</a:t>
            </a:r>
          </a:p>
          <a:p>
            <a:r>
              <a:rPr lang="es-CL" dirty="0"/>
              <a:t>Tres frases que hay que decir tal cual: B compara pipelines completos; C2 menos C1 es una diferencia end-to-end; B no identifica el efecto causal puro de la estructura, porque ambas condiciones difieren a la vez en construcción previa, representación y recuperación.</a:t>
            </a:r>
          </a:p>
          <a:p>
            <a:r>
              <a:rPr lang="es-CL" dirty="0"/>
              <a:t>Transición: por eso A y B deben leerse juntos.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Matriz de lectura conjunta: calidad de extracción del Experimento A cruzada con el desempeño relativo de C2 frente a C1.</a:t>
            </a:r>
          </a:p>
          <a:p>
            <a:r>
              <a:rPr lang="es-CL" dirty="0"/>
              <a:t>La categoría «sin diferencia concluyente» se utiliza únicamente como descripción del resultado cuando el análisis no permite sostener una ventaja clara de una condición sobre la otra.</a:t>
            </a:r>
          </a:p>
          <a:p>
            <a:r>
              <a:rPr lang="es-CL" dirty="0"/>
              <a:t>Importa porque fija de antemano cómo se leerán los cuatro casos posibles. Extracción alta con C2 mejor que C1: ventaja end-to-end bajo las condiciones evaluadas. Extracción alta y resultado sin diferencia concluyente: el análisis no permite sostener una ventaja clara de C2 en esas tareas. Extracción limitada con C2 peor: la calidad de extracción es un posible factor explicativo o cuello de botella, sin quedar demostrada causalmente. Extracción limitada con C2 mejor: resultado favorable al pipeline completo pese a extracción imperfecta, sin atribución causal a la estructura.</a:t>
            </a:r>
          </a:p>
          <a:p>
            <a:r>
              <a:rPr lang="es-CL" dirty="0"/>
              <a:t>El Experimento A permite contextualizar si una calidad limitada de extracción es compatible con el resultado observado en B, pero no permite atribuir causalmente la diferencia a un componente específico.</a:t>
            </a:r>
          </a:p>
          <a:p>
            <a:r>
              <a:rPr lang="es-CL" dirty="0"/>
              <a:t>Límite, dicho tal cual: A contextualiza B; no descompone causalmente B.</a:t>
            </a:r>
          </a:p>
          <a:p>
            <a:r>
              <a:rPr lang="es-CL" dirty="0"/>
              <a:t>Transición: pasamos a medición, inferencia y decisión.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Divisor de la tercera sección: medición, inferencia y decisión.</a:t>
            </a:r>
          </a:p>
          <a:p>
            <a:r>
              <a:rPr lang="es-CL" dirty="0"/>
              <a:t>Aquí se define cómo se observa cada constructo, cómo se hace la inferencia estadística, qué parámetros quedan abiertos y bajo qué condiciones los resultados podrían traducirse a valor organizacional.</a:t>
            </a:r>
          </a:p>
          <a:p>
            <a:r>
              <a:rPr lang="es-CL" dirty="0"/>
              <a:t>El orden es deliberado: primero las preguntas y su dificultad, después las métricas, después la inferencia, y sólo al final la traducción económica.</a:t>
            </a:r>
          </a:p>
          <a:p>
            <a:r>
              <a:rPr lang="es-CL" dirty="0"/>
              <a:t>Límite: esta sección describe instrumentos y reglas de decisión; los resultados no existen todavía.</a:t>
            </a:r>
          </a:p>
          <a:p>
            <a:r>
              <a:rPr lang="es-CL" dirty="0"/>
              <a:t>Transición: empezamos por el banco de preguntas.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Banco de preguntas Q1 a Q7 en dos ejes: tipo de pregunta y complejidad longitudinal.</a:t>
            </a:r>
          </a:p>
          <a:p>
            <a:r>
              <a:rPr lang="es-CL" dirty="0"/>
              <a:t>Las siete categorías son decisión puntual, evidencia y procedencia, estado vigente, evolución, reemplazo o revisión, comparación y relaciones, y no respondible. Q7 es clave: abstenerse cuando no hay información suficiente es un resultado correcto, no una falla.</a:t>
            </a:r>
          </a:p>
          <a:p>
            <a:r>
              <a:rPr lang="es-CL" dirty="0"/>
              <a:t>Cada instancia se etiqueta por tipo, alcance, profundidad histórica N, reuniones con evidencia, eventos relevantes, decisiones necesarias y respondibilidad. Esas etiquetas son las que permiten el análisis por estratos y la lectura de condiciones de frontera.</a:t>
            </a:r>
          </a:p>
          <a:p>
            <a:r>
              <a:rPr lang="es-CL" dirty="0"/>
              <a:t>Nota de notación: en la parte metodológica N designa siempre profundidad histórica, es decir número de reuniones. Para el volumen de trabajo en las fórmulas económicas usamos otra notación, M o volumen de tareas, para no reutilizar la misma letra con dos significados.</a:t>
            </a:r>
          </a:p>
          <a:p>
            <a:r>
              <a:rPr lang="es-CL" dirty="0"/>
              <a:t>El banco se construye a partir del corpus y de la referencia adjudicada, independientemente de las salidas de C1 y C2, y queda documentado antes del análisis final. Límite: el banco queda documentado antes del análisis final, y su composición no se ajusta después de ver resultados.</a:t>
            </a:r>
          </a:p>
          <a:p>
            <a:r>
              <a:rPr lang="es-CL" dirty="0"/>
              <a:t>Transición: el segundo eje merece una slide propia.</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Tres niveles de alcance: local, longitudinal y multidecisión, con N como profundidad histórica.</a:t>
            </a:r>
          </a:p>
          <a:p>
            <a:r>
              <a:rPr lang="es-CL" dirty="0"/>
              <a:t>Local significa que la evidencia está dentro de una sola reunión. Longitudinal exige seguir una misma decisión a través de varias reuniones y sus eventos. Multidecisión exige integrar más de una decisión y sus relaciones.</a:t>
            </a:r>
          </a:p>
          <a:p>
            <a:r>
              <a:rPr lang="es-CL" dirty="0"/>
              <a:t>La decisión metodológica ya adoptada es que la profundidad histórica se controla mediante N o niveles de N, y que el prefijo de historial es idéntico en C1 y C2 para que la comparación sea legítima. N describe exclusivamente cuánto historial está disponible para el sistema: no equivale al tamaño muestral, ni al número de decisiones, ni al número de eventos, ni al número de reuniones relevantes. La cantidad de reuniones que realmente contienen evidencia relevante es otra variable de complejidad y se registra por separado: una instancia puede tener varias reuniones disponibles y sólo algunas con evidencia relevante. Para cada instancia se registran por separado la reunión objetivo t, el número de reuniones disponibles N, el número de reuniones que contienen evidencia relevante, la distancia entre la primera y la última evidencia relevante, el número de eventos y el número de decisiones necesarias para responder.</a:t>
            </a:r>
          </a:p>
          <a:p>
            <a:r>
              <a:rPr lang="es-CL" dirty="0"/>
              <a:t>Lo que todavía no está fijado es el valor o los niveles concretos de N. Esa regla se preespecifica y se determina mediante características del corpus y/o un piloto independiente; se congela antes del Experimento B y nunca se elige según qué valor favorezca a una condición.</a:t>
            </a:r>
          </a:p>
          <a:p>
            <a:r>
              <a:rPr lang="es-CL" dirty="0"/>
              <a:t>Transición: con las preguntas etiquetadas, vemos cómo se mide cada constructo.</a:t>
            </a:r>
          </a:p>
          <a:p>
            <a:r>
              <a:rPr lang="es-CL" dirty="0"/>
              <a:t>TRAZABILIDAD DEL AJUSTE · AJUSTE: se incorporó explícitamente la reunión objetivo t en el protocolo y se mantuvo separada de N.</a:t>
            </a:r>
          </a:p>
          <a:p>
            <a:r>
              <a:rPr lang="es-CL" dirty="0"/>
              <a:t>RAZÓN: N representa el historial disponible; no son lo mismo las reuniones relevantes, los eventos, las decisiones ni el tamaño muestral.</a:t>
            </a:r>
          </a:p>
          <a:p>
            <a:r>
              <a:rPr lang="es-CL" dirty="0"/>
              <a:t>CONEXIÓN CON FEEDBACK: responde a la necesidad de controlar explícitamente cuánto historial recibe cada condición en las tareas longitudinales.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Slide única de operacionalización: qué métrica corresponde a cada constructo y en qué experimento se observa.</a:t>
            </a:r>
          </a:p>
          <a:p>
            <a:r>
              <a:rPr lang="es-CL" dirty="0"/>
              <a:t>Como C1 recupera fragmentos y C2 objetos de decisión, la comparabilidad se establece mediante las mismas necesidades de información y la evidencia relevante definida en la referencia humana. Los valores de k y el presupuesto de contexto se predefinen y documentan antes de la evaluación.</a:t>
            </a:r>
          </a:p>
          <a:p>
            <a:r>
              <a:rPr lang="es-CL" dirty="0"/>
              <a:t>Calidad de extracción, con detección, atributos, evidencia, estado, relaciones y temporalidad, medidos mediante las métricas correspondientes del Experimento A, en el Experimento A. Recuperación y respuesta, con Precision@k, Recall@k, MRR, nDCG@k, corrección, completitud y exactitud de abstención, en el Experimento B. Trazabilidad y temporalidad, con Evidence Support Rate, Provenance Correctness, Provenance Completeness, Current State Accuracy, Temporal Correctness, SDER y Decision Lineage Accuracy; Evidence Localization Time se incorpora únicamente cuando exista estudio con participantes, y Decision Lineage Accuracy requiere una referencia longitudinal válida.</a:t>
            </a:r>
          </a:p>
          <a:p>
            <a:r>
              <a:rPr lang="es-CL" dirty="0"/>
              <a:t>Conviene mantener la distinción de constructos: procedencia es el origen de la información y se mide con Provenance Correctness y Provenance Completeness; trazabilidad es la capacidad de seguir la cadena entre afirmación, objeto, evidencia y origen, y se observa sobre todo con Evidence Support Rate; temporalidad es la evolución y vigencia es el estado actual.</a:t>
            </a:r>
          </a:p>
          <a:p>
            <a:r>
              <a:rPr lang="es-CL" dirty="0"/>
              <a:t>En eficiencia técnica sólo hay costos computacionales: latencia, tokens, RAM/VRAM, costo de inferencia y costo de construcción de C2, que considera únicamente cómputo. El costo por tarea correcta completo —CPCT económico— incorpora tiempo humano, costo laboral, operación, mantenimiento y volumen real, y por eso es una métrica económica para validación posterior, no una métrica técnica central de la tesis; dentro del estudio sólo puede calcularse una versión técnica parcial basada en costos de cómputo.</a:t>
            </a:r>
          </a:p>
          <a:p>
            <a:r>
              <a:rPr lang="es-CL" dirty="0"/>
              <a:t>Límite que hay que subrayar: latencia no es Time-to-Answer. La latencia es una propiedad del sistema; TTA y TTE son tiempos de tarea humana y requieren participantes, no se infieren de la latencia. Time-to-Evidence operacionaliza el tiempo requerido para localizar y verificar la evidencia en una tarea con usuarios; corresponde al componente temporal de Evidence Localization mencionado en el marco de medición. Latencia no equivale a productividad humana: una reducción de latencia sólo demuestra eficiencia técnica, y una reducción de tiempo o esfuerzo humano requiere estudio con participantes. Y no existe una puntuación agregada única de valor.</a:t>
            </a:r>
          </a:p>
          <a:p>
            <a:r>
              <a:rPr lang="es-CL" dirty="0"/>
              <a:t>Transición: para poder calcular estas métricas no basta con almacenar la respuesta final; hay que instrumentar cada ejecución.</a:t>
            </a:r>
          </a:p>
          <a:p>
            <a:r>
              <a:rPr lang="es-CL" dirty="0"/>
              <a:t>TRAZABILIDAD DEL AJUSTE · AJUSTE: se reforzó la separación entre eficiencia técnica y eficiencia de tarea humana o económica, incluida la distinción entre CPCT técnico parcial y CPCT económico completo.</a:t>
            </a:r>
          </a:p>
          <a:p>
            <a:r>
              <a:rPr lang="es-CL" dirty="0"/>
              <a:t>RAZÓN: la latencia no permite inferir TTA ni TTE ni productividad humana, y el CPCT completo requiere costos reales.</a:t>
            </a:r>
          </a:p>
          <a:p>
            <a:r>
              <a:rPr lang="es-CL" dirty="0"/>
              <a:t>CONEXIÓN CON FEEDBACK: responde a la solicitud de operacionalizar cada dimensión con métricas observables sin sobreinterpretar las métricas técnicas.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Para medir valor no basta con guardar la respuesta final: hay que instrumentar cada ejecución.</a:t>
            </a:r>
          </a:p>
          <a:p>
            <a:r>
              <a:rPr lang="es-CL" dirty="0"/>
              <a:t>Por ejecución se registran la condición, el identificador y el tipo de pregunta, las fuentes requeridas, los ítems recuperados, las marcas de tiempo, las referencias de evidencia, la respuesta, su corrección y su corrección temporal, los tokens, la latencia de cómputo, la amortización de la extracción y el costo del sistema.</a:t>
            </a:r>
          </a:p>
          <a:p>
            <a:r>
              <a:rPr lang="es-CL" dirty="0"/>
              <a:t>Si se realiza la extensión con usuarios se registran además el identificador anonimizado del participante, el inicio y fin de tarea, las consultas, las fuentes y la evidencia abiertas, las aclaraciones o ayuda solicitadas y el puntaje de la tarea.</a:t>
            </a:r>
          </a:p>
          <a:p>
            <a:r>
              <a:rPr lang="es-CL" dirty="0"/>
              <a:t>Sin esta instrumentación no es posible distinguir eficiencia técnica de esfuerzo humano ni calcular costos por tarea correcta.</a:t>
            </a:r>
          </a:p>
          <a:p>
            <a:r>
              <a:rPr lang="es-CL" dirty="0"/>
              <a:t>Límite: el bloque de usuarios es una extensión opcional; el núcleo comprometido son los Experimentos A y B.</a:t>
            </a:r>
          </a:p>
          <a:p>
            <a:r>
              <a:rPr lang="es-CL" dirty="0"/>
              <a:t>Transición: con los datos registrados, pasamos al análisis estadístico.</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Diseño de inferencia: diferencias pareadas por instancia pregunta–caso.</a:t>
            </a:r>
          </a:p>
          <a:p>
            <a:r>
              <a:rPr lang="es-CL" dirty="0"/>
              <a:t>El research propone considerar una lógica de no inferioridad cuando corresponda, especialmente en escenarios donde C2 pudiera mantener una calidad aceptable y reducir tiempo o costo; su margen debe definirse y justificarse antes del análisis, y no es una prueba obligatoria del Experimento B.</a:t>
            </a:r>
          </a:p>
          <a:p>
            <a:r>
              <a:rPr lang="es-CL" dirty="0"/>
              <a:t>La unidad es la instancia i, evaluada en ambas condiciones, y el estadístico base es delta i, la métrica en C2 menos la métrica en C1. Se reportan la distribución de las diferencias, intervalos de confianza y tamaño del efecto, no solamente una prueba de hipótesis.</a:t>
            </a:r>
          </a:p>
          <a:p>
            <a:r>
              <a:rPr lang="es-CL" dirty="0"/>
              <a:t>Las preguntas de una misma serie de reuniones comparten contexto, así que la inferencia respeta esa dependencia mediante un procedimiento agrupado por serie. El análisis se desagrega por tipo de pregunta Q1 a Q7, por alcance local, longitudinal y multidecisión, y por profundidad histórica N, y cuando corresponda por número de eventos, número de decisiones y respondibilidad de la pregunta, con análisis de sensibilidad a la profundidad histórica cuando se estudien niveles de N.</a:t>
            </a:r>
          </a:p>
          <a:p>
            <a:r>
              <a:rPr lang="es-CL" dirty="0"/>
              <a:t>El procedimiento inferencial concreto se definirá antes del Experimento B a partir del tipo y la escala de cada métrica, de la estructura de dependencia y de la información disponible en desarrollo y piloto; no se elegirá retrospectivamente según qué método produzca un resultado más favorable. Bootstrap agrupado o modelos de efectos mixtos son alternativas metodológicas posibles, pero la regla de decisión se preespecifica antes de observar el contraste C2 menos C1.</a:t>
            </a:r>
          </a:p>
          <a:p>
            <a:r>
              <a:rPr lang="es-CL" dirty="0"/>
              <a:t>Transición: además de cuantificar la diferencia, hay que diagnosticar de dónde vienen los errores.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RAG es la condición de referencia, no un antagonista que deba perder.</a:t>
            </a:r>
          </a:p>
          <a:p>
            <a:r>
              <a:rPr lang="es-CL" dirty="0"/>
              <a:t>No se plantea que la estructura sea superior a RAG: ambas representaciones pueden presentar ventajas diferentes según el tipo de consulta. El objetivo científico es determinar si el desempeño depende del tipo de consulta.</a:t>
            </a:r>
          </a:p>
          <a:p>
            <a:r>
              <a:rPr lang="es-CL" dirty="0"/>
              <a:t>Como hipótesis de contingencia: las preguntas locales o factuales podrían favorecer el retrieval documental; las de vigencia, la estructura temporal; las longitudinales, las relaciones; las agregadas, los objetos estructurados; y las que exigen matiz textual, el acceso al documento original.</a:t>
            </a:r>
          </a:p>
          <a:p>
            <a:r>
              <a:rPr lang="es-CL" dirty="0"/>
              <a:t>Si existe heterogeneidad, la contribución puede ser identificar la condición de frontera (boundary condition) de la estructuración.</a:t>
            </a:r>
          </a:p>
          <a:p>
            <a:r>
              <a:rPr lang="es-CL" dirty="0"/>
              <a:t>Una conclusión posible es híbrida: estructura, documento original, provenance y retrieval combinados.</a:t>
            </a:r>
          </a:p>
          <a:p>
            <a:r>
              <a:rPr lang="es-CL" dirty="0"/>
              <a:t>Transición: de ahí pasamos a qué queda respondido y qué debe cerrarse empíricamente.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Qué queda operacionalizado con este marco y qué debe cerrarse empíricamente.</a:t>
            </a:r>
          </a:p>
          <a:p>
            <a:r>
              <a:rPr lang="es-CL" dirty="0"/>
              <a:t>Queda operacionalizado: una matriz explícita de métricas para calidad, trazabilidad, temporalidad y eficiencia; la unidad de análisis, que distingue decisión y evento, unidad recuperada e instancia pregunta–caso como unidad primaria de comparación; las decisiones que evolucionan entre reuniones, mediante identidad estable y eventos temporales; y el historial, mediante una ventana N o niveles de N comunes a C1 y C2, con alcance local, longitudinal y multidecisión.</a:t>
            </a:r>
          </a:p>
          <a:p>
            <a:r>
              <a:rPr lang="es-CL" dirty="0"/>
              <a:t>No se fijan arbitrariamente el valor numérico final de N, los umbrales de calidad ni el tamaño muestral.</a:t>
            </a:r>
          </a:p>
          <a:p>
            <a:r>
              <a:rPr lang="es-CL" dirty="0"/>
              <a:t>N se determina mediante características del corpus y/o un piloto independiente y se congela antes del Experimento B; N es profundidad histórica y no equivale al tamaño muestral ni a un umbral de calidad. El tamaño muestral se determina mediante la distribución real del corpus, la disponibilidad de casos, un piloto y un análisis de potencia cuando corresponda. Todo ello se documenta antes de la evaluación final.</a:t>
            </a:r>
          </a:p>
          <a:p>
            <a:r>
              <a:rPr lang="es-CL" dirty="0"/>
              <a:t>Transición: pasamos a los criterios de valor por dimensión.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Qué contaría como evidencia de valor en cada dimensión.</a:t>
            </a:r>
          </a:p>
          <a:p>
            <a:r>
              <a:rPr lang="es-CL" dirty="0"/>
              <a:t>En productividad, existiría evidencia de valor si C2 mantiene una calidad aceptable respecto de C1, reduce tiempo o pasos y la magnitud observada tiene relevancia práctica para la tarea.</a:t>
            </a:r>
          </a:p>
          <a:p>
            <a:r>
              <a:rPr lang="es-CL" dirty="0"/>
              <a:t>En continuidad, si usuarios nuevos reconstruyen conocimiento con igual o mayor exactitud y disminuyen el tiempo y las aclaraciones necesarias.</a:t>
            </a:r>
          </a:p>
          <a:p>
            <a:r>
              <a:rPr lang="es-CL" dirty="0"/>
              <a:t>En calidad y riesgo, si disminuyen los errores temporales o de evidencia y el costo esperado de los errores evitados supera el costo incremental. Esa comparación requiere datos organizacionales reales: es un criterio de traducción económica o validación posterior, no un resultado que pueda inferirse sólo de las métricas técnicas del experimento.</a:t>
            </a:r>
          </a:p>
          <a:p>
            <a:r>
              <a:rPr lang="es-CL" dirty="0"/>
              <a:t>En governance y trazabilidad, si aumenta el soporte correcto de afirmaciones, disminuye el tiempo de verificación y provenance es correcto, no sólo está presente.</a:t>
            </a:r>
          </a:p>
          <a:p>
            <a:r>
              <a:rPr lang="es-CL" dirty="0"/>
              <a:t>En economía, si los beneficios observados superan los costos incrementales en un workload representativo.</a:t>
            </a:r>
          </a:p>
          <a:p>
            <a:r>
              <a:rPr lang="es-CL" dirty="0"/>
              <a:t>Límite: los criterios que requieren usuarios, costos o procesos reales pertenecen a etapas posteriores de validación; la tesis observa directamente calidad de representación y utilidad funcional.</a:t>
            </a:r>
          </a:p>
          <a:p>
            <a:r>
              <a:rPr lang="es-CL" dirty="0"/>
              <a:t>Transición: pasamos al procedimiento experimental completo.</a:t>
            </a:r>
          </a:p>
          <a:p>
            <a:r>
              <a:rPr lang="es-CL" dirty="0"/>
              <a:t>TRAZABILIDAD DEL AJUSTE 1 · AJUSTE: «Existe evidencia de valor si» se reformuló como «Evidencia que apoyaría una hipótesis de valor».</a:t>
            </a:r>
          </a:p>
          <a:p>
            <a:r>
              <a:rPr lang="es-CL" dirty="0"/>
              <a:t>RAZÓN: los experimentos principales evalúan viabilidad técnica y utilidad funcional; el valor organizacional completo requiere validación adicional.</a:t>
            </a:r>
          </a:p>
          <a:p>
            <a:r>
              <a:rPr lang="es-CL" dirty="0"/>
              <a:t>CONEXIÓN CON FEEDBACK: responde al requerimiento de conectar resultados experimentales con valor organizacional sin afirmar impacto no medido.</a:t>
            </a:r>
          </a:p>
          <a:p>
            <a:r>
              <a:rPr lang="es-CL" dirty="0"/>
              <a:t>TRAZABILIDAD DEL AJUSTE 2 · AJUSTE: se explicitó que comparar el costo de los errores evitados con el costo incremental requiere datos organizacionales reales.</a:t>
            </a:r>
          </a:p>
          <a:p>
            <a:r>
              <a:rPr lang="es-CL" dirty="0"/>
              <a:t>RAZÓN: es un criterio de traducción económica o validación posterior, no un resultado inferible de las métricas técnicas del experimento.</a:t>
            </a:r>
          </a:p>
          <a:p>
            <a:r>
              <a:rPr lang="es-CL" dirty="0"/>
              <a:t>CONEXIÓN CON FEEDBACK: responde a la observación de no confundir mejora técnica con impacto económico demostrado.</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El procedimiento completo, en dos tramos.</a:t>
            </a:r>
          </a:p>
          <a:p>
            <a:r>
              <a:rPr lang="es-CL" dirty="0"/>
              <a:t>El primer tramo construye la representación: definición operacional de decisión, reglas de identidad y evolución longitudinal, manual de anotación, corpus y su partición documentada, Ground Truth anotado, acordado, adjudicado y congelado, regla de ventana histórica N, banco Q1 a Q7 con sus estratos, Experimento A de calidad de extracción y selección del extractor con el criterio predefinido.</a:t>
            </a:r>
          </a:p>
          <a:p>
            <a:r>
              <a:rPr lang="es-CL" dirty="0"/>
              <a:t>El segundo tramo compara y evalúa: se congela el extractor, se construye C2 automáticamente con su salida, se configura C1, se documenta la configuración del Experimento B —banco y estratos, N o niveles de N, valores de k, métricas y fórmulas, extractor seleccionado, generador y sus instrucciones de respuesta, presupuesto de contexto, procedimiento estadístico y criterios de exclusión o tratamiento de casos ambiguos—, se ejecuta el Experimento B, se mide, se analiza estadísticamente y se cierra con interpretación y síntesis.</a:t>
            </a:r>
          </a:p>
          <a:p>
            <a:r>
              <a:rPr lang="es-CL" dirty="0"/>
              <a:t>El Ground Truth se usa sólo como referencia de evaluación: no construye, no corrige y no completa C2.</a:t>
            </a:r>
          </a:p>
          <a:p>
            <a:r>
              <a:rPr lang="es-CL" dirty="0"/>
              <a:t>Límite: el orden de dependencia entre etapas es lo firme y cada decisión se congela antes del momento metodológico en que podría introducir sesgo retrospectivo, no todas en el mismo instante; los parámetros que el diseño aún no fija —el valor o los niveles de N, los umbrales de calidad y el tamaño muestral— se determinan mediante el procedimiento empírico correspondiente a cada parámetro y se documentan antes de la evaluación final. N se determina mediante las características del corpus y/o un piloto independiente y se congela antes del Experimento B. El tamaño muestral se determina a partir de la distribución real del corpus, la disponibilidad de casos, el piloto y un análisis de potencia cuando corresponda. Los umbrales de calidad no se fijan arbitrariamente.</a:t>
            </a:r>
          </a:p>
          <a:p>
            <a:r>
              <a:rPr lang="es-CL" dirty="0"/>
              <a:t>Transición: pasamos al registro de las decisiones que deben quedar congeladas.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Qué debe quedar documentado y versionado antes del análisis final.</a:t>
            </a:r>
          </a:p>
          <a:p>
            <a:r>
              <a:rPr lang="es-CL" dirty="0"/>
              <a:t>En definición: la definición operacional de decisión, el manual de anotación, las reglas de identidad y evolución longitudinal y los criterios de exclusión o tratamiento de casos ambiguos.</a:t>
            </a:r>
          </a:p>
          <a:p>
            <a:r>
              <a:rPr lang="es-CL" dirty="0"/>
              <a:t>En datos: la partición del corpus, el Ground Truth adjudicado, la regla de ventana histórica N o sus niveles —determinados empíricamente y congelados antes del Experimento B—, y el banco de preguntas Q1 a Q7 con sus estratos.</a:t>
            </a:r>
          </a:p>
          <a:p>
            <a:r>
              <a:rPr lang="es-CL" dirty="0"/>
              <a:t>En experimento: las métricas y sus fórmulas, los valores de k para retrieval y el presupuesto de contexto, el criterio de selección del extractor y el extractor seleccionado con su versión, modelo y prompt, el generador con sus instrucciones y el procedimiento estadístico. El extractor se selecciona mediante el Experimento A con criterio predefinido y se congela antes de construir C2; no todos los elementos se congelan en el mismo instante: cada uno queda fijado antes del momento en que podría introducir sesgo retrospectivo.</a:t>
            </a:r>
          </a:p>
          <a:p>
            <a:r>
              <a:rPr lang="es-CL" dirty="0"/>
              <a:t>El propósito es reducir grados de libertad analíticos y evitar decisiones retrospectivas condicionadas por cuál condición obtiene mejores resultados.</a:t>
            </a:r>
          </a:p>
          <a:p>
            <a:r>
              <a:rPr lang="es-CL" dirty="0"/>
              <a:t>Transición: con esto cerrado, revisamos qué resultados podrían refutar la propuesta de valor.</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Criterios negativos explícitos: qué resultados indicarían que la capa estructurada no se justifica.</a:t>
            </a:r>
          </a:p>
          <a:p>
            <a:r>
              <a:rPr lang="es-CL" dirty="0"/>
              <a:t>No existiría evidencia suficiente de valor si C2 empeora la calidad de manera relevante, si los errores de extracción se propagan en mayor proporción, si no se reduce el tiempo humano cuando llegue a medirse, si provenance existe pero es incorrecto, o si freshness no mejora la vigencia.</a:t>
            </a:r>
          </a:p>
          <a:p>
            <a:r>
              <a:rPr lang="es-CL" dirty="0"/>
              <a:t>Tampoco la habría si las ventajas sólo aparecen en preguntas artificiales, si el costo upfront no se amortiza, si C1 resulta igual de efectivo y más barato, o si los usuarios requieren volver siempre al documento original.</a:t>
            </a:r>
          </a:p>
          <a:p>
            <a:r>
              <a:rPr lang="es-CL" dirty="0"/>
              <a:t>Declarar estos criterios por adelantado es lo que hace que el estudio no sea confirmatorio: existe un conjunto de resultados que contaría como evidencia en contra.</a:t>
            </a:r>
          </a:p>
          <a:p>
            <a:r>
              <a:rPr lang="es-CL" dirty="0"/>
              <a:t>Un resultado negativo no invalida el proyecto completo: delimita dónde una capa estructurada no se justifica.</a:t>
            </a:r>
          </a:p>
          <a:p>
            <a:r>
              <a:rPr lang="es-CL" dirty="0"/>
              <a:t>Transición: pasamos a la traducción hacia valor organizacional.</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La cadena de medición que separa lo que esta tesis observa de lo que requeriría estudios posteriores.</a:t>
            </a:r>
          </a:p>
          <a:p>
            <a:r>
              <a:rPr lang="es-CL" dirty="0"/>
              <a:t>C_build se descompone en C_extract, C_validate y C_index; C_maint en C_update, C_reprocess y C_storage. CPCT es el costo total sobre las tareas correctas, y ese costo total puede incorporar el costo de cómputo y el costo humano definidos en el research.</a:t>
            </a:r>
          </a:p>
          <a:p>
            <a:r>
              <a:rPr lang="es-CL" dirty="0"/>
              <a:t>SDER se define como las respuestas que presentan una decisión reemplazada como vigente sobre el total de consultas de vigencia. Evidence Support Rate se define como las afirmaciones correctamente respaldadas sobre las afirmaciones evaluadas. CPCT es el costo total sobre las tareas correctas y requiere costos reales. C_amortized suma construcción —extracción, validación e indexación— y mantenimiento —actualización, reprocesamiento y almacenamiento— divididos por el número de consultas, más el costo por consulta.</a:t>
            </a:r>
          </a:p>
          <a:p>
            <a:r>
              <a:rPr lang="es-CL" dirty="0"/>
              <a:t>Ámbito sistema: F1, MRR, nDCG, corrección, exactitud temporal y latencia; es lo medible dentro del estudio. Ámbito tarea y usuario: Time-to-Answer, Time-to-Evidence, fuentes inspeccionadas, consultas y exactitud de tarea; requiere participantes. Ámbito organización: horas de búsqueda, errores de vigencia, dependencia de expertos, traspasos, auditoría y retrabajo; requiere un piloto real. Ámbito economía: costo por tarea correcta, costo total de propiedad, punto de equilibrio y retorno de inversión; requiere carga y costos reales.</a:t>
            </a:r>
          </a:p>
          <a:p>
            <a:r>
              <a:rPr lang="es-CL" dirty="0"/>
              <a:t>El bloque inferior reúne indicadores observables en el estudio y un modelo de traducción para validación posterior, no resultados. Time-to-Answer, Time-to-Evidence y Historical Reconstruction Time comparan tiempos de tarea humana, de modo que exigen un estudio con usuarios y no deben confundirse con latencia computacional. Evidence Support Rate y SDER se observan dentro del diseño actual del estudio; El punto de equilibrio no se reporta como resultado de la tesis: n_equilibrio es el costo fijo de estructuración dividido por el ahorro marginal por tarea y requiere costos reales y volumen de uso. No están en el mismo nivel de evidencia. La pregunta económica de esta slide no se responde en la tesis sin costos y volúmenes reales: se presenta como criterio para una validación posterior. El CPCT económico completo requiere costos reales, el punto de equilibrio requiere costos de construcción, mantenimiento y uso, y el retorno de inversión requiere validación organizacional posterior.</a:t>
            </a:r>
          </a:p>
          <a:p>
            <a:r>
              <a:rPr lang="es-CL" dirty="0"/>
              <a:t>La expresión de amortización —C_amortizado igual a construcción más mantenimiento dividido por número de consultas, más costo por consulta— se mantiene sólo como marco conceptual.</a:t>
            </a:r>
          </a:p>
          <a:p>
            <a:r>
              <a:rPr lang="es-CL" dirty="0"/>
              <a:t>Límite explícito: no se monetiza nada sin frecuencia de uso, costo laboral, costo de error y mantenimiento observados, y no se calcula retorno de inversión con proxies técnicos. El estudio con usuarios y el piloto son extensiones, no partes comprometidas del núcleo A y B.</a:t>
            </a:r>
          </a:p>
          <a:p>
            <a:r>
              <a:rPr lang="es-CL" dirty="0"/>
              <a:t>Transición: y bajo qué condiciones habría que contrastar esa diferencia.</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Matriz de condiciones de frontera: tipo de tarea cruzado con el desempeño relativo, más las condiciones a contrastar según profundidad histórica.</a:t>
            </a:r>
          </a:p>
          <a:p>
            <a:r>
              <a:rPr lang="es-CL" dirty="0"/>
              <a:t>Condiciones de mayor potencial, como hipótesis de contexto: muchas fuentes, series longitudinales, decisiones revisadas, múltiples equipos, turnover, consultas repetidas, necesidad de evidencia, alta frecuencia de handoff, información histórica importante y consultas agregadas.</a:t>
            </a:r>
          </a:p>
          <a:p>
            <a:r>
              <a:rPr lang="es-CL" dirty="0"/>
              <a:t>Condiciones de menor potencial: pocas fuentes, baja reutilización, preguntas simples, conocimiento extremadamente volátil, extracción de baja calidad, costo de actualización elevado y una fuente estructurada oficial ya disponible. Son hipótesis de contexto, no conclusiones.</a:t>
            </a:r>
          </a:p>
          <a:p>
            <a:r>
              <a:rPr lang="es-CL" dirty="0"/>
              <a:t>La columna central no afirma que las condiciones sean intercambiables: indica que el análisis no aporta evidencia concluyente de una ventaja de una u otra condición. Las celdas son hipótesis de contingencia: preguntas locales y factuales pueden favorecer el retrieval documental, las de vigencia la estructura temporal, las longitudinales las relaciones, las agregadas los objetos estructurados, y las que exigen matiz textual el acceso al documento original.</a:t>
            </a:r>
          </a:p>
          <a:p>
            <a:r>
              <a:rPr lang="es-CL" dirty="0"/>
              <a:t>El bloque de profundidad contiene N y las variables que se registran junto a N, distintas de N: la reunión objetivo t, el número de reuniones disponibles N, las reuniones con evidencia relevante, la distancia entre primera y última evidencia relevante, el número de eventos y el número de decisiones necesarias. Condiciones como el tipo de pregunta, el conocimiento volátil o la existencia de una fuente estructurada previa son condiciones contextuales de uso, externas al factor N y al Experimento B; se mencionan sólo como ejemplos de validación posterior. La magnitud y la dirección del efecto según N se determinan empíricamente.</a:t>
            </a:r>
          </a:p>
          <a:p>
            <a:r>
              <a:rPr lang="es-CL" dirty="0"/>
              <a:t>La profundidad histórica N describe sólo cuántas reuniones están disponibles en la ventana común. Las condiciones de uso organizacional —reutilización, consultas repetidas, traspasos y rotación— no son N: son factores de una validación posterior y no se manipulan en el Experimento B.</a:t>
            </a:r>
          </a:p>
          <a:p>
            <a:r>
              <a:rPr lang="es-CL" dirty="0"/>
              <a:t>Aporta una dimensión distinta de la matriz A más B. Allí se cruzaba calidad de extracción con resultado; aquí se cruza el tipo de tarea —local frente a longitudinal y multidecisión— con el resultado, y se agrega cómo se analizará el efecto al variar N.</a:t>
            </a:r>
          </a:p>
          <a:p>
            <a:r>
              <a:rPr lang="es-CL" dirty="0"/>
              <a:t>La matriz preespecifica condiciones bajo las cuales el contraste podría comportarse de manera diferente. Las tareas locales, longitudinales y multidecisión exigen distintos grados de reconstrucción; el análisis determinará empíricamente si esa diferencia de dificultad modifica el desempeño relativo de C1 y C2. No se presupone la dirección del efecto.</a:t>
            </a:r>
          </a:p>
          <a:p>
            <a:r>
              <a:rPr lang="es-CL" dirty="0"/>
              <a:t>Cuando C1 supera a C2, una posible explicación es que la intermediación estructurada omita o distorsione información relevante; se reporta como explicación posible, no como causa demostrada.</a:t>
            </a:r>
          </a:p>
          <a:p>
            <a:r>
              <a:rPr lang="es-CL" dirty="0"/>
              <a:t>Límite: cada celda representa una hipótesis de lectura, no un resultado. La pregunta científica es bajo qué condiciones aparece una diferencia, no qué sistema gana.</a:t>
            </a:r>
          </a:p>
          <a:p>
            <a:r>
              <a:rPr lang="es-CL" dirty="0"/>
              <a:t>Transición: cerramos con la pregunta que ordena todo el trabajo.</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Cierre: qué valor podría producir, para qué tarea, bajo qué condiciones, con qué magnitud y a qué costo.</a:t>
            </a:r>
          </a:p>
          <a:p>
            <a:r>
              <a:rPr lang="es-CL" dirty="0"/>
              <a:t>Uno de los resultados más útiles podría ser una conclusión híbrida: objetos estructurados para estado, relaciones y lineage; fuentes originales para evidencia fina; retrieval documental para detalles; grafo para navegación relacional; y provenance para volver al origen. La arquitectura separa fuentes, capa canónica y capas derivadas, de modo que un hallazgo contingente puede informar el diseño futuro sin exigir una estrategia exclusivamente estructurada.</a:t>
            </a:r>
          </a:p>
          <a:p>
            <a:r>
              <a:rPr lang="es-CL" dirty="0"/>
              <a:t>La secuencia resume el argumento: un problema documentado de conocimiento disperso, histórico y difícil de verificar; una capacidad que podría intervenir mediante objetos persistentes, relaciones, procedencia y vigencia; una evaluación en dos experimentos; y una decisión posterior de adoptar, combinar o descartar según evidencia y costo.</a:t>
            </a:r>
          </a:p>
          <a:p>
            <a:r>
              <a:rPr lang="es-CL" dirty="0"/>
              <a:t>Conviene decir con precisión el alcance. La tesis puede responder directamente por fidelidad de extracción, utilidad funcional, calidad de recuperación y de respuesta, trazabilidad, temporalidad, eficiencia técnica y heterogeneidad por tipo de tarea. Puede producir hipótesis o señales sobre productividad, continuidad, esfuerzo humano y riesgo. No puede demostrar sin estudios posteriores productividad empresarial, ahorro laboral real, retorno de inversión ni reducción organizacional de riesgo.</a:t>
            </a:r>
          </a:p>
          <a:p>
            <a:r>
              <a:rPr lang="es-CL" dirty="0"/>
              <a:t>El cierre mantiene abiertos todos los resultados posibles: que C2 supere a C1, que C1 supere a C2, que el resultado sea contingente o no concluyente, que la diferencia dependa de la profundidad longitudinal, que la extracción limite a C2 o que estructura y documento original se complementen.</a:t>
            </a:r>
          </a:p>
          <a:p>
            <a:r>
              <a:rPr lang="es-CL" dirty="0"/>
              <a:t>Una contribución metodológica del trabajo es operacionalizar qué cuenta como decisión, cómo seguir su evolución, qué unidad se compara, qué profundidad histórica disponible influye en cada tarea y qué métricas corresponden a cada constructo.</a:t>
            </a:r>
          </a:p>
          <a:p>
            <a:r>
              <a:rPr lang="es-CL" dirty="0"/>
              <a:t>Transición: quedan las referencias y abrimos preguntas.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as"/>
          <p:cNvSpPr>
            <a:spLocks noGrp="1"/>
          </p:cNvSpPr>
          <p:nvPr>
            <p:ph type="body" idx="1"/>
          </p:nvPr>
        </p:nvSpPr>
        <p:spPr/>
        <p:txBody>
          <a:bodyPr/>
          <a:lstStyle/>
          <a:p>
            <a:r>
              <a:rPr lang="es-CL" dirty="0"/>
              <a:t>Referencias agrupadas por función dentro del argumento, no como bibliografía exhaustiva.</a:t>
            </a:r>
          </a:p>
          <a:p>
            <a:r>
              <a:rPr lang="es-CL" dirty="0"/>
              <a:t>Cada grupo sostiene algo concreto: memoria y gestión del conocimiento sostienen el antecedente de continuidad; búsqueda y productividad sostienen el costo de localizar y relacionar; continuidad y transferencia sostienen la dependencia de conocimiento histórico; procedencia y gobernanza sostienen la trazabilidad y sus definiciones; reuniones y extracción sostienen el corpus y la tarea; recuperación aumentada y representación estructurada sostienen la condición de referencia C1; CALIDAD · BENCHMARKS · ANALÍTICA ESTRUCTURADA sostienen las métricas y los puntos de referencia de evaluación.</a:t>
            </a:r>
          </a:p>
          <a:p>
            <a:r>
              <a:rPr lang="es-CL" dirty="0"/>
              <a:t>La documentación primaria de OpenKOS se cita exclusivamente para describir la arquitectura, nunca como evidencia de valor.</a:t>
            </a:r>
          </a:p>
          <a:p>
            <a:r>
              <a:rPr lang="es-CL" dirty="0"/>
              <a:t>Límite: las referencias que ya no sostienen un antecedente, una definición, una métrica, una decisión metodológica o una arquitectura descrita no se mantienen sólo por inercia de versiones anteriores. La bibliografía completa con identificadores y enlaces está en el documento de research asociado.</a:t>
            </a:r>
          </a:p>
          <a:p>
            <a:r>
              <a:rPr lang="es-CL" dirty="0"/>
              <a:t>Cierre: con esto queda abierta la discusión.</a:t>
            </a:r>
          </a:p>
          <a:p>
            <a:r>
              <a:rPr lang="es-CL" dirty="0"/>
              <a:t>TRAZABILIDAD DEL AJUSTE · AJUSTE: el grupo bibliográfico se renombró como «Calidad · benchmarks · analítica estructurada», sin modificar las referencias.</a:t>
            </a:r>
          </a:p>
          <a:p>
            <a:r>
              <a:rPr lang="es-CL" dirty="0"/>
              <a:t>RAZÓN: la nueva denominación refleja el uso de Staudinger et al. como antecedente de analítica y consultas sobre representaciones estructuradas.</a:t>
            </a:r>
          </a:p>
          <a:p>
            <a:r>
              <a:rPr lang="es-CL" dirty="0"/>
              <a:t>CONEXIÓN CON FEEDBACK: mejora la trazabilidad entre antecedente bibliográfico, mecanismo evaluado y dimensión de valor.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310B902-5F08-DF75-E6B2-BFC9E687B6E2}"/>
              </a:ext>
            </a:extLst>
          </p:cNvPr>
          <p:cNvSpPr>
            <a:spLocks noGrp="1"/>
          </p:cNvSpPr>
          <p:nvPr>
            <p:ph type="dt" sz="half" idx="10"/>
          </p:nvPr>
        </p:nvSpPr>
        <p:spPr/>
        <p:txBody>
          <a:bodyPr/>
          <a:lstStyle/>
          <a:p>
            <a:fld id="{DA7A9A0A-0C67-2042-8AB7-846358EF90C0}" type="datetimeFigureOut">
              <a:rPr lang="es-CL" smtClean="0"/>
              <a:t>14-09-26</a:t>
            </a:fld>
            <a:endParaRPr lang="es-CL"/>
          </a:p>
        </p:txBody>
      </p:sp>
      <p:sp>
        <p:nvSpPr>
          <p:cNvPr id="3" name="Marcador de pie de página 2">
            <a:extLst>
              <a:ext uri="{FF2B5EF4-FFF2-40B4-BE49-F238E27FC236}">
                <a16:creationId xmlns:a16="http://schemas.microsoft.com/office/drawing/2014/main" id="{37C17B6E-66F6-CEAE-2E36-69B66E4DD113}"/>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8BF82027-0BE8-9611-F372-9D0A27EF9CD4}"/>
              </a:ext>
            </a:extLst>
          </p:cNvPr>
          <p:cNvSpPr>
            <a:spLocks noGrp="1"/>
          </p:cNvSpPr>
          <p:nvPr>
            <p:ph type="sldNum" sz="quarter" idx="12"/>
          </p:nvPr>
        </p:nvSpPr>
        <p:spPr/>
        <p:txBody>
          <a:bodyPr/>
          <a:lstStyle/>
          <a:p>
            <a:fld id="{2F01A8A6-DCE5-CE42-A2F0-46D792983C2D}" type="slidenum">
              <a:rPr lang="es-CL" smtClean="0"/>
              <a:t>‹Nº›</a:t>
            </a:fld>
            <a:endParaRPr lang="es-CL"/>
          </a:p>
        </p:txBody>
      </p:sp>
    </p:spTree>
    <p:extLst>
      <p:ext uri="{BB962C8B-B14F-4D97-AF65-F5344CB8AC3E}">
        <p14:creationId xmlns:p14="http://schemas.microsoft.com/office/powerpoint/2010/main" val="175469822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1524"/>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53859E9-80F0-A9DD-BCBB-0DA87492E7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A82DEC50-7F43-E072-2A2C-2DBB737349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2EB1747C-76E4-3F5E-F27C-7CB14E72B8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7A9A0A-0C67-2042-8AB7-846358EF90C0}" type="datetimeFigureOut">
              <a:rPr lang="es-CL" smtClean="0"/>
              <a:t>14-09-26</a:t>
            </a:fld>
            <a:endParaRPr lang="es-CL"/>
          </a:p>
        </p:txBody>
      </p:sp>
      <p:sp>
        <p:nvSpPr>
          <p:cNvPr id="5" name="Marcador de pie de página 4">
            <a:extLst>
              <a:ext uri="{FF2B5EF4-FFF2-40B4-BE49-F238E27FC236}">
                <a16:creationId xmlns:a16="http://schemas.microsoft.com/office/drawing/2014/main" id="{3639F849-3133-03AB-FC95-20860D0688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E631EBF3-CFE6-CEB9-F7E0-75AF93A6EB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01A8A6-DCE5-CE42-A2F0-46D792983C2D}" type="slidenum">
              <a:rPr lang="es-CL" smtClean="0"/>
              <a:t>‹Nº›</a:t>
            </a:fld>
            <a:endParaRPr lang="es-CL"/>
          </a:p>
        </p:txBody>
      </p:sp>
      <p:sp>
        <p:nvSpPr>
          <p:cNvPr id="920" name="Accent Mark"/>
          <p:cNvSpPr txBox="1"/>
          <p:nvPr/>
        </p:nvSpPr>
        <p:spPr>
          <a:xfrm>
            <a:off x="762000" y="431800"/>
            <a:ext cx="330200" cy="38100"/>
          </a:xfrm>
          <a:prstGeom prst="rect">
            <a:avLst/>
          </a:prstGeom>
          <a:solidFill>
            <a:srgbClr val="2ED3E8"/>
          </a:solidFill>
          <a:ln>
            <a:noFill/>
          </a:ln>
        </p:spPr>
        <p:txBody>
          <a:bodyPr wrap="square" lIns="0" tIns="0" rIns="0" bIns="0" anchor="ctr">
            <a:noAutofit/>
          </a:bodyPr>
          <a:lstStyle/>
          <a:p>
            <a:endParaRPr lang="es-CL"/>
          </a:p>
        </p:txBody>
      </p:sp>
      <p:sp>
        <p:nvSpPr>
          <p:cNvPr id="921" name="Footer Rule"/>
          <p:cNvSpPr txBox="1"/>
          <p:nvPr/>
        </p:nvSpPr>
        <p:spPr>
          <a:xfrm>
            <a:off x="762000" y="6400800"/>
            <a:ext cx="10668000" cy="12700"/>
          </a:xfrm>
          <a:prstGeom prst="rect">
            <a:avLst/>
          </a:prstGeom>
          <a:solidFill>
            <a:srgbClr val="1E3548"/>
          </a:solidFill>
          <a:ln>
            <a:noFill/>
          </a:ln>
        </p:spPr>
        <p:txBody>
          <a:bodyPr wrap="square" lIns="0" tIns="0" rIns="0" bIns="0" anchor="ctr">
            <a:noAutofit/>
          </a:bodyPr>
          <a:lstStyle/>
          <a:p>
            <a:endParaRPr lang="es-CL"/>
          </a:p>
        </p:txBody>
      </p:sp>
      <p:sp>
        <p:nvSpPr>
          <p:cNvPr id="922" name="Footer Text"/>
          <p:cNvSpPr txBox="1"/>
          <p:nvPr/>
        </p:nvSpPr>
        <p:spPr>
          <a:xfrm>
            <a:off x="762000" y="6502400"/>
            <a:ext cx="7112000" cy="203200"/>
          </a:xfrm>
          <a:prstGeom prst="rect">
            <a:avLst/>
          </a:prstGeom>
          <a:noFill/>
          <a:ln>
            <a:noFill/>
          </a:ln>
        </p:spPr>
        <p:txBody>
          <a:bodyPr wrap="square" lIns="0" tIns="0" rIns="0" bIns="0" anchor="ctr">
            <a:noAutofit/>
          </a:bodyPr>
          <a:lstStyle/>
          <a:p>
            <a:pPr algn="l">
              <a:buNone/>
            </a:pPr>
            <a:r>
              <a:rPr lang="es-CL" sz="1100" b="0" spc="120" dirty="0">
                <a:solidFill>
                  <a:srgbClr val="5A7290"/>
                </a:solidFill>
              </a:rPr>
              <a:t>PROPUESTA DE TESIS · MAGÍSTER EN CIENCIA DE DATOS · PUC · 2026</a:t>
            </a:r>
          </a:p>
        </p:txBody>
      </p:sp>
      <p:sp>
        <p:nvSpPr>
          <p:cNvPr id="923" name="Program Label"/>
          <p:cNvSpPr txBox="1"/>
          <p:nvPr/>
        </p:nvSpPr>
        <p:spPr>
          <a:xfrm>
            <a:off x="8382000" y="381000"/>
            <a:ext cx="3048000" cy="177800"/>
          </a:xfrm>
          <a:prstGeom prst="rect">
            <a:avLst/>
          </a:prstGeom>
          <a:noFill/>
          <a:ln>
            <a:noFill/>
          </a:ln>
        </p:spPr>
        <p:txBody>
          <a:bodyPr wrap="square" lIns="0" tIns="0" rIns="0" bIns="0" anchor="ctr">
            <a:noAutofit/>
          </a:bodyPr>
          <a:lstStyle/>
          <a:p>
            <a:pPr algn="r">
              <a:buNone/>
            </a:pPr>
            <a:r>
              <a:rPr lang="es-CL" sz="1100" b="0" spc="120" dirty="0">
                <a:solidFill>
                  <a:srgbClr val="5A7290"/>
                </a:solidFill>
              </a:rPr>
              <a:t>MAGÍSTER EN CIENCIA DE DATOS</a:t>
            </a:r>
          </a:p>
        </p:txBody>
      </p:sp>
    </p:spTree>
    <p:extLst>
      <p:ext uri="{BB962C8B-B14F-4D97-AF65-F5344CB8AC3E}">
        <p14:creationId xmlns:p14="http://schemas.microsoft.com/office/powerpoint/2010/main" val="1166784993"/>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D7E3E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D7E3EF"/>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D7E3EF"/>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D7E3E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D7E3E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D7E3EF"/>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D7E3EF"/>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D7E3EF"/>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D7E3EF"/>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524"/>
        </a:solidFill>
        <a:effectLst/>
      </p:bgPr>
    </p:bg>
    <p:spTree>
      <p:nvGrpSpPr>
        <p:cNvPr id="1" name=""/>
        <p:cNvGrpSpPr/>
        <p:nvPr/>
      </p:nvGrpSpPr>
      <p:grpSpPr>
        <a:xfrm>
          <a:off x="0" y="0"/>
          <a:ext cx="0" cy="0"/>
          <a:chOff x="0" y="0"/>
          <a:chExt cx="0" cy="0"/>
        </a:xfrm>
      </p:grpSpPr>
      <p:sp>
        <p:nvSpPr>
          <p:cNvPr id="1001" name="Fondo"/>
          <p:cNvSpPr/>
          <p:nvPr/>
        </p:nvSpPr>
        <p:spPr>
          <a:xfrm>
            <a:off x="0" y="0"/>
            <a:ext cx="12192000" cy="6858000"/>
          </a:xfrm>
          <a:prstGeom prst="rect">
            <a:avLst/>
          </a:prstGeom>
          <a:solidFill>
            <a:srgbClr val="0A1524"/>
          </a:solidFill>
          <a:ln>
            <a:noFill/>
          </a:ln>
        </p:spPr>
        <p:txBody>
          <a:bodyPr/>
          <a:lstStyle/>
          <a:p>
            <a:endParaRPr lang="es-CL"/>
          </a:p>
        </p:txBody>
      </p:sp>
      <p:sp>
        <p:nvSpPr>
          <p:cNvPr id="1002" name="BandaSup"/>
          <p:cNvSpPr/>
          <p:nvPr/>
        </p:nvSpPr>
        <p:spPr>
          <a:xfrm>
            <a:off x="0" y="0"/>
            <a:ext cx="12192000" cy="50800"/>
          </a:xfrm>
          <a:prstGeom prst="rect">
            <a:avLst/>
          </a:prstGeom>
          <a:solidFill>
            <a:srgbClr val="12406E"/>
          </a:solidFill>
          <a:ln>
            <a:noFill/>
          </a:ln>
        </p:spPr>
        <p:txBody>
          <a:bodyPr/>
          <a:lstStyle/>
          <a:p>
            <a:endParaRPr lang="es-CL"/>
          </a:p>
        </p:txBody>
      </p:sp>
      <p:sp>
        <p:nvSpPr>
          <p:cNvPr id="1004" name="Regla"/>
          <p:cNvSpPr/>
          <p:nvPr/>
        </p:nvSpPr>
        <p:spPr>
          <a:xfrm>
            <a:off x="762000" y="3810000"/>
            <a:ext cx="1524000" cy="19050"/>
          </a:xfrm>
          <a:prstGeom prst="rect">
            <a:avLst/>
          </a:prstGeom>
          <a:solidFill>
            <a:srgbClr val="2ED3E8"/>
          </a:solidFill>
          <a:ln>
            <a:noFill/>
          </a:ln>
        </p:spPr>
        <p:txBody>
          <a:bodyPr/>
          <a:lstStyle/>
          <a:p>
            <a:endParaRPr lang="es-CL"/>
          </a:p>
        </p:txBody>
      </p:sp>
      <p:sp>
        <p:nvSpPr>
          <p:cNvPr id="1005" name="Titulo"/>
          <p:cNvSpPr/>
          <p:nvPr/>
        </p:nvSpPr>
        <p:spPr>
          <a:xfrm>
            <a:off x="762000" y="4013200"/>
            <a:ext cx="10414000" cy="838200"/>
          </a:xfrm>
          <a:prstGeom prst="rect">
            <a:avLst/>
          </a:prstGeom>
          <a:noFill/>
          <a:ln>
            <a:noFill/>
          </a:ln>
        </p:spPr>
        <p:txBody>
          <a:bodyPr wrap="square" lIns="0" tIns="0" rIns="0" bIns="0" anchor="ctr">
            <a:noAutofit/>
          </a:bodyPr>
          <a:lstStyle/>
          <a:p>
            <a:pPr algn="l">
              <a:lnSpc>
                <a:spcPct val="100000"/>
              </a:lnSpc>
              <a:buNone/>
            </a:pPr>
            <a:r>
              <a:rPr lang="es-CL" sz="4800" b="1" spc="0" dirty="0">
                <a:solidFill>
                  <a:srgbClr val="FFFFFF"/>
                </a:solidFill>
              </a:rPr>
              <a:t>Valor organizacional de OpenKOS</a:t>
            </a:r>
          </a:p>
        </p:txBody>
      </p:sp>
      <p:sp>
        <p:nvSpPr>
          <p:cNvPr id="1006" name="Subtitulo"/>
          <p:cNvSpPr/>
          <p:nvPr/>
        </p:nvSpPr>
        <p:spPr>
          <a:xfrm>
            <a:off x="762000" y="5003800"/>
            <a:ext cx="10033000" cy="584200"/>
          </a:xfrm>
          <a:prstGeom prst="rect">
            <a:avLst/>
          </a:prstGeom>
          <a:noFill/>
          <a:ln>
            <a:noFill/>
          </a:ln>
        </p:spPr>
        <p:txBody>
          <a:bodyPr wrap="square" lIns="0" tIns="0" rIns="0" bIns="0" anchor="t">
            <a:noAutofit/>
          </a:bodyPr>
          <a:lstStyle/>
          <a:p>
            <a:pPr algn="l">
              <a:lnSpc>
                <a:spcPct val="130000"/>
              </a:lnSpc>
              <a:buNone/>
            </a:pPr>
            <a:r>
              <a:rPr lang="es-CL" sz="1700" b="0" spc="0" dirty="0">
                <a:solidFill>
                  <a:srgbClr val="9FB3C8"/>
                </a:solidFill>
              </a:rPr>
              <a:t>Antecedentes, mecanismos de valor y propuesta de medición para su incorporación en la tesis</a:t>
            </a:r>
          </a:p>
        </p:txBody>
      </p:sp>
      <p:pic>
        <p:nvPicPr>
          <p:cNvPr id="1900" name="LogoUC"/>
          <p:cNvPicPr>
            <a:picLocks noChangeAspect="1"/>
          </p:cNvPicPr>
          <p:nvPr/>
        </p:nvPicPr>
        <p:blipFill>
          <a:blip r:embed="rId3">
            <a:duotone>
              <a:srgbClr val="FFFFFF"/>
              <a:srgbClr val="FFFFFF"/>
            </a:duotone>
          </a:blip>
          <a:stretch>
            <a:fillRect/>
          </a:stretch>
        </p:blipFill>
        <p:spPr>
          <a:xfrm>
            <a:off x="762000" y="1016000"/>
            <a:ext cx="2159000" cy="1248410"/>
          </a:xfrm>
          <a:prstGeom prst="rect">
            <a:avLst/>
          </a:prstGeom>
        </p:spPr>
      </p:pic>
      <p:sp>
        <p:nvSpPr>
          <p:cNvPr id="1950" name="PiePortada"/>
          <p:cNvSpPr/>
          <p:nvPr/>
        </p:nvSpPr>
        <p:spPr>
          <a:xfrm>
            <a:off x="762000" y="6400800"/>
            <a:ext cx="10668000" cy="12700"/>
          </a:xfrm>
          <a:prstGeom prst="rect">
            <a:avLst/>
          </a:prstGeom>
          <a:solidFill>
            <a:srgbClr val="1D3A57"/>
          </a:solidFill>
          <a:ln>
            <a:noFill/>
          </a:ln>
        </p:spPr>
        <p:txBody>
          <a:bodyPr/>
          <a:lstStyle/>
          <a:p>
            <a:endParaRPr lang="es-CL"/>
          </a:p>
        </p:txBody>
      </p:sp>
      <p:sp>
        <p:nvSpPr>
          <p:cNvPr id="1951" name="PieTexto"/>
          <p:cNvSpPr/>
          <p:nvPr/>
        </p:nvSpPr>
        <p:spPr>
          <a:xfrm>
            <a:off x="762000" y="6502400"/>
            <a:ext cx="7620000" cy="203200"/>
          </a:xfrm>
          <a:prstGeom prst="rect">
            <a:avLst/>
          </a:prstGeom>
          <a:noFill/>
          <a:ln>
            <a:noFill/>
          </a:ln>
        </p:spPr>
        <p:txBody>
          <a:bodyPr wrap="square" lIns="0" tIns="0" rIns="0" bIns="0" anchor="ctr">
            <a:noAutofit/>
          </a:bodyPr>
          <a:lstStyle/>
          <a:p>
            <a:pPr algn="l">
              <a:buNone/>
            </a:pPr>
            <a:r>
              <a:rPr lang="es-CL" sz="1000" spc="140" dirty="0">
                <a:solidFill>
                  <a:srgbClr val="9FB3C8"/>
                </a:solidFill>
              </a:rPr>
              <a:t>PROPUESTA DE TESIS · MAGÍSTER EN CIENCIA DE DATOS · PUC · 2026</a:t>
            </a:r>
          </a:p>
        </p:txBody>
      </p:sp>
      <p:sp>
        <p:nvSpPr>
          <p:cNvPr id="1952" name="NumeroPortada"/>
          <p:cNvSpPr/>
          <p:nvPr/>
        </p:nvSpPr>
        <p:spPr>
          <a:xfrm>
            <a:off x="9652000" y="6502400"/>
            <a:ext cx="1778000" cy="203200"/>
          </a:xfrm>
          <a:prstGeom prst="rect">
            <a:avLst/>
          </a:prstGeom>
          <a:noFill/>
          <a:ln>
            <a:noFill/>
          </a:ln>
        </p:spPr>
        <p:txBody>
          <a:bodyPr wrap="square" lIns="0" tIns="0" rIns="0" bIns="0" anchor="ctr">
            <a:noAutofit/>
          </a:bodyPr>
          <a:lstStyle/>
          <a:p>
            <a:pPr algn="r">
              <a:buNone/>
            </a:pPr>
            <a:r>
              <a:rPr lang="es-CL" sz="1100" spc="120" dirty="0">
                <a:solidFill>
                  <a:srgbClr val="2ED3E8"/>
                </a:solidFill>
              </a:rPr>
              <a:t>[ 01 ]</a:t>
            </a:r>
          </a:p>
        </p:txBody>
      </p:sp>
    </p:spTree>
    <p:extLst>
      <p:ext uri="{BB962C8B-B14F-4D97-AF65-F5344CB8AC3E}">
        <p14:creationId xmlns:p14="http://schemas.microsoft.com/office/powerpoint/2010/main" val="2179667263"/>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5461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CADENA DE EVIDENCIA · MARCO DE MEDICIÓN NO CONFIRMATORIO</a:t>
            </a:r>
          </a:p>
        </p:txBody>
      </p:sp>
      <p:sp>
        <p:nvSpPr>
          <p:cNvPr id="1002" name="sh1002"/>
          <p:cNvSpPr/>
          <p:nvPr/>
        </p:nvSpPr>
        <p:spPr>
          <a:xfrm>
            <a:off x="762000" y="863600"/>
            <a:ext cx="10160000" cy="889000"/>
          </a:xfrm>
          <a:prstGeom prst="rect">
            <a:avLst/>
          </a:prstGeom>
          <a:noFill/>
          <a:ln>
            <a:noFill/>
          </a:ln>
        </p:spPr>
        <p:txBody>
          <a:bodyPr wrap="square" lIns="0" tIns="0" rIns="0" bIns="0" anchor="t">
            <a:noAutofit/>
          </a:bodyPr>
          <a:lstStyle/>
          <a:p>
            <a:pPr algn="l">
              <a:lnSpc>
                <a:spcPct val="108000"/>
              </a:lnSpc>
              <a:buNone/>
            </a:pPr>
            <a:r>
              <a:rPr lang="es-CL" sz="2800" b="1" spc="0" dirty="0">
                <a:solidFill>
                  <a:srgbClr val="12406E"/>
                </a:solidFill>
              </a:rPr>
              <a:t>¿Cómo evaluamos si, dónde y bajo qué condiciones OpenKOS podría generar valor organizacional?</a:t>
            </a:r>
          </a:p>
        </p:txBody>
      </p:sp>
      <p:sp>
        <p:nvSpPr>
          <p:cNvPr id="1003" name="sh1003"/>
          <p:cNvSpPr/>
          <p:nvPr/>
        </p:nvSpPr>
        <p:spPr>
          <a:xfrm>
            <a:off x="762000" y="19304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[ 02 ]</a:t>
            </a:r>
          </a:p>
        </p:txBody>
      </p:sp>
      <p:sp>
        <p:nvSpPr>
          <p:cNvPr id="1005" name="sh1005"/>
          <p:cNvSpPr/>
          <p:nvPr/>
        </p:nvSpPr>
        <p:spPr>
          <a:xfrm>
            <a:off x="762000" y="2235200"/>
            <a:ext cx="2349500" cy="38100"/>
          </a:xfrm>
          <a:prstGeom prst="rect">
            <a:avLst/>
          </a:prstGeom>
          <a:solidFill>
            <a:srgbClr val="12406E"/>
          </a:solidFill>
          <a:ln>
            <a:noFill/>
          </a:ln>
        </p:spPr>
        <p:txBody>
          <a:bodyPr/>
          <a:lstStyle/>
          <a:p>
            <a:endParaRPr lang="es-CL"/>
          </a:p>
        </p:txBody>
      </p:sp>
      <p:sp>
        <p:nvSpPr>
          <p:cNvPr id="1007" name="sh1007"/>
          <p:cNvSpPr/>
          <p:nvPr/>
        </p:nvSpPr>
        <p:spPr>
          <a:xfrm>
            <a:off x="762000" y="2413000"/>
            <a:ext cx="2349500" cy="381000"/>
          </a:xfrm>
          <a:prstGeom prst="rect">
            <a:avLst/>
          </a:prstGeom>
          <a:noFill/>
          <a:ln>
            <a:noFill/>
          </a:ln>
        </p:spPr>
        <p:txBody>
          <a:bodyPr wrap="square" lIns="0" tIns="0" rIns="0" bIns="0" anchor="ctr">
            <a:noAutofit/>
          </a:bodyPr>
          <a:lstStyle/>
          <a:p>
            <a:pPr algn="l">
              <a:buNone/>
            </a:pPr>
            <a:r>
              <a:rPr lang="es-CL" sz="1100" b="1" spc="80" dirty="0">
                <a:solidFill>
                  <a:srgbClr val="12406E"/>
                </a:solidFill>
              </a:rPr>
              <a:t>01  </a:t>
            </a:r>
            <a:r>
              <a:rPr lang="es-CL" sz="1700" b="1" spc="20" dirty="0">
                <a:solidFill>
                  <a:srgbClr val="0A1524"/>
                </a:solidFill>
              </a:rPr>
              <a:t>CAPACIDAD</a:t>
            </a:r>
          </a:p>
        </p:txBody>
      </p:sp>
      <p:sp>
        <p:nvSpPr>
          <p:cNvPr id="1008" name="sh1008"/>
          <p:cNvSpPr/>
          <p:nvPr/>
        </p:nvSpPr>
        <p:spPr>
          <a:xfrm>
            <a:off x="762000" y="2946400"/>
            <a:ext cx="2349500" cy="508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5A7290"/>
                </a:solidFill>
              </a:rPr>
              <a:t>Representar, relacionar y trazar conocimiento</a:t>
            </a:r>
          </a:p>
        </p:txBody>
      </p:sp>
      <p:sp>
        <p:nvSpPr>
          <p:cNvPr id="1009" name="sh1009"/>
          <p:cNvSpPr/>
          <p:nvPr/>
        </p:nvSpPr>
        <p:spPr>
          <a:xfrm>
            <a:off x="762000" y="3530600"/>
            <a:ext cx="2349500" cy="9525"/>
          </a:xfrm>
          <a:prstGeom prst="rect">
            <a:avLst/>
          </a:prstGeom>
          <a:solidFill>
            <a:srgbClr val="D8E2EC"/>
          </a:solidFill>
          <a:ln>
            <a:noFill/>
          </a:ln>
        </p:spPr>
        <p:txBody>
          <a:bodyPr/>
          <a:lstStyle/>
          <a:p>
            <a:endParaRPr lang="es-CL"/>
          </a:p>
        </p:txBody>
      </p:sp>
      <p:sp>
        <p:nvSpPr>
          <p:cNvPr id="1010" name="sh1010"/>
          <p:cNvSpPr/>
          <p:nvPr/>
        </p:nvSpPr>
        <p:spPr>
          <a:xfrm>
            <a:off x="762000" y="3683000"/>
            <a:ext cx="2349500" cy="1473200"/>
          </a:xfrm>
          <a:prstGeom prst="rect">
            <a:avLst/>
          </a:prstGeom>
          <a:noFill/>
          <a:ln>
            <a:noFill/>
          </a:ln>
        </p:spPr>
        <p:txBody>
          <a:bodyPr wrap="square" lIns="0" tIns="0" rIns="0" bIns="0" anchor="t">
            <a:noAutofit/>
          </a:bodyPr>
          <a:lstStyle/>
          <a:p>
            <a:pPr marL="139700" indent="-139700" algn="l">
              <a:lnSpc>
                <a:spcPct val="100000"/>
              </a:lnSpc>
              <a:buClr>
                <a:srgbClr val="12406E"/>
              </a:buClr>
              <a:buFont typeface="Segoe UI"/>
              <a:buChar char="–"/>
            </a:pPr>
            <a:r>
              <a:rPr lang="es-CL" sz="1300" b="0" spc="0" dirty="0">
                <a:solidFill>
                  <a:srgbClr val="0A1524"/>
                </a:solidFill>
              </a:rPr>
              <a:t>Persistencia</a:t>
            </a:r>
          </a:p>
          <a:p>
            <a:pPr marL="139700" indent="-139700" algn="l">
              <a:lnSpc>
                <a:spcPct val="100000"/>
              </a:lnSpc>
              <a:spcBef>
                <a:spcPts val="800"/>
              </a:spcBef>
              <a:buClr>
                <a:srgbClr val="12406E"/>
              </a:buClr>
              <a:buFont typeface="Segoe UI"/>
              <a:buChar char="–"/>
            </a:pPr>
            <a:r>
              <a:rPr lang="es-CL" sz="1300" b="0" spc="0" dirty="0">
                <a:solidFill>
                  <a:srgbClr val="0A1524"/>
                </a:solidFill>
              </a:rPr>
              <a:t>Estructuración</a:t>
            </a:r>
          </a:p>
          <a:p>
            <a:pPr marL="139700" indent="-139700" algn="l">
              <a:lnSpc>
                <a:spcPct val="100000"/>
              </a:lnSpc>
              <a:spcBef>
                <a:spcPts val="800"/>
              </a:spcBef>
              <a:buClr>
                <a:srgbClr val="12406E"/>
              </a:buClr>
              <a:buFont typeface="Segoe UI"/>
              <a:buChar char="–"/>
            </a:pPr>
            <a:r>
              <a:rPr lang="es-CL" sz="1300" b="0" spc="0" dirty="0">
                <a:solidFill>
                  <a:srgbClr val="0A1524"/>
                </a:solidFill>
              </a:rPr>
              <a:t>Procedencia</a:t>
            </a:r>
          </a:p>
          <a:p>
            <a:pPr marL="139700" indent="-139700" algn="l">
              <a:lnSpc>
                <a:spcPct val="100000"/>
              </a:lnSpc>
              <a:spcBef>
                <a:spcPts val="800"/>
              </a:spcBef>
              <a:buClr>
                <a:srgbClr val="12406E"/>
              </a:buClr>
              <a:buFont typeface="Segoe UI"/>
              <a:buChar char="–"/>
            </a:pPr>
            <a:r>
              <a:rPr lang="es-CL" sz="1300" b="0" spc="0" dirty="0">
                <a:solidFill>
                  <a:srgbClr val="0A1524"/>
                </a:solidFill>
              </a:rPr>
              <a:t>Relaciones</a:t>
            </a:r>
          </a:p>
          <a:p>
            <a:pPr marL="139700" indent="-139700" algn="l">
              <a:lnSpc>
                <a:spcPct val="100000"/>
              </a:lnSpc>
              <a:spcBef>
                <a:spcPts val="800"/>
              </a:spcBef>
              <a:buClr>
                <a:srgbClr val="12406E"/>
              </a:buClr>
              <a:buFont typeface="Segoe UI"/>
              <a:buChar char="–"/>
            </a:pPr>
            <a:r>
              <a:rPr lang="es-CL" sz="1300" b="0" spc="0" dirty="0">
                <a:solidFill>
                  <a:srgbClr val="0A1524"/>
                </a:solidFill>
              </a:rPr>
              <a:t>Vigencia</a:t>
            </a:r>
          </a:p>
        </p:txBody>
      </p:sp>
      <p:sp>
        <p:nvSpPr>
          <p:cNvPr id="1011" name="sh1011"/>
          <p:cNvSpPr/>
          <p:nvPr/>
        </p:nvSpPr>
        <p:spPr>
          <a:xfrm>
            <a:off x="3213100" y="2717800"/>
            <a:ext cx="228600" cy="0"/>
          </a:xfrm>
          <a:prstGeom prst="line">
            <a:avLst/>
          </a:prstGeom>
          <a:noFill/>
          <a:ln w="19050">
            <a:solidFill>
              <a:srgbClr val="1D5C9E"/>
            </a:solidFill>
            <a:tailEnd type="triangle" w="med" len="med"/>
          </a:ln>
        </p:spPr>
        <p:txBody>
          <a:bodyPr/>
          <a:lstStyle/>
          <a:p>
            <a:endParaRPr lang="es-CL"/>
          </a:p>
        </p:txBody>
      </p:sp>
      <p:sp>
        <p:nvSpPr>
          <p:cNvPr id="1012" name="sh1012"/>
          <p:cNvSpPr/>
          <p:nvPr/>
        </p:nvSpPr>
        <p:spPr>
          <a:xfrm>
            <a:off x="3530600" y="2235200"/>
            <a:ext cx="2349500" cy="38100"/>
          </a:xfrm>
          <a:prstGeom prst="rect">
            <a:avLst/>
          </a:prstGeom>
          <a:solidFill>
            <a:srgbClr val="1D5C9E"/>
          </a:solidFill>
          <a:ln>
            <a:noFill/>
          </a:ln>
        </p:spPr>
        <p:txBody>
          <a:bodyPr/>
          <a:lstStyle/>
          <a:p>
            <a:endParaRPr lang="es-CL"/>
          </a:p>
        </p:txBody>
      </p:sp>
      <p:sp>
        <p:nvSpPr>
          <p:cNvPr id="1014" name="sh1014"/>
          <p:cNvSpPr/>
          <p:nvPr/>
        </p:nvSpPr>
        <p:spPr>
          <a:xfrm>
            <a:off x="3530600" y="2413000"/>
            <a:ext cx="2349500" cy="381000"/>
          </a:xfrm>
          <a:prstGeom prst="rect">
            <a:avLst/>
          </a:prstGeom>
          <a:noFill/>
          <a:ln>
            <a:noFill/>
          </a:ln>
        </p:spPr>
        <p:txBody>
          <a:bodyPr wrap="square" lIns="0" tIns="0" rIns="0" bIns="0" anchor="ctr">
            <a:noAutofit/>
          </a:bodyPr>
          <a:lstStyle/>
          <a:p>
            <a:pPr algn="l">
              <a:buNone/>
            </a:pPr>
            <a:r>
              <a:rPr lang="es-CL" sz="1100" b="1" spc="80" dirty="0">
                <a:solidFill>
                  <a:srgbClr val="1D5C9E"/>
                </a:solidFill>
              </a:rPr>
              <a:t>02  </a:t>
            </a:r>
            <a:r>
              <a:rPr lang="es-CL" sz="1700" b="1" spc="20" dirty="0">
                <a:solidFill>
                  <a:srgbClr val="0A1524"/>
                </a:solidFill>
              </a:rPr>
              <a:t>UTILIDAD</a:t>
            </a:r>
          </a:p>
        </p:txBody>
      </p:sp>
      <p:sp>
        <p:nvSpPr>
          <p:cNvPr id="1015" name="sh1015"/>
          <p:cNvSpPr/>
          <p:nvPr/>
        </p:nvSpPr>
        <p:spPr>
          <a:xfrm>
            <a:off x="3530600" y="2946400"/>
            <a:ext cx="2349500" cy="508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5A7290"/>
                </a:solidFill>
              </a:rPr>
              <a:t>Mejorar tareas frente a una alternativa comparable</a:t>
            </a:r>
          </a:p>
        </p:txBody>
      </p:sp>
      <p:sp>
        <p:nvSpPr>
          <p:cNvPr id="1016" name="sh1016"/>
          <p:cNvSpPr/>
          <p:nvPr/>
        </p:nvSpPr>
        <p:spPr>
          <a:xfrm>
            <a:off x="3530600" y="3530600"/>
            <a:ext cx="2349500" cy="9525"/>
          </a:xfrm>
          <a:prstGeom prst="rect">
            <a:avLst/>
          </a:prstGeom>
          <a:solidFill>
            <a:srgbClr val="D8E2EC"/>
          </a:solidFill>
          <a:ln>
            <a:noFill/>
          </a:ln>
        </p:spPr>
        <p:txBody>
          <a:bodyPr/>
          <a:lstStyle/>
          <a:p>
            <a:endParaRPr lang="es-CL"/>
          </a:p>
        </p:txBody>
      </p:sp>
      <p:sp>
        <p:nvSpPr>
          <p:cNvPr id="1017" name="sh1017"/>
          <p:cNvSpPr/>
          <p:nvPr/>
        </p:nvSpPr>
        <p:spPr>
          <a:xfrm>
            <a:off x="3530600" y="3683000"/>
            <a:ext cx="2349500" cy="1473200"/>
          </a:xfrm>
          <a:prstGeom prst="rect">
            <a:avLst/>
          </a:prstGeom>
          <a:noFill/>
          <a:ln>
            <a:noFill/>
          </a:ln>
        </p:spPr>
        <p:txBody>
          <a:bodyPr wrap="square" lIns="0" tIns="0" rIns="0" bIns="0" anchor="t">
            <a:noAutofit/>
          </a:bodyPr>
          <a:lstStyle/>
          <a:p>
            <a:pPr marL="139700" indent="-139700" algn="l">
              <a:lnSpc>
                <a:spcPct val="100000"/>
              </a:lnSpc>
              <a:buClr>
                <a:srgbClr val="1D5C9E"/>
              </a:buClr>
              <a:buFont typeface="Segoe UI"/>
              <a:buChar char="–"/>
            </a:pPr>
            <a:r>
              <a:rPr lang="es-CL" sz="1300" b="0" spc="0" dirty="0">
                <a:solidFill>
                  <a:srgbClr val="0A1524"/>
                </a:solidFill>
              </a:rPr>
              <a:t>Encontrar</a:t>
            </a:r>
          </a:p>
          <a:p>
            <a:pPr marL="139700" indent="-139700" algn="l">
              <a:lnSpc>
                <a:spcPct val="100000"/>
              </a:lnSpc>
              <a:spcBef>
                <a:spcPts val="800"/>
              </a:spcBef>
              <a:buClr>
                <a:srgbClr val="1D5C9E"/>
              </a:buClr>
              <a:buFont typeface="Segoe UI"/>
              <a:buChar char="–"/>
            </a:pPr>
            <a:r>
              <a:rPr lang="es-CL" sz="1300" b="0" spc="0" dirty="0">
                <a:solidFill>
                  <a:srgbClr val="0A1524"/>
                </a:solidFill>
              </a:rPr>
              <a:t>Verificar</a:t>
            </a:r>
          </a:p>
          <a:p>
            <a:pPr marL="139700" indent="-139700" algn="l">
              <a:lnSpc>
                <a:spcPct val="100000"/>
              </a:lnSpc>
              <a:spcBef>
                <a:spcPts val="800"/>
              </a:spcBef>
              <a:buClr>
                <a:srgbClr val="1D5C9E"/>
              </a:buClr>
              <a:buFont typeface="Segoe UI"/>
              <a:buChar char="–"/>
            </a:pPr>
            <a:r>
              <a:rPr lang="es-CL" sz="1300" b="0" spc="0" dirty="0">
                <a:solidFill>
                  <a:srgbClr val="0A1524"/>
                </a:solidFill>
              </a:rPr>
              <a:t>Reconstruir</a:t>
            </a:r>
          </a:p>
          <a:p>
            <a:pPr marL="139700" indent="-139700" algn="l">
              <a:lnSpc>
                <a:spcPct val="100000"/>
              </a:lnSpc>
              <a:spcBef>
                <a:spcPts val="800"/>
              </a:spcBef>
              <a:buClr>
                <a:srgbClr val="1D5C9E"/>
              </a:buClr>
              <a:buFont typeface="Segoe UI"/>
              <a:buChar char="–"/>
            </a:pPr>
            <a:r>
              <a:rPr lang="es-CL" sz="1300" b="0" spc="0" dirty="0">
                <a:solidFill>
                  <a:srgbClr val="0A1524"/>
                </a:solidFill>
              </a:rPr>
              <a:t>Relacionar</a:t>
            </a:r>
          </a:p>
        </p:txBody>
      </p:sp>
      <p:sp>
        <p:nvSpPr>
          <p:cNvPr id="1018" name="sh1018"/>
          <p:cNvSpPr/>
          <p:nvPr/>
        </p:nvSpPr>
        <p:spPr>
          <a:xfrm>
            <a:off x="5981700" y="2717800"/>
            <a:ext cx="228600" cy="0"/>
          </a:xfrm>
          <a:prstGeom prst="line">
            <a:avLst/>
          </a:prstGeom>
          <a:noFill/>
          <a:ln w="19050">
            <a:solidFill>
              <a:srgbClr val="1D5C9E"/>
            </a:solidFill>
            <a:tailEnd type="triangle" w="med" len="med"/>
          </a:ln>
        </p:spPr>
        <p:txBody>
          <a:bodyPr/>
          <a:lstStyle/>
          <a:p>
            <a:endParaRPr lang="es-CL"/>
          </a:p>
        </p:txBody>
      </p:sp>
      <p:sp>
        <p:nvSpPr>
          <p:cNvPr id="1019" name="sh1019"/>
          <p:cNvSpPr/>
          <p:nvPr/>
        </p:nvSpPr>
        <p:spPr>
          <a:xfrm>
            <a:off x="6311900" y="2235200"/>
            <a:ext cx="2349500" cy="38100"/>
          </a:xfrm>
          <a:prstGeom prst="rect">
            <a:avLst/>
          </a:prstGeom>
          <a:solidFill>
            <a:srgbClr val="2A86B8"/>
          </a:solidFill>
          <a:ln>
            <a:noFill/>
          </a:ln>
        </p:spPr>
        <p:txBody>
          <a:bodyPr/>
          <a:lstStyle/>
          <a:p>
            <a:endParaRPr lang="es-CL"/>
          </a:p>
        </p:txBody>
      </p:sp>
      <p:sp>
        <p:nvSpPr>
          <p:cNvPr id="1021" name="sh1021"/>
          <p:cNvSpPr/>
          <p:nvPr/>
        </p:nvSpPr>
        <p:spPr>
          <a:xfrm>
            <a:off x="6311900" y="2413000"/>
            <a:ext cx="2349500" cy="381000"/>
          </a:xfrm>
          <a:prstGeom prst="rect">
            <a:avLst/>
          </a:prstGeom>
          <a:noFill/>
          <a:ln>
            <a:noFill/>
          </a:ln>
        </p:spPr>
        <p:txBody>
          <a:bodyPr wrap="square" lIns="0" tIns="0" rIns="0" bIns="0" anchor="ctr">
            <a:noAutofit/>
          </a:bodyPr>
          <a:lstStyle/>
          <a:p>
            <a:pPr algn="l">
              <a:buNone/>
            </a:pPr>
            <a:r>
              <a:rPr lang="es-CL" sz="1100" b="1" spc="80" dirty="0">
                <a:solidFill>
                  <a:srgbClr val="2A86B8"/>
                </a:solidFill>
              </a:rPr>
              <a:t>03  </a:t>
            </a:r>
            <a:r>
              <a:rPr lang="es-CL" sz="1700" b="1" spc="20" dirty="0">
                <a:solidFill>
                  <a:srgbClr val="0A1524"/>
                </a:solidFill>
              </a:rPr>
              <a:t>RESULTADO</a:t>
            </a:r>
          </a:p>
        </p:txBody>
      </p:sp>
      <p:sp>
        <p:nvSpPr>
          <p:cNvPr id="1022" name="sh1022"/>
          <p:cNvSpPr/>
          <p:nvPr/>
        </p:nvSpPr>
        <p:spPr>
          <a:xfrm>
            <a:off x="6311900" y="2946400"/>
            <a:ext cx="2349500" cy="508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5A7290"/>
                </a:solidFill>
              </a:rPr>
              <a:t>Cambiar tiempo, esfuerzo, calidad, costo o riesgo</a:t>
            </a:r>
          </a:p>
        </p:txBody>
      </p:sp>
      <p:sp>
        <p:nvSpPr>
          <p:cNvPr id="1023" name="sh1023"/>
          <p:cNvSpPr/>
          <p:nvPr/>
        </p:nvSpPr>
        <p:spPr>
          <a:xfrm>
            <a:off x="6311900" y="3530600"/>
            <a:ext cx="2349500" cy="9525"/>
          </a:xfrm>
          <a:prstGeom prst="rect">
            <a:avLst/>
          </a:prstGeom>
          <a:solidFill>
            <a:srgbClr val="D8E2EC"/>
          </a:solidFill>
          <a:ln>
            <a:noFill/>
          </a:ln>
        </p:spPr>
        <p:txBody>
          <a:bodyPr/>
          <a:lstStyle/>
          <a:p>
            <a:endParaRPr lang="es-CL"/>
          </a:p>
        </p:txBody>
      </p:sp>
      <p:sp>
        <p:nvSpPr>
          <p:cNvPr id="1024" name="sh1024"/>
          <p:cNvSpPr/>
          <p:nvPr/>
        </p:nvSpPr>
        <p:spPr>
          <a:xfrm>
            <a:off x="6311900" y="3683000"/>
            <a:ext cx="2349500" cy="1473200"/>
          </a:xfrm>
          <a:prstGeom prst="rect">
            <a:avLst/>
          </a:prstGeom>
          <a:noFill/>
          <a:ln>
            <a:noFill/>
          </a:ln>
        </p:spPr>
        <p:txBody>
          <a:bodyPr wrap="square" lIns="0" tIns="0" rIns="0" bIns="0" anchor="t">
            <a:noAutofit/>
          </a:bodyPr>
          <a:lstStyle/>
          <a:p>
            <a:pPr marL="139700" indent="-139700" algn="l">
              <a:lnSpc>
                <a:spcPct val="100000"/>
              </a:lnSpc>
              <a:buClr>
                <a:srgbClr val="2A86B8"/>
              </a:buClr>
              <a:buFont typeface="Segoe UI"/>
              <a:buChar char="–"/>
            </a:pPr>
            <a:r>
              <a:rPr lang="es-CL" sz="1300" b="0" spc="0" dirty="0">
                <a:solidFill>
                  <a:srgbClr val="0A1524"/>
                </a:solidFill>
              </a:rPr>
              <a:t>Menor tiempo</a:t>
            </a:r>
          </a:p>
          <a:p>
            <a:pPr marL="139700" indent="-139700" algn="l">
              <a:lnSpc>
                <a:spcPct val="100000"/>
              </a:lnSpc>
              <a:spcBef>
                <a:spcPts val="800"/>
              </a:spcBef>
              <a:buClr>
                <a:srgbClr val="2A86B8"/>
              </a:buClr>
              <a:buFont typeface="Segoe UI"/>
              <a:buChar char="–"/>
            </a:pPr>
            <a:r>
              <a:rPr lang="es-CL" sz="1300" b="0" spc="0" dirty="0">
                <a:solidFill>
                  <a:srgbClr val="0A1524"/>
                </a:solidFill>
              </a:rPr>
              <a:t>Menor esfuerzo</a:t>
            </a:r>
          </a:p>
          <a:p>
            <a:pPr marL="139700" indent="-139700" algn="l">
              <a:lnSpc>
                <a:spcPct val="100000"/>
              </a:lnSpc>
              <a:spcBef>
                <a:spcPts val="800"/>
              </a:spcBef>
              <a:buClr>
                <a:srgbClr val="2A86B8"/>
              </a:buClr>
              <a:buFont typeface="Segoe UI"/>
              <a:buChar char="–"/>
            </a:pPr>
            <a:r>
              <a:rPr lang="es-CL" sz="1300" b="0" spc="0" dirty="0">
                <a:solidFill>
                  <a:srgbClr val="0A1524"/>
                </a:solidFill>
              </a:rPr>
              <a:t>Menos errores</a:t>
            </a:r>
          </a:p>
          <a:p>
            <a:pPr marL="139700" indent="-139700" algn="l">
              <a:lnSpc>
                <a:spcPct val="100000"/>
              </a:lnSpc>
              <a:spcBef>
                <a:spcPts val="800"/>
              </a:spcBef>
              <a:buClr>
                <a:srgbClr val="2A86B8"/>
              </a:buClr>
              <a:buFont typeface="Segoe UI"/>
              <a:buChar char="–"/>
            </a:pPr>
            <a:r>
              <a:rPr lang="es-CL" sz="1300" b="0" spc="0" dirty="0">
                <a:solidFill>
                  <a:srgbClr val="0A1524"/>
                </a:solidFill>
              </a:rPr>
              <a:t>Mayor continuidad</a:t>
            </a:r>
          </a:p>
        </p:txBody>
      </p:sp>
      <p:sp>
        <p:nvSpPr>
          <p:cNvPr id="1025" name="sh1025"/>
          <p:cNvSpPr/>
          <p:nvPr/>
        </p:nvSpPr>
        <p:spPr>
          <a:xfrm>
            <a:off x="8763000" y="2717800"/>
            <a:ext cx="228600" cy="0"/>
          </a:xfrm>
          <a:prstGeom prst="line">
            <a:avLst/>
          </a:prstGeom>
          <a:noFill/>
          <a:ln w="19050">
            <a:solidFill>
              <a:srgbClr val="1D5C9E"/>
            </a:solidFill>
            <a:tailEnd type="triangle" w="med" len="med"/>
          </a:ln>
        </p:spPr>
        <p:txBody>
          <a:bodyPr/>
          <a:lstStyle/>
          <a:p>
            <a:endParaRPr lang="es-CL"/>
          </a:p>
        </p:txBody>
      </p:sp>
      <p:sp>
        <p:nvSpPr>
          <p:cNvPr id="1026" name="sh1026"/>
          <p:cNvSpPr/>
          <p:nvPr/>
        </p:nvSpPr>
        <p:spPr>
          <a:xfrm>
            <a:off x="9080500" y="2235200"/>
            <a:ext cx="2349500" cy="38100"/>
          </a:xfrm>
          <a:prstGeom prst="rect">
            <a:avLst/>
          </a:prstGeom>
          <a:solidFill>
            <a:srgbClr val="0E9BB5"/>
          </a:solidFill>
          <a:ln>
            <a:noFill/>
          </a:ln>
        </p:spPr>
        <p:txBody>
          <a:bodyPr/>
          <a:lstStyle/>
          <a:p>
            <a:endParaRPr lang="es-CL"/>
          </a:p>
        </p:txBody>
      </p:sp>
      <p:sp>
        <p:nvSpPr>
          <p:cNvPr id="1028" name="sh1028"/>
          <p:cNvSpPr/>
          <p:nvPr/>
        </p:nvSpPr>
        <p:spPr>
          <a:xfrm>
            <a:off x="9080500" y="2413000"/>
            <a:ext cx="2349500" cy="381000"/>
          </a:xfrm>
          <a:prstGeom prst="rect">
            <a:avLst/>
          </a:prstGeom>
          <a:noFill/>
          <a:ln>
            <a:noFill/>
          </a:ln>
        </p:spPr>
        <p:txBody>
          <a:bodyPr wrap="square" lIns="0" tIns="0" rIns="0" bIns="0" anchor="ctr">
            <a:noAutofit/>
          </a:bodyPr>
          <a:lstStyle/>
          <a:p>
            <a:pPr algn="l">
              <a:buNone/>
            </a:pPr>
            <a:r>
              <a:rPr lang="es-CL" sz="1100" b="1" spc="80" dirty="0">
                <a:solidFill>
                  <a:srgbClr val="0E9BB5"/>
                </a:solidFill>
              </a:rPr>
              <a:t>04  </a:t>
            </a:r>
            <a:r>
              <a:rPr lang="es-CL" sz="1700" b="1" spc="20" dirty="0">
                <a:solidFill>
                  <a:srgbClr val="0A1524"/>
                </a:solidFill>
              </a:rPr>
              <a:t>VALOR</a:t>
            </a:r>
          </a:p>
        </p:txBody>
      </p:sp>
      <p:sp>
        <p:nvSpPr>
          <p:cNvPr id="1029" name="sh1029"/>
          <p:cNvSpPr/>
          <p:nvPr/>
        </p:nvSpPr>
        <p:spPr>
          <a:xfrm>
            <a:off x="9080500" y="2946400"/>
            <a:ext cx="2349500" cy="508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5A7290"/>
                </a:solidFill>
              </a:rPr>
              <a:t>Beneficio observable que supera costos y limitaciones</a:t>
            </a:r>
          </a:p>
        </p:txBody>
      </p:sp>
      <p:sp>
        <p:nvSpPr>
          <p:cNvPr id="1030" name="sh1030"/>
          <p:cNvSpPr/>
          <p:nvPr/>
        </p:nvSpPr>
        <p:spPr>
          <a:xfrm>
            <a:off x="9080500" y="3530600"/>
            <a:ext cx="2349500" cy="9525"/>
          </a:xfrm>
          <a:prstGeom prst="rect">
            <a:avLst/>
          </a:prstGeom>
          <a:solidFill>
            <a:srgbClr val="D8E2EC"/>
          </a:solidFill>
          <a:ln>
            <a:noFill/>
          </a:ln>
        </p:spPr>
        <p:txBody>
          <a:bodyPr/>
          <a:lstStyle/>
          <a:p>
            <a:endParaRPr lang="es-CL"/>
          </a:p>
        </p:txBody>
      </p:sp>
      <p:sp>
        <p:nvSpPr>
          <p:cNvPr id="1031" name="sh1031"/>
          <p:cNvSpPr/>
          <p:nvPr/>
        </p:nvSpPr>
        <p:spPr>
          <a:xfrm>
            <a:off x="9080500" y="3683000"/>
            <a:ext cx="2349500" cy="1473200"/>
          </a:xfrm>
          <a:prstGeom prst="rect">
            <a:avLst/>
          </a:prstGeom>
          <a:noFill/>
          <a:ln>
            <a:noFill/>
          </a:ln>
        </p:spPr>
        <p:txBody>
          <a:bodyPr wrap="square" lIns="0" tIns="0" rIns="0" bIns="0" anchor="t">
            <a:noAutofit/>
          </a:bodyPr>
          <a:lstStyle/>
          <a:p>
            <a:pPr marL="139700" indent="-139700" algn="l">
              <a:lnSpc>
                <a:spcPct val="100000"/>
              </a:lnSpc>
              <a:buClr>
                <a:srgbClr val="0E9BB5"/>
              </a:buClr>
              <a:buFont typeface="Segoe UI"/>
              <a:buChar char="–"/>
            </a:pPr>
            <a:r>
              <a:rPr lang="es-CL" sz="1300" b="0" spc="0" dirty="0">
                <a:solidFill>
                  <a:srgbClr val="0A1524"/>
                </a:solidFill>
              </a:rPr>
              <a:t>Productividad</a:t>
            </a:r>
          </a:p>
          <a:p>
            <a:pPr marL="139700" indent="-139700" algn="l">
              <a:lnSpc>
                <a:spcPct val="100000"/>
              </a:lnSpc>
              <a:spcBef>
                <a:spcPts val="800"/>
              </a:spcBef>
              <a:buClr>
                <a:srgbClr val="0E9BB5"/>
              </a:buClr>
              <a:buFont typeface="Segoe UI"/>
              <a:buChar char="–"/>
            </a:pPr>
            <a:r>
              <a:rPr lang="es-CL" sz="1300" b="0" spc="0" dirty="0">
                <a:solidFill>
                  <a:srgbClr val="0A1524"/>
                </a:solidFill>
              </a:rPr>
              <a:t>Gobernanza</a:t>
            </a:r>
          </a:p>
          <a:p>
            <a:pPr marL="139700" indent="-139700" algn="l">
              <a:lnSpc>
                <a:spcPct val="100000"/>
              </a:lnSpc>
              <a:spcBef>
                <a:spcPts val="800"/>
              </a:spcBef>
              <a:buClr>
                <a:srgbClr val="0E9BB5"/>
              </a:buClr>
              <a:buFont typeface="Segoe UI"/>
              <a:buChar char="–"/>
            </a:pPr>
            <a:r>
              <a:rPr lang="es-CL" sz="1300" b="0" spc="0" dirty="0">
                <a:solidFill>
                  <a:srgbClr val="0A1524"/>
                </a:solidFill>
              </a:rPr>
              <a:t>Continuidad</a:t>
            </a:r>
          </a:p>
          <a:p>
            <a:pPr marL="139700" indent="-139700" algn="l">
              <a:lnSpc>
                <a:spcPct val="100000"/>
              </a:lnSpc>
              <a:spcBef>
                <a:spcPts val="800"/>
              </a:spcBef>
              <a:buClr>
                <a:srgbClr val="0E9BB5"/>
              </a:buClr>
              <a:buFont typeface="Segoe UI"/>
              <a:buChar char="–"/>
            </a:pPr>
            <a:r>
              <a:rPr lang="es-CL" sz="1300" b="0" spc="0" dirty="0">
                <a:solidFill>
                  <a:srgbClr val="0A1524"/>
                </a:solidFill>
              </a:rPr>
              <a:t>Menor riesgo</a:t>
            </a:r>
          </a:p>
        </p:txBody>
      </p:sp>
      <p:sp>
        <p:nvSpPr>
          <p:cNvPr id="1032" name="sh1032"/>
          <p:cNvSpPr/>
          <p:nvPr/>
        </p:nvSpPr>
        <p:spPr>
          <a:xfrm>
            <a:off x="762000" y="5334000"/>
            <a:ext cx="38100" cy="762000"/>
          </a:xfrm>
          <a:prstGeom prst="rect">
            <a:avLst/>
          </a:prstGeom>
          <a:solidFill>
            <a:srgbClr val="2ED3E8"/>
          </a:solidFill>
          <a:ln>
            <a:noFill/>
          </a:ln>
        </p:spPr>
        <p:txBody>
          <a:bodyPr/>
          <a:lstStyle/>
          <a:p>
            <a:endParaRPr lang="es-CL"/>
          </a:p>
        </p:txBody>
      </p:sp>
      <p:sp>
        <p:nvSpPr>
          <p:cNvPr id="1033" name="sh1033"/>
          <p:cNvSpPr/>
          <p:nvPr/>
        </p:nvSpPr>
        <p:spPr>
          <a:xfrm>
            <a:off x="990600" y="5207000"/>
            <a:ext cx="9144000" cy="508000"/>
          </a:xfrm>
          <a:prstGeom prst="rect">
            <a:avLst/>
          </a:prstGeom>
          <a:noFill/>
          <a:ln>
            <a:noFill/>
          </a:ln>
        </p:spPr>
        <p:txBody>
          <a:bodyPr wrap="square" lIns="0" tIns="0" rIns="0" bIns="0" anchor="t">
            <a:noAutofit/>
          </a:bodyPr>
          <a:lstStyle/>
          <a:p>
            <a:pPr algn="l">
              <a:lnSpc>
                <a:spcPct val="120000"/>
              </a:lnSpc>
              <a:buNone/>
            </a:pPr>
            <a:r>
              <a:rPr lang="es-CL" sz="1400" b="1" spc="0" dirty="0">
                <a:solidFill>
                  <a:srgbClr val="12406E"/>
                </a:solidFill>
              </a:rPr>
              <a:t>Una mejora técnica sólo adquiere relevancia organizacional cuando produce un resultado de trabajo observable.</a:t>
            </a:r>
          </a:p>
        </p:txBody>
      </p:sp>
      <p:sp>
        <p:nvSpPr>
          <p:cNvPr id="1034" name="sh1034"/>
          <p:cNvSpPr/>
          <p:nvPr/>
        </p:nvSpPr>
        <p:spPr>
          <a:xfrm>
            <a:off x="990600" y="5816600"/>
            <a:ext cx="9144000" cy="508000"/>
          </a:xfrm>
          <a:prstGeom prst="rect">
            <a:avLst/>
          </a:prstGeom>
          <a:noFill/>
          <a:ln>
            <a:noFill/>
          </a:ln>
        </p:spPr>
        <p:txBody>
          <a:bodyPr wrap="square" lIns="0" tIns="0" rIns="0" bIns="0" anchor="t">
            <a:noAutofit/>
          </a:bodyPr>
          <a:lstStyle/>
          <a:p>
            <a:pPr algn="l">
              <a:lnSpc>
                <a:spcPct val="100000"/>
              </a:lnSpc>
              <a:buNone/>
            </a:pPr>
            <a:r>
              <a:rPr lang="es-CL" sz="1150" b="0" spc="0" dirty="0">
                <a:solidFill>
                  <a:srgbClr val="4A5F78"/>
                </a:solidFill>
              </a:rPr>
              <a:t>La investigación debe estimar si ocurre, en qué tareas, con qué magnitud y a qué costo.</a:t>
            </a:r>
          </a:p>
          <a:p>
            <a:pPr algn="l">
              <a:spcBef>
                <a:spcPts val="500"/>
              </a:spcBef>
              <a:buNone/>
            </a:pPr>
            <a:r>
              <a:rPr lang="es-CL" sz="1150" b="0" spc="0" dirty="0">
                <a:solidFill>
                  <a:srgbClr val="4A5F78"/>
                </a:solidFill>
              </a:rPr>
              <a:t>Pregunta de valor: ¿en qué consultas la estructura podría reducir el esfuerzo de recuperar y verificar frente a RAG documental?</a:t>
            </a:r>
          </a:p>
        </p:txBody>
      </p:sp>
      <p:sp>
        <p:nvSpPr>
          <p:cNvPr id="1990" name="refs"/>
          <p:cNvSpPr/>
          <p:nvPr/>
        </p:nvSpPr>
        <p:spPr>
          <a:xfrm>
            <a:off x="6350000" y="660400"/>
            <a:ext cx="5080000" cy="177800"/>
          </a:xfrm>
          <a:prstGeom prst="rect">
            <a:avLst/>
          </a:prstGeom>
          <a:noFill/>
          <a:ln>
            <a:noFill/>
          </a:ln>
        </p:spPr>
        <p:txBody>
          <a:bodyPr wrap="square" lIns="0" tIns="0" rIns="0" bIns="0" anchor="ctr">
            <a:noAutofit/>
          </a:bodyPr>
          <a:lstStyle/>
          <a:p>
            <a:pPr algn="r">
              <a:buNone/>
            </a:pPr>
            <a:r>
              <a:rPr lang="es-CL" sz="950" dirty="0">
                <a:solidFill>
                  <a:srgbClr val="9FB3C8"/>
                </a:solidFill>
              </a:rPr>
              <a:t>OECD &amp; Statistics Canada (2004) · ISO 30401:2018</a:t>
            </a:r>
          </a:p>
        </p:txBody>
      </p:sp>
    </p:spTree>
    <p:extLst>
      <p:ext uri="{BB962C8B-B14F-4D97-AF65-F5344CB8AC3E}">
        <p14:creationId xmlns:p14="http://schemas.microsoft.com/office/powerpoint/2010/main" val="7334290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762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INTERPRETACIÓN DEL RESULTADO</a:t>
            </a:r>
          </a:p>
        </p:txBody>
      </p:sp>
      <p:sp>
        <p:nvSpPr>
          <p:cNvPr id="1002" name="sh1002"/>
          <p:cNvSpPr/>
          <p:nvPr/>
        </p:nvSpPr>
        <p:spPr>
          <a:xfrm>
            <a:off x="762000" y="863600"/>
            <a:ext cx="10160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Una mejor métrica no equivale automáticamente a valor</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[ 03 ]</a:t>
            </a:r>
          </a:p>
        </p:txBody>
      </p:sp>
      <p:sp>
        <p:nvSpPr>
          <p:cNvPr id="1005" name="sh1005"/>
          <p:cNvSpPr/>
          <p:nvPr/>
        </p:nvSpPr>
        <p:spPr>
          <a:xfrm>
            <a:off x="762000" y="1905000"/>
            <a:ext cx="3429000" cy="38100"/>
          </a:xfrm>
          <a:prstGeom prst="rect">
            <a:avLst/>
          </a:prstGeom>
          <a:solidFill>
            <a:srgbClr val="5A7290"/>
          </a:solidFill>
          <a:ln>
            <a:noFill/>
          </a:ln>
        </p:spPr>
        <p:txBody>
          <a:bodyPr/>
          <a:lstStyle/>
          <a:p>
            <a:endParaRPr lang="es-CL"/>
          </a:p>
        </p:txBody>
      </p:sp>
      <p:sp>
        <p:nvSpPr>
          <p:cNvPr id="1006" name="sh1006"/>
          <p:cNvSpPr/>
          <p:nvPr/>
        </p:nvSpPr>
        <p:spPr>
          <a:xfrm>
            <a:off x="762000" y="2032000"/>
            <a:ext cx="34290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5A7290"/>
                </a:solidFill>
              </a:rPr>
              <a:t>ESCENARIO A</a:t>
            </a:r>
          </a:p>
        </p:txBody>
      </p:sp>
      <p:sp>
        <p:nvSpPr>
          <p:cNvPr id="1007" name="sh1007"/>
          <p:cNvSpPr/>
          <p:nvPr/>
        </p:nvSpPr>
        <p:spPr>
          <a:xfrm>
            <a:off x="762000" y="2260600"/>
            <a:ext cx="3175000" cy="558800"/>
          </a:xfrm>
          <a:prstGeom prst="rect">
            <a:avLst/>
          </a:prstGeom>
          <a:noFill/>
          <a:ln>
            <a:noFill/>
          </a:ln>
        </p:spPr>
        <p:txBody>
          <a:bodyPr wrap="square" lIns="0" tIns="0" rIns="0" bIns="0" anchor="t">
            <a:noAutofit/>
          </a:bodyPr>
          <a:lstStyle/>
          <a:p>
            <a:pPr algn="l">
              <a:lnSpc>
                <a:spcPct val="110000"/>
              </a:lnSpc>
              <a:buNone/>
            </a:pPr>
            <a:r>
              <a:rPr lang="es-CL" sz="1500" b="1" spc="0" dirty="0">
                <a:solidFill>
                  <a:srgbClr val="0A1524"/>
                </a:solidFill>
              </a:rPr>
              <a:t>Mejora técnica sin efecto observable en la tarea</a:t>
            </a:r>
          </a:p>
        </p:txBody>
      </p:sp>
      <p:sp>
        <p:nvSpPr>
          <p:cNvPr id="1008" name="sh1008"/>
          <p:cNvSpPr/>
          <p:nvPr/>
        </p:nvSpPr>
        <p:spPr>
          <a:xfrm>
            <a:off x="762000" y="2921000"/>
            <a:ext cx="1651000" cy="330200"/>
          </a:xfrm>
          <a:prstGeom prst="rect">
            <a:avLst/>
          </a:prstGeom>
          <a:solidFill>
            <a:srgbClr val="F1F5F9"/>
          </a:solidFill>
          <a:ln>
            <a:noFill/>
          </a:ln>
        </p:spPr>
        <p:txBody>
          <a:bodyPr wrap="square" lIns="50800" tIns="50800" rIns="50800" bIns="50800" anchor="ctr">
            <a:noAutofit/>
          </a:bodyPr>
          <a:lstStyle/>
          <a:p>
            <a:pPr algn="ctr">
              <a:lnSpc>
                <a:spcPct val="100000"/>
              </a:lnSpc>
              <a:buNone/>
            </a:pPr>
            <a:r>
              <a:rPr lang="es-CL" sz="1000" b="0" spc="0" dirty="0">
                <a:solidFill>
                  <a:srgbClr val="12406E"/>
                </a:solidFill>
              </a:rPr>
              <a:t>Métrica técnica mejora</a:t>
            </a:r>
          </a:p>
        </p:txBody>
      </p:sp>
      <p:sp>
        <p:nvSpPr>
          <p:cNvPr id="1009" name="sh1009"/>
          <p:cNvSpPr/>
          <p:nvPr/>
        </p:nvSpPr>
        <p:spPr>
          <a:xfrm>
            <a:off x="2463800" y="3086100"/>
            <a:ext cx="203200" cy="0"/>
          </a:xfrm>
          <a:prstGeom prst="line">
            <a:avLst/>
          </a:prstGeom>
          <a:noFill/>
          <a:ln w="12700">
            <a:solidFill>
              <a:srgbClr val="9FB3C8"/>
            </a:solidFill>
            <a:tailEnd type="triangle" w="med" len="med"/>
          </a:ln>
        </p:spPr>
        <p:txBody>
          <a:bodyPr/>
          <a:lstStyle/>
          <a:p>
            <a:endParaRPr lang="es-CL"/>
          </a:p>
        </p:txBody>
      </p:sp>
      <p:sp>
        <p:nvSpPr>
          <p:cNvPr id="1010" name="sh1010"/>
          <p:cNvSpPr/>
          <p:nvPr/>
        </p:nvSpPr>
        <p:spPr>
          <a:xfrm>
            <a:off x="2717800" y="2921000"/>
            <a:ext cx="1473200" cy="330200"/>
          </a:xfrm>
          <a:prstGeom prst="rect">
            <a:avLst/>
          </a:prstGeom>
          <a:solidFill>
            <a:srgbClr val="5A7290"/>
          </a:solidFill>
          <a:ln>
            <a:noFill/>
          </a:ln>
        </p:spPr>
        <p:txBody>
          <a:bodyPr wrap="square" lIns="50800" tIns="50800" rIns="50800" bIns="50800" anchor="ctr">
            <a:noAutofit/>
          </a:bodyPr>
          <a:lstStyle/>
          <a:p>
            <a:pPr algn="ctr">
              <a:lnSpc>
                <a:spcPct val="95000"/>
              </a:lnSpc>
              <a:buNone/>
            </a:pPr>
            <a:r>
              <a:rPr lang="es-CL" sz="1000" b="1" spc="0" dirty="0">
                <a:solidFill>
                  <a:srgbClr val="FFFFFF"/>
                </a:solidFill>
              </a:rPr>
              <a:t>Resultado de tarea sin cambio</a:t>
            </a:r>
          </a:p>
        </p:txBody>
      </p:sp>
      <p:sp>
        <p:nvSpPr>
          <p:cNvPr id="1011" name="sh1011"/>
          <p:cNvSpPr/>
          <p:nvPr/>
        </p:nvSpPr>
        <p:spPr>
          <a:xfrm>
            <a:off x="762000" y="3378200"/>
            <a:ext cx="3276600" cy="762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La métrica del sistema mejora, pero el tiempo, el esfuerzo y los errores de la tarea permanecen iguales. No hay evidencia observable de valor en esa tarea.</a:t>
            </a:r>
          </a:p>
        </p:txBody>
      </p:sp>
      <p:sp>
        <p:nvSpPr>
          <p:cNvPr id="1012" name="sh1012"/>
          <p:cNvSpPr/>
          <p:nvPr/>
        </p:nvSpPr>
        <p:spPr>
          <a:xfrm>
            <a:off x="4381500" y="1905000"/>
            <a:ext cx="3429000" cy="38100"/>
          </a:xfrm>
          <a:prstGeom prst="rect">
            <a:avLst/>
          </a:prstGeom>
          <a:solidFill>
            <a:srgbClr val="12684B"/>
          </a:solidFill>
          <a:ln>
            <a:noFill/>
          </a:ln>
        </p:spPr>
        <p:txBody>
          <a:bodyPr/>
          <a:lstStyle/>
          <a:p>
            <a:endParaRPr lang="es-CL"/>
          </a:p>
        </p:txBody>
      </p:sp>
      <p:sp>
        <p:nvSpPr>
          <p:cNvPr id="1013" name="sh1013"/>
          <p:cNvSpPr/>
          <p:nvPr/>
        </p:nvSpPr>
        <p:spPr>
          <a:xfrm>
            <a:off x="4381500" y="2032000"/>
            <a:ext cx="34290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1E8E6A"/>
                </a:solidFill>
              </a:rPr>
              <a:t>ESCENARIO B</a:t>
            </a:r>
          </a:p>
        </p:txBody>
      </p:sp>
      <p:sp>
        <p:nvSpPr>
          <p:cNvPr id="1014" name="sh1014"/>
          <p:cNvSpPr/>
          <p:nvPr/>
        </p:nvSpPr>
        <p:spPr>
          <a:xfrm>
            <a:off x="4381500" y="2260600"/>
            <a:ext cx="3175000" cy="558800"/>
          </a:xfrm>
          <a:prstGeom prst="rect">
            <a:avLst/>
          </a:prstGeom>
          <a:noFill/>
          <a:ln>
            <a:noFill/>
          </a:ln>
        </p:spPr>
        <p:txBody>
          <a:bodyPr wrap="square" lIns="0" tIns="0" rIns="0" bIns="0" anchor="t">
            <a:noAutofit/>
          </a:bodyPr>
          <a:lstStyle/>
          <a:p>
            <a:pPr algn="l">
              <a:lnSpc>
                <a:spcPct val="110000"/>
              </a:lnSpc>
              <a:buNone/>
            </a:pPr>
            <a:r>
              <a:rPr lang="es-CL" sz="1500" b="1" spc="0" dirty="0">
                <a:solidFill>
                  <a:srgbClr val="0A1524"/>
                </a:solidFill>
              </a:rPr>
              <a:t>Mejora técnica con efecto observable en la tarea</a:t>
            </a:r>
          </a:p>
        </p:txBody>
      </p:sp>
      <p:sp>
        <p:nvSpPr>
          <p:cNvPr id="1015" name="sh1015"/>
          <p:cNvSpPr/>
          <p:nvPr/>
        </p:nvSpPr>
        <p:spPr>
          <a:xfrm>
            <a:off x="4381500" y="2921000"/>
            <a:ext cx="1651000" cy="330200"/>
          </a:xfrm>
          <a:prstGeom prst="rect">
            <a:avLst/>
          </a:prstGeom>
          <a:solidFill>
            <a:srgbClr val="F1F5F9"/>
          </a:solidFill>
          <a:ln>
            <a:noFill/>
          </a:ln>
        </p:spPr>
        <p:txBody>
          <a:bodyPr wrap="square" lIns="50800" tIns="50800" rIns="50800" bIns="50800" anchor="ctr">
            <a:noAutofit/>
          </a:bodyPr>
          <a:lstStyle/>
          <a:p>
            <a:pPr algn="ctr">
              <a:lnSpc>
                <a:spcPct val="100000"/>
              </a:lnSpc>
              <a:buNone/>
            </a:pPr>
            <a:r>
              <a:rPr lang="es-CL" sz="1000" b="0" spc="0" dirty="0">
                <a:solidFill>
                  <a:srgbClr val="12406E"/>
                </a:solidFill>
              </a:rPr>
              <a:t>Métrica técnica mejora</a:t>
            </a:r>
          </a:p>
        </p:txBody>
      </p:sp>
      <p:sp>
        <p:nvSpPr>
          <p:cNvPr id="1016" name="sh1016"/>
          <p:cNvSpPr/>
          <p:nvPr/>
        </p:nvSpPr>
        <p:spPr>
          <a:xfrm>
            <a:off x="6083300" y="3086100"/>
            <a:ext cx="203200" cy="0"/>
          </a:xfrm>
          <a:prstGeom prst="line">
            <a:avLst/>
          </a:prstGeom>
          <a:noFill/>
          <a:ln w="12700">
            <a:solidFill>
              <a:srgbClr val="9FB3C8"/>
            </a:solidFill>
            <a:tailEnd type="triangle" w="med" len="med"/>
          </a:ln>
        </p:spPr>
        <p:txBody>
          <a:bodyPr/>
          <a:lstStyle/>
          <a:p>
            <a:endParaRPr lang="es-CL"/>
          </a:p>
        </p:txBody>
      </p:sp>
      <p:sp>
        <p:nvSpPr>
          <p:cNvPr id="1017" name="sh1017"/>
          <p:cNvSpPr/>
          <p:nvPr/>
        </p:nvSpPr>
        <p:spPr>
          <a:xfrm>
            <a:off x="6337300" y="2921000"/>
            <a:ext cx="1473200" cy="330200"/>
          </a:xfrm>
          <a:prstGeom prst="rect">
            <a:avLst/>
          </a:prstGeom>
          <a:solidFill>
            <a:srgbClr val="12684B"/>
          </a:solidFill>
          <a:ln>
            <a:noFill/>
          </a:ln>
        </p:spPr>
        <p:txBody>
          <a:bodyPr wrap="square" lIns="50800" tIns="50800" rIns="50800" bIns="50800" anchor="ctr">
            <a:noAutofit/>
          </a:bodyPr>
          <a:lstStyle/>
          <a:p>
            <a:pPr algn="ctr">
              <a:lnSpc>
                <a:spcPct val="95000"/>
              </a:lnSpc>
              <a:buNone/>
            </a:pPr>
            <a:r>
              <a:rPr lang="es-CL" sz="1000" b="1" spc="0" dirty="0">
                <a:solidFill>
                  <a:srgbClr val="FFFFFF"/>
                </a:solidFill>
              </a:rPr>
              <a:t>Resultado de tarea mejora</a:t>
            </a:r>
          </a:p>
        </p:txBody>
      </p:sp>
      <p:sp>
        <p:nvSpPr>
          <p:cNvPr id="1018" name="sh1018"/>
          <p:cNvSpPr/>
          <p:nvPr/>
        </p:nvSpPr>
        <p:spPr>
          <a:xfrm>
            <a:off x="4381500" y="3378200"/>
            <a:ext cx="3276600" cy="762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La mejora técnica se traduce en un resultado observable de tarea; con validación adicional, potencial de valor organizacional.</a:t>
            </a:r>
          </a:p>
        </p:txBody>
      </p:sp>
      <p:sp>
        <p:nvSpPr>
          <p:cNvPr id="1019" name="sh1019"/>
          <p:cNvSpPr/>
          <p:nvPr/>
        </p:nvSpPr>
        <p:spPr>
          <a:xfrm>
            <a:off x="8001000" y="1905000"/>
            <a:ext cx="3429000" cy="38100"/>
          </a:xfrm>
          <a:prstGeom prst="rect">
            <a:avLst/>
          </a:prstGeom>
          <a:solidFill>
            <a:srgbClr val="0A6D82"/>
          </a:solidFill>
          <a:ln>
            <a:noFill/>
          </a:ln>
        </p:spPr>
        <p:txBody>
          <a:bodyPr/>
          <a:lstStyle/>
          <a:p>
            <a:endParaRPr lang="es-CL"/>
          </a:p>
        </p:txBody>
      </p:sp>
      <p:sp>
        <p:nvSpPr>
          <p:cNvPr id="1020" name="sh1020"/>
          <p:cNvSpPr/>
          <p:nvPr/>
        </p:nvSpPr>
        <p:spPr>
          <a:xfrm>
            <a:off x="8001000" y="2032000"/>
            <a:ext cx="34290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0E9BB5"/>
                </a:solidFill>
              </a:rPr>
              <a:t>ESCENARIO C</a:t>
            </a:r>
          </a:p>
        </p:txBody>
      </p:sp>
      <p:sp>
        <p:nvSpPr>
          <p:cNvPr id="1021" name="sh1021"/>
          <p:cNvSpPr/>
          <p:nvPr/>
        </p:nvSpPr>
        <p:spPr>
          <a:xfrm>
            <a:off x="8001000" y="2260600"/>
            <a:ext cx="3175000" cy="558800"/>
          </a:xfrm>
          <a:prstGeom prst="rect">
            <a:avLst/>
          </a:prstGeom>
          <a:noFill/>
          <a:ln>
            <a:noFill/>
          </a:ln>
        </p:spPr>
        <p:txBody>
          <a:bodyPr wrap="square" lIns="0" tIns="0" rIns="0" bIns="0" anchor="t">
            <a:noAutofit/>
          </a:bodyPr>
          <a:lstStyle/>
          <a:p>
            <a:pPr algn="l">
              <a:lnSpc>
                <a:spcPct val="110000"/>
              </a:lnSpc>
              <a:buNone/>
            </a:pPr>
            <a:r>
              <a:rPr lang="es-CL" sz="1500" b="1" spc="0" dirty="0">
                <a:solidFill>
                  <a:srgbClr val="0A1524"/>
                </a:solidFill>
              </a:rPr>
              <a:t>Resultado dependiente del contexto</a:t>
            </a:r>
          </a:p>
        </p:txBody>
      </p:sp>
      <p:sp>
        <p:nvSpPr>
          <p:cNvPr id="1022" name="sh1022"/>
          <p:cNvSpPr/>
          <p:nvPr/>
        </p:nvSpPr>
        <p:spPr>
          <a:xfrm>
            <a:off x="8001000" y="2921000"/>
            <a:ext cx="1651000" cy="330200"/>
          </a:xfrm>
          <a:prstGeom prst="rect">
            <a:avLst/>
          </a:prstGeom>
          <a:solidFill>
            <a:srgbClr val="F1F5F9"/>
          </a:solidFill>
          <a:ln>
            <a:noFill/>
          </a:ln>
        </p:spPr>
        <p:txBody>
          <a:bodyPr wrap="square" lIns="50800" tIns="50800" rIns="50800" bIns="50800" anchor="ctr">
            <a:noAutofit/>
          </a:bodyPr>
          <a:lstStyle/>
          <a:p>
            <a:pPr algn="ctr">
              <a:lnSpc>
                <a:spcPct val="100000"/>
              </a:lnSpc>
              <a:buNone/>
            </a:pPr>
            <a:r>
              <a:rPr lang="es-CL" sz="1000" b="0" spc="0" dirty="0">
                <a:solidFill>
                  <a:srgbClr val="12406E"/>
                </a:solidFill>
              </a:rPr>
              <a:t>Métrica técnica mejora</a:t>
            </a:r>
          </a:p>
        </p:txBody>
      </p:sp>
      <p:sp>
        <p:nvSpPr>
          <p:cNvPr id="1023" name="sh1023"/>
          <p:cNvSpPr/>
          <p:nvPr/>
        </p:nvSpPr>
        <p:spPr>
          <a:xfrm>
            <a:off x="9702800" y="3086100"/>
            <a:ext cx="203200" cy="0"/>
          </a:xfrm>
          <a:prstGeom prst="line">
            <a:avLst/>
          </a:prstGeom>
          <a:noFill/>
          <a:ln w="12700">
            <a:solidFill>
              <a:srgbClr val="9FB3C8"/>
            </a:solidFill>
            <a:tailEnd type="triangle" w="med" len="med"/>
          </a:ln>
        </p:spPr>
        <p:txBody>
          <a:bodyPr/>
          <a:lstStyle/>
          <a:p>
            <a:endParaRPr lang="es-CL"/>
          </a:p>
        </p:txBody>
      </p:sp>
      <p:sp>
        <p:nvSpPr>
          <p:cNvPr id="1024" name="sh1024"/>
          <p:cNvSpPr/>
          <p:nvPr/>
        </p:nvSpPr>
        <p:spPr>
          <a:xfrm>
            <a:off x="9956800" y="2921000"/>
            <a:ext cx="1473200" cy="330200"/>
          </a:xfrm>
          <a:prstGeom prst="rect">
            <a:avLst/>
          </a:prstGeom>
          <a:solidFill>
            <a:srgbClr val="0A6D82"/>
          </a:solidFill>
          <a:ln>
            <a:noFill/>
          </a:ln>
        </p:spPr>
        <p:txBody>
          <a:bodyPr wrap="square" lIns="50800" tIns="50800" rIns="50800" bIns="50800" anchor="ctr">
            <a:noAutofit/>
          </a:bodyPr>
          <a:lstStyle/>
          <a:p>
            <a:pPr algn="ctr">
              <a:lnSpc>
                <a:spcPct val="95000"/>
              </a:lnSpc>
              <a:buNone/>
            </a:pPr>
            <a:r>
              <a:rPr lang="es-CL" sz="1000" b="1" spc="0" dirty="0">
                <a:solidFill>
                  <a:srgbClr val="FFFFFF"/>
                </a:solidFill>
              </a:rPr>
              <a:t>Resultado heterogéneo</a:t>
            </a:r>
          </a:p>
        </p:txBody>
      </p:sp>
      <p:sp>
        <p:nvSpPr>
          <p:cNvPr id="1025" name="sh1025"/>
          <p:cNvSpPr/>
          <p:nvPr/>
        </p:nvSpPr>
        <p:spPr>
          <a:xfrm>
            <a:off x="8001000" y="3378200"/>
            <a:ext cx="3276600" cy="762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El efecto aparece sólo en ciertas tareas, preguntas o condiciones. El valor es condicional y debe declararse como tal.</a:t>
            </a:r>
          </a:p>
        </p:txBody>
      </p:sp>
      <p:sp>
        <p:nvSpPr>
          <p:cNvPr id="1026" name="sh1026"/>
          <p:cNvSpPr/>
          <p:nvPr/>
        </p:nvSpPr>
        <p:spPr>
          <a:xfrm>
            <a:off x="762000" y="4368800"/>
            <a:ext cx="10668000" cy="9525"/>
          </a:xfrm>
          <a:prstGeom prst="rect">
            <a:avLst/>
          </a:prstGeom>
          <a:solidFill>
            <a:srgbClr val="D8E2EC"/>
          </a:solidFill>
          <a:ln>
            <a:noFill/>
          </a:ln>
        </p:spPr>
        <p:txBody>
          <a:bodyPr/>
          <a:lstStyle/>
          <a:p>
            <a:endParaRPr lang="es-CL"/>
          </a:p>
        </p:txBody>
      </p:sp>
      <p:sp>
        <p:nvSpPr>
          <p:cNvPr id="1027" name="sh1027"/>
          <p:cNvSpPr/>
          <p:nvPr/>
        </p:nvSpPr>
        <p:spPr>
          <a:xfrm>
            <a:off x="762000" y="4521200"/>
            <a:ext cx="3276600" cy="2032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12406E"/>
                </a:solidFill>
              </a:rPr>
              <a:t>COMPARATIVO</a:t>
            </a:r>
          </a:p>
        </p:txBody>
      </p:sp>
      <p:sp>
        <p:nvSpPr>
          <p:cNvPr id="1028" name="sh1028"/>
          <p:cNvSpPr/>
          <p:nvPr/>
        </p:nvSpPr>
        <p:spPr>
          <a:xfrm>
            <a:off x="762000" y="4775200"/>
            <a:ext cx="3276600" cy="5842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Toda mejora se interpreta frente a una alternativa comparable y una tarea definida.</a:t>
            </a:r>
          </a:p>
        </p:txBody>
      </p:sp>
      <p:sp>
        <p:nvSpPr>
          <p:cNvPr id="1029" name="sh1029"/>
          <p:cNvSpPr/>
          <p:nvPr/>
        </p:nvSpPr>
        <p:spPr>
          <a:xfrm>
            <a:off x="4381500" y="4521200"/>
            <a:ext cx="3276600" cy="2032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12406E"/>
                </a:solidFill>
              </a:rPr>
              <a:t>MULTIDIMENSIONAL</a:t>
            </a:r>
          </a:p>
        </p:txBody>
      </p:sp>
      <p:sp>
        <p:nvSpPr>
          <p:cNvPr id="1030" name="sh1030"/>
          <p:cNvSpPr/>
          <p:nvPr/>
        </p:nvSpPr>
        <p:spPr>
          <a:xfrm>
            <a:off x="4381500" y="4775200"/>
            <a:ext cx="3276600" cy="5842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El valor se observa como vector: calidad, esfuerzo, tiempo, trazabilidad, costo y riesgo.</a:t>
            </a:r>
          </a:p>
        </p:txBody>
      </p:sp>
      <p:sp>
        <p:nvSpPr>
          <p:cNvPr id="1031" name="sh1031"/>
          <p:cNvSpPr/>
          <p:nvPr/>
        </p:nvSpPr>
        <p:spPr>
          <a:xfrm>
            <a:off x="8001000" y="4521200"/>
            <a:ext cx="3276600" cy="2032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12406E"/>
                </a:solidFill>
              </a:rPr>
              <a:t>ESCALONADO</a:t>
            </a:r>
          </a:p>
        </p:txBody>
      </p:sp>
      <p:sp>
        <p:nvSpPr>
          <p:cNvPr id="1032" name="sh1032"/>
          <p:cNvSpPr/>
          <p:nvPr/>
        </p:nvSpPr>
        <p:spPr>
          <a:xfrm>
            <a:off x="8001000" y="4775200"/>
            <a:ext cx="3276600" cy="5842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La evidencia progresa desde desempeño técnico hasta resultados operacionales y económicos.</a:t>
            </a:r>
          </a:p>
        </p:txBody>
      </p:sp>
      <p:sp>
        <p:nvSpPr>
          <p:cNvPr id="1033" name="sh1033"/>
          <p:cNvSpPr/>
          <p:nvPr/>
        </p:nvSpPr>
        <p:spPr>
          <a:xfrm>
            <a:off x="762000" y="5537200"/>
            <a:ext cx="38100" cy="533400"/>
          </a:xfrm>
          <a:prstGeom prst="rect">
            <a:avLst/>
          </a:prstGeom>
          <a:solidFill>
            <a:srgbClr val="2ED3E8"/>
          </a:solidFill>
          <a:ln>
            <a:noFill/>
          </a:ln>
        </p:spPr>
        <p:txBody>
          <a:bodyPr/>
          <a:lstStyle/>
          <a:p>
            <a:endParaRPr lang="es-CL"/>
          </a:p>
        </p:txBody>
      </p:sp>
      <p:sp>
        <p:nvSpPr>
          <p:cNvPr id="1034" name="sh1034"/>
          <p:cNvSpPr/>
          <p:nvPr/>
        </p:nvSpPr>
        <p:spPr>
          <a:xfrm>
            <a:off x="990600" y="5537200"/>
            <a:ext cx="8890000" cy="533400"/>
          </a:xfrm>
          <a:prstGeom prst="rect">
            <a:avLst/>
          </a:prstGeom>
          <a:noFill/>
          <a:ln>
            <a:noFill/>
          </a:ln>
        </p:spPr>
        <p:txBody>
          <a:bodyPr wrap="square" lIns="0" tIns="0" rIns="0" bIns="0" anchor="ctr">
            <a:noAutofit/>
          </a:bodyPr>
          <a:lstStyle/>
          <a:p>
            <a:pPr algn="l">
              <a:lnSpc>
                <a:spcPct val="100000"/>
              </a:lnSpc>
              <a:buNone/>
            </a:pPr>
            <a:r>
              <a:rPr lang="es-CL" sz="2000" b="1" spc="0" dirty="0">
                <a:solidFill>
                  <a:srgbClr val="12406E"/>
                </a:solidFill>
              </a:rPr>
              <a:t>Primero demostrar utilidad; después traducirla a valor.</a:t>
            </a:r>
          </a:p>
        </p:txBody>
      </p:sp>
      <p:sp>
        <p:nvSpPr>
          <p:cNvPr id="1035" name="sh1035"/>
          <p:cNvSpPr/>
          <p:nvPr/>
        </p:nvSpPr>
        <p:spPr>
          <a:xfrm>
            <a:off x="762000" y="6172200"/>
            <a:ext cx="96520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Los tres escenarios delimitan dónde la capacidad aporta, no aporta o depende del contexto</a:t>
            </a:r>
          </a:p>
        </p:txBody>
      </p:sp>
    </p:spTree>
    <p:extLst>
      <p:ext uri="{BB962C8B-B14F-4D97-AF65-F5344CB8AC3E}">
        <p14:creationId xmlns:p14="http://schemas.microsoft.com/office/powerpoint/2010/main" val="130196745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762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DIMENSIONES DE VALOR</a:t>
            </a:r>
          </a:p>
        </p:txBody>
      </p:sp>
      <p:sp>
        <p:nvSpPr>
          <p:cNvPr id="1002" name="sh1002"/>
          <p:cNvSpPr/>
          <p:nvPr/>
        </p:nvSpPr>
        <p:spPr>
          <a:xfrm>
            <a:off x="762000" y="863600"/>
            <a:ext cx="10160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Cinco dimensiones delimitan el valor a observar</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[ 04 ]</a:t>
            </a:r>
          </a:p>
        </p:txBody>
      </p:sp>
      <p:sp>
        <p:nvSpPr>
          <p:cNvPr id="1005" name="sh1005"/>
          <p:cNvSpPr/>
          <p:nvPr/>
        </p:nvSpPr>
        <p:spPr>
          <a:xfrm>
            <a:off x="762000" y="2108200"/>
            <a:ext cx="1930400" cy="38100"/>
          </a:xfrm>
          <a:prstGeom prst="rect">
            <a:avLst/>
          </a:prstGeom>
          <a:solidFill>
            <a:srgbClr val="12406E"/>
          </a:solidFill>
          <a:ln>
            <a:noFill/>
          </a:ln>
        </p:spPr>
        <p:txBody>
          <a:bodyPr/>
          <a:lstStyle/>
          <a:p>
            <a:endParaRPr lang="es-CL"/>
          </a:p>
        </p:txBody>
      </p:sp>
      <p:sp>
        <p:nvSpPr>
          <p:cNvPr id="1006" name="sh1006"/>
          <p:cNvSpPr/>
          <p:nvPr/>
        </p:nvSpPr>
        <p:spPr>
          <a:xfrm>
            <a:off x="7620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12406E"/>
                </a:solidFill>
              </a:rPr>
              <a:t>01</a:t>
            </a:r>
          </a:p>
        </p:txBody>
      </p:sp>
      <p:sp>
        <p:nvSpPr>
          <p:cNvPr id="1007" name="sh1007"/>
          <p:cNvSpPr/>
          <p:nvPr/>
        </p:nvSpPr>
        <p:spPr>
          <a:xfrm>
            <a:off x="7620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PRODUCTIVIDAD</a:t>
            </a:r>
          </a:p>
        </p:txBody>
      </p:sp>
      <p:sp>
        <p:nvSpPr>
          <p:cNvPr id="1008" name="sh1008"/>
          <p:cNvSpPr/>
          <p:nvPr/>
        </p:nvSpPr>
        <p:spPr>
          <a:xfrm>
            <a:off x="7620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Tiempo, consultas y fuentes requeridas para completar correctamente una tarea.</a:t>
            </a:r>
          </a:p>
        </p:txBody>
      </p:sp>
      <p:sp>
        <p:nvSpPr>
          <p:cNvPr id="1009" name="sh1009"/>
          <p:cNvSpPr/>
          <p:nvPr/>
        </p:nvSpPr>
        <p:spPr>
          <a:xfrm>
            <a:off x="762000" y="4724400"/>
            <a:ext cx="1930400" cy="9525"/>
          </a:xfrm>
          <a:prstGeom prst="rect">
            <a:avLst/>
          </a:prstGeom>
          <a:solidFill>
            <a:srgbClr val="D8E2EC"/>
          </a:solidFill>
          <a:ln>
            <a:noFill/>
          </a:ln>
        </p:spPr>
        <p:txBody>
          <a:bodyPr/>
          <a:lstStyle/>
          <a:p>
            <a:endParaRPr lang="es-CL"/>
          </a:p>
        </p:txBody>
      </p:sp>
      <p:sp>
        <p:nvSpPr>
          <p:cNvPr id="1010" name="sh1010"/>
          <p:cNvSpPr/>
          <p:nvPr/>
        </p:nvSpPr>
        <p:spPr>
          <a:xfrm>
            <a:off x="7620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DIMENSIÓN 01</a:t>
            </a:r>
          </a:p>
        </p:txBody>
      </p:sp>
      <p:sp>
        <p:nvSpPr>
          <p:cNvPr id="1011" name="sh1011"/>
          <p:cNvSpPr/>
          <p:nvPr/>
        </p:nvSpPr>
        <p:spPr>
          <a:xfrm>
            <a:off x="2946400" y="2108200"/>
            <a:ext cx="1930400" cy="38100"/>
          </a:xfrm>
          <a:prstGeom prst="rect">
            <a:avLst/>
          </a:prstGeom>
          <a:solidFill>
            <a:srgbClr val="17508B"/>
          </a:solidFill>
          <a:ln>
            <a:noFill/>
          </a:ln>
        </p:spPr>
        <p:txBody>
          <a:bodyPr/>
          <a:lstStyle/>
          <a:p>
            <a:endParaRPr lang="es-CL"/>
          </a:p>
        </p:txBody>
      </p:sp>
      <p:sp>
        <p:nvSpPr>
          <p:cNvPr id="1012" name="sh1012"/>
          <p:cNvSpPr/>
          <p:nvPr/>
        </p:nvSpPr>
        <p:spPr>
          <a:xfrm>
            <a:off x="29464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17508B"/>
                </a:solidFill>
              </a:rPr>
              <a:t>02</a:t>
            </a:r>
          </a:p>
        </p:txBody>
      </p:sp>
      <p:sp>
        <p:nvSpPr>
          <p:cNvPr id="1013" name="sh1013"/>
          <p:cNvSpPr/>
          <p:nvPr/>
        </p:nvSpPr>
        <p:spPr>
          <a:xfrm>
            <a:off x="29464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CONTINUIDAD</a:t>
            </a:r>
          </a:p>
        </p:txBody>
      </p:sp>
      <p:sp>
        <p:nvSpPr>
          <p:cNvPr id="1014" name="sh1014"/>
          <p:cNvSpPr/>
          <p:nvPr/>
        </p:nvSpPr>
        <p:spPr>
          <a:xfrm>
            <a:off x="29464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Dependencia de expertos históricos para reconstruir contexto.</a:t>
            </a:r>
          </a:p>
        </p:txBody>
      </p:sp>
      <p:sp>
        <p:nvSpPr>
          <p:cNvPr id="1015" name="sh1015"/>
          <p:cNvSpPr/>
          <p:nvPr/>
        </p:nvSpPr>
        <p:spPr>
          <a:xfrm>
            <a:off x="2946400" y="4724400"/>
            <a:ext cx="1930400" cy="9525"/>
          </a:xfrm>
          <a:prstGeom prst="rect">
            <a:avLst/>
          </a:prstGeom>
          <a:solidFill>
            <a:srgbClr val="D8E2EC"/>
          </a:solidFill>
          <a:ln>
            <a:noFill/>
          </a:ln>
        </p:spPr>
        <p:txBody>
          <a:bodyPr/>
          <a:lstStyle/>
          <a:p>
            <a:endParaRPr lang="es-CL"/>
          </a:p>
        </p:txBody>
      </p:sp>
      <p:sp>
        <p:nvSpPr>
          <p:cNvPr id="1016" name="sh1016"/>
          <p:cNvSpPr/>
          <p:nvPr/>
        </p:nvSpPr>
        <p:spPr>
          <a:xfrm>
            <a:off x="29464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DIMENSIÓN 02</a:t>
            </a:r>
          </a:p>
        </p:txBody>
      </p:sp>
      <p:sp>
        <p:nvSpPr>
          <p:cNvPr id="1017" name="sh1017"/>
          <p:cNvSpPr/>
          <p:nvPr/>
        </p:nvSpPr>
        <p:spPr>
          <a:xfrm>
            <a:off x="5130800" y="2108200"/>
            <a:ext cx="1930400" cy="38100"/>
          </a:xfrm>
          <a:prstGeom prst="rect">
            <a:avLst/>
          </a:prstGeom>
          <a:solidFill>
            <a:srgbClr val="1D5C9E"/>
          </a:solidFill>
          <a:ln>
            <a:noFill/>
          </a:ln>
        </p:spPr>
        <p:txBody>
          <a:bodyPr/>
          <a:lstStyle/>
          <a:p>
            <a:endParaRPr lang="es-CL"/>
          </a:p>
        </p:txBody>
      </p:sp>
      <p:sp>
        <p:nvSpPr>
          <p:cNvPr id="1018" name="sh1018"/>
          <p:cNvSpPr/>
          <p:nvPr/>
        </p:nvSpPr>
        <p:spPr>
          <a:xfrm>
            <a:off x="51308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1D5C9E"/>
                </a:solidFill>
              </a:rPr>
              <a:t>03</a:t>
            </a:r>
          </a:p>
        </p:txBody>
      </p:sp>
      <p:sp>
        <p:nvSpPr>
          <p:cNvPr id="1019" name="sh1019"/>
          <p:cNvSpPr/>
          <p:nvPr/>
        </p:nvSpPr>
        <p:spPr>
          <a:xfrm>
            <a:off x="51308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TRAZABILIDAD</a:t>
            </a:r>
          </a:p>
        </p:txBody>
      </p:sp>
      <p:sp>
        <p:nvSpPr>
          <p:cNvPr id="1020" name="sh1020"/>
          <p:cNvSpPr/>
          <p:nvPr/>
        </p:nvSpPr>
        <p:spPr>
          <a:xfrm>
            <a:off x="51308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Capacidad de localizar y verificar evidencia y procedencia.</a:t>
            </a:r>
          </a:p>
        </p:txBody>
      </p:sp>
      <p:sp>
        <p:nvSpPr>
          <p:cNvPr id="1021" name="sh1021"/>
          <p:cNvSpPr/>
          <p:nvPr/>
        </p:nvSpPr>
        <p:spPr>
          <a:xfrm>
            <a:off x="5130800" y="4724400"/>
            <a:ext cx="1930400" cy="9525"/>
          </a:xfrm>
          <a:prstGeom prst="rect">
            <a:avLst/>
          </a:prstGeom>
          <a:solidFill>
            <a:srgbClr val="D8E2EC"/>
          </a:solidFill>
          <a:ln>
            <a:noFill/>
          </a:ln>
        </p:spPr>
        <p:txBody>
          <a:bodyPr/>
          <a:lstStyle/>
          <a:p>
            <a:endParaRPr lang="es-CL"/>
          </a:p>
        </p:txBody>
      </p:sp>
      <p:sp>
        <p:nvSpPr>
          <p:cNvPr id="1022" name="sh1022"/>
          <p:cNvSpPr/>
          <p:nvPr/>
        </p:nvSpPr>
        <p:spPr>
          <a:xfrm>
            <a:off x="51308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DIMENSIÓN 03</a:t>
            </a:r>
          </a:p>
        </p:txBody>
      </p:sp>
      <p:sp>
        <p:nvSpPr>
          <p:cNvPr id="1023" name="sh1023"/>
          <p:cNvSpPr/>
          <p:nvPr/>
        </p:nvSpPr>
        <p:spPr>
          <a:xfrm>
            <a:off x="7315200" y="2108200"/>
            <a:ext cx="1930400" cy="38100"/>
          </a:xfrm>
          <a:prstGeom prst="rect">
            <a:avLst/>
          </a:prstGeom>
          <a:solidFill>
            <a:srgbClr val="2A86B8"/>
          </a:solidFill>
          <a:ln>
            <a:noFill/>
          </a:ln>
        </p:spPr>
        <p:txBody>
          <a:bodyPr/>
          <a:lstStyle/>
          <a:p>
            <a:endParaRPr lang="es-CL"/>
          </a:p>
        </p:txBody>
      </p:sp>
      <p:sp>
        <p:nvSpPr>
          <p:cNvPr id="1024" name="sh1024"/>
          <p:cNvSpPr/>
          <p:nvPr/>
        </p:nvSpPr>
        <p:spPr>
          <a:xfrm>
            <a:off x="73152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2A86B8"/>
                </a:solidFill>
              </a:rPr>
              <a:t>04</a:t>
            </a:r>
          </a:p>
        </p:txBody>
      </p:sp>
      <p:sp>
        <p:nvSpPr>
          <p:cNvPr id="1025" name="sh1025"/>
          <p:cNvSpPr/>
          <p:nvPr/>
        </p:nvSpPr>
        <p:spPr>
          <a:xfrm>
            <a:off x="73152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CALIDAD Y RIESGO</a:t>
            </a:r>
          </a:p>
        </p:txBody>
      </p:sp>
      <p:sp>
        <p:nvSpPr>
          <p:cNvPr id="1026" name="sh1026"/>
          <p:cNvSpPr/>
          <p:nvPr/>
        </p:nvSpPr>
        <p:spPr>
          <a:xfrm>
            <a:off x="73152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Errores asociados a conocimiento incompleto, mal reconstruido u obsoleto.</a:t>
            </a:r>
          </a:p>
        </p:txBody>
      </p:sp>
      <p:sp>
        <p:nvSpPr>
          <p:cNvPr id="1027" name="sh1027"/>
          <p:cNvSpPr/>
          <p:nvPr/>
        </p:nvSpPr>
        <p:spPr>
          <a:xfrm>
            <a:off x="7315200" y="4724400"/>
            <a:ext cx="1930400" cy="9525"/>
          </a:xfrm>
          <a:prstGeom prst="rect">
            <a:avLst/>
          </a:prstGeom>
          <a:solidFill>
            <a:srgbClr val="D8E2EC"/>
          </a:solidFill>
          <a:ln>
            <a:noFill/>
          </a:ln>
        </p:spPr>
        <p:txBody>
          <a:bodyPr/>
          <a:lstStyle/>
          <a:p>
            <a:endParaRPr lang="es-CL"/>
          </a:p>
        </p:txBody>
      </p:sp>
      <p:sp>
        <p:nvSpPr>
          <p:cNvPr id="1028" name="sh1028"/>
          <p:cNvSpPr/>
          <p:nvPr/>
        </p:nvSpPr>
        <p:spPr>
          <a:xfrm>
            <a:off x="73152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DIMENSIÓN 04</a:t>
            </a:r>
          </a:p>
        </p:txBody>
      </p:sp>
      <p:sp>
        <p:nvSpPr>
          <p:cNvPr id="1029" name="sh1029"/>
          <p:cNvSpPr/>
          <p:nvPr/>
        </p:nvSpPr>
        <p:spPr>
          <a:xfrm>
            <a:off x="9499600" y="2108200"/>
            <a:ext cx="1930400" cy="38100"/>
          </a:xfrm>
          <a:prstGeom prst="rect">
            <a:avLst/>
          </a:prstGeom>
          <a:solidFill>
            <a:srgbClr val="0E9BB5"/>
          </a:solidFill>
          <a:ln>
            <a:noFill/>
          </a:ln>
        </p:spPr>
        <p:txBody>
          <a:bodyPr/>
          <a:lstStyle/>
          <a:p>
            <a:endParaRPr lang="es-CL"/>
          </a:p>
        </p:txBody>
      </p:sp>
      <p:sp>
        <p:nvSpPr>
          <p:cNvPr id="1030" name="sh1030"/>
          <p:cNvSpPr/>
          <p:nvPr/>
        </p:nvSpPr>
        <p:spPr>
          <a:xfrm>
            <a:off x="94996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0E9BB5"/>
                </a:solidFill>
              </a:rPr>
              <a:t>05</a:t>
            </a:r>
          </a:p>
        </p:txBody>
      </p:sp>
      <p:sp>
        <p:nvSpPr>
          <p:cNvPr id="1031" name="sh1031"/>
          <p:cNvSpPr/>
          <p:nvPr/>
        </p:nvSpPr>
        <p:spPr>
          <a:xfrm>
            <a:off x="94996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ECONOMÍA</a:t>
            </a:r>
          </a:p>
        </p:txBody>
      </p:sp>
      <p:sp>
        <p:nvSpPr>
          <p:cNvPr id="1032" name="sh1032"/>
          <p:cNvSpPr/>
          <p:nvPr/>
        </p:nvSpPr>
        <p:spPr>
          <a:xfrm>
            <a:off x="94996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Beneficios observados frente a construcción, validación, operación y mantenimiento.</a:t>
            </a:r>
          </a:p>
        </p:txBody>
      </p:sp>
      <p:sp>
        <p:nvSpPr>
          <p:cNvPr id="1033" name="sh1033"/>
          <p:cNvSpPr/>
          <p:nvPr/>
        </p:nvSpPr>
        <p:spPr>
          <a:xfrm>
            <a:off x="9499600" y="4724400"/>
            <a:ext cx="1930400" cy="9525"/>
          </a:xfrm>
          <a:prstGeom prst="rect">
            <a:avLst/>
          </a:prstGeom>
          <a:solidFill>
            <a:srgbClr val="D8E2EC"/>
          </a:solidFill>
          <a:ln>
            <a:noFill/>
          </a:ln>
        </p:spPr>
        <p:txBody>
          <a:bodyPr/>
          <a:lstStyle/>
          <a:p>
            <a:endParaRPr lang="es-CL"/>
          </a:p>
        </p:txBody>
      </p:sp>
      <p:sp>
        <p:nvSpPr>
          <p:cNvPr id="1034" name="sh1034"/>
          <p:cNvSpPr/>
          <p:nvPr/>
        </p:nvSpPr>
        <p:spPr>
          <a:xfrm>
            <a:off x="94996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DIMENSIÓN 05</a:t>
            </a:r>
          </a:p>
        </p:txBody>
      </p:sp>
      <p:sp>
        <p:nvSpPr>
          <p:cNvPr id="1035" name="sh1035"/>
          <p:cNvSpPr/>
          <p:nvPr/>
        </p:nvSpPr>
        <p:spPr>
          <a:xfrm>
            <a:off x="762000" y="5384800"/>
            <a:ext cx="38100" cy="685800"/>
          </a:xfrm>
          <a:prstGeom prst="rect">
            <a:avLst/>
          </a:prstGeom>
          <a:solidFill>
            <a:srgbClr val="2ED3E8"/>
          </a:solidFill>
          <a:ln>
            <a:noFill/>
          </a:ln>
        </p:spPr>
        <p:txBody>
          <a:bodyPr/>
          <a:lstStyle/>
          <a:p>
            <a:endParaRPr lang="es-CL"/>
          </a:p>
        </p:txBody>
      </p:sp>
      <p:sp>
        <p:nvSpPr>
          <p:cNvPr id="1036" name="sh1036"/>
          <p:cNvSpPr/>
          <p:nvPr/>
        </p:nvSpPr>
        <p:spPr>
          <a:xfrm>
            <a:off x="990600" y="5384800"/>
            <a:ext cx="9398000" cy="685800"/>
          </a:xfrm>
          <a:prstGeom prst="rect">
            <a:avLst/>
          </a:prstGeom>
          <a:noFill/>
          <a:ln>
            <a:noFill/>
          </a:ln>
        </p:spPr>
        <p:txBody>
          <a:bodyPr wrap="square" lIns="0" tIns="0" rIns="0" bIns="0" anchor="ctr">
            <a:noAutofit/>
          </a:bodyPr>
          <a:lstStyle/>
          <a:p>
            <a:pPr algn="l">
              <a:lnSpc>
                <a:spcPct val="120000"/>
              </a:lnSpc>
              <a:buNone/>
            </a:pPr>
            <a:r>
              <a:rPr lang="es-CL" sz="1500" b="1" spc="0" dirty="0">
                <a:solidFill>
                  <a:srgbClr val="12406E"/>
                </a:solidFill>
              </a:rPr>
              <a:t>No se agregan en una puntuación arbitraria: cada dimensión se analiza por separado y sólo se monetiza con datos reales.</a:t>
            </a:r>
          </a:p>
        </p:txBody>
      </p:sp>
      <p:sp>
        <p:nvSpPr>
          <p:cNvPr id="1037" name="sh1037"/>
          <p:cNvSpPr/>
          <p:nvPr/>
        </p:nvSpPr>
        <p:spPr>
          <a:xfrm>
            <a:off x="762000" y="6172200"/>
            <a:ext cx="96520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Marco de dimensiones · cada una requiere su propia evidencia observable</a:t>
            </a:r>
          </a:p>
        </p:txBody>
      </p:sp>
      <p:pic>
        <p:nvPicPr>
          <p:cNvPr id="1038" name="Graphic 1038" descr="Productividad"/>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2200" y="2260600"/>
            <a:ext cx="330200" cy="330200"/>
          </a:xfrm>
          <a:prstGeom prst="rect">
            <a:avLst/>
          </a:prstGeom>
        </p:spPr>
      </p:pic>
      <p:pic>
        <p:nvPicPr>
          <p:cNvPr id="1039" name="Graphic 1039" descr="Continuidad"/>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6600" y="2260600"/>
            <a:ext cx="330200" cy="330200"/>
          </a:xfrm>
          <a:prstGeom prst="rect">
            <a:avLst/>
          </a:prstGeom>
        </p:spPr>
      </p:pic>
      <p:pic>
        <p:nvPicPr>
          <p:cNvPr id="1040" name="Graphic 1040" descr="Trazabilidad"/>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31000" y="2260600"/>
            <a:ext cx="330200" cy="330200"/>
          </a:xfrm>
          <a:prstGeom prst="rect">
            <a:avLst/>
          </a:prstGeom>
        </p:spPr>
      </p:pic>
      <p:pic>
        <p:nvPicPr>
          <p:cNvPr id="1041" name="Graphic 1041" descr="Calidad y riesgo"/>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5400" y="2260600"/>
            <a:ext cx="330200" cy="330200"/>
          </a:xfrm>
          <a:prstGeom prst="rect">
            <a:avLst/>
          </a:prstGeom>
        </p:spPr>
      </p:pic>
      <p:pic>
        <p:nvPicPr>
          <p:cNvPr id="1042" name="Graphic 1042" descr="Economía"/>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099800" y="2260600"/>
            <a:ext cx="330200" cy="330200"/>
          </a:xfrm>
          <a:prstGeom prst="rect">
            <a:avLst/>
          </a:prstGeom>
        </p:spPr>
      </p:pic>
    </p:spTree>
    <p:extLst>
      <p:ext uri="{BB962C8B-B14F-4D97-AF65-F5344CB8AC3E}">
        <p14:creationId xmlns:p14="http://schemas.microsoft.com/office/powerpoint/2010/main" val="127687146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524"/>
        </a:solidFill>
        <a:effectLst/>
      </p:bgPr>
    </p:bg>
    <p:spTree>
      <p:nvGrpSpPr>
        <p:cNvPr id="1" name=""/>
        <p:cNvGrpSpPr/>
        <p:nvPr/>
      </p:nvGrpSpPr>
      <p:grpSpPr>
        <a:xfrm>
          <a:off x="0" y="0"/>
          <a:ext cx="0" cy="0"/>
          <a:chOff x="0" y="0"/>
          <a:chExt cx="0" cy="0"/>
        </a:xfrm>
      </p:grpSpPr>
      <p:sp>
        <p:nvSpPr>
          <p:cNvPr id="1001" name="sh1001"/>
          <p:cNvSpPr/>
          <p:nvPr/>
        </p:nvSpPr>
        <p:spPr>
          <a:xfrm>
            <a:off x="0" y="0"/>
            <a:ext cx="12192000" cy="6858000"/>
          </a:xfrm>
          <a:prstGeom prst="rect">
            <a:avLst/>
          </a:prstGeom>
          <a:solidFill>
            <a:srgbClr val="0A1524"/>
          </a:solidFill>
          <a:ln>
            <a:noFill/>
          </a:ln>
        </p:spPr>
        <p:txBody>
          <a:bodyPr/>
          <a:lstStyle/>
          <a:p>
            <a:endParaRPr lang="es-CL"/>
          </a:p>
        </p:txBody>
      </p:sp>
      <p:sp>
        <p:nvSpPr>
          <p:cNvPr id="1002" name="sh1002"/>
          <p:cNvSpPr/>
          <p:nvPr/>
        </p:nvSpPr>
        <p:spPr>
          <a:xfrm>
            <a:off x="0" y="0"/>
            <a:ext cx="12192000" cy="50800"/>
          </a:xfrm>
          <a:prstGeom prst="rect">
            <a:avLst/>
          </a:prstGeom>
          <a:solidFill>
            <a:srgbClr val="12406E"/>
          </a:solidFill>
          <a:ln>
            <a:noFill/>
          </a:ln>
        </p:spPr>
        <p:txBody>
          <a:bodyPr/>
          <a:lstStyle/>
          <a:p>
            <a:endParaRPr lang="es-CL"/>
          </a:p>
        </p:txBody>
      </p:sp>
      <p:sp>
        <p:nvSpPr>
          <p:cNvPr id="1003" name="sh1003"/>
          <p:cNvSpPr/>
          <p:nvPr/>
        </p:nvSpPr>
        <p:spPr>
          <a:xfrm>
            <a:off x="8483600" y="1625600"/>
            <a:ext cx="2946400" cy="2540000"/>
          </a:xfrm>
          <a:prstGeom prst="rect">
            <a:avLst/>
          </a:prstGeom>
          <a:noFill/>
          <a:ln>
            <a:noFill/>
          </a:ln>
        </p:spPr>
        <p:txBody>
          <a:bodyPr wrap="square" lIns="0" tIns="0" rIns="0" bIns="0" anchor="ctr">
            <a:noAutofit/>
          </a:bodyPr>
          <a:lstStyle/>
          <a:p>
            <a:pPr algn="r">
              <a:lnSpc>
                <a:spcPct val="100000"/>
              </a:lnSpc>
              <a:buNone/>
            </a:pPr>
            <a:r>
              <a:rPr lang="es-CL" sz="16000" b="1" spc="0" dirty="0">
                <a:solidFill>
                  <a:srgbClr val="14263C"/>
                </a:solidFill>
              </a:rPr>
              <a:t>01</a:t>
            </a:r>
          </a:p>
        </p:txBody>
      </p:sp>
      <p:sp>
        <p:nvSpPr>
          <p:cNvPr id="1004" name="sh1004"/>
          <p:cNvSpPr/>
          <p:nvPr/>
        </p:nvSpPr>
        <p:spPr>
          <a:xfrm>
            <a:off x="762000" y="2540000"/>
            <a:ext cx="2286000" cy="177800"/>
          </a:xfrm>
          <a:prstGeom prst="rect">
            <a:avLst/>
          </a:prstGeom>
          <a:noFill/>
          <a:ln>
            <a:noFill/>
          </a:ln>
        </p:spPr>
        <p:txBody>
          <a:bodyPr wrap="square" lIns="0" tIns="0" rIns="0" bIns="0" anchor="ctr">
            <a:noAutofit/>
          </a:bodyPr>
          <a:lstStyle/>
          <a:p>
            <a:pPr algn="l">
              <a:lnSpc>
                <a:spcPct val="100000"/>
              </a:lnSpc>
              <a:buNone/>
            </a:pPr>
            <a:r>
              <a:rPr lang="es-CL" sz="1050" b="0" spc="180" dirty="0">
                <a:solidFill>
                  <a:srgbClr val="2ED3E8"/>
                </a:solidFill>
              </a:rPr>
              <a:t>SECCIÓN 01</a:t>
            </a:r>
          </a:p>
        </p:txBody>
      </p:sp>
      <p:sp>
        <p:nvSpPr>
          <p:cNvPr id="1005" name="sh1005"/>
          <p:cNvSpPr/>
          <p:nvPr/>
        </p:nvSpPr>
        <p:spPr>
          <a:xfrm>
            <a:off x="762000" y="2870200"/>
            <a:ext cx="1524000" cy="19050"/>
          </a:xfrm>
          <a:prstGeom prst="rect">
            <a:avLst/>
          </a:prstGeom>
          <a:solidFill>
            <a:srgbClr val="2ED3E8"/>
          </a:solidFill>
          <a:ln>
            <a:noFill/>
          </a:ln>
        </p:spPr>
        <p:txBody>
          <a:bodyPr/>
          <a:lstStyle/>
          <a:p>
            <a:endParaRPr lang="es-CL"/>
          </a:p>
        </p:txBody>
      </p:sp>
      <p:sp>
        <p:nvSpPr>
          <p:cNvPr id="1006" name="sh1006"/>
          <p:cNvSpPr/>
          <p:nvPr/>
        </p:nvSpPr>
        <p:spPr>
          <a:xfrm>
            <a:off x="762000" y="3124200"/>
            <a:ext cx="7112000" cy="660400"/>
          </a:xfrm>
          <a:prstGeom prst="rect">
            <a:avLst/>
          </a:prstGeom>
          <a:noFill/>
          <a:ln>
            <a:noFill/>
          </a:ln>
        </p:spPr>
        <p:txBody>
          <a:bodyPr wrap="square" lIns="0" tIns="0" rIns="0" bIns="0" anchor="ctr">
            <a:noAutofit/>
          </a:bodyPr>
          <a:lstStyle/>
          <a:p>
            <a:pPr algn="l">
              <a:lnSpc>
                <a:spcPct val="100000"/>
              </a:lnSpc>
              <a:buNone/>
            </a:pPr>
            <a:r>
              <a:rPr lang="es-CL" sz="4000" b="1" spc="0" dirty="0">
                <a:solidFill>
                  <a:srgbClr val="FFFFFF"/>
                </a:solidFill>
              </a:rPr>
              <a:t>Antecedentes organizacionales</a:t>
            </a:r>
          </a:p>
        </p:txBody>
      </p:sp>
      <p:sp>
        <p:nvSpPr>
          <p:cNvPr id="1007" name="sh1007"/>
          <p:cNvSpPr/>
          <p:nvPr/>
        </p:nvSpPr>
        <p:spPr>
          <a:xfrm>
            <a:off x="762000" y="3962400"/>
            <a:ext cx="6858000" cy="635000"/>
          </a:xfrm>
          <a:prstGeom prst="rect">
            <a:avLst/>
          </a:prstGeom>
          <a:noFill/>
          <a:ln>
            <a:noFill/>
          </a:ln>
        </p:spPr>
        <p:txBody>
          <a:bodyPr wrap="square" lIns="0" tIns="0" rIns="0" bIns="0" anchor="t">
            <a:noAutofit/>
          </a:bodyPr>
          <a:lstStyle/>
          <a:p>
            <a:pPr algn="l">
              <a:lnSpc>
                <a:spcPct val="130000"/>
              </a:lnSpc>
              <a:buNone/>
            </a:pPr>
            <a:r>
              <a:rPr lang="es-CL" sz="1600" b="0" spc="0" dirty="0">
                <a:solidFill>
                  <a:srgbClr val="9FB3C8"/>
                </a:solidFill>
              </a:rPr>
              <a:t>Memoria, búsqueda, continuidad, procedencia y temporalidad como mecanismos plausibles de valor</a:t>
            </a:r>
          </a:p>
        </p:txBody>
      </p:sp>
      <p:sp>
        <p:nvSpPr>
          <p:cNvPr id="1008" name="sh1008"/>
          <p:cNvSpPr/>
          <p:nvPr/>
        </p:nvSpPr>
        <p:spPr>
          <a:xfrm>
            <a:off x="762000" y="6400800"/>
            <a:ext cx="10668000" cy="12700"/>
          </a:xfrm>
          <a:prstGeom prst="rect">
            <a:avLst/>
          </a:prstGeom>
          <a:solidFill>
            <a:srgbClr val="1D3A57"/>
          </a:solidFill>
          <a:ln>
            <a:noFill/>
          </a:ln>
        </p:spPr>
        <p:txBody>
          <a:bodyPr/>
          <a:lstStyle/>
          <a:p>
            <a:endParaRPr lang="es-CL"/>
          </a:p>
        </p:txBody>
      </p:sp>
      <p:sp>
        <p:nvSpPr>
          <p:cNvPr id="1009" name="sh1009"/>
          <p:cNvSpPr/>
          <p:nvPr/>
        </p:nvSpPr>
        <p:spPr>
          <a:xfrm>
            <a:off x="762000" y="6502400"/>
            <a:ext cx="7620000" cy="2032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9FB3C8"/>
                </a:solidFill>
              </a:rPr>
              <a:t>PROPUESTA DE TESIS · MAGÍSTER EN CIENCIA DE DATOS · PUC · 2026</a:t>
            </a:r>
          </a:p>
        </p:txBody>
      </p:sp>
      <p:sp>
        <p:nvSpPr>
          <p:cNvPr id="1010" name="sh1010"/>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2ED3E8"/>
                </a:solidFill>
              </a:rPr>
              <a:t>[ 05 ]</a:t>
            </a:r>
          </a:p>
        </p:txBody>
      </p:sp>
    </p:spTree>
    <p:extLst>
      <p:ext uri="{BB962C8B-B14F-4D97-AF65-F5344CB8AC3E}">
        <p14:creationId xmlns:p14="http://schemas.microsoft.com/office/powerpoint/2010/main" val="367694853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762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COSTO DE BÚSQUEDA Y RECONSTRUCCIÓN</a:t>
            </a:r>
          </a:p>
        </p:txBody>
      </p:sp>
      <p:sp>
        <p:nvSpPr>
          <p:cNvPr id="1002" name="sh1002"/>
          <p:cNvSpPr/>
          <p:nvPr/>
        </p:nvSpPr>
        <p:spPr>
          <a:xfrm>
            <a:off x="762000" y="863600"/>
            <a:ext cx="10160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El costo está en reconstruir, no sólo en almacenar</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[ 06 ]</a:t>
            </a:r>
          </a:p>
        </p:txBody>
      </p:sp>
      <p:sp>
        <p:nvSpPr>
          <p:cNvPr id="1005" name="sh1005"/>
          <p:cNvSpPr/>
          <p:nvPr/>
        </p:nvSpPr>
        <p:spPr>
          <a:xfrm>
            <a:off x="762000" y="2235200"/>
            <a:ext cx="1905000" cy="1219200"/>
          </a:xfrm>
          <a:prstGeom prst="rect">
            <a:avLst/>
          </a:prstGeom>
          <a:noFill/>
          <a:ln w="12700">
            <a:solidFill>
              <a:srgbClr val="C6D4E2"/>
            </a:solidFill>
          </a:ln>
        </p:spPr>
        <p:txBody>
          <a:bodyPr/>
          <a:lstStyle/>
          <a:p>
            <a:endParaRPr lang="es-CL"/>
          </a:p>
        </p:txBody>
      </p:sp>
      <p:sp>
        <p:nvSpPr>
          <p:cNvPr id="1006" name="sh1006"/>
          <p:cNvSpPr/>
          <p:nvPr/>
        </p:nvSpPr>
        <p:spPr>
          <a:xfrm>
            <a:off x="774700" y="2235200"/>
            <a:ext cx="1905000" cy="31750"/>
          </a:xfrm>
          <a:prstGeom prst="rect">
            <a:avLst/>
          </a:prstGeom>
          <a:solidFill>
            <a:srgbClr val="1D5C9E"/>
          </a:solidFill>
          <a:ln>
            <a:noFill/>
          </a:ln>
        </p:spPr>
        <p:txBody>
          <a:bodyPr/>
          <a:lstStyle/>
          <a:p>
            <a:endParaRPr lang="es-CL"/>
          </a:p>
        </p:txBody>
      </p:sp>
      <p:sp>
        <p:nvSpPr>
          <p:cNvPr id="1007" name="sh1007"/>
          <p:cNvSpPr/>
          <p:nvPr/>
        </p:nvSpPr>
        <p:spPr>
          <a:xfrm>
            <a:off x="914400" y="2387600"/>
            <a:ext cx="16002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1D5C9E"/>
                </a:solidFill>
              </a:rPr>
              <a:t>01</a:t>
            </a:r>
          </a:p>
        </p:txBody>
      </p:sp>
      <p:sp>
        <p:nvSpPr>
          <p:cNvPr id="1008" name="sh1008"/>
          <p:cNvSpPr/>
          <p:nvPr/>
        </p:nvSpPr>
        <p:spPr>
          <a:xfrm>
            <a:off x="914400" y="2590800"/>
            <a:ext cx="1600200" cy="254000"/>
          </a:xfrm>
          <a:prstGeom prst="rect">
            <a:avLst/>
          </a:prstGeom>
          <a:noFill/>
          <a:ln>
            <a:noFill/>
          </a:ln>
        </p:spPr>
        <p:txBody>
          <a:bodyPr wrap="square" lIns="0" tIns="0" rIns="0" bIns="0" anchor="ctr">
            <a:noAutofit/>
          </a:bodyPr>
          <a:lstStyle/>
          <a:p>
            <a:pPr algn="l">
              <a:lnSpc>
                <a:spcPct val="100000"/>
              </a:lnSpc>
              <a:buNone/>
            </a:pPr>
            <a:r>
              <a:rPr lang="es-CL" sz="1400" b="1" spc="0" dirty="0">
                <a:solidFill>
                  <a:srgbClr val="0A1524"/>
                </a:solidFill>
              </a:rPr>
              <a:t>LOCALIZAR</a:t>
            </a:r>
          </a:p>
        </p:txBody>
      </p:sp>
      <p:sp>
        <p:nvSpPr>
          <p:cNvPr id="1009" name="sh1009"/>
          <p:cNvSpPr/>
          <p:nvPr/>
        </p:nvSpPr>
        <p:spPr>
          <a:xfrm>
            <a:off x="914400" y="2895600"/>
            <a:ext cx="1600200" cy="558800"/>
          </a:xfrm>
          <a:prstGeom prst="rect">
            <a:avLst/>
          </a:prstGeom>
          <a:noFill/>
          <a:ln>
            <a:noFill/>
          </a:ln>
        </p:spPr>
        <p:txBody>
          <a:bodyPr wrap="square" lIns="0" tIns="0" rIns="0" bIns="0" anchor="t">
            <a:noAutofit/>
          </a:bodyPr>
          <a:lstStyle/>
          <a:p>
            <a:pPr algn="l">
              <a:lnSpc>
                <a:spcPct val="125000"/>
              </a:lnSpc>
              <a:buNone/>
            </a:pPr>
            <a:r>
              <a:rPr lang="es-CL" sz="1050" b="0" spc="0" dirty="0">
                <a:solidFill>
                  <a:srgbClr val="4A5F78"/>
                </a:solidFill>
              </a:rPr>
              <a:t>Encontrar fragmentos y fuentes relevantes</a:t>
            </a:r>
          </a:p>
        </p:txBody>
      </p:sp>
      <p:sp>
        <p:nvSpPr>
          <p:cNvPr id="1010" name="sh1010"/>
          <p:cNvSpPr/>
          <p:nvPr/>
        </p:nvSpPr>
        <p:spPr>
          <a:xfrm>
            <a:off x="2743200" y="2819400"/>
            <a:ext cx="228600" cy="0"/>
          </a:xfrm>
          <a:prstGeom prst="line">
            <a:avLst/>
          </a:prstGeom>
          <a:noFill/>
          <a:ln w="15875">
            <a:solidFill>
              <a:srgbClr val="9FB3C8"/>
            </a:solidFill>
            <a:tailEnd type="triangle" w="med" len="med"/>
          </a:ln>
        </p:spPr>
        <p:txBody>
          <a:bodyPr/>
          <a:lstStyle/>
          <a:p>
            <a:endParaRPr lang="es-CL"/>
          </a:p>
        </p:txBody>
      </p:sp>
      <p:sp>
        <p:nvSpPr>
          <p:cNvPr id="1011" name="sh1011"/>
          <p:cNvSpPr/>
          <p:nvPr/>
        </p:nvSpPr>
        <p:spPr>
          <a:xfrm>
            <a:off x="2971800" y="2235200"/>
            <a:ext cx="1905000" cy="1219200"/>
          </a:xfrm>
          <a:prstGeom prst="rect">
            <a:avLst/>
          </a:prstGeom>
          <a:noFill/>
          <a:ln w="12700">
            <a:solidFill>
              <a:srgbClr val="C6D4E2"/>
            </a:solidFill>
          </a:ln>
        </p:spPr>
        <p:txBody>
          <a:bodyPr/>
          <a:lstStyle/>
          <a:p>
            <a:endParaRPr lang="es-CL"/>
          </a:p>
        </p:txBody>
      </p:sp>
      <p:sp>
        <p:nvSpPr>
          <p:cNvPr id="1012" name="sh1012"/>
          <p:cNvSpPr/>
          <p:nvPr/>
        </p:nvSpPr>
        <p:spPr>
          <a:xfrm>
            <a:off x="2984500" y="2235200"/>
            <a:ext cx="1905000" cy="31750"/>
          </a:xfrm>
          <a:prstGeom prst="rect">
            <a:avLst/>
          </a:prstGeom>
          <a:solidFill>
            <a:srgbClr val="1D5C9E"/>
          </a:solidFill>
          <a:ln>
            <a:noFill/>
          </a:ln>
        </p:spPr>
        <p:txBody>
          <a:bodyPr/>
          <a:lstStyle/>
          <a:p>
            <a:endParaRPr lang="es-CL"/>
          </a:p>
        </p:txBody>
      </p:sp>
      <p:sp>
        <p:nvSpPr>
          <p:cNvPr id="1013" name="sh1013"/>
          <p:cNvSpPr/>
          <p:nvPr/>
        </p:nvSpPr>
        <p:spPr>
          <a:xfrm>
            <a:off x="3124200" y="2387600"/>
            <a:ext cx="16002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1D5C9E"/>
                </a:solidFill>
              </a:rPr>
              <a:t>02</a:t>
            </a:r>
          </a:p>
        </p:txBody>
      </p:sp>
      <p:sp>
        <p:nvSpPr>
          <p:cNvPr id="1014" name="sh1014"/>
          <p:cNvSpPr/>
          <p:nvPr/>
        </p:nvSpPr>
        <p:spPr>
          <a:xfrm>
            <a:off x="3124200" y="2590800"/>
            <a:ext cx="1600200" cy="254000"/>
          </a:xfrm>
          <a:prstGeom prst="rect">
            <a:avLst/>
          </a:prstGeom>
          <a:noFill/>
          <a:ln>
            <a:noFill/>
          </a:ln>
        </p:spPr>
        <p:txBody>
          <a:bodyPr wrap="square" lIns="0" tIns="0" rIns="0" bIns="0" anchor="ctr">
            <a:noAutofit/>
          </a:bodyPr>
          <a:lstStyle/>
          <a:p>
            <a:pPr algn="l">
              <a:lnSpc>
                <a:spcPct val="100000"/>
              </a:lnSpc>
              <a:buNone/>
            </a:pPr>
            <a:r>
              <a:rPr lang="es-CL" sz="1400" b="1" spc="0" dirty="0">
                <a:solidFill>
                  <a:srgbClr val="0A1524"/>
                </a:solidFill>
              </a:rPr>
              <a:t>RELACIONAR</a:t>
            </a:r>
          </a:p>
        </p:txBody>
      </p:sp>
      <p:sp>
        <p:nvSpPr>
          <p:cNvPr id="1015" name="sh1015"/>
          <p:cNvSpPr/>
          <p:nvPr/>
        </p:nvSpPr>
        <p:spPr>
          <a:xfrm>
            <a:off x="3124200" y="2895600"/>
            <a:ext cx="1600200" cy="558800"/>
          </a:xfrm>
          <a:prstGeom prst="rect">
            <a:avLst/>
          </a:prstGeom>
          <a:noFill/>
          <a:ln>
            <a:noFill/>
          </a:ln>
        </p:spPr>
        <p:txBody>
          <a:bodyPr wrap="square" lIns="0" tIns="0" rIns="0" bIns="0" anchor="t">
            <a:noAutofit/>
          </a:bodyPr>
          <a:lstStyle/>
          <a:p>
            <a:pPr algn="l">
              <a:lnSpc>
                <a:spcPct val="125000"/>
              </a:lnSpc>
              <a:buNone/>
            </a:pPr>
            <a:r>
              <a:rPr lang="es-CL" sz="1050" b="0" spc="0" dirty="0">
                <a:solidFill>
                  <a:srgbClr val="4A5F78"/>
                </a:solidFill>
              </a:rPr>
              <a:t>Conectar información distribuida</a:t>
            </a:r>
          </a:p>
        </p:txBody>
      </p:sp>
      <p:sp>
        <p:nvSpPr>
          <p:cNvPr id="1016" name="sh1016"/>
          <p:cNvSpPr/>
          <p:nvPr/>
        </p:nvSpPr>
        <p:spPr>
          <a:xfrm>
            <a:off x="4953000" y="2819400"/>
            <a:ext cx="228600" cy="0"/>
          </a:xfrm>
          <a:prstGeom prst="line">
            <a:avLst/>
          </a:prstGeom>
          <a:noFill/>
          <a:ln w="15875">
            <a:solidFill>
              <a:srgbClr val="9FB3C8"/>
            </a:solidFill>
            <a:tailEnd type="triangle" w="med" len="med"/>
          </a:ln>
        </p:spPr>
        <p:txBody>
          <a:bodyPr/>
          <a:lstStyle/>
          <a:p>
            <a:endParaRPr lang="es-CL"/>
          </a:p>
        </p:txBody>
      </p:sp>
      <p:sp>
        <p:nvSpPr>
          <p:cNvPr id="1017" name="sh1017"/>
          <p:cNvSpPr/>
          <p:nvPr/>
        </p:nvSpPr>
        <p:spPr>
          <a:xfrm>
            <a:off x="5181600" y="2235200"/>
            <a:ext cx="1905000" cy="1219200"/>
          </a:xfrm>
          <a:prstGeom prst="rect">
            <a:avLst/>
          </a:prstGeom>
          <a:noFill/>
          <a:ln w="12700">
            <a:solidFill>
              <a:srgbClr val="C6D4E2"/>
            </a:solidFill>
          </a:ln>
        </p:spPr>
        <p:txBody>
          <a:bodyPr/>
          <a:lstStyle/>
          <a:p>
            <a:endParaRPr lang="es-CL"/>
          </a:p>
        </p:txBody>
      </p:sp>
      <p:sp>
        <p:nvSpPr>
          <p:cNvPr id="1018" name="sh1018"/>
          <p:cNvSpPr/>
          <p:nvPr/>
        </p:nvSpPr>
        <p:spPr>
          <a:xfrm>
            <a:off x="5194300" y="2235200"/>
            <a:ext cx="1905000" cy="31750"/>
          </a:xfrm>
          <a:prstGeom prst="rect">
            <a:avLst/>
          </a:prstGeom>
          <a:solidFill>
            <a:srgbClr val="1D5C9E"/>
          </a:solidFill>
          <a:ln>
            <a:noFill/>
          </a:ln>
        </p:spPr>
        <p:txBody>
          <a:bodyPr/>
          <a:lstStyle/>
          <a:p>
            <a:endParaRPr lang="es-CL"/>
          </a:p>
        </p:txBody>
      </p:sp>
      <p:sp>
        <p:nvSpPr>
          <p:cNvPr id="1019" name="sh1019"/>
          <p:cNvSpPr/>
          <p:nvPr/>
        </p:nvSpPr>
        <p:spPr>
          <a:xfrm>
            <a:off x="5334000" y="2387600"/>
            <a:ext cx="16002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1D5C9E"/>
                </a:solidFill>
              </a:rPr>
              <a:t>03</a:t>
            </a:r>
          </a:p>
        </p:txBody>
      </p:sp>
      <p:sp>
        <p:nvSpPr>
          <p:cNvPr id="1020" name="sh1020"/>
          <p:cNvSpPr/>
          <p:nvPr/>
        </p:nvSpPr>
        <p:spPr>
          <a:xfrm>
            <a:off x="5334000" y="2590800"/>
            <a:ext cx="1600200" cy="254000"/>
          </a:xfrm>
          <a:prstGeom prst="rect">
            <a:avLst/>
          </a:prstGeom>
          <a:noFill/>
          <a:ln>
            <a:noFill/>
          </a:ln>
        </p:spPr>
        <p:txBody>
          <a:bodyPr wrap="square" lIns="0" tIns="0" rIns="0" bIns="0" anchor="ctr">
            <a:noAutofit/>
          </a:bodyPr>
          <a:lstStyle/>
          <a:p>
            <a:pPr algn="l">
              <a:lnSpc>
                <a:spcPct val="100000"/>
              </a:lnSpc>
              <a:buNone/>
            </a:pPr>
            <a:r>
              <a:rPr lang="es-CL" sz="1400" b="1" spc="0" dirty="0">
                <a:solidFill>
                  <a:srgbClr val="0A1524"/>
                </a:solidFill>
              </a:rPr>
              <a:t>VERIFICAR</a:t>
            </a:r>
          </a:p>
        </p:txBody>
      </p:sp>
      <p:sp>
        <p:nvSpPr>
          <p:cNvPr id="1021" name="sh1021"/>
          <p:cNvSpPr/>
          <p:nvPr/>
        </p:nvSpPr>
        <p:spPr>
          <a:xfrm>
            <a:off x="5334000" y="2895600"/>
            <a:ext cx="1600200" cy="558800"/>
          </a:xfrm>
          <a:prstGeom prst="rect">
            <a:avLst/>
          </a:prstGeom>
          <a:noFill/>
          <a:ln>
            <a:noFill/>
          </a:ln>
        </p:spPr>
        <p:txBody>
          <a:bodyPr wrap="square" lIns="0" tIns="0" rIns="0" bIns="0" anchor="t">
            <a:noAutofit/>
          </a:bodyPr>
          <a:lstStyle/>
          <a:p>
            <a:pPr algn="l">
              <a:lnSpc>
                <a:spcPct val="125000"/>
              </a:lnSpc>
              <a:buNone/>
            </a:pPr>
            <a:r>
              <a:rPr lang="es-CL" sz="1050" b="0" spc="0" dirty="0">
                <a:solidFill>
                  <a:srgbClr val="4A5F78"/>
                </a:solidFill>
              </a:rPr>
              <a:t>Confirmar evidencia, origen y vigencia</a:t>
            </a:r>
          </a:p>
        </p:txBody>
      </p:sp>
      <p:sp>
        <p:nvSpPr>
          <p:cNvPr id="1022" name="sh1022"/>
          <p:cNvSpPr/>
          <p:nvPr/>
        </p:nvSpPr>
        <p:spPr>
          <a:xfrm>
            <a:off x="7162800" y="2819400"/>
            <a:ext cx="228600" cy="0"/>
          </a:xfrm>
          <a:prstGeom prst="line">
            <a:avLst/>
          </a:prstGeom>
          <a:noFill/>
          <a:ln w="15875">
            <a:solidFill>
              <a:srgbClr val="9FB3C8"/>
            </a:solidFill>
            <a:tailEnd type="triangle" w="med" len="med"/>
          </a:ln>
        </p:spPr>
        <p:txBody>
          <a:bodyPr/>
          <a:lstStyle/>
          <a:p>
            <a:endParaRPr lang="es-CL"/>
          </a:p>
        </p:txBody>
      </p:sp>
      <p:sp>
        <p:nvSpPr>
          <p:cNvPr id="1023" name="sh1023"/>
          <p:cNvSpPr/>
          <p:nvPr/>
        </p:nvSpPr>
        <p:spPr>
          <a:xfrm>
            <a:off x="7391400" y="2235200"/>
            <a:ext cx="1905000" cy="1219200"/>
          </a:xfrm>
          <a:prstGeom prst="rect">
            <a:avLst/>
          </a:prstGeom>
          <a:noFill/>
          <a:ln w="12700">
            <a:solidFill>
              <a:srgbClr val="C6D4E2"/>
            </a:solidFill>
          </a:ln>
        </p:spPr>
        <p:txBody>
          <a:bodyPr/>
          <a:lstStyle/>
          <a:p>
            <a:endParaRPr lang="es-CL"/>
          </a:p>
        </p:txBody>
      </p:sp>
      <p:sp>
        <p:nvSpPr>
          <p:cNvPr id="1024" name="sh1024"/>
          <p:cNvSpPr/>
          <p:nvPr/>
        </p:nvSpPr>
        <p:spPr>
          <a:xfrm>
            <a:off x="7404100" y="2235200"/>
            <a:ext cx="1905000" cy="31750"/>
          </a:xfrm>
          <a:prstGeom prst="rect">
            <a:avLst/>
          </a:prstGeom>
          <a:solidFill>
            <a:srgbClr val="1D5C9E"/>
          </a:solidFill>
          <a:ln>
            <a:noFill/>
          </a:ln>
        </p:spPr>
        <p:txBody>
          <a:bodyPr/>
          <a:lstStyle/>
          <a:p>
            <a:endParaRPr lang="es-CL"/>
          </a:p>
        </p:txBody>
      </p:sp>
      <p:sp>
        <p:nvSpPr>
          <p:cNvPr id="1025" name="sh1025"/>
          <p:cNvSpPr/>
          <p:nvPr/>
        </p:nvSpPr>
        <p:spPr>
          <a:xfrm>
            <a:off x="7543800" y="2387600"/>
            <a:ext cx="16002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1D5C9E"/>
                </a:solidFill>
              </a:rPr>
              <a:t>04</a:t>
            </a:r>
          </a:p>
        </p:txBody>
      </p:sp>
      <p:sp>
        <p:nvSpPr>
          <p:cNvPr id="1026" name="sh1026"/>
          <p:cNvSpPr/>
          <p:nvPr/>
        </p:nvSpPr>
        <p:spPr>
          <a:xfrm>
            <a:off x="7543800" y="2590800"/>
            <a:ext cx="1600200" cy="254000"/>
          </a:xfrm>
          <a:prstGeom prst="rect">
            <a:avLst/>
          </a:prstGeom>
          <a:noFill/>
          <a:ln>
            <a:noFill/>
          </a:ln>
        </p:spPr>
        <p:txBody>
          <a:bodyPr wrap="square" lIns="0" tIns="0" rIns="0" bIns="0" anchor="ctr">
            <a:noAutofit/>
          </a:bodyPr>
          <a:lstStyle/>
          <a:p>
            <a:pPr algn="l">
              <a:lnSpc>
                <a:spcPct val="100000"/>
              </a:lnSpc>
              <a:buNone/>
            </a:pPr>
            <a:r>
              <a:rPr lang="es-CL" sz="1400" b="1" spc="0" dirty="0">
                <a:solidFill>
                  <a:srgbClr val="0A1524"/>
                </a:solidFill>
              </a:rPr>
              <a:t>RECONSTRUIR</a:t>
            </a:r>
          </a:p>
        </p:txBody>
      </p:sp>
      <p:sp>
        <p:nvSpPr>
          <p:cNvPr id="1027" name="sh1027"/>
          <p:cNvSpPr/>
          <p:nvPr/>
        </p:nvSpPr>
        <p:spPr>
          <a:xfrm>
            <a:off x="7543800" y="2895600"/>
            <a:ext cx="1600200" cy="558800"/>
          </a:xfrm>
          <a:prstGeom prst="rect">
            <a:avLst/>
          </a:prstGeom>
          <a:noFill/>
          <a:ln>
            <a:noFill/>
          </a:ln>
        </p:spPr>
        <p:txBody>
          <a:bodyPr wrap="square" lIns="0" tIns="0" rIns="0" bIns="0" anchor="t">
            <a:noAutofit/>
          </a:bodyPr>
          <a:lstStyle/>
          <a:p>
            <a:pPr algn="l">
              <a:lnSpc>
                <a:spcPct val="125000"/>
              </a:lnSpc>
              <a:buNone/>
            </a:pPr>
            <a:r>
              <a:rPr lang="es-CL" sz="1050" b="0" spc="0" dirty="0">
                <a:solidFill>
                  <a:srgbClr val="4A5F78"/>
                </a:solidFill>
              </a:rPr>
              <a:t>Formar una respuesta histórica coherente</a:t>
            </a:r>
          </a:p>
        </p:txBody>
      </p:sp>
      <p:sp>
        <p:nvSpPr>
          <p:cNvPr id="1028" name="sh1028"/>
          <p:cNvSpPr/>
          <p:nvPr/>
        </p:nvSpPr>
        <p:spPr>
          <a:xfrm>
            <a:off x="9372600" y="2819400"/>
            <a:ext cx="228600" cy="0"/>
          </a:xfrm>
          <a:prstGeom prst="line">
            <a:avLst/>
          </a:prstGeom>
          <a:noFill/>
          <a:ln w="15875">
            <a:solidFill>
              <a:srgbClr val="9FB3C8"/>
            </a:solidFill>
            <a:tailEnd type="triangle" w="med" len="med"/>
          </a:ln>
        </p:spPr>
        <p:txBody>
          <a:bodyPr/>
          <a:lstStyle/>
          <a:p>
            <a:endParaRPr lang="es-CL"/>
          </a:p>
        </p:txBody>
      </p:sp>
      <p:sp>
        <p:nvSpPr>
          <p:cNvPr id="1029" name="sh1029"/>
          <p:cNvSpPr/>
          <p:nvPr/>
        </p:nvSpPr>
        <p:spPr>
          <a:xfrm>
            <a:off x="9601200" y="2235200"/>
            <a:ext cx="1828800" cy="1219200"/>
          </a:xfrm>
          <a:prstGeom prst="rect">
            <a:avLst/>
          </a:prstGeom>
          <a:solidFill>
            <a:srgbClr val="12406E"/>
          </a:solidFill>
          <a:ln>
            <a:noFill/>
          </a:ln>
        </p:spPr>
        <p:txBody>
          <a:bodyPr/>
          <a:lstStyle/>
          <a:p>
            <a:endParaRPr lang="es-CL"/>
          </a:p>
        </p:txBody>
      </p:sp>
      <p:sp>
        <p:nvSpPr>
          <p:cNvPr id="1030" name="sh1030"/>
          <p:cNvSpPr/>
          <p:nvPr/>
        </p:nvSpPr>
        <p:spPr>
          <a:xfrm>
            <a:off x="9753600" y="2438400"/>
            <a:ext cx="1524000" cy="558800"/>
          </a:xfrm>
          <a:prstGeom prst="rect">
            <a:avLst/>
          </a:prstGeom>
          <a:noFill/>
          <a:ln>
            <a:noFill/>
          </a:ln>
        </p:spPr>
        <p:txBody>
          <a:bodyPr wrap="square" lIns="0" tIns="0" rIns="0" bIns="0" anchor="t">
            <a:noAutofit/>
          </a:bodyPr>
          <a:lstStyle/>
          <a:p>
            <a:pPr algn="l">
              <a:lnSpc>
                <a:spcPct val="115000"/>
              </a:lnSpc>
              <a:buNone/>
            </a:pPr>
            <a:r>
              <a:rPr lang="es-CL" sz="1150" b="1" spc="0" dirty="0">
                <a:solidFill>
                  <a:srgbClr val="FFFFFF"/>
                </a:solidFill>
              </a:rPr>
              <a:t>CONOCIMIENTO DECISIONAL RECONSTRUIDO</a:t>
            </a:r>
          </a:p>
        </p:txBody>
      </p:sp>
      <p:sp>
        <p:nvSpPr>
          <p:cNvPr id="1031" name="sh1031"/>
          <p:cNvSpPr/>
          <p:nvPr/>
        </p:nvSpPr>
        <p:spPr>
          <a:xfrm>
            <a:off x="9753600" y="3048000"/>
            <a:ext cx="1524000" cy="330200"/>
          </a:xfrm>
          <a:prstGeom prst="rect">
            <a:avLst/>
          </a:prstGeom>
          <a:noFill/>
          <a:ln>
            <a:noFill/>
          </a:ln>
        </p:spPr>
        <p:txBody>
          <a:bodyPr wrap="square" lIns="0" tIns="0" rIns="0" bIns="0" anchor="t">
            <a:noAutofit/>
          </a:bodyPr>
          <a:lstStyle/>
          <a:p>
            <a:pPr algn="l">
              <a:lnSpc>
                <a:spcPct val="115000"/>
              </a:lnSpc>
              <a:buNone/>
            </a:pPr>
            <a:r>
              <a:rPr lang="es-CL" sz="950" b="0" spc="0" dirty="0">
                <a:solidFill>
                  <a:srgbClr val="9FB3C8"/>
                </a:solidFill>
              </a:rPr>
              <a:t>Resultado del esfuerzo, no del almacenamiento</a:t>
            </a:r>
          </a:p>
        </p:txBody>
      </p:sp>
      <p:sp>
        <p:nvSpPr>
          <p:cNvPr id="1032" name="sh1032"/>
          <p:cNvSpPr/>
          <p:nvPr/>
        </p:nvSpPr>
        <p:spPr>
          <a:xfrm>
            <a:off x="10515600" y="3454400"/>
            <a:ext cx="0" cy="431800"/>
          </a:xfrm>
          <a:prstGeom prst="line">
            <a:avLst/>
          </a:prstGeom>
          <a:noFill/>
          <a:ln w="12700">
            <a:solidFill>
              <a:srgbClr val="9FB3C8"/>
            </a:solidFill>
            <a:prstDash val="sysDash"/>
          </a:ln>
        </p:spPr>
        <p:txBody>
          <a:bodyPr/>
          <a:lstStyle/>
          <a:p>
            <a:endParaRPr lang="es-CL"/>
          </a:p>
        </p:txBody>
      </p:sp>
      <p:sp>
        <p:nvSpPr>
          <p:cNvPr id="1033" name="sh1033"/>
          <p:cNvSpPr/>
          <p:nvPr/>
        </p:nvSpPr>
        <p:spPr>
          <a:xfrm>
            <a:off x="1676400" y="3886200"/>
            <a:ext cx="8839200" cy="0"/>
          </a:xfrm>
          <a:prstGeom prst="line">
            <a:avLst/>
          </a:prstGeom>
          <a:noFill/>
          <a:ln w="12700">
            <a:solidFill>
              <a:srgbClr val="9FB3C8"/>
            </a:solidFill>
            <a:prstDash val="sysDash"/>
          </a:ln>
        </p:spPr>
        <p:txBody>
          <a:bodyPr/>
          <a:lstStyle/>
          <a:p>
            <a:endParaRPr lang="es-CL"/>
          </a:p>
        </p:txBody>
      </p:sp>
      <p:sp>
        <p:nvSpPr>
          <p:cNvPr id="1034" name="sh1034"/>
          <p:cNvSpPr/>
          <p:nvPr/>
        </p:nvSpPr>
        <p:spPr>
          <a:xfrm flipV="1">
            <a:off x="1676400" y="3454400"/>
            <a:ext cx="0" cy="431800"/>
          </a:xfrm>
          <a:prstGeom prst="line">
            <a:avLst/>
          </a:prstGeom>
          <a:noFill/>
          <a:ln w="12700">
            <a:solidFill>
              <a:srgbClr val="9FB3C8"/>
            </a:solidFill>
            <a:prstDash val="sysDash"/>
            <a:tailEnd type="triangle" w="med" len="med"/>
          </a:ln>
        </p:spPr>
        <p:txBody>
          <a:bodyPr/>
          <a:lstStyle/>
          <a:p>
            <a:endParaRPr lang="es-CL"/>
          </a:p>
        </p:txBody>
      </p:sp>
      <p:sp>
        <p:nvSpPr>
          <p:cNvPr id="1035" name="sh1035"/>
          <p:cNvSpPr/>
          <p:nvPr/>
        </p:nvSpPr>
        <p:spPr>
          <a:xfrm>
            <a:off x="3810000" y="3937000"/>
            <a:ext cx="4572000" cy="177800"/>
          </a:xfrm>
          <a:prstGeom prst="rect">
            <a:avLst/>
          </a:prstGeom>
          <a:noFill/>
          <a:ln>
            <a:noFill/>
          </a:ln>
        </p:spPr>
        <p:txBody>
          <a:bodyPr wrap="square" lIns="0" tIns="0" rIns="0" bIns="0" anchor="ctr">
            <a:noAutofit/>
          </a:bodyPr>
          <a:lstStyle/>
          <a:p>
            <a:pPr algn="ctr">
              <a:lnSpc>
                <a:spcPct val="100000"/>
              </a:lnSpc>
              <a:buNone/>
            </a:pPr>
            <a:r>
              <a:rPr lang="es-CL" sz="950" b="0" spc="100" dirty="0">
                <a:solidFill>
                  <a:srgbClr val="5A7290"/>
                </a:solidFill>
              </a:rPr>
              <a:t>CADA NUEVA CONSULTA REPITE EL CICLO</a:t>
            </a:r>
          </a:p>
        </p:txBody>
      </p:sp>
      <p:sp>
        <p:nvSpPr>
          <p:cNvPr id="1036" name="sh1036"/>
          <p:cNvSpPr/>
          <p:nvPr/>
        </p:nvSpPr>
        <p:spPr>
          <a:xfrm>
            <a:off x="762000" y="4419600"/>
            <a:ext cx="10668000" cy="9525"/>
          </a:xfrm>
          <a:prstGeom prst="rect">
            <a:avLst/>
          </a:prstGeom>
          <a:solidFill>
            <a:srgbClr val="D8E2EC"/>
          </a:solidFill>
          <a:ln>
            <a:noFill/>
          </a:ln>
        </p:spPr>
        <p:txBody>
          <a:bodyPr/>
          <a:lstStyle/>
          <a:p>
            <a:endParaRPr lang="es-CL"/>
          </a:p>
        </p:txBody>
      </p:sp>
      <p:sp>
        <p:nvSpPr>
          <p:cNvPr id="1037" name="sh1037"/>
          <p:cNvSpPr/>
          <p:nvPr/>
        </p:nvSpPr>
        <p:spPr>
          <a:xfrm>
            <a:off x="762000" y="4724400"/>
            <a:ext cx="38100" cy="736600"/>
          </a:xfrm>
          <a:prstGeom prst="rect">
            <a:avLst/>
          </a:prstGeom>
          <a:solidFill>
            <a:srgbClr val="2ED3E8"/>
          </a:solidFill>
          <a:ln>
            <a:noFill/>
          </a:ln>
        </p:spPr>
        <p:txBody>
          <a:bodyPr/>
          <a:lstStyle/>
          <a:p>
            <a:endParaRPr lang="es-CL"/>
          </a:p>
        </p:txBody>
      </p:sp>
      <p:sp>
        <p:nvSpPr>
          <p:cNvPr id="1038" name="sh1038"/>
          <p:cNvSpPr/>
          <p:nvPr/>
        </p:nvSpPr>
        <p:spPr>
          <a:xfrm>
            <a:off x="990600" y="4445000"/>
            <a:ext cx="4826000" cy="203200"/>
          </a:xfrm>
          <a:prstGeom prst="rect">
            <a:avLst/>
          </a:prstGeom>
          <a:noFill/>
          <a:ln>
            <a:noFill/>
          </a:ln>
        </p:spPr>
        <p:txBody>
          <a:bodyPr wrap="square" lIns="0" tIns="0" rIns="0" bIns="0" anchor="ctr">
            <a:noAutofit/>
          </a:bodyPr>
          <a:lstStyle/>
          <a:p>
            <a:pPr algn="l">
              <a:lnSpc>
                <a:spcPct val="100000"/>
              </a:lnSpc>
              <a:buNone/>
            </a:pPr>
            <a:r>
              <a:rPr lang="es-CL" sz="1000" b="1" spc="120" dirty="0">
                <a:solidFill>
                  <a:srgbClr val="0E9BB5"/>
                </a:solidFill>
              </a:rPr>
              <a:t>MECANISMO PLAUSIBLE</a:t>
            </a:r>
          </a:p>
        </p:txBody>
      </p:sp>
      <p:sp>
        <p:nvSpPr>
          <p:cNvPr id="1039" name="sh1039"/>
          <p:cNvSpPr/>
          <p:nvPr/>
        </p:nvSpPr>
        <p:spPr>
          <a:xfrm>
            <a:off x="990600" y="4699000"/>
            <a:ext cx="9652000" cy="584200"/>
          </a:xfrm>
          <a:prstGeom prst="rect">
            <a:avLst/>
          </a:prstGeom>
          <a:noFill/>
          <a:ln>
            <a:noFill/>
          </a:ln>
        </p:spPr>
        <p:txBody>
          <a:bodyPr wrap="square" lIns="0" tIns="0" rIns="0" bIns="0" anchor="t">
            <a:noAutofit/>
          </a:bodyPr>
          <a:lstStyle/>
          <a:p>
            <a:pPr algn="l">
              <a:lnSpc>
                <a:spcPct val="120000"/>
              </a:lnSpc>
              <a:buNone/>
            </a:pPr>
            <a:r>
              <a:rPr lang="es-CL" sz="1450" b="1" spc="0" dirty="0">
                <a:solidFill>
                  <a:srgbClr val="12406E"/>
                </a:solidFill>
              </a:rPr>
              <a:t>Una representación persistente y preorganizada podría reducir la repetición de este ciclo sin eliminar la verificación: es un mecanismo plausible, no un efecto demostrado.</a:t>
            </a:r>
          </a:p>
        </p:txBody>
      </p:sp>
      <p:sp>
        <p:nvSpPr>
          <p:cNvPr id="1040" name="sh1040"/>
          <p:cNvSpPr/>
          <p:nvPr/>
        </p:nvSpPr>
        <p:spPr>
          <a:xfrm>
            <a:off x="762000" y="6223000"/>
            <a:ext cx="9652000" cy="177800"/>
          </a:xfrm>
          <a:prstGeom prst="rect">
            <a:avLst/>
          </a:prstGeom>
          <a:noFill/>
          <a:ln>
            <a:noFill/>
          </a:ln>
        </p:spPr>
        <p:txBody>
          <a:bodyPr wrap="square" lIns="0" tIns="0" rIns="0" bIns="0" anchor="ctr">
            <a:noAutofit/>
          </a:bodyPr>
          <a:lstStyle/>
          <a:p>
            <a:pPr algn="l">
              <a:lnSpc>
                <a:spcPct val="100000"/>
              </a:lnSpc>
              <a:buNone/>
            </a:pPr>
            <a:r>
              <a:rPr lang="es-CL" sz="950" b="0" spc="0" dirty="0">
                <a:solidFill>
                  <a:srgbClr val="4A5F78"/>
                </a:solidFill>
              </a:rPr>
              <a:t>Walsh &amp; Ungson (1991) · Edmunds &amp; Morris (2000) · Sutanto et al. (2018)</a:t>
            </a:r>
          </a:p>
        </p:txBody>
      </p:sp>
      <p:sp>
        <p:nvSpPr>
          <p:cNvPr id="1900" name="ev1901"/>
          <p:cNvSpPr/>
          <p:nvPr/>
        </p:nvSpPr>
        <p:spPr>
          <a:xfrm>
            <a:off x="762000" y="5257800"/>
            <a:ext cx="10668000" cy="9525"/>
          </a:xfrm>
          <a:prstGeom prst="rect">
            <a:avLst/>
          </a:prstGeom>
          <a:solidFill>
            <a:srgbClr val="E3EAF2"/>
          </a:solidFill>
          <a:ln>
            <a:noFill/>
          </a:ln>
        </p:spPr>
        <p:txBody>
          <a:bodyPr wrap="square" lIns="0" tIns="0" rIns="0" bIns="0" anchor="t">
            <a:noAutofit/>
          </a:bodyPr>
          <a:lstStyle/>
          <a:p>
            <a:endParaRPr lang="es-CL"/>
          </a:p>
        </p:txBody>
      </p:sp>
      <p:sp>
        <p:nvSpPr>
          <p:cNvPr id="1901" name="ev1902"/>
          <p:cNvSpPr/>
          <p:nvPr/>
        </p:nvSpPr>
        <p:spPr>
          <a:xfrm>
            <a:off x="762000" y="5384800"/>
            <a:ext cx="10668000" cy="165100"/>
          </a:xfrm>
          <a:prstGeom prst="rect">
            <a:avLst/>
          </a:prstGeom>
          <a:noFill/>
          <a:ln>
            <a:noFill/>
          </a:ln>
        </p:spPr>
        <p:txBody>
          <a:bodyPr wrap="square" lIns="0" tIns="0" rIns="0" bIns="0" anchor="ctr">
            <a:noAutofit/>
          </a:bodyPr>
          <a:lstStyle/>
          <a:p>
            <a:pPr algn="l">
              <a:lnSpc>
                <a:spcPct val="100000"/>
              </a:lnSpc>
              <a:buNone/>
            </a:pPr>
            <a:r>
              <a:rPr lang="es-CL" sz="950" b="1" spc="80" dirty="0">
                <a:solidFill>
                  <a:srgbClr val="5A7290"/>
                </a:solidFill>
              </a:rPr>
              <a:t>EVIDENCIA CORPORATIVA Y OBSERVACIONAL · MICROSOFT WORK TREND INDEX 2023 · 31.000 PARTICIPANTES · 31 PAÍSES</a:t>
            </a:r>
          </a:p>
        </p:txBody>
      </p:sp>
      <p:sp>
        <p:nvSpPr>
          <p:cNvPr id="1902" name="ev1903"/>
          <p:cNvSpPr/>
          <p:nvPr/>
        </p:nvSpPr>
        <p:spPr>
          <a:xfrm>
            <a:off x="762000" y="5638800"/>
            <a:ext cx="914400" cy="381000"/>
          </a:xfrm>
          <a:prstGeom prst="rect">
            <a:avLst/>
          </a:prstGeom>
          <a:noFill/>
          <a:ln>
            <a:noFill/>
          </a:ln>
        </p:spPr>
        <p:txBody>
          <a:bodyPr wrap="square" lIns="0" tIns="0" rIns="0" bIns="0" anchor="ctr">
            <a:noAutofit/>
          </a:bodyPr>
          <a:lstStyle/>
          <a:p>
            <a:pPr algn="l">
              <a:lnSpc>
                <a:spcPct val="100000"/>
              </a:lnSpc>
              <a:buNone/>
            </a:pPr>
            <a:r>
              <a:rPr lang="es-CL" sz="2200" b="1" spc="0" dirty="0">
                <a:solidFill>
                  <a:srgbClr val="12406E"/>
                </a:solidFill>
              </a:rPr>
              <a:t>62%</a:t>
            </a:r>
          </a:p>
        </p:txBody>
      </p:sp>
      <p:sp>
        <p:nvSpPr>
          <p:cNvPr id="1903" name="ev1904"/>
          <p:cNvSpPr/>
          <p:nvPr/>
        </p:nvSpPr>
        <p:spPr>
          <a:xfrm>
            <a:off x="1752600" y="5664200"/>
            <a:ext cx="3759200" cy="355600"/>
          </a:xfrm>
          <a:prstGeom prst="rect">
            <a:avLst/>
          </a:prstGeom>
          <a:noFill/>
          <a:ln>
            <a:noFill/>
          </a:ln>
        </p:spPr>
        <p:txBody>
          <a:bodyPr wrap="square" lIns="0" tIns="0" rIns="0" bIns="0" anchor="t">
            <a:noAutofit/>
          </a:bodyPr>
          <a:lstStyle/>
          <a:p>
            <a:pPr algn="l">
              <a:lnSpc>
                <a:spcPct val="115000"/>
              </a:lnSpc>
              <a:buNone/>
            </a:pPr>
            <a:r>
              <a:rPr lang="es-CL" sz="1050" b="0" spc="0" dirty="0">
                <a:solidFill>
                  <a:srgbClr val="4A5F78"/>
                </a:solidFill>
              </a:rPr>
              <a:t>reporta dedicar demasiado tiempo a buscar información</a:t>
            </a:r>
          </a:p>
        </p:txBody>
      </p:sp>
      <p:sp>
        <p:nvSpPr>
          <p:cNvPr id="1904" name="ev1905"/>
          <p:cNvSpPr/>
          <p:nvPr/>
        </p:nvSpPr>
        <p:spPr>
          <a:xfrm>
            <a:off x="5765800" y="5638800"/>
            <a:ext cx="914400" cy="381000"/>
          </a:xfrm>
          <a:prstGeom prst="rect">
            <a:avLst/>
          </a:prstGeom>
          <a:noFill/>
          <a:ln>
            <a:noFill/>
          </a:ln>
        </p:spPr>
        <p:txBody>
          <a:bodyPr wrap="square" lIns="0" tIns="0" rIns="0" bIns="0" anchor="ctr">
            <a:noAutofit/>
          </a:bodyPr>
          <a:lstStyle/>
          <a:p>
            <a:pPr algn="l">
              <a:lnSpc>
                <a:spcPct val="100000"/>
              </a:lnSpc>
              <a:buNone/>
            </a:pPr>
            <a:r>
              <a:rPr lang="es-CL" sz="2200" b="1" spc="0" dirty="0">
                <a:solidFill>
                  <a:srgbClr val="12406E"/>
                </a:solidFill>
              </a:rPr>
              <a:t>68%</a:t>
            </a:r>
          </a:p>
        </p:txBody>
      </p:sp>
      <p:sp>
        <p:nvSpPr>
          <p:cNvPr id="1905" name="ev1906"/>
          <p:cNvSpPr/>
          <p:nvPr/>
        </p:nvSpPr>
        <p:spPr>
          <a:xfrm>
            <a:off x="6756400" y="5664200"/>
            <a:ext cx="3124200" cy="355600"/>
          </a:xfrm>
          <a:prstGeom prst="rect">
            <a:avLst/>
          </a:prstGeom>
          <a:noFill/>
          <a:ln>
            <a:noFill/>
          </a:ln>
        </p:spPr>
        <p:txBody>
          <a:bodyPr wrap="square" lIns="0" tIns="0" rIns="0" bIns="0" anchor="t">
            <a:noAutofit/>
          </a:bodyPr>
          <a:lstStyle/>
          <a:p>
            <a:pPr algn="l">
              <a:lnSpc>
                <a:spcPct val="115000"/>
              </a:lnSpc>
              <a:buNone/>
            </a:pPr>
            <a:r>
              <a:rPr lang="es-CL" sz="1050" b="0" spc="0" dirty="0">
                <a:solidFill>
                  <a:srgbClr val="4A5F78"/>
                </a:solidFill>
              </a:rPr>
              <a:t>reporta falta de tiempo de concentración ininterrumpida</a:t>
            </a:r>
          </a:p>
        </p:txBody>
      </p:sp>
      <p:sp>
        <p:nvSpPr>
          <p:cNvPr id="1906" name="ev1907"/>
          <p:cNvSpPr/>
          <p:nvPr/>
        </p:nvSpPr>
        <p:spPr>
          <a:xfrm>
            <a:off x="10033000" y="5664200"/>
            <a:ext cx="1397000" cy="355600"/>
          </a:xfrm>
          <a:prstGeom prst="rect">
            <a:avLst/>
          </a:prstGeom>
          <a:noFill/>
          <a:ln>
            <a:noFill/>
          </a:ln>
        </p:spPr>
        <p:txBody>
          <a:bodyPr wrap="square" lIns="0" tIns="0" rIns="0" bIns="0" anchor="t">
            <a:noAutofit/>
          </a:bodyPr>
          <a:lstStyle/>
          <a:p>
            <a:pPr algn="r">
              <a:lnSpc>
                <a:spcPct val="115000"/>
              </a:lnSpc>
              <a:buNone/>
            </a:pPr>
            <a:r>
              <a:rPr lang="es-CL" sz="1000" b="0" spc="0" dirty="0">
                <a:solidFill>
                  <a:srgbClr val="4A5F78"/>
                </a:solidFill>
              </a:rPr>
              <a:t>no es evidencia causal ni específica de OpenKOS</a:t>
            </a:r>
          </a:p>
        </p:txBody>
      </p:sp>
    </p:spTree>
    <p:extLst>
      <p:ext uri="{BB962C8B-B14F-4D97-AF65-F5344CB8AC3E}">
        <p14:creationId xmlns:p14="http://schemas.microsoft.com/office/powerpoint/2010/main" val="3000276158"/>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CONTINUIDAD Y DEPENDENCIA DE PERSONAS</a:t>
            </a:r>
          </a:p>
        </p:txBody>
      </p:sp>
      <p:sp>
        <p:nvSpPr>
          <p:cNvPr id="1002" name="sh1002"/>
          <p:cNvSpPr/>
          <p:nvPr/>
        </p:nvSpPr>
        <p:spPr>
          <a:xfrm>
            <a:off x="762000" y="863600"/>
            <a:ext cx="10414000" cy="736600"/>
          </a:xfrm>
          <a:prstGeom prst="rect">
            <a:avLst/>
          </a:prstGeom>
          <a:noFill/>
          <a:ln>
            <a:noFill/>
          </a:ln>
        </p:spPr>
        <p:txBody>
          <a:bodyPr wrap="square" lIns="0" tIns="0" rIns="0" bIns="0" anchor="t">
            <a:noAutofit/>
          </a:bodyPr>
          <a:lstStyle/>
          <a:p>
            <a:pPr algn="l">
              <a:lnSpc>
                <a:spcPct val="100000"/>
              </a:lnSpc>
              <a:buNone/>
            </a:pPr>
            <a:r>
              <a:rPr lang="es-CL" sz="2400" b="1" spc="0" dirty="0">
                <a:solidFill>
                  <a:srgbClr val="12406E"/>
                </a:solidFill>
              </a:rPr>
              <a:t>Externalizar conocimiento registrable puede reducir la dependencia de personas</a:t>
            </a:r>
          </a:p>
        </p:txBody>
      </p:sp>
      <p:sp>
        <p:nvSpPr>
          <p:cNvPr id="1003" name="sh1003"/>
          <p:cNvSpPr/>
          <p:nvPr/>
        </p:nvSpPr>
        <p:spPr>
          <a:xfrm>
            <a:off x="762000" y="1651000"/>
            <a:ext cx="1524000" cy="19050"/>
          </a:xfrm>
          <a:prstGeom prst="rect">
            <a:avLst/>
          </a:prstGeom>
          <a:solidFill>
            <a:srgbClr val="2ED3E8"/>
          </a:solidFill>
          <a:ln>
            <a:noFill/>
          </a:ln>
        </p:spPr>
        <p:txBody>
          <a:bodyPr wrap="square" lIns="0" tIns="0" rIns="0" bIns="0" anchor="t">
            <a:noAutofit/>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[ 07 ]</a:t>
            </a:r>
          </a:p>
        </p:txBody>
      </p:sp>
      <p:sp>
        <p:nvSpPr>
          <p:cNvPr id="1005" name="sh1005"/>
          <p:cNvSpPr/>
          <p:nvPr/>
        </p:nvSpPr>
        <p:spPr>
          <a:xfrm>
            <a:off x="762000" y="1930400"/>
            <a:ext cx="4826000" cy="38100"/>
          </a:xfrm>
          <a:prstGeom prst="rect">
            <a:avLst/>
          </a:prstGeom>
          <a:solidFill>
            <a:srgbClr val="5A7290"/>
          </a:solidFill>
          <a:ln>
            <a:noFill/>
          </a:ln>
        </p:spPr>
        <p:txBody>
          <a:bodyPr wrap="square" lIns="0" tIns="0" rIns="0" bIns="0" anchor="t">
            <a:noAutofit/>
          </a:bodyPr>
          <a:lstStyle/>
          <a:p>
            <a:endParaRPr lang="es-CL"/>
          </a:p>
        </p:txBody>
      </p:sp>
      <p:sp>
        <p:nvSpPr>
          <p:cNvPr id="1006" name="sh1006"/>
          <p:cNvSpPr/>
          <p:nvPr/>
        </p:nvSpPr>
        <p:spPr>
          <a:xfrm>
            <a:off x="762000" y="2057400"/>
            <a:ext cx="4826000" cy="165100"/>
          </a:xfrm>
          <a:prstGeom prst="rect">
            <a:avLst/>
          </a:prstGeom>
          <a:noFill/>
          <a:ln>
            <a:noFill/>
          </a:ln>
        </p:spPr>
        <p:txBody>
          <a:bodyPr wrap="square" lIns="0" tIns="0" rIns="0" bIns="0" anchor="ctr">
            <a:noAutofit/>
          </a:bodyPr>
          <a:lstStyle/>
          <a:p>
            <a:pPr algn="l">
              <a:lnSpc>
                <a:spcPct val="100000"/>
              </a:lnSpc>
              <a:buNone/>
            </a:pPr>
            <a:r>
              <a:rPr lang="es-CL" sz="950" b="1" spc="110" dirty="0">
                <a:solidFill>
                  <a:srgbClr val="5A7290"/>
                </a:solidFill>
              </a:rPr>
              <a:t>MECANISMO 1</a:t>
            </a:r>
          </a:p>
        </p:txBody>
      </p:sp>
      <p:sp>
        <p:nvSpPr>
          <p:cNvPr id="1007" name="sh1007"/>
          <p:cNvSpPr/>
          <p:nvPr/>
        </p:nvSpPr>
        <p:spPr>
          <a:xfrm>
            <a:off x="762000" y="2286000"/>
            <a:ext cx="4826000" cy="254000"/>
          </a:xfrm>
          <a:prstGeom prst="rect">
            <a:avLst/>
          </a:prstGeom>
          <a:noFill/>
          <a:ln>
            <a:noFill/>
          </a:ln>
        </p:spPr>
        <p:txBody>
          <a:bodyPr wrap="square" lIns="0" tIns="0" rIns="0" bIns="0" anchor="ctr">
            <a:noAutofit/>
          </a:bodyPr>
          <a:lstStyle/>
          <a:p>
            <a:pPr algn="l">
              <a:lnSpc>
                <a:spcPct val="100000"/>
              </a:lnSpc>
              <a:buNone/>
            </a:pPr>
            <a:r>
              <a:rPr lang="es-CL" sz="1500" b="1" spc="0" dirty="0">
                <a:solidFill>
                  <a:srgbClr val="0A1524"/>
                </a:solidFill>
              </a:rPr>
              <a:t>Memoria individual</a:t>
            </a:r>
          </a:p>
        </p:txBody>
      </p:sp>
      <p:sp>
        <p:nvSpPr>
          <p:cNvPr id="1008" name="sh1008"/>
          <p:cNvSpPr/>
          <p:nvPr/>
        </p:nvSpPr>
        <p:spPr>
          <a:xfrm>
            <a:off x="762000" y="2692400"/>
            <a:ext cx="4826000" cy="5842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09" name="sh1009"/>
          <p:cNvSpPr/>
          <p:nvPr/>
        </p:nvSpPr>
        <p:spPr>
          <a:xfrm>
            <a:off x="762000" y="2692400"/>
            <a:ext cx="38100" cy="584200"/>
          </a:xfrm>
          <a:prstGeom prst="rect">
            <a:avLst/>
          </a:prstGeom>
          <a:solidFill>
            <a:srgbClr val="5A7290"/>
          </a:solidFill>
          <a:ln>
            <a:noFill/>
          </a:ln>
        </p:spPr>
        <p:txBody>
          <a:bodyPr wrap="square" lIns="0" tIns="0" rIns="0" bIns="0" anchor="t">
            <a:noAutofit/>
          </a:bodyPr>
          <a:lstStyle/>
          <a:p>
            <a:endParaRPr lang="es-CL"/>
          </a:p>
        </p:txBody>
      </p:sp>
      <p:sp>
        <p:nvSpPr>
          <p:cNvPr id="1010" name="sh1010"/>
          <p:cNvSpPr/>
          <p:nvPr/>
        </p:nvSpPr>
        <p:spPr>
          <a:xfrm>
            <a:off x="965200" y="2781300"/>
            <a:ext cx="4419600" cy="2032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5A7290"/>
                </a:solidFill>
              </a:rPr>
              <a:t>PERSONA</a:t>
            </a:r>
          </a:p>
        </p:txBody>
      </p:sp>
      <p:sp>
        <p:nvSpPr>
          <p:cNvPr id="1011" name="sh1011"/>
          <p:cNvSpPr/>
          <p:nvPr/>
        </p:nvSpPr>
        <p:spPr>
          <a:xfrm>
            <a:off x="965200" y="3009900"/>
            <a:ext cx="44196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1E3A52"/>
                </a:solidFill>
              </a:rPr>
              <a:t>Contexto concentrado en personas</a:t>
            </a:r>
          </a:p>
        </p:txBody>
      </p:sp>
      <p:sp>
        <p:nvSpPr>
          <p:cNvPr id="1012" name="sh1012"/>
          <p:cNvSpPr/>
          <p:nvPr/>
        </p:nvSpPr>
        <p:spPr>
          <a:xfrm>
            <a:off x="3175000" y="3276600"/>
            <a:ext cx="0" cy="127000"/>
          </a:xfrm>
          <a:prstGeom prst="line">
            <a:avLst/>
          </a:prstGeom>
          <a:noFill/>
          <a:ln w="15875">
            <a:solidFill>
              <a:srgbClr val="9FB3C8"/>
            </a:solidFill>
            <a:tailEnd type="triangle" w="med" len="med"/>
          </a:ln>
        </p:spPr>
        <p:txBody>
          <a:bodyPr wrap="square" lIns="0" tIns="0" rIns="0" bIns="0" anchor="t">
            <a:noAutofit/>
          </a:bodyPr>
          <a:lstStyle/>
          <a:p>
            <a:endParaRPr lang="es-CL"/>
          </a:p>
        </p:txBody>
      </p:sp>
      <p:sp>
        <p:nvSpPr>
          <p:cNvPr id="1013" name="sh1013"/>
          <p:cNvSpPr/>
          <p:nvPr/>
        </p:nvSpPr>
        <p:spPr>
          <a:xfrm>
            <a:off x="762000" y="3403600"/>
            <a:ext cx="4826000" cy="5842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14" name="sh1014"/>
          <p:cNvSpPr/>
          <p:nvPr/>
        </p:nvSpPr>
        <p:spPr>
          <a:xfrm>
            <a:off x="762000" y="3403600"/>
            <a:ext cx="38100" cy="584200"/>
          </a:xfrm>
          <a:prstGeom prst="rect">
            <a:avLst/>
          </a:prstGeom>
          <a:solidFill>
            <a:srgbClr val="5A7290"/>
          </a:solidFill>
          <a:ln>
            <a:noFill/>
          </a:ln>
        </p:spPr>
        <p:txBody>
          <a:bodyPr wrap="square" lIns="0" tIns="0" rIns="0" bIns="0" anchor="t">
            <a:noAutofit/>
          </a:bodyPr>
          <a:lstStyle/>
          <a:p>
            <a:endParaRPr lang="es-CL"/>
          </a:p>
        </p:txBody>
      </p:sp>
      <p:sp>
        <p:nvSpPr>
          <p:cNvPr id="1015" name="sh1015"/>
          <p:cNvSpPr/>
          <p:nvPr/>
        </p:nvSpPr>
        <p:spPr>
          <a:xfrm>
            <a:off x="965200" y="3492500"/>
            <a:ext cx="4419600" cy="2032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5A7290"/>
                </a:solidFill>
              </a:rPr>
              <a:t>MEMORIA</a:t>
            </a:r>
          </a:p>
        </p:txBody>
      </p:sp>
      <p:sp>
        <p:nvSpPr>
          <p:cNvPr id="1016" name="sh1016"/>
          <p:cNvSpPr/>
          <p:nvPr/>
        </p:nvSpPr>
        <p:spPr>
          <a:xfrm>
            <a:off x="965200" y="3721100"/>
            <a:ext cx="44196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1E3A52"/>
                </a:solidFill>
              </a:rPr>
              <a:t>Razonamiento histórico difícil de recuperar</a:t>
            </a:r>
          </a:p>
        </p:txBody>
      </p:sp>
      <p:sp>
        <p:nvSpPr>
          <p:cNvPr id="1017" name="sh1017"/>
          <p:cNvSpPr/>
          <p:nvPr/>
        </p:nvSpPr>
        <p:spPr>
          <a:xfrm>
            <a:off x="3175000" y="3987800"/>
            <a:ext cx="0" cy="127000"/>
          </a:xfrm>
          <a:prstGeom prst="line">
            <a:avLst/>
          </a:prstGeom>
          <a:noFill/>
          <a:ln w="15875">
            <a:solidFill>
              <a:srgbClr val="9FB3C8"/>
            </a:solidFill>
            <a:tailEnd type="triangle" w="med" len="med"/>
          </a:ln>
        </p:spPr>
        <p:txBody>
          <a:bodyPr wrap="square" lIns="0" tIns="0" rIns="0" bIns="0" anchor="t">
            <a:noAutofit/>
          </a:bodyPr>
          <a:lstStyle/>
          <a:p>
            <a:endParaRPr lang="es-CL"/>
          </a:p>
        </p:txBody>
      </p:sp>
      <p:sp>
        <p:nvSpPr>
          <p:cNvPr id="1018" name="sh1018"/>
          <p:cNvSpPr/>
          <p:nvPr/>
        </p:nvSpPr>
        <p:spPr>
          <a:xfrm>
            <a:off x="762000" y="4114800"/>
            <a:ext cx="4826000" cy="5842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19" name="sh1019"/>
          <p:cNvSpPr/>
          <p:nvPr/>
        </p:nvSpPr>
        <p:spPr>
          <a:xfrm>
            <a:off x="762000" y="4114800"/>
            <a:ext cx="38100" cy="584200"/>
          </a:xfrm>
          <a:prstGeom prst="rect">
            <a:avLst/>
          </a:prstGeom>
          <a:solidFill>
            <a:srgbClr val="5A7290"/>
          </a:solidFill>
          <a:ln>
            <a:noFill/>
          </a:ln>
        </p:spPr>
        <p:txBody>
          <a:bodyPr wrap="square" lIns="0" tIns="0" rIns="0" bIns="0" anchor="t">
            <a:noAutofit/>
          </a:bodyPr>
          <a:lstStyle/>
          <a:p>
            <a:endParaRPr lang="es-CL"/>
          </a:p>
        </p:txBody>
      </p:sp>
      <p:sp>
        <p:nvSpPr>
          <p:cNvPr id="1020" name="sh1020"/>
          <p:cNvSpPr/>
          <p:nvPr/>
        </p:nvSpPr>
        <p:spPr>
          <a:xfrm>
            <a:off x="965200" y="4203700"/>
            <a:ext cx="4419600" cy="2032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5A7290"/>
                </a:solidFill>
              </a:rPr>
              <a:t>INTERPRETACIÓN</a:t>
            </a:r>
          </a:p>
        </p:txBody>
      </p:sp>
      <p:sp>
        <p:nvSpPr>
          <p:cNvPr id="1021" name="sh1021"/>
          <p:cNvSpPr/>
          <p:nvPr/>
        </p:nvSpPr>
        <p:spPr>
          <a:xfrm>
            <a:off x="965200" y="4432300"/>
            <a:ext cx="44196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1E3A52"/>
                </a:solidFill>
              </a:rPr>
              <a:t>Traspasos con aclaraciones repetidas</a:t>
            </a:r>
          </a:p>
        </p:txBody>
      </p:sp>
      <p:sp>
        <p:nvSpPr>
          <p:cNvPr id="1022" name="sh1022"/>
          <p:cNvSpPr/>
          <p:nvPr/>
        </p:nvSpPr>
        <p:spPr>
          <a:xfrm>
            <a:off x="3175000" y="4699000"/>
            <a:ext cx="0" cy="127000"/>
          </a:xfrm>
          <a:prstGeom prst="line">
            <a:avLst/>
          </a:prstGeom>
          <a:noFill/>
          <a:ln w="15875">
            <a:solidFill>
              <a:srgbClr val="9FB3C8"/>
            </a:solidFill>
            <a:tailEnd type="triangle" w="med" len="med"/>
          </a:ln>
        </p:spPr>
        <p:txBody>
          <a:bodyPr wrap="square" lIns="0" tIns="0" rIns="0" bIns="0" anchor="t">
            <a:noAutofit/>
          </a:bodyPr>
          <a:lstStyle/>
          <a:p>
            <a:endParaRPr lang="es-CL"/>
          </a:p>
        </p:txBody>
      </p:sp>
      <p:sp>
        <p:nvSpPr>
          <p:cNvPr id="1023" name="sh1023"/>
          <p:cNvSpPr/>
          <p:nvPr/>
        </p:nvSpPr>
        <p:spPr>
          <a:xfrm>
            <a:off x="762000" y="4826000"/>
            <a:ext cx="4826000" cy="5842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24" name="sh1024"/>
          <p:cNvSpPr/>
          <p:nvPr/>
        </p:nvSpPr>
        <p:spPr>
          <a:xfrm>
            <a:off x="762000" y="4826000"/>
            <a:ext cx="38100" cy="584200"/>
          </a:xfrm>
          <a:prstGeom prst="rect">
            <a:avLst/>
          </a:prstGeom>
          <a:solidFill>
            <a:srgbClr val="5A7290"/>
          </a:solidFill>
          <a:ln>
            <a:noFill/>
          </a:ln>
        </p:spPr>
        <p:txBody>
          <a:bodyPr wrap="square" lIns="0" tIns="0" rIns="0" bIns="0" anchor="t">
            <a:noAutofit/>
          </a:bodyPr>
          <a:lstStyle/>
          <a:p>
            <a:endParaRPr lang="es-CL"/>
          </a:p>
        </p:txBody>
      </p:sp>
      <p:sp>
        <p:nvSpPr>
          <p:cNvPr id="1025" name="sh1025"/>
          <p:cNvSpPr/>
          <p:nvPr/>
        </p:nvSpPr>
        <p:spPr>
          <a:xfrm>
            <a:off x="965200" y="4914900"/>
            <a:ext cx="4419600" cy="2032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5A7290"/>
                </a:solidFill>
              </a:rPr>
              <a:t>PÉRDIDA POTENCIAL</a:t>
            </a:r>
          </a:p>
        </p:txBody>
      </p:sp>
      <p:sp>
        <p:nvSpPr>
          <p:cNvPr id="1026" name="sh1026"/>
          <p:cNvSpPr/>
          <p:nvPr/>
        </p:nvSpPr>
        <p:spPr>
          <a:xfrm>
            <a:off x="965200" y="5143500"/>
            <a:ext cx="44196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1E3A52"/>
                </a:solidFill>
              </a:rPr>
              <a:t>Incorporación dependiente de expertos</a:t>
            </a:r>
          </a:p>
        </p:txBody>
      </p:sp>
      <p:sp>
        <p:nvSpPr>
          <p:cNvPr id="1027" name="sh1027"/>
          <p:cNvSpPr/>
          <p:nvPr/>
        </p:nvSpPr>
        <p:spPr>
          <a:xfrm>
            <a:off x="6604000" y="1930400"/>
            <a:ext cx="4826000" cy="38100"/>
          </a:xfrm>
          <a:prstGeom prst="rect">
            <a:avLst/>
          </a:prstGeom>
          <a:solidFill>
            <a:srgbClr val="1D5C9E"/>
          </a:solidFill>
          <a:ln>
            <a:noFill/>
          </a:ln>
        </p:spPr>
        <p:txBody>
          <a:bodyPr wrap="square" lIns="0" tIns="0" rIns="0" bIns="0" anchor="t">
            <a:noAutofit/>
          </a:bodyPr>
          <a:lstStyle/>
          <a:p>
            <a:endParaRPr lang="es-CL"/>
          </a:p>
        </p:txBody>
      </p:sp>
      <p:sp>
        <p:nvSpPr>
          <p:cNvPr id="1028" name="sh1028"/>
          <p:cNvSpPr/>
          <p:nvPr/>
        </p:nvSpPr>
        <p:spPr>
          <a:xfrm>
            <a:off x="6604000" y="2057400"/>
            <a:ext cx="4826000" cy="165100"/>
          </a:xfrm>
          <a:prstGeom prst="rect">
            <a:avLst/>
          </a:prstGeom>
          <a:noFill/>
          <a:ln>
            <a:noFill/>
          </a:ln>
        </p:spPr>
        <p:txBody>
          <a:bodyPr wrap="square" lIns="0" tIns="0" rIns="0" bIns="0" anchor="ctr">
            <a:noAutofit/>
          </a:bodyPr>
          <a:lstStyle/>
          <a:p>
            <a:pPr algn="l">
              <a:lnSpc>
                <a:spcPct val="100000"/>
              </a:lnSpc>
              <a:buNone/>
            </a:pPr>
            <a:r>
              <a:rPr lang="es-CL" sz="950" b="1" spc="110" dirty="0">
                <a:solidFill>
                  <a:srgbClr val="1D5C9E"/>
                </a:solidFill>
              </a:rPr>
              <a:t>MECANISMO 2</a:t>
            </a:r>
          </a:p>
        </p:txBody>
      </p:sp>
      <p:sp>
        <p:nvSpPr>
          <p:cNvPr id="1029" name="sh1029"/>
          <p:cNvSpPr/>
          <p:nvPr/>
        </p:nvSpPr>
        <p:spPr>
          <a:xfrm>
            <a:off x="6604000" y="2286000"/>
            <a:ext cx="4826000" cy="254000"/>
          </a:xfrm>
          <a:prstGeom prst="rect">
            <a:avLst/>
          </a:prstGeom>
          <a:noFill/>
          <a:ln>
            <a:noFill/>
          </a:ln>
        </p:spPr>
        <p:txBody>
          <a:bodyPr wrap="square" lIns="0" tIns="0" rIns="0" bIns="0" anchor="ctr">
            <a:noAutofit/>
          </a:bodyPr>
          <a:lstStyle/>
          <a:p>
            <a:pPr algn="l">
              <a:lnSpc>
                <a:spcPct val="100000"/>
              </a:lnSpc>
              <a:buNone/>
            </a:pPr>
            <a:r>
              <a:rPr lang="es-CL" sz="1500" b="1" spc="0" dirty="0">
                <a:solidFill>
                  <a:srgbClr val="0A1524"/>
                </a:solidFill>
              </a:rPr>
              <a:t>Base persistente</a:t>
            </a:r>
          </a:p>
        </p:txBody>
      </p:sp>
      <p:sp>
        <p:nvSpPr>
          <p:cNvPr id="1030" name="sh1030"/>
          <p:cNvSpPr/>
          <p:nvPr/>
        </p:nvSpPr>
        <p:spPr>
          <a:xfrm>
            <a:off x="6604000" y="2692400"/>
            <a:ext cx="4826000" cy="5842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31" name="sh1031"/>
          <p:cNvSpPr/>
          <p:nvPr/>
        </p:nvSpPr>
        <p:spPr>
          <a:xfrm>
            <a:off x="6604000" y="2692400"/>
            <a:ext cx="38100" cy="584200"/>
          </a:xfrm>
          <a:prstGeom prst="rect">
            <a:avLst/>
          </a:prstGeom>
          <a:solidFill>
            <a:srgbClr val="1D5C9E"/>
          </a:solidFill>
          <a:ln>
            <a:noFill/>
          </a:ln>
        </p:spPr>
        <p:txBody>
          <a:bodyPr wrap="square" lIns="0" tIns="0" rIns="0" bIns="0" anchor="t">
            <a:noAutofit/>
          </a:bodyPr>
          <a:lstStyle/>
          <a:p>
            <a:endParaRPr lang="es-CL"/>
          </a:p>
        </p:txBody>
      </p:sp>
      <p:sp>
        <p:nvSpPr>
          <p:cNvPr id="1032" name="sh1032"/>
          <p:cNvSpPr/>
          <p:nvPr/>
        </p:nvSpPr>
        <p:spPr>
          <a:xfrm>
            <a:off x="6807200" y="2781300"/>
            <a:ext cx="4419600" cy="2032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1D5C9E"/>
                </a:solidFill>
              </a:rPr>
              <a:t>FUENTE</a:t>
            </a:r>
          </a:p>
        </p:txBody>
      </p:sp>
      <p:sp>
        <p:nvSpPr>
          <p:cNvPr id="1033" name="sh1033"/>
          <p:cNvSpPr/>
          <p:nvPr/>
        </p:nvSpPr>
        <p:spPr>
          <a:xfrm>
            <a:off x="6807200" y="3009900"/>
            <a:ext cx="44196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1E3A52"/>
                </a:solidFill>
              </a:rPr>
              <a:t>Decisiones y evidencia persistentes</a:t>
            </a:r>
          </a:p>
        </p:txBody>
      </p:sp>
      <p:sp>
        <p:nvSpPr>
          <p:cNvPr id="1034" name="sh1034"/>
          <p:cNvSpPr/>
          <p:nvPr/>
        </p:nvSpPr>
        <p:spPr>
          <a:xfrm>
            <a:off x="9017000" y="3276600"/>
            <a:ext cx="0" cy="127000"/>
          </a:xfrm>
          <a:prstGeom prst="line">
            <a:avLst/>
          </a:prstGeom>
          <a:noFill/>
          <a:ln w="15875">
            <a:solidFill>
              <a:srgbClr val="9FB3C8"/>
            </a:solidFill>
            <a:tailEnd type="triangle" w="med" len="med"/>
          </a:ln>
        </p:spPr>
        <p:txBody>
          <a:bodyPr wrap="square" lIns="0" tIns="0" rIns="0" bIns="0" anchor="t">
            <a:noAutofit/>
          </a:bodyPr>
          <a:lstStyle/>
          <a:p>
            <a:endParaRPr lang="es-CL"/>
          </a:p>
        </p:txBody>
      </p:sp>
      <p:sp>
        <p:nvSpPr>
          <p:cNvPr id="1035" name="sh1035"/>
          <p:cNvSpPr/>
          <p:nvPr/>
        </p:nvSpPr>
        <p:spPr>
          <a:xfrm>
            <a:off x="6604000" y="3403600"/>
            <a:ext cx="4826000" cy="5842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36" name="sh1036"/>
          <p:cNvSpPr/>
          <p:nvPr/>
        </p:nvSpPr>
        <p:spPr>
          <a:xfrm>
            <a:off x="6604000" y="3403600"/>
            <a:ext cx="38100" cy="584200"/>
          </a:xfrm>
          <a:prstGeom prst="rect">
            <a:avLst/>
          </a:prstGeom>
          <a:solidFill>
            <a:srgbClr val="1D5C9E"/>
          </a:solidFill>
          <a:ln>
            <a:noFill/>
          </a:ln>
        </p:spPr>
        <p:txBody>
          <a:bodyPr wrap="square" lIns="0" tIns="0" rIns="0" bIns="0" anchor="t">
            <a:noAutofit/>
          </a:bodyPr>
          <a:lstStyle/>
          <a:p>
            <a:endParaRPr lang="es-CL"/>
          </a:p>
        </p:txBody>
      </p:sp>
      <p:sp>
        <p:nvSpPr>
          <p:cNvPr id="1037" name="sh1037"/>
          <p:cNvSpPr/>
          <p:nvPr/>
        </p:nvSpPr>
        <p:spPr>
          <a:xfrm>
            <a:off x="6807200" y="3492500"/>
            <a:ext cx="4419600" cy="2032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1D5C9E"/>
                </a:solidFill>
              </a:rPr>
              <a:t>OBJETO PERSISTENTE</a:t>
            </a:r>
          </a:p>
        </p:txBody>
      </p:sp>
      <p:sp>
        <p:nvSpPr>
          <p:cNvPr id="1038" name="sh1038"/>
          <p:cNvSpPr/>
          <p:nvPr/>
        </p:nvSpPr>
        <p:spPr>
          <a:xfrm>
            <a:off x="6807200" y="3721100"/>
            <a:ext cx="44196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1E3A52"/>
                </a:solidFill>
              </a:rPr>
              <a:t>Relaciones e historia consultables</a:t>
            </a:r>
          </a:p>
        </p:txBody>
      </p:sp>
      <p:sp>
        <p:nvSpPr>
          <p:cNvPr id="1039" name="sh1039"/>
          <p:cNvSpPr/>
          <p:nvPr/>
        </p:nvSpPr>
        <p:spPr>
          <a:xfrm>
            <a:off x="9017000" y="3987800"/>
            <a:ext cx="0" cy="127000"/>
          </a:xfrm>
          <a:prstGeom prst="line">
            <a:avLst/>
          </a:prstGeom>
          <a:noFill/>
          <a:ln w="15875">
            <a:solidFill>
              <a:srgbClr val="9FB3C8"/>
            </a:solidFill>
            <a:tailEnd type="triangle" w="med" len="med"/>
          </a:ln>
        </p:spPr>
        <p:txBody>
          <a:bodyPr wrap="square" lIns="0" tIns="0" rIns="0" bIns="0" anchor="t">
            <a:noAutofit/>
          </a:bodyPr>
          <a:lstStyle/>
          <a:p>
            <a:endParaRPr lang="es-CL"/>
          </a:p>
        </p:txBody>
      </p:sp>
      <p:sp>
        <p:nvSpPr>
          <p:cNvPr id="1040" name="sh1040"/>
          <p:cNvSpPr/>
          <p:nvPr/>
        </p:nvSpPr>
        <p:spPr>
          <a:xfrm>
            <a:off x="6604000" y="4114800"/>
            <a:ext cx="4826000" cy="5842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41" name="sh1041"/>
          <p:cNvSpPr/>
          <p:nvPr/>
        </p:nvSpPr>
        <p:spPr>
          <a:xfrm>
            <a:off x="6604000" y="4114800"/>
            <a:ext cx="38100" cy="584200"/>
          </a:xfrm>
          <a:prstGeom prst="rect">
            <a:avLst/>
          </a:prstGeom>
          <a:solidFill>
            <a:srgbClr val="1D5C9E"/>
          </a:solidFill>
          <a:ln>
            <a:noFill/>
          </a:ln>
        </p:spPr>
        <p:txBody>
          <a:bodyPr wrap="square" lIns="0" tIns="0" rIns="0" bIns="0" anchor="t">
            <a:noAutofit/>
          </a:bodyPr>
          <a:lstStyle/>
          <a:p>
            <a:endParaRPr lang="es-CL"/>
          </a:p>
        </p:txBody>
      </p:sp>
      <p:sp>
        <p:nvSpPr>
          <p:cNvPr id="1042" name="sh1042"/>
          <p:cNvSpPr/>
          <p:nvPr/>
        </p:nvSpPr>
        <p:spPr>
          <a:xfrm>
            <a:off x="6807200" y="4203700"/>
            <a:ext cx="4419600" cy="2032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1D5C9E"/>
                </a:solidFill>
              </a:rPr>
              <a:t>PROCEDENCIA</a:t>
            </a:r>
          </a:p>
        </p:txBody>
      </p:sp>
      <p:sp>
        <p:nvSpPr>
          <p:cNvPr id="1043" name="sh1043"/>
          <p:cNvSpPr/>
          <p:nvPr/>
        </p:nvSpPr>
        <p:spPr>
          <a:xfrm>
            <a:off x="6807200" y="4432300"/>
            <a:ext cx="44196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1E3A52"/>
                </a:solidFill>
              </a:rPr>
              <a:t>Menos reconstrucción desde cero</a:t>
            </a:r>
          </a:p>
        </p:txBody>
      </p:sp>
      <p:sp>
        <p:nvSpPr>
          <p:cNvPr id="1044" name="sh1044"/>
          <p:cNvSpPr/>
          <p:nvPr/>
        </p:nvSpPr>
        <p:spPr>
          <a:xfrm>
            <a:off x="9017000" y="4699000"/>
            <a:ext cx="0" cy="127000"/>
          </a:xfrm>
          <a:prstGeom prst="line">
            <a:avLst/>
          </a:prstGeom>
          <a:noFill/>
          <a:ln w="15875">
            <a:solidFill>
              <a:srgbClr val="9FB3C8"/>
            </a:solidFill>
            <a:tailEnd type="triangle" w="med" len="med"/>
          </a:ln>
        </p:spPr>
        <p:txBody>
          <a:bodyPr wrap="square" lIns="0" tIns="0" rIns="0" bIns="0" anchor="t">
            <a:noAutofit/>
          </a:bodyPr>
          <a:lstStyle/>
          <a:p>
            <a:endParaRPr lang="es-CL"/>
          </a:p>
        </p:txBody>
      </p:sp>
      <p:sp>
        <p:nvSpPr>
          <p:cNvPr id="1045" name="sh1045"/>
          <p:cNvSpPr/>
          <p:nvPr/>
        </p:nvSpPr>
        <p:spPr>
          <a:xfrm>
            <a:off x="6604000" y="4826000"/>
            <a:ext cx="4826000" cy="5842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46" name="sh1046"/>
          <p:cNvSpPr/>
          <p:nvPr/>
        </p:nvSpPr>
        <p:spPr>
          <a:xfrm>
            <a:off x="6604000" y="4826000"/>
            <a:ext cx="38100" cy="584200"/>
          </a:xfrm>
          <a:prstGeom prst="rect">
            <a:avLst/>
          </a:prstGeom>
          <a:solidFill>
            <a:srgbClr val="1D5C9E"/>
          </a:solidFill>
          <a:ln>
            <a:noFill/>
          </a:ln>
        </p:spPr>
        <p:txBody>
          <a:bodyPr wrap="square" lIns="0" tIns="0" rIns="0" bIns="0" anchor="t">
            <a:noAutofit/>
          </a:bodyPr>
          <a:lstStyle/>
          <a:p>
            <a:endParaRPr lang="es-CL"/>
          </a:p>
        </p:txBody>
      </p:sp>
      <p:sp>
        <p:nvSpPr>
          <p:cNvPr id="1047" name="sh1047"/>
          <p:cNvSpPr/>
          <p:nvPr/>
        </p:nvSpPr>
        <p:spPr>
          <a:xfrm>
            <a:off x="6807200" y="4914900"/>
            <a:ext cx="4419600" cy="2032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1D5C9E"/>
                </a:solidFill>
              </a:rPr>
              <a:t>RECUPERACIÓN</a:t>
            </a:r>
          </a:p>
        </p:txBody>
      </p:sp>
      <p:sp>
        <p:nvSpPr>
          <p:cNvPr id="1048" name="sh1048"/>
          <p:cNvSpPr/>
          <p:nvPr/>
        </p:nvSpPr>
        <p:spPr>
          <a:xfrm>
            <a:off x="6807200" y="5143500"/>
            <a:ext cx="44196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1E3A52"/>
                </a:solidFill>
              </a:rPr>
              <a:t>Mayor continuidad potencial</a:t>
            </a:r>
          </a:p>
        </p:txBody>
      </p:sp>
      <p:sp>
        <p:nvSpPr>
          <p:cNvPr id="1049" name="sh1049"/>
          <p:cNvSpPr/>
          <p:nvPr/>
        </p:nvSpPr>
        <p:spPr>
          <a:xfrm>
            <a:off x="5740400" y="2692400"/>
            <a:ext cx="711200" cy="2717800"/>
          </a:xfrm>
          <a:prstGeom prst="rect">
            <a:avLst/>
          </a:prstGeom>
          <a:solidFill>
            <a:srgbClr val="EAF3F7"/>
          </a:solidFill>
          <a:ln>
            <a:noFill/>
          </a:ln>
        </p:spPr>
        <p:txBody>
          <a:bodyPr vert="vert270" wrap="square" lIns="0" tIns="0" rIns="0" bIns="0" anchor="ctr">
            <a:noAutofit/>
          </a:bodyPr>
          <a:lstStyle/>
          <a:p>
            <a:pPr algn="ctr">
              <a:lnSpc>
                <a:spcPct val="100000"/>
              </a:lnSpc>
              <a:buNone/>
            </a:pPr>
            <a:r>
              <a:rPr lang="es-CL" sz="950" b="1" spc="0" dirty="0">
                <a:solidFill>
                  <a:srgbClr val="12406E"/>
                </a:solidFill>
              </a:rPr>
              <a:t>EXTERNALIZACIÓN DEL CONOCIMIENTO REGISTRABLE</a:t>
            </a:r>
          </a:p>
        </p:txBody>
      </p:sp>
      <p:sp>
        <p:nvSpPr>
          <p:cNvPr id="1050" name="sh1050"/>
          <p:cNvSpPr/>
          <p:nvPr/>
        </p:nvSpPr>
        <p:spPr>
          <a:xfrm>
            <a:off x="762000" y="5511800"/>
            <a:ext cx="10668000" cy="165100"/>
          </a:xfrm>
          <a:prstGeom prst="rect">
            <a:avLst/>
          </a:prstGeom>
          <a:noFill/>
          <a:ln>
            <a:noFill/>
          </a:ln>
        </p:spPr>
        <p:txBody>
          <a:bodyPr wrap="square" lIns="0" tIns="0" rIns="0" bIns="0" anchor="ctr">
            <a:noAutofit/>
          </a:bodyPr>
          <a:lstStyle/>
          <a:p>
            <a:pPr algn="ctr">
              <a:lnSpc>
                <a:spcPct val="100000"/>
              </a:lnSpc>
              <a:buNone/>
            </a:pPr>
            <a:r>
              <a:rPr lang="es-CL" sz="950" b="1" spc="100" dirty="0">
                <a:solidFill>
                  <a:srgbClr val="9FB3C8"/>
                </a:solidFill>
              </a:rPr>
              <a:t>DOS MECANISMOS COMPARABLES · NO UNA EVOLUCIÓN INEVITABLE</a:t>
            </a:r>
          </a:p>
        </p:txBody>
      </p:sp>
      <p:sp>
        <p:nvSpPr>
          <p:cNvPr id="1051" name="sh1051"/>
          <p:cNvSpPr/>
          <p:nvPr/>
        </p:nvSpPr>
        <p:spPr>
          <a:xfrm>
            <a:off x="762000" y="5664200"/>
            <a:ext cx="38100" cy="431800"/>
          </a:xfrm>
          <a:prstGeom prst="rect">
            <a:avLst/>
          </a:prstGeom>
          <a:solidFill>
            <a:srgbClr val="2ED3E8"/>
          </a:solidFill>
          <a:ln>
            <a:noFill/>
          </a:ln>
        </p:spPr>
        <p:txBody>
          <a:bodyPr wrap="square" lIns="0" tIns="0" rIns="0" bIns="0" anchor="t">
            <a:noAutofit/>
          </a:bodyPr>
          <a:lstStyle/>
          <a:p>
            <a:endParaRPr lang="es-CL"/>
          </a:p>
        </p:txBody>
      </p:sp>
      <p:sp>
        <p:nvSpPr>
          <p:cNvPr id="1052" name="sh1052"/>
          <p:cNvSpPr/>
          <p:nvPr/>
        </p:nvSpPr>
        <p:spPr>
          <a:xfrm>
            <a:off x="990600" y="5664200"/>
            <a:ext cx="8890000" cy="508000"/>
          </a:xfrm>
          <a:prstGeom prst="rect">
            <a:avLst/>
          </a:prstGeom>
          <a:noFill/>
          <a:ln>
            <a:noFill/>
          </a:ln>
        </p:spPr>
        <p:txBody>
          <a:bodyPr wrap="square" lIns="0" tIns="0" rIns="0" bIns="0" anchor="t">
            <a:noAutofit/>
          </a:bodyPr>
          <a:lstStyle/>
          <a:p>
            <a:pPr algn="l">
              <a:lnSpc>
                <a:spcPct val="120000"/>
              </a:lnSpc>
              <a:buNone/>
            </a:pPr>
            <a:r>
              <a:rPr lang="es-CL" sz="1250" b="1" spc="0" dirty="0">
                <a:solidFill>
                  <a:srgbClr val="12406E"/>
                </a:solidFill>
              </a:rPr>
              <a:t>OpenKOS sólo puede preservar conocimiento que haya quedado registrado; no captura conocimiento tácito por definición.</a:t>
            </a:r>
          </a:p>
        </p:txBody>
      </p:sp>
      <p:sp>
        <p:nvSpPr>
          <p:cNvPr id="1053" name="sh1053"/>
          <p:cNvSpPr/>
          <p:nvPr/>
        </p:nvSpPr>
        <p:spPr>
          <a:xfrm>
            <a:off x="762000" y="6197600"/>
            <a:ext cx="6350000" cy="1524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4A5F78"/>
                </a:solidFill>
              </a:rPr>
              <a:t>Galan (2023) · Carley (1992) · Argote &amp; Ingram (2000)</a:t>
            </a:r>
          </a:p>
        </p:txBody>
      </p:sp>
    </p:spTree>
    <p:extLst>
      <p:ext uri="{BB962C8B-B14F-4D97-AF65-F5344CB8AC3E}">
        <p14:creationId xmlns:p14="http://schemas.microsoft.com/office/powerpoint/2010/main" val="2477545222"/>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TRAZABILIDAD Y TEMPORALIDAD</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400" b="1" spc="0" dirty="0">
                <a:solidFill>
                  <a:srgbClr val="12406E"/>
                </a:solidFill>
              </a:rPr>
              <a:t>Procedencia, vigencia y evolución responden preguntas distintas</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[ 08 ]</a:t>
            </a:r>
          </a:p>
        </p:txBody>
      </p:sp>
      <p:sp>
        <p:nvSpPr>
          <p:cNvPr id="1005" name="sh1005"/>
          <p:cNvSpPr/>
          <p:nvPr/>
        </p:nvSpPr>
        <p:spPr>
          <a:xfrm>
            <a:off x="762000" y="1930400"/>
            <a:ext cx="3429000" cy="38100"/>
          </a:xfrm>
          <a:prstGeom prst="rect">
            <a:avLst/>
          </a:prstGeom>
          <a:solidFill>
            <a:srgbClr val="12406E"/>
          </a:solidFill>
          <a:ln>
            <a:noFill/>
          </a:ln>
        </p:spPr>
        <p:txBody>
          <a:bodyPr/>
          <a:lstStyle/>
          <a:p>
            <a:endParaRPr lang="es-CL"/>
          </a:p>
        </p:txBody>
      </p:sp>
      <p:sp>
        <p:nvSpPr>
          <p:cNvPr id="1006" name="sh1006"/>
          <p:cNvSpPr/>
          <p:nvPr/>
        </p:nvSpPr>
        <p:spPr>
          <a:xfrm>
            <a:off x="762000" y="2082800"/>
            <a:ext cx="3429000" cy="279400"/>
          </a:xfrm>
          <a:prstGeom prst="rect">
            <a:avLst/>
          </a:prstGeom>
          <a:noFill/>
          <a:ln>
            <a:noFill/>
          </a:ln>
        </p:spPr>
        <p:txBody>
          <a:bodyPr wrap="square" lIns="0" tIns="0" rIns="0" bIns="0" anchor="ctr">
            <a:noAutofit/>
          </a:bodyPr>
          <a:lstStyle/>
          <a:p>
            <a:pPr algn="l">
              <a:lnSpc>
                <a:spcPct val="100000"/>
              </a:lnSpc>
              <a:buNone/>
            </a:pPr>
            <a:r>
              <a:rPr lang="es-CL" sz="1700" b="1" spc="20" dirty="0">
                <a:solidFill>
                  <a:srgbClr val="12406E"/>
                </a:solidFill>
              </a:rPr>
              <a:t>PROCEDENCIA</a:t>
            </a:r>
          </a:p>
        </p:txBody>
      </p:sp>
      <p:sp>
        <p:nvSpPr>
          <p:cNvPr id="1007" name="sh1007"/>
          <p:cNvSpPr/>
          <p:nvPr/>
        </p:nvSpPr>
        <p:spPr>
          <a:xfrm>
            <a:off x="762000" y="2413000"/>
            <a:ext cx="34290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5A7290"/>
                </a:solidFill>
              </a:rPr>
              <a:t>¿De dónde proviene?</a:t>
            </a:r>
          </a:p>
        </p:txBody>
      </p:sp>
      <p:sp>
        <p:nvSpPr>
          <p:cNvPr id="1008" name="sh1008"/>
          <p:cNvSpPr/>
          <p:nvPr/>
        </p:nvSpPr>
        <p:spPr>
          <a:xfrm>
            <a:off x="762000" y="29972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AFIRMACIÓN</a:t>
            </a:r>
          </a:p>
        </p:txBody>
      </p:sp>
      <p:sp>
        <p:nvSpPr>
          <p:cNvPr id="1009" name="sh1009"/>
          <p:cNvSpPr/>
          <p:nvPr/>
        </p:nvSpPr>
        <p:spPr>
          <a:xfrm>
            <a:off x="2476500" y="3429000"/>
            <a:ext cx="0" cy="127000"/>
          </a:xfrm>
          <a:prstGeom prst="line">
            <a:avLst/>
          </a:prstGeom>
          <a:noFill/>
          <a:ln w="15875">
            <a:solidFill>
              <a:srgbClr val="12406E"/>
            </a:solidFill>
            <a:tailEnd type="triangle" w="med" len="med"/>
          </a:ln>
        </p:spPr>
        <p:txBody>
          <a:bodyPr/>
          <a:lstStyle/>
          <a:p>
            <a:endParaRPr lang="es-CL"/>
          </a:p>
        </p:txBody>
      </p:sp>
      <p:sp>
        <p:nvSpPr>
          <p:cNvPr id="1010" name="sh1010"/>
          <p:cNvSpPr/>
          <p:nvPr/>
        </p:nvSpPr>
        <p:spPr>
          <a:xfrm>
            <a:off x="762000" y="35560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FUENTE</a:t>
            </a:r>
          </a:p>
        </p:txBody>
      </p:sp>
      <p:sp>
        <p:nvSpPr>
          <p:cNvPr id="1011" name="sh1011"/>
          <p:cNvSpPr/>
          <p:nvPr/>
        </p:nvSpPr>
        <p:spPr>
          <a:xfrm>
            <a:off x="2476500" y="3987800"/>
            <a:ext cx="0" cy="127000"/>
          </a:xfrm>
          <a:prstGeom prst="line">
            <a:avLst/>
          </a:prstGeom>
          <a:noFill/>
          <a:ln w="15875">
            <a:solidFill>
              <a:srgbClr val="12406E"/>
            </a:solidFill>
            <a:tailEnd type="triangle" w="med" len="med"/>
          </a:ln>
        </p:spPr>
        <p:txBody>
          <a:bodyPr/>
          <a:lstStyle/>
          <a:p>
            <a:endParaRPr lang="es-CL"/>
          </a:p>
        </p:txBody>
      </p:sp>
      <p:sp>
        <p:nvSpPr>
          <p:cNvPr id="1012" name="sh1012"/>
          <p:cNvSpPr/>
          <p:nvPr/>
        </p:nvSpPr>
        <p:spPr>
          <a:xfrm>
            <a:off x="762000" y="41148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EVIDENCIA</a:t>
            </a:r>
          </a:p>
        </p:txBody>
      </p:sp>
      <p:sp>
        <p:nvSpPr>
          <p:cNvPr id="1013" name="sh1013"/>
          <p:cNvSpPr/>
          <p:nvPr/>
        </p:nvSpPr>
        <p:spPr>
          <a:xfrm>
            <a:off x="2476500" y="4546600"/>
            <a:ext cx="0" cy="127000"/>
          </a:xfrm>
          <a:prstGeom prst="line">
            <a:avLst/>
          </a:prstGeom>
          <a:noFill/>
          <a:ln w="15875">
            <a:solidFill>
              <a:srgbClr val="12406E"/>
            </a:solidFill>
            <a:tailEnd type="triangle" w="med" len="med"/>
          </a:ln>
        </p:spPr>
        <p:txBody>
          <a:bodyPr/>
          <a:lstStyle/>
          <a:p>
            <a:endParaRPr lang="es-CL"/>
          </a:p>
        </p:txBody>
      </p:sp>
      <p:sp>
        <p:nvSpPr>
          <p:cNvPr id="1014" name="sh1014"/>
          <p:cNvSpPr/>
          <p:nvPr/>
        </p:nvSpPr>
        <p:spPr>
          <a:xfrm>
            <a:off x="762000" y="4673600"/>
            <a:ext cx="3429000" cy="431800"/>
          </a:xfrm>
          <a:prstGeom prst="rect">
            <a:avLst/>
          </a:prstGeom>
          <a:solidFill>
            <a:srgbClr val="12406E"/>
          </a:solidFill>
          <a:ln>
            <a:noFill/>
          </a:ln>
        </p:spPr>
        <p:txBody>
          <a:bodyPr wrap="square" lIns="0" tIns="0" rIns="0" bIns="0" anchor="ctr">
            <a:noAutofit/>
          </a:bodyPr>
          <a:lstStyle/>
          <a:p>
            <a:pPr algn="ctr">
              <a:lnSpc>
                <a:spcPct val="100000"/>
              </a:lnSpc>
              <a:buNone/>
            </a:pPr>
            <a:r>
              <a:rPr lang="es-CL" sz="1300" b="1" spc="0" dirty="0">
                <a:solidFill>
                  <a:srgbClr val="FFFFFF"/>
                </a:solidFill>
              </a:rPr>
              <a:t>VERIFICACIÓN</a:t>
            </a:r>
          </a:p>
        </p:txBody>
      </p:sp>
      <p:sp>
        <p:nvSpPr>
          <p:cNvPr id="1015" name="sh1015"/>
          <p:cNvSpPr/>
          <p:nvPr/>
        </p:nvSpPr>
        <p:spPr>
          <a:xfrm>
            <a:off x="762000" y="5511800"/>
            <a:ext cx="3429000" cy="304800"/>
          </a:xfrm>
          <a:prstGeom prst="rect">
            <a:avLst/>
          </a:prstGeom>
          <a:noFill/>
          <a:ln>
            <a:noFill/>
          </a:ln>
        </p:spPr>
        <p:txBody>
          <a:bodyPr wrap="square" lIns="0" tIns="0" rIns="0" bIns="0" anchor="t">
            <a:noAutofit/>
          </a:bodyPr>
          <a:lstStyle/>
          <a:p>
            <a:pPr algn="l">
              <a:lnSpc>
                <a:spcPct val="120000"/>
              </a:lnSpc>
              <a:buNone/>
            </a:pPr>
            <a:r>
              <a:rPr lang="es-CL" sz="1150" b="0" spc="0" dirty="0">
                <a:solidFill>
                  <a:srgbClr val="4A5F78"/>
                </a:solidFill>
              </a:rPr>
              <a:t>Soporta auditoría y atribución.</a:t>
            </a:r>
          </a:p>
        </p:txBody>
      </p:sp>
      <p:sp>
        <p:nvSpPr>
          <p:cNvPr id="1016" name="sh1016"/>
          <p:cNvSpPr/>
          <p:nvPr/>
        </p:nvSpPr>
        <p:spPr>
          <a:xfrm>
            <a:off x="4381500" y="1930400"/>
            <a:ext cx="3429000" cy="38100"/>
          </a:xfrm>
          <a:prstGeom prst="rect">
            <a:avLst/>
          </a:prstGeom>
          <a:solidFill>
            <a:srgbClr val="1D5C9E"/>
          </a:solidFill>
          <a:ln>
            <a:noFill/>
          </a:ln>
        </p:spPr>
        <p:txBody>
          <a:bodyPr/>
          <a:lstStyle/>
          <a:p>
            <a:endParaRPr lang="es-CL"/>
          </a:p>
        </p:txBody>
      </p:sp>
      <p:sp>
        <p:nvSpPr>
          <p:cNvPr id="1017" name="sh1017"/>
          <p:cNvSpPr/>
          <p:nvPr/>
        </p:nvSpPr>
        <p:spPr>
          <a:xfrm>
            <a:off x="4381500" y="2082800"/>
            <a:ext cx="3429000" cy="279400"/>
          </a:xfrm>
          <a:prstGeom prst="rect">
            <a:avLst/>
          </a:prstGeom>
          <a:noFill/>
          <a:ln>
            <a:noFill/>
          </a:ln>
        </p:spPr>
        <p:txBody>
          <a:bodyPr wrap="square" lIns="0" tIns="0" rIns="0" bIns="0" anchor="ctr">
            <a:noAutofit/>
          </a:bodyPr>
          <a:lstStyle/>
          <a:p>
            <a:pPr algn="l">
              <a:lnSpc>
                <a:spcPct val="100000"/>
              </a:lnSpc>
              <a:buNone/>
            </a:pPr>
            <a:r>
              <a:rPr lang="es-CL" sz="1700" b="1" spc="20" dirty="0">
                <a:solidFill>
                  <a:srgbClr val="1D5C9E"/>
                </a:solidFill>
              </a:rPr>
              <a:t>VIGENCIA</a:t>
            </a:r>
          </a:p>
        </p:txBody>
      </p:sp>
      <p:sp>
        <p:nvSpPr>
          <p:cNvPr id="1018" name="sh1018"/>
          <p:cNvSpPr/>
          <p:nvPr/>
        </p:nvSpPr>
        <p:spPr>
          <a:xfrm>
            <a:off x="4381500" y="2413000"/>
            <a:ext cx="34290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5A7290"/>
                </a:solidFill>
              </a:rPr>
              <a:t>¿Sigue vigente?</a:t>
            </a:r>
          </a:p>
        </p:txBody>
      </p:sp>
      <p:sp>
        <p:nvSpPr>
          <p:cNvPr id="1019" name="sh1019"/>
          <p:cNvSpPr/>
          <p:nvPr/>
        </p:nvSpPr>
        <p:spPr>
          <a:xfrm>
            <a:off x="4381500" y="29972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DECISIÓN</a:t>
            </a:r>
          </a:p>
        </p:txBody>
      </p:sp>
      <p:sp>
        <p:nvSpPr>
          <p:cNvPr id="1020" name="sh1020"/>
          <p:cNvSpPr/>
          <p:nvPr/>
        </p:nvSpPr>
        <p:spPr>
          <a:xfrm>
            <a:off x="6096000" y="3429000"/>
            <a:ext cx="0" cy="127000"/>
          </a:xfrm>
          <a:prstGeom prst="line">
            <a:avLst/>
          </a:prstGeom>
          <a:noFill/>
          <a:ln w="15875">
            <a:solidFill>
              <a:srgbClr val="1D5C9E"/>
            </a:solidFill>
            <a:tailEnd type="triangle" w="med" len="med"/>
          </a:ln>
        </p:spPr>
        <p:txBody>
          <a:bodyPr/>
          <a:lstStyle/>
          <a:p>
            <a:endParaRPr lang="es-CL"/>
          </a:p>
        </p:txBody>
      </p:sp>
      <p:sp>
        <p:nvSpPr>
          <p:cNvPr id="1021" name="sh1021"/>
          <p:cNvSpPr/>
          <p:nvPr/>
        </p:nvSpPr>
        <p:spPr>
          <a:xfrm>
            <a:off x="4381500" y="35560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ESTADO · FECHA</a:t>
            </a:r>
          </a:p>
        </p:txBody>
      </p:sp>
      <p:sp>
        <p:nvSpPr>
          <p:cNvPr id="1022" name="sh1022"/>
          <p:cNvSpPr/>
          <p:nvPr/>
        </p:nvSpPr>
        <p:spPr>
          <a:xfrm>
            <a:off x="6096000" y="3987800"/>
            <a:ext cx="0" cy="127000"/>
          </a:xfrm>
          <a:prstGeom prst="line">
            <a:avLst/>
          </a:prstGeom>
          <a:noFill/>
          <a:ln w="15875">
            <a:solidFill>
              <a:srgbClr val="1D5C9E"/>
            </a:solidFill>
            <a:tailEnd type="triangle" w="med" len="med"/>
          </a:ln>
        </p:spPr>
        <p:txBody>
          <a:bodyPr/>
          <a:lstStyle/>
          <a:p>
            <a:endParaRPr lang="es-CL"/>
          </a:p>
        </p:txBody>
      </p:sp>
      <p:sp>
        <p:nvSpPr>
          <p:cNvPr id="1024" name="sh1024"/>
          <p:cNvSpPr/>
          <p:nvPr/>
        </p:nvSpPr>
        <p:spPr>
          <a:xfrm>
            <a:off x="6096000" y="4546600"/>
            <a:ext cx="0" cy="127000"/>
          </a:xfrm>
          <a:prstGeom prst="line">
            <a:avLst/>
          </a:prstGeom>
          <a:noFill/>
          <a:ln w="15875">
            <a:solidFill>
              <a:srgbClr val="1D5C9E"/>
            </a:solidFill>
            <a:tailEnd type="triangle" w="med" len="med"/>
          </a:ln>
        </p:spPr>
        <p:txBody>
          <a:bodyPr/>
          <a:lstStyle/>
          <a:p>
            <a:endParaRPr lang="es-CL"/>
          </a:p>
        </p:txBody>
      </p:sp>
      <p:sp>
        <p:nvSpPr>
          <p:cNvPr id="1025" name="sh1025"/>
          <p:cNvSpPr/>
          <p:nvPr/>
        </p:nvSpPr>
        <p:spPr>
          <a:xfrm>
            <a:off x="4381500" y="41148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REVISIÓN</a:t>
            </a:r>
          </a:p>
        </p:txBody>
      </p:sp>
      <p:sp>
        <p:nvSpPr>
          <p:cNvPr id="1027" name="sh1027"/>
          <p:cNvSpPr/>
          <p:nvPr/>
        </p:nvSpPr>
        <p:spPr>
          <a:xfrm>
            <a:off x="4381500" y="4673600"/>
            <a:ext cx="3429000" cy="431800"/>
          </a:xfrm>
          <a:prstGeom prst="rect">
            <a:avLst/>
          </a:prstGeom>
          <a:solidFill>
            <a:srgbClr val="1D5C9E"/>
          </a:solidFill>
          <a:ln>
            <a:noFill/>
          </a:ln>
        </p:spPr>
        <p:txBody>
          <a:bodyPr wrap="square" lIns="0" tIns="0" rIns="0" bIns="0" anchor="ctr">
            <a:noAutofit/>
          </a:bodyPr>
          <a:lstStyle/>
          <a:p>
            <a:pPr algn="ctr">
              <a:lnSpc>
                <a:spcPct val="100000"/>
              </a:lnSpc>
              <a:buNone/>
            </a:pPr>
            <a:r>
              <a:rPr lang="es-CL" sz="1300" b="1" spc="0" dirty="0">
                <a:solidFill>
                  <a:srgbClr val="FFFFFF"/>
                </a:solidFill>
              </a:rPr>
              <a:t>¿SIGUE VÁLIDA?</a:t>
            </a:r>
          </a:p>
        </p:txBody>
      </p:sp>
      <p:sp>
        <p:nvSpPr>
          <p:cNvPr id="1028" name="sh1028"/>
          <p:cNvSpPr/>
          <p:nvPr/>
        </p:nvSpPr>
        <p:spPr>
          <a:xfrm>
            <a:off x="4381500" y="5511800"/>
            <a:ext cx="3429000" cy="304800"/>
          </a:xfrm>
          <a:prstGeom prst="rect">
            <a:avLst/>
          </a:prstGeom>
          <a:noFill/>
          <a:ln>
            <a:noFill/>
          </a:ln>
        </p:spPr>
        <p:txBody>
          <a:bodyPr wrap="square" lIns="0" tIns="0" rIns="0" bIns="0" anchor="t">
            <a:noAutofit/>
          </a:bodyPr>
          <a:lstStyle/>
          <a:p>
            <a:pPr algn="l">
              <a:lnSpc>
                <a:spcPct val="120000"/>
              </a:lnSpc>
              <a:buNone/>
            </a:pPr>
            <a:r>
              <a:rPr lang="es-CL" sz="1150" b="0" spc="0" dirty="0">
                <a:solidFill>
                  <a:srgbClr val="4A5F78"/>
                </a:solidFill>
              </a:rPr>
              <a:t>Permite evaluar el uso de estados obsoletos.</a:t>
            </a:r>
          </a:p>
        </p:txBody>
      </p:sp>
      <p:sp>
        <p:nvSpPr>
          <p:cNvPr id="1029" name="sh1029"/>
          <p:cNvSpPr/>
          <p:nvPr/>
        </p:nvSpPr>
        <p:spPr>
          <a:xfrm>
            <a:off x="8001000" y="1930400"/>
            <a:ext cx="3429000" cy="38100"/>
          </a:xfrm>
          <a:prstGeom prst="rect">
            <a:avLst/>
          </a:prstGeom>
          <a:solidFill>
            <a:srgbClr val="0A6D82"/>
          </a:solidFill>
          <a:ln>
            <a:noFill/>
          </a:ln>
        </p:spPr>
        <p:txBody>
          <a:bodyPr/>
          <a:lstStyle/>
          <a:p>
            <a:endParaRPr lang="es-CL"/>
          </a:p>
        </p:txBody>
      </p:sp>
      <p:sp>
        <p:nvSpPr>
          <p:cNvPr id="1030" name="sh1030"/>
          <p:cNvSpPr/>
          <p:nvPr/>
        </p:nvSpPr>
        <p:spPr>
          <a:xfrm>
            <a:off x="8001000" y="2082800"/>
            <a:ext cx="3429000" cy="279400"/>
          </a:xfrm>
          <a:prstGeom prst="rect">
            <a:avLst/>
          </a:prstGeom>
          <a:noFill/>
          <a:ln>
            <a:noFill/>
          </a:ln>
        </p:spPr>
        <p:txBody>
          <a:bodyPr wrap="square" lIns="0" tIns="0" rIns="0" bIns="0" anchor="ctr">
            <a:noAutofit/>
          </a:bodyPr>
          <a:lstStyle/>
          <a:p>
            <a:pPr algn="l">
              <a:lnSpc>
                <a:spcPct val="100000"/>
              </a:lnSpc>
              <a:buNone/>
            </a:pPr>
            <a:r>
              <a:rPr lang="es-CL" sz="1700" b="1" spc="20" dirty="0">
                <a:solidFill>
                  <a:srgbClr val="0A6D82"/>
                </a:solidFill>
              </a:rPr>
              <a:t>EVOLUCIÓN</a:t>
            </a:r>
          </a:p>
        </p:txBody>
      </p:sp>
      <p:sp>
        <p:nvSpPr>
          <p:cNvPr id="1031" name="sh1031"/>
          <p:cNvSpPr/>
          <p:nvPr/>
        </p:nvSpPr>
        <p:spPr>
          <a:xfrm>
            <a:off x="8001000" y="2413000"/>
            <a:ext cx="34290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5A7290"/>
                </a:solidFill>
              </a:rPr>
              <a:t>¿Cómo cambió?</a:t>
            </a:r>
          </a:p>
        </p:txBody>
      </p:sp>
      <p:sp>
        <p:nvSpPr>
          <p:cNvPr id="1032" name="sh1032"/>
          <p:cNvSpPr/>
          <p:nvPr/>
        </p:nvSpPr>
        <p:spPr>
          <a:xfrm>
            <a:off x="8001000" y="29972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DECISIÓN</a:t>
            </a:r>
          </a:p>
        </p:txBody>
      </p:sp>
      <p:sp>
        <p:nvSpPr>
          <p:cNvPr id="1033" name="sh1033"/>
          <p:cNvSpPr/>
          <p:nvPr/>
        </p:nvSpPr>
        <p:spPr>
          <a:xfrm>
            <a:off x="9715500" y="3429000"/>
            <a:ext cx="0" cy="127000"/>
          </a:xfrm>
          <a:prstGeom prst="line">
            <a:avLst/>
          </a:prstGeom>
          <a:noFill/>
          <a:ln w="15875">
            <a:solidFill>
              <a:srgbClr val="0A6D82"/>
            </a:solidFill>
            <a:tailEnd type="triangle" w="med" len="med"/>
          </a:ln>
        </p:spPr>
        <p:txBody>
          <a:bodyPr/>
          <a:lstStyle/>
          <a:p>
            <a:endParaRPr lang="es-CL"/>
          </a:p>
        </p:txBody>
      </p:sp>
      <p:sp>
        <p:nvSpPr>
          <p:cNvPr id="1034" name="sh1034"/>
          <p:cNvSpPr/>
          <p:nvPr/>
        </p:nvSpPr>
        <p:spPr>
          <a:xfrm>
            <a:off x="8001000" y="35560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EVENTO</a:t>
            </a:r>
          </a:p>
        </p:txBody>
      </p:sp>
      <p:sp>
        <p:nvSpPr>
          <p:cNvPr id="1035" name="sh1035"/>
          <p:cNvSpPr/>
          <p:nvPr/>
        </p:nvSpPr>
        <p:spPr>
          <a:xfrm>
            <a:off x="9715500" y="3987800"/>
            <a:ext cx="0" cy="127000"/>
          </a:xfrm>
          <a:prstGeom prst="line">
            <a:avLst/>
          </a:prstGeom>
          <a:noFill/>
          <a:ln w="15875">
            <a:solidFill>
              <a:srgbClr val="0A6D82"/>
            </a:solidFill>
            <a:tailEnd type="triangle" w="med" len="med"/>
          </a:ln>
        </p:spPr>
        <p:txBody>
          <a:bodyPr/>
          <a:lstStyle/>
          <a:p>
            <a:endParaRPr lang="es-CL"/>
          </a:p>
        </p:txBody>
      </p:sp>
      <p:sp>
        <p:nvSpPr>
          <p:cNvPr id="1036" name="sh1036"/>
          <p:cNvSpPr/>
          <p:nvPr/>
        </p:nvSpPr>
        <p:spPr>
          <a:xfrm>
            <a:off x="8001000" y="41148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REEMPLAZO</a:t>
            </a:r>
          </a:p>
        </p:txBody>
      </p:sp>
      <p:sp>
        <p:nvSpPr>
          <p:cNvPr id="1037" name="sh1037"/>
          <p:cNvSpPr/>
          <p:nvPr/>
        </p:nvSpPr>
        <p:spPr>
          <a:xfrm>
            <a:off x="9715500" y="4546600"/>
            <a:ext cx="0" cy="127000"/>
          </a:xfrm>
          <a:prstGeom prst="line">
            <a:avLst/>
          </a:prstGeom>
          <a:noFill/>
          <a:ln w="15875">
            <a:solidFill>
              <a:srgbClr val="0A6D82"/>
            </a:solidFill>
            <a:tailEnd type="triangle" w="med" len="med"/>
          </a:ln>
        </p:spPr>
        <p:txBody>
          <a:bodyPr/>
          <a:lstStyle/>
          <a:p>
            <a:endParaRPr lang="es-CL"/>
          </a:p>
        </p:txBody>
      </p:sp>
      <p:sp>
        <p:nvSpPr>
          <p:cNvPr id="1038" name="sh1038"/>
          <p:cNvSpPr/>
          <p:nvPr/>
        </p:nvSpPr>
        <p:spPr>
          <a:xfrm>
            <a:off x="8001000" y="4673600"/>
            <a:ext cx="3429000" cy="431800"/>
          </a:xfrm>
          <a:prstGeom prst="rect">
            <a:avLst/>
          </a:prstGeom>
          <a:solidFill>
            <a:srgbClr val="0A6D82"/>
          </a:solidFill>
          <a:ln>
            <a:noFill/>
          </a:ln>
        </p:spPr>
        <p:txBody>
          <a:bodyPr wrap="square" lIns="0" tIns="0" rIns="0" bIns="0" anchor="ctr">
            <a:noAutofit/>
          </a:bodyPr>
          <a:lstStyle/>
          <a:p>
            <a:pPr algn="ctr">
              <a:lnSpc>
                <a:spcPct val="100000"/>
              </a:lnSpc>
              <a:buNone/>
            </a:pPr>
            <a:r>
              <a:rPr lang="es-CL" sz="1300" b="1" spc="0" dirty="0">
                <a:solidFill>
                  <a:srgbClr val="FFFFFF"/>
                </a:solidFill>
              </a:rPr>
              <a:t>HISTORIA</a:t>
            </a:r>
          </a:p>
        </p:txBody>
      </p:sp>
      <p:sp>
        <p:nvSpPr>
          <p:cNvPr id="1039" name="sh1039"/>
          <p:cNvSpPr/>
          <p:nvPr/>
        </p:nvSpPr>
        <p:spPr>
          <a:xfrm>
            <a:off x="8001000" y="5511800"/>
            <a:ext cx="3429000" cy="304800"/>
          </a:xfrm>
          <a:prstGeom prst="rect">
            <a:avLst/>
          </a:prstGeom>
          <a:noFill/>
          <a:ln>
            <a:noFill/>
          </a:ln>
        </p:spPr>
        <p:txBody>
          <a:bodyPr wrap="square" lIns="0" tIns="0" rIns="0" bIns="0" anchor="t">
            <a:noAutofit/>
          </a:bodyPr>
          <a:lstStyle/>
          <a:p>
            <a:pPr algn="l">
              <a:lnSpc>
                <a:spcPct val="120000"/>
              </a:lnSpc>
              <a:buNone/>
            </a:pPr>
            <a:r>
              <a:rPr lang="es-CL" sz="1150" b="0" spc="0" dirty="0">
                <a:solidFill>
                  <a:srgbClr val="4A5F78"/>
                </a:solidFill>
              </a:rPr>
              <a:t>Permite reconstruir evolución y reemplazos.</a:t>
            </a:r>
          </a:p>
        </p:txBody>
      </p:sp>
      <p:sp>
        <p:nvSpPr>
          <p:cNvPr id="1040" name="sh1040"/>
          <p:cNvSpPr/>
          <p:nvPr/>
        </p:nvSpPr>
        <p:spPr>
          <a:xfrm>
            <a:off x="762000" y="5867400"/>
            <a:ext cx="38100" cy="279400"/>
          </a:xfrm>
          <a:prstGeom prst="rect">
            <a:avLst/>
          </a:prstGeom>
          <a:solidFill>
            <a:srgbClr val="2ED3E8"/>
          </a:solidFill>
          <a:ln>
            <a:noFill/>
          </a:ln>
        </p:spPr>
        <p:txBody>
          <a:bodyPr/>
          <a:lstStyle/>
          <a:p>
            <a:endParaRPr lang="es-CL"/>
          </a:p>
        </p:txBody>
      </p:sp>
      <p:sp>
        <p:nvSpPr>
          <p:cNvPr id="1041" name="sh1041"/>
          <p:cNvSpPr/>
          <p:nvPr/>
        </p:nvSpPr>
        <p:spPr>
          <a:xfrm>
            <a:off x="990600" y="5867400"/>
            <a:ext cx="10414000" cy="2794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12406E"/>
                </a:solidFill>
              </a:rPr>
              <a:t>Una respuesta puede ser semánticamente correcta y aun así no ser verificable o estar desactualizada.</a:t>
            </a:r>
          </a:p>
        </p:txBody>
      </p:sp>
      <p:sp>
        <p:nvSpPr>
          <p:cNvPr id="1042" name="sh1042"/>
          <p:cNvSpPr/>
          <p:nvPr/>
        </p:nvSpPr>
        <p:spPr>
          <a:xfrm>
            <a:off x="762000" y="6197600"/>
            <a:ext cx="9652000" cy="152400"/>
          </a:xfrm>
          <a:prstGeom prst="rect">
            <a:avLst/>
          </a:prstGeom>
          <a:noFill/>
          <a:ln>
            <a:noFill/>
          </a:ln>
        </p:spPr>
        <p:txBody>
          <a:bodyPr wrap="square" lIns="0" tIns="0" rIns="0" bIns="0" anchor="ctr">
            <a:noAutofit/>
          </a:bodyPr>
          <a:lstStyle/>
          <a:p>
            <a:pPr algn="l">
              <a:lnSpc>
                <a:spcPct val="100000"/>
              </a:lnSpc>
              <a:buNone/>
            </a:pPr>
            <a:r>
              <a:rPr lang="es-CL" sz="1000" b="0" spc="0" dirty="0">
                <a:solidFill>
                  <a:srgbClr val="4A5F78"/>
                </a:solidFill>
              </a:rPr>
              <a:t>W3C PROV-O · Singh, Cobbe &amp; Norval · Klammer &amp; Gueldenberg (2019)</a:t>
            </a:r>
          </a:p>
        </p:txBody>
      </p:sp>
    </p:spTree>
    <p:extLst>
      <p:ext uri="{BB962C8B-B14F-4D97-AF65-F5344CB8AC3E}">
        <p14:creationId xmlns:p14="http://schemas.microsoft.com/office/powerpoint/2010/main" val="2277231235"/>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762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ARQUITECTURA BAJO EVALUACIÓN</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600" b="1" spc="0" dirty="0">
                <a:solidFill>
                  <a:srgbClr val="12406E"/>
                </a:solidFill>
              </a:rPr>
              <a:t>Arquitectura contemplada de conocimiento persistente</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[ 09 ]</a:t>
            </a:r>
          </a:p>
        </p:txBody>
      </p:sp>
      <p:sp>
        <p:nvSpPr>
          <p:cNvPr id="1005" name="sh1005"/>
          <p:cNvSpPr/>
          <p:nvPr/>
        </p:nvSpPr>
        <p:spPr>
          <a:xfrm>
            <a:off x="762000" y="2006600"/>
            <a:ext cx="812800" cy="558800"/>
          </a:xfrm>
          <a:prstGeom prst="rect">
            <a:avLst/>
          </a:prstGeom>
          <a:solidFill>
            <a:srgbClr val="5A7290"/>
          </a:solidFill>
          <a:ln>
            <a:noFill/>
          </a:ln>
        </p:spPr>
        <p:txBody>
          <a:bodyPr wrap="square" lIns="50800" tIns="0" rIns="50800" bIns="0" anchor="ctr">
            <a:noAutofit/>
          </a:bodyPr>
          <a:lstStyle/>
          <a:p>
            <a:pPr algn="ctr">
              <a:lnSpc>
                <a:spcPct val="110000"/>
              </a:lnSpc>
              <a:buNone/>
            </a:pPr>
            <a:r>
              <a:rPr lang="es-CL" sz="900" b="1" spc="0" dirty="0">
                <a:solidFill>
                  <a:srgbClr val="FFFFFF"/>
                </a:solidFill>
              </a:rPr>
              <a:t>CAPA 01</a:t>
            </a:r>
          </a:p>
        </p:txBody>
      </p:sp>
      <p:sp>
        <p:nvSpPr>
          <p:cNvPr id="1006" name="sh1006"/>
          <p:cNvSpPr/>
          <p:nvPr/>
        </p:nvSpPr>
        <p:spPr>
          <a:xfrm>
            <a:off x="1574800" y="2006600"/>
            <a:ext cx="4394200" cy="558800"/>
          </a:xfrm>
          <a:prstGeom prst="rect">
            <a:avLst/>
          </a:prstGeom>
          <a:solidFill>
            <a:srgbClr val="F7FAFC"/>
          </a:solidFill>
          <a:ln w="9525">
            <a:solidFill>
              <a:srgbClr val="E3EAF2"/>
            </a:solidFill>
          </a:ln>
        </p:spPr>
        <p:txBody>
          <a:bodyPr/>
          <a:lstStyle/>
          <a:p>
            <a:endParaRPr lang="es-CL"/>
          </a:p>
        </p:txBody>
      </p:sp>
      <p:sp>
        <p:nvSpPr>
          <p:cNvPr id="1007" name="sh1007"/>
          <p:cNvSpPr/>
          <p:nvPr/>
        </p:nvSpPr>
        <p:spPr>
          <a:xfrm>
            <a:off x="1727200" y="20955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FUENTES</a:t>
            </a:r>
          </a:p>
        </p:txBody>
      </p:sp>
      <p:sp>
        <p:nvSpPr>
          <p:cNvPr id="1008" name="sh1008"/>
          <p:cNvSpPr/>
          <p:nvPr/>
        </p:nvSpPr>
        <p:spPr>
          <a:xfrm>
            <a:off x="1727200" y="23241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Transcripciones · Documentos · Notas</a:t>
            </a:r>
          </a:p>
        </p:txBody>
      </p:sp>
      <p:sp>
        <p:nvSpPr>
          <p:cNvPr id="1009" name="sh1009"/>
          <p:cNvSpPr/>
          <p:nvPr/>
        </p:nvSpPr>
        <p:spPr>
          <a:xfrm>
            <a:off x="1168400" y="2565400"/>
            <a:ext cx="0" cy="127000"/>
          </a:xfrm>
          <a:prstGeom prst="line">
            <a:avLst/>
          </a:prstGeom>
          <a:noFill/>
          <a:ln w="12700">
            <a:solidFill>
              <a:srgbClr val="9FB3C8"/>
            </a:solidFill>
            <a:tailEnd type="triangle" w="med" len="med"/>
          </a:ln>
        </p:spPr>
        <p:txBody>
          <a:bodyPr/>
          <a:lstStyle/>
          <a:p>
            <a:endParaRPr lang="es-CL"/>
          </a:p>
        </p:txBody>
      </p:sp>
      <p:sp>
        <p:nvSpPr>
          <p:cNvPr id="1010" name="sh1010"/>
          <p:cNvSpPr/>
          <p:nvPr/>
        </p:nvSpPr>
        <p:spPr>
          <a:xfrm>
            <a:off x="762000" y="2692400"/>
            <a:ext cx="812800" cy="558800"/>
          </a:xfrm>
          <a:prstGeom prst="rect">
            <a:avLst/>
          </a:prstGeom>
          <a:solidFill>
            <a:srgbClr val="1D5C9E"/>
          </a:solidFill>
          <a:ln>
            <a:noFill/>
          </a:ln>
        </p:spPr>
        <p:txBody>
          <a:bodyPr wrap="square" lIns="50800" tIns="0" rIns="50800" bIns="0" anchor="ctr">
            <a:noAutofit/>
          </a:bodyPr>
          <a:lstStyle/>
          <a:p>
            <a:pPr algn="ctr">
              <a:lnSpc>
                <a:spcPct val="110000"/>
              </a:lnSpc>
              <a:buNone/>
            </a:pPr>
            <a:r>
              <a:rPr lang="es-CL" sz="900" b="1" spc="0" dirty="0">
                <a:solidFill>
                  <a:srgbClr val="FFFFFF"/>
                </a:solidFill>
              </a:rPr>
              <a:t>CAPA 02</a:t>
            </a:r>
          </a:p>
        </p:txBody>
      </p:sp>
      <p:sp>
        <p:nvSpPr>
          <p:cNvPr id="1011" name="sh1011"/>
          <p:cNvSpPr/>
          <p:nvPr/>
        </p:nvSpPr>
        <p:spPr>
          <a:xfrm>
            <a:off x="1574800" y="2692400"/>
            <a:ext cx="4394200" cy="558800"/>
          </a:xfrm>
          <a:prstGeom prst="rect">
            <a:avLst/>
          </a:prstGeom>
          <a:solidFill>
            <a:srgbClr val="F7FAFC"/>
          </a:solidFill>
          <a:ln w="9525">
            <a:solidFill>
              <a:srgbClr val="E3EAF2"/>
            </a:solidFill>
          </a:ln>
        </p:spPr>
        <p:txBody>
          <a:bodyPr/>
          <a:lstStyle/>
          <a:p>
            <a:endParaRPr lang="es-CL"/>
          </a:p>
        </p:txBody>
      </p:sp>
      <p:sp>
        <p:nvSpPr>
          <p:cNvPr id="1012" name="sh1012"/>
          <p:cNvSpPr/>
          <p:nvPr/>
        </p:nvSpPr>
        <p:spPr>
          <a:xfrm>
            <a:off x="1727200" y="27813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COMPILACIÓN Y EXTRACCIÓN</a:t>
            </a:r>
          </a:p>
        </p:txBody>
      </p:sp>
      <p:sp>
        <p:nvSpPr>
          <p:cNvPr id="1013" name="sh1013"/>
          <p:cNvSpPr/>
          <p:nvPr/>
        </p:nvSpPr>
        <p:spPr>
          <a:xfrm>
            <a:off x="1727200" y="30099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Detección de decisiones, evidencia y relaciones</a:t>
            </a:r>
          </a:p>
        </p:txBody>
      </p:sp>
      <p:sp>
        <p:nvSpPr>
          <p:cNvPr id="1014" name="sh1014"/>
          <p:cNvSpPr/>
          <p:nvPr/>
        </p:nvSpPr>
        <p:spPr>
          <a:xfrm>
            <a:off x="1168400" y="3251200"/>
            <a:ext cx="0" cy="127000"/>
          </a:xfrm>
          <a:prstGeom prst="line">
            <a:avLst/>
          </a:prstGeom>
          <a:noFill/>
          <a:ln w="12700">
            <a:solidFill>
              <a:srgbClr val="9FB3C8"/>
            </a:solidFill>
            <a:tailEnd type="triangle" w="med" len="med"/>
          </a:ln>
        </p:spPr>
        <p:txBody>
          <a:bodyPr/>
          <a:lstStyle/>
          <a:p>
            <a:endParaRPr lang="es-CL"/>
          </a:p>
        </p:txBody>
      </p:sp>
      <p:sp>
        <p:nvSpPr>
          <p:cNvPr id="1015" name="sh1015"/>
          <p:cNvSpPr/>
          <p:nvPr/>
        </p:nvSpPr>
        <p:spPr>
          <a:xfrm>
            <a:off x="762000" y="3378200"/>
            <a:ext cx="812800" cy="558800"/>
          </a:xfrm>
          <a:prstGeom prst="rect">
            <a:avLst/>
          </a:prstGeom>
          <a:solidFill>
            <a:srgbClr val="12406E"/>
          </a:solidFill>
          <a:ln>
            <a:noFill/>
          </a:ln>
        </p:spPr>
        <p:txBody>
          <a:bodyPr wrap="square" lIns="50800" tIns="0" rIns="50800" bIns="0" anchor="ctr">
            <a:noAutofit/>
          </a:bodyPr>
          <a:lstStyle/>
          <a:p>
            <a:pPr algn="ctr">
              <a:lnSpc>
                <a:spcPct val="110000"/>
              </a:lnSpc>
              <a:buNone/>
            </a:pPr>
            <a:r>
              <a:rPr lang="es-CL" sz="900" b="1" spc="0" dirty="0">
                <a:solidFill>
                  <a:srgbClr val="FFFFFF"/>
                </a:solidFill>
              </a:rPr>
              <a:t>CAPA 03</a:t>
            </a:r>
          </a:p>
        </p:txBody>
      </p:sp>
      <p:sp>
        <p:nvSpPr>
          <p:cNvPr id="1016" name="sh1016"/>
          <p:cNvSpPr/>
          <p:nvPr/>
        </p:nvSpPr>
        <p:spPr>
          <a:xfrm>
            <a:off x="1574800" y="3378200"/>
            <a:ext cx="4394200" cy="558800"/>
          </a:xfrm>
          <a:prstGeom prst="rect">
            <a:avLst/>
          </a:prstGeom>
          <a:solidFill>
            <a:srgbClr val="EAF3F7"/>
          </a:solidFill>
          <a:ln w="15875">
            <a:solidFill>
              <a:srgbClr val="0E9BB5"/>
            </a:solidFill>
          </a:ln>
        </p:spPr>
        <p:txBody>
          <a:bodyPr/>
          <a:lstStyle/>
          <a:p>
            <a:endParaRPr lang="es-CL"/>
          </a:p>
        </p:txBody>
      </p:sp>
      <p:sp>
        <p:nvSpPr>
          <p:cNvPr id="1017" name="sh1017"/>
          <p:cNvSpPr/>
          <p:nvPr/>
        </p:nvSpPr>
        <p:spPr>
          <a:xfrm>
            <a:off x="1727200" y="34671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CAPA CANÓNICA</a:t>
            </a:r>
          </a:p>
        </p:txBody>
      </p:sp>
      <p:sp>
        <p:nvSpPr>
          <p:cNvPr id="1018" name="sh1018"/>
          <p:cNvSpPr/>
          <p:nvPr/>
        </p:nvSpPr>
        <p:spPr>
          <a:xfrm>
            <a:off x="1727200" y="36957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Knowledge Objects persistentes y versionados</a:t>
            </a:r>
          </a:p>
        </p:txBody>
      </p:sp>
      <p:sp>
        <p:nvSpPr>
          <p:cNvPr id="1019" name="sh1019"/>
          <p:cNvSpPr/>
          <p:nvPr/>
        </p:nvSpPr>
        <p:spPr>
          <a:xfrm>
            <a:off x="1168400" y="3937000"/>
            <a:ext cx="0" cy="127000"/>
          </a:xfrm>
          <a:prstGeom prst="line">
            <a:avLst/>
          </a:prstGeom>
          <a:noFill/>
          <a:ln w="12700">
            <a:solidFill>
              <a:srgbClr val="9FB3C8"/>
            </a:solidFill>
            <a:tailEnd type="triangle" w="med" len="med"/>
          </a:ln>
        </p:spPr>
        <p:txBody>
          <a:bodyPr/>
          <a:lstStyle/>
          <a:p>
            <a:endParaRPr lang="es-CL"/>
          </a:p>
        </p:txBody>
      </p:sp>
      <p:sp>
        <p:nvSpPr>
          <p:cNvPr id="1020" name="sh1020"/>
          <p:cNvSpPr/>
          <p:nvPr/>
        </p:nvSpPr>
        <p:spPr>
          <a:xfrm>
            <a:off x="762000" y="4064000"/>
            <a:ext cx="812800" cy="558800"/>
          </a:xfrm>
          <a:prstGeom prst="rect">
            <a:avLst/>
          </a:prstGeom>
          <a:solidFill>
            <a:srgbClr val="1D5C9E"/>
          </a:solidFill>
          <a:ln>
            <a:noFill/>
          </a:ln>
        </p:spPr>
        <p:txBody>
          <a:bodyPr wrap="square" lIns="50800" tIns="0" rIns="50800" bIns="0" anchor="ctr">
            <a:noAutofit/>
          </a:bodyPr>
          <a:lstStyle/>
          <a:p>
            <a:pPr algn="ctr">
              <a:lnSpc>
                <a:spcPct val="110000"/>
              </a:lnSpc>
              <a:buNone/>
            </a:pPr>
            <a:r>
              <a:rPr lang="es-CL" sz="900" b="1" spc="0" dirty="0">
                <a:solidFill>
                  <a:srgbClr val="FFFFFF"/>
                </a:solidFill>
              </a:rPr>
              <a:t>CAPA 04</a:t>
            </a:r>
          </a:p>
        </p:txBody>
      </p:sp>
      <p:sp>
        <p:nvSpPr>
          <p:cNvPr id="1021" name="sh1021"/>
          <p:cNvSpPr/>
          <p:nvPr/>
        </p:nvSpPr>
        <p:spPr>
          <a:xfrm>
            <a:off x="1574800" y="4064000"/>
            <a:ext cx="4394200" cy="558800"/>
          </a:xfrm>
          <a:prstGeom prst="rect">
            <a:avLst/>
          </a:prstGeom>
          <a:solidFill>
            <a:srgbClr val="F7FAFC"/>
          </a:solidFill>
          <a:ln w="9525">
            <a:solidFill>
              <a:srgbClr val="E3EAF2"/>
            </a:solidFill>
          </a:ln>
        </p:spPr>
        <p:txBody>
          <a:bodyPr/>
          <a:lstStyle/>
          <a:p>
            <a:endParaRPr lang="es-CL"/>
          </a:p>
        </p:txBody>
      </p:sp>
      <p:sp>
        <p:nvSpPr>
          <p:cNvPr id="1022" name="sh1022"/>
          <p:cNvSpPr/>
          <p:nvPr/>
        </p:nvSpPr>
        <p:spPr>
          <a:xfrm>
            <a:off x="1727200" y="41529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CAPAS DERIVADAS</a:t>
            </a:r>
          </a:p>
        </p:txBody>
      </p:sp>
      <p:sp>
        <p:nvSpPr>
          <p:cNvPr id="1023" name="sh1023"/>
          <p:cNvSpPr/>
          <p:nvPr/>
        </p:nvSpPr>
        <p:spPr>
          <a:xfrm>
            <a:off x="1727200" y="43815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Índices de recuperación · Grafo · Vistas reconstruibles</a:t>
            </a:r>
          </a:p>
        </p:txBody>
      </p:sp>
      <p:sp>
        <p:nvSpPr>
          <p:cNvPr id="1024" name="sh1024"/>
          <p:cNvSpPr/>
          <p:nvPr/>
        </p:nvSpPr>
        <p:spPr>
          <a:xfrm>
            <a:off x="1168400" y="4622800"/>
            <a:ext cx="0" cy="127000"/>
          </a:xfrm>
          <a:prstGeom prst="line">
            <a:avLst/>
          </a:prstGeom>
          <a:noFill/>
          <a:ln w="12700">
            <a:solidFill>
              <a:srgbClr val="9FB3C8"/>
            </a:solidFill>
            <a:tailEnd type="triangle" w="med" len="med"/>
          </a:ln>
        </p:spPr>
        <p:txBody>
          <a:bodyPr/>
          <a:lstStyle/>
          <a:p>
            <a:endParaRPr lang="es-CL"/>
          </a:p>
        </p:txBody>
      </p:sp>
      <p:sp>
        <p:nvSpPr>
          <p:cNvPr id="1025" name="sh1025"/>
          <p:cNvSpPr/>
          <p:nvPr/>
        </p:nvSpPr>
        <p:spPr>
          <a:xfrm>
            <a:off x="762000" y="4749800"/>
            <a:ext cx="812800" cy="558800"/>
          </a:xfrm>
          <a:prstGeom prst="rect">
            <a:avLst/>
          </a:prstGeom>
          <a:solidFill>
            <a:srgbClr val="0A6D82"/>
          </a:solidFill>
          <a:ln>
            <a:noFill/>
          </a:ln>
        </p:spPr>
        <p:txBody>
          <a:bodyPr wrap="square" lIns="50800" tIns="0" rIns="50800" bIns="0" anchor="ctr">
            <a:noAutofit/>
          </a:bodyPr>
          <a:lstStyle/>
          <a:p>
            <a:pPr algn="ctr">
              <a:lnSpc>
                <a:spcPct val="110000"/>
              </a:lnSpc>
              <a:buNone/>
            </a:pPr>
            <a:r>
              <a:rPr lang="es-CL" sz="900" b="1" spc="0" dirty="0">
                <a:solidFill>
                  <a:srgbClr val="FFFFFF"/>
                </a:solidFill>
              </a:rPr>
              <a:t>CAPA 05</a:t>
            </a:r>
          </a:p>
        </p:txBody>
      </p:sp>
      <p:sp>
        <p:nvSpPr>
          <p:cNvPr id="1026" name="sh1026"/>
          <p:cNvSpPr/>
          <p:nvPr/>
        </p:nvSpPr>
        <p:spPr>
          <a:xfrm>
            <a:off x="1574800" y="4749800"/>
            <a:ext cx="4394200" cy="558800"/>
          </a:xfrm>
          <a:prstGeom prst="rect">
            <a:avLst/>
          </a:prstGeom>
          <a:solidFill>
            <a:srgbClr val="F7FAFC"/>
          </a:solidFill>
          <a:ln w="9525">
            <a:solidFill>
              <a:srgbClr val="E3EAF2"/>
            </a:solidFill>
          </a:ln>
        </p:spPr>
        <p:txBody>
          <a:bodyPr/>
          <a:lstStyle/>
          <a:p>
            <a:endParaRPr lang="es-CL"/>
          </a:p>
        </p:txBody>
      </p:sp>
      <p:sp>
        <p:nvSpPr>
          <p:cNvPr id="1027" name="sh1027"/>
          <p:cNvSpPr/>
          <p:nvPr/>
        </p:nvSpPr>
        <p:spPr>
          <a:xfrm>
            <a:off x="1727200" y="48387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CONSULTA Y USO</a:t>
            </a:r>
          </a:p>
        </p:txBody>
      </p:sp>
      <p:sp>
        <p:nvSpPr>
          <p:cNvPr id="1028" name="sh1028"/>
          <p:cNvSpPr/>
          <p:nvPr/>
        </p:nvSpPr>
        <p:spPr>
          <a:xfrm>
            <a:off x="1727200" y="50673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Preguntas · Navegación · Análisis</a:t>
            </a:r>
          </a:p>
        </p:txBody>
      </p:sp>
      <p:sp>
        <p:nvSpPr>
          <p:cNvPr id="1029" name="sh1029"/>
          <p:cNvSpPr/>
          <p:nvPr/>
        </p:nvSpPr>
        <p:spPr>
          <a:xfrm>
            <a:off x="6019800" y="3530600"/>
            <a:ext cx="736600" cy="0"/>
          </a:xfrm>
          <a:prstGeom prst="line">
            <a:avLst/>
          </a:prstGeom>
          <a:noFill/>
          <a:ln w="15875">
            <a:solidFill>
              <a:srgbClr val="0E9BB5"/>
            </a:solidFill>
            <a:tailEnd type="triangle" w="med" len="med"/>
          </a:ln>
        </p:spPr>
        <p:txBody>
          <a:bodyPr/>
          <a:lstStyle/>
          <a:p>
            <a:endParaRPr lang="es-CL"/>
          </a:p>
        </p:txBody>
      </p:sp>
      <p:sp>
        <p:nvSpPr>
          <p:cNvPr id="1030" name="sh1030"/>
          <p:cNvSpPr/>
          <p:nvPr/>
        </p:nvSpPr>
        <p:spPr>
          <a:xfrm>
            <a:off x="6019800" y="3276600"/>
            <a:ext cx="762000" cy="203200"/>
          </a:xfrm>
          <a:prstGeom prst="rect">
            <a:avLst/>
          </a:prstGeom>
          <a:noFill/>
          <a:ln>
            <a:noFill/>
          </a:ln>
        </p:spPr>
        <p:txBody>
          <a:bodyPr wrap="square" lIns="0" tIns="0" rIns="0" bIns="0" anchor="ctr">
            <a:noAutofit/>
          </a:bodyPr>
          <a:lstStyle/>
          <a:p>
            <a:pPr algn="ctr">
              <a:lnSpc>
                <a:spcPct val="100000"/>
              </a:lnSpc>
              <a:buNone/>
            </a:pPr>
            <a:r>
              <a:rPr lang="es-CL" sz="900" b="1" spc="60" dirty="0">
                <a:solidFill>
                  <a:srgbClr val="0A6D82"/>
                </a:solidFill>
              </a:rPr>
              <a:t>OBJETO</a:t>
            </a:r>
          </a:p>
        </p:txBody>
      </p:sp>
      <p:sp>
        <p:nvSpPr>
          <p:cNvPr id="1031" name="sh1031"/>
          <p:cNvSpPr/>
          <p:nvPr/>
        </p:nvSpPr>
        <p:spPr>
          <a:xfrm>
            <a:off x="6858000" y="2006600"/>
            <a:ext cx="4572000" cy="330200"/>
          </a:xfrm>
          <a:prstGeom prst="rect">
            <a:avLst/>
          </a:prstGeom>
          <a:solidFill>
            <a:srgbClr val="12406E"/>
          </a:solidFill>
          <a:ln>
            <a:noFill/>
          </a:ln>
        </p:spPr>
        <p:txBody>
          <a:bodyPr wrap="square" lIns="0" tIns="0" rIns="0" bIns="0" anchor="ctr">
            <a:noAutofit/>
          </a:bodyPr>
          <a:lstStyle/>
          <a:p>
            <a:pPr algn="ctr">
              <a:lnSpc>
                <a:spcPct val="100000"/>
              </a:lnSpc>
              <a:buNone/>
            </a:pPr>
            <a:r>
              <a:rPr lang="es-CL" sz="1050" b="1" spc="80" dirty="0">
                <a:solidFill>
                  <a:srgbClr val="FFFFFF"/>
                </a:solidFill>
              </a:rPr>
              <a:t>KNOWLEDGE OBJECT · OBJETO DE DECISIÓN</a:t>
            </a:r>
          </a:p>
        </p:txBody>
      </p:sp>
      <p:sp>
        <p:nvSpPr>
          <p:cNvPr id="1032" name="sh1032"/>
          <p:cNvSpPr/>
          <p:nvPr/>
        </p:nvSpPr>
        <p:spPr>
          <a:xfrm>
            <a:off x="6858000" y="2336800"/>
            <a:ext cx="4572000" cy="2705100"/>
          </a:xfrm>
          <a:prstGeom prst="rect">
            <a:avLst/>
          </a:prstGeom>
          <a:noFill/>
          <a:ln w="12700">
            <a:solidFill>
              <a:srgbClr val="C6D4E2"/>
            </a:solidFill>
          </a:ln>
        </p:spPr>
        <p:txBody>
          <a:bodyPr/>
          <a:lstStyle/>
          <a:p>
            <a:endParaRPr lang="es-CL"/>
          </a:p>
        </p:txBody>
      </p:sp>
      <p:sp>
        <p:nvSpPr>
          <p:cNvPr id="1033" name="sh1033"/>
          <p:cNvSpPr/>
          <p:nvPr/>
        </p:nvSpPr>
        <p:spPr>
          <a:xfrm>
            <a:off x="7010400" y="24384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decision_id</a:t>
            </a:r>
          </a:p>
        </p:txBody>
      </p:sp>
      <p:sp>
        <p:nvSpPr>
          <p:cNvPr id="1034" name="sh1034"/>
          <p:cNvSpPr/>
          <p:nvPr/>
        </p:nvSpPr>
        <p:spPr>
          <a:xfrm>
            <a:off x="8686800" y="24384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identificador persistente</a:t>
            </a:r>
          </a:p>
        </p:txBody>
      </p:sp>
      <p:sp>
        <p:nvSpPr>
          <p:cNvPr id="1035" name="sh1035"/>
          <p:cNvSpPr/>
          <p:nvPr/>
        </p:nvSpPr>
        <p:spPr>
          <a:xfrm>
            <a:off x="7010400" y="2717800"/>
            <a:ext cx="4267200" cy="9525"/>
          </a:xfrm>
          <a:prstGeom prst="rect">
            <a:avLst/>
          </a:prstGeom>
          <a:solidFill>
            <a:srgbClr val="EDF2F7"/>
          </a:solidFill>
          <a:ln>
            <a:noFill/>
          </a:ln>
        </p:spPr>
        <p:txBody>
          <a:bodyPr/>
          <a:lstStyle/>
          <a:p>
            <a:endParaRPr lang="es-CL"/>
          </a:p>
        </p:txBody>
      </p:sp>
      <p:sp>
        <p:nvSpPr>
          <p:cNvPr id="1036" name="sh1036"/>
          <p:cNvSpPr/>
          <p:nvPr/>
        </p:nvSpPr>
        <p:spPr>
          <a:xfrm>
            <a:off x="7010400" y="28067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statement</a:t>
            </a:r>
          </a:p>
        </p:txBody>
      </p:sp>
      <p:sp>
        <p:nvSpPr>
          <p:cNvPr id="1037" name="sh1037"/>
          <p:cNvSpPr/>
          <p:nvPr/>
        </p:nvSpPr>
        <p:spPr>
          <a:xfrm>
            <a:off x="8686800" y="28067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contenido de la decisión</a:t>
            </a:r>
          </a:p>
        </p:txBody>
      </p:sp>
      <p:sp>
        <p:nvSpPr>
          <p:cNvPr id="1038" name="sh1038"/>
          <p:cNvSpPr/>
          <p:nvPr/>
        </p:nvSpPr>
        <p:spPr>
          <a:xfrm>
            <a:off x="7010400" y="3086100"/>
            <a:ext cx="4267200" cy="9525"/>
          </a:xfrm>
          <a:prstGeom prst="rect">
            <a:avLst/>
          </a:prstGeom>
          <a:solidFill>
            <a:srgbClr val="EDF2F7"/>
          </a:solidFill>
          <a:ln>
            <a:noFill/>
          </a:ln>
        </p:spPr>
        <p:txBody>
          <a:bodyPr/>
          <a:lstStyle/>
          <a:p>
            <a:endParaRPr lang="es-CL"/>
          </a:p>
        </p:txBody>
      </p:sp>
      <p:sp>
        <p:nvSpPr>
          <p:cNvPr id="1039" name="sh1039"/>
          <p:cNvSpPr/>
          <p:nvPr/>
        </p:nvSpPr>
        <p:spPr>
          <a:xfrm>
            <a:off x="7010400" y="31750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evidence</a:t>
            </a:r>
          </a:p>
        </p:txBody>
      </p:sp>
      <p:sp>
        <p:nvSpPr>
          <p:cNvPr id="1040" name="sh1040"/>
          <p:cNvSpPr/>
          <p:nvPr/>
        </p:nvSpPr>
        <p:spPr>
          <a:xfrm>
            <a:off x="8686800" y="31750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actos de diálogo localizables</a:t>
            </a:r>
          </a:p>
        </p:txBody>
      </p:sp>
      <p:sp>
        <p:nvSpPr>
          <p:cNvPr id="1041" name="sh1041"/>
          <p:cNvSpPr/>
          <p:nvPr/>
        </p:nvSpPr>
        <p:spPr>
          <a:xfrm>
            <a:off x="7010400" y="3454400"/>
            <a:ext cx="4267200" cy="9525"/>
          </a:xfrm>
          <a:prstGeom prst="rect">
            <a:avLst/>
          </a:prstGeom>
          <a:solidFill>
            <a:srgbClr val="EDF2F7"/>
          </a:solidFill>
          <a:ln>
            <a:noFill/>
          </a:ln>
        </p:spPr>
        <p:txBody>
          <a:bodyPr/>
          <a:lstStyle/>
          <a:p>
            <a:endParaRPr lang="es-CL"/>
          </a:p>
        </p:txBody>
      </p:sp>
      <p:sp>
        <p:nvSpPr>
          <p:cNvPr id="1042" name="sh1042"/>
          <p:cNvSpPr/>
          <p:nvPr/>
        </p:nvSpPr>
        <p:spPr>
          <a:xfrm>
            <a:off x="7010400" y="35433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events</a:t>
            </a:r>
          </a:p>
        </p:txBody>
      </p:sp>
      <p:sp>
        <p:nvSpPr>
          <p:cNvPr id="1043" name="sh1043"/>
          <p:cNvSpPr/>
          <p:nvPr/>
        </p:nvSpPr>
        <p:spPr>
          <a:xfrm>
            <a:off x="8686800" y="35433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adoptada · confirmada · revisada · reemplazada</a:t>
            </a:r>
          </a:p>
        </p:txBody>
      </p:sp>
      <p:sp>
        <p:nvSpPr>
          <p:cNvPr id="1044" name="sh1044"/>
          <p:cNvSpPr/>
          <p:nvPr/>
        </p:nvSpPr>
        <p:spPr>
          <a:xfrm>
            <a:off x="7010400" y="3822700"/>
            <a:ext cx="4267200" cy="9525"/>
          </a:xfrm>
          <a:prstGeom prst="rect">
            <a:avLst/>
          </a:prstGeom>
          <a:solidFill>
            <a:srgbClr val="EDF2F7"/>
          </a:solidFill>
          <a:ln>
            <a:noFill/>
          </a:ln>
        </p:spPr>
        <p:txBody>
          <a:bodyPr/>
          <a:lstStyle/>
          <a:p>
            <a:endParaRPr lang="es-CL"/>
          </a:p>
        </p:txBody>
      </p:sp>
      <p:sp>
        <p:nvSpPr>
          <p:cNvPr id="1045" name="sh1045"/>
          <p:cNvSpPr/>
          <p:nvPr/>
        </p:nvSpPr>
        <p:spPr>
          <a:xfrm>
            <a:off x="7010400" y="39116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relations</a:t>
            </a:r>
          </a:p>
        </p:txBody>
      </p:sp>
      <p:sp>
        <p:nvSpPr>
          <p:cNvPr id="1046" name="sh1046"/>
          <p:cNvSpPr/>
          <p:nvPr/>
        </p:nvSpPr>
        <p:spPr>
          <a:xfrm>
            <a:off x="8686800" y="39116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dependencias y reemplazos</a:t>
            </a:r>
          </a:p>
        </p:txBody>
      </p:sp>
      <p:sp>
        <p:nvSpPr>
          <p:cNvPr id="1047" name="sh1047"/>
          <p:cNvSpPr/>
          <p:nvPr/>
        </p:nvSpPr>
        <p:spPr>
          <a:xfrm>
            <a:off x="7010400" y="4191000"/>
            <a:ext cx="4267200" cy="9525"/>
          </a:xfrm>
          <a:prstGeom prst="rect">
            <a:avLst/>
          </a:prstGeom>
          <a:solidFill>
            <a:srgbClr val="EDF2F7"/>
          </a:solidFill>
          <a:ln>
            <a:noFill/>
          </a:ln>
        </p:spPr>
        <p:txBody>
          <a:bodyPr/>
          <a:lstStyle/>
          <a:p>
            <a:endParaRPr lang="es-CL"/>
          </a:p>
        </p:txBody>
      </p:sp>
      <p:sp>
        <p:nvSpPr>
          <p:cNvPr id="1048" name="sh1048"/>
          <p:cNvSpPr/>
          <p:nvPr/>
        </p:nvSpPr>
        <p:spPr>
          <a:xfrm>
            <a:off x="7010400" y="42799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provenance</a:t>
            </a:r>
          </a:p>
        </p:txBody>
      </p:sp>
      <p:sp>
        <p:nvSpPr>
          <p:cNvPr id="1049" name="sh1049"/>
          <p:cNvSpPr/>
          <p:nvPr/>
        </p:nvSpPr>
        <p:spPr>
          <a:xfrm>
            <a:off x="8686800" y="42799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registro de origen</a:t>
            </a:r>
          </a:p>
        </p:txBody>
      </p:sp>
      <p:sp>
        <p:nvSpPr>
          <p:cNvPr id="1050" name="sh1050"/>
          <p:cNvSpPr/>
          <p:nvPr/>
        </p:nvSpPr>
        <p:spPr>
          <a:xfrm>
            <a:off x="7010400" y="4559300"/>
            <a:ext cx="4267200" cy="9525"/>
          </a:xfrm>
          <a:prstGeom prst="rect">
            <a:avLst/>
          </a:prstGeom>
          <a:solidFill>
            <a:srgbClr val="EDF2F7"/>
          </a:solidFill>
          <a:ln>
            <a:noFill/>
          </a:ln>
        </p:spPr>
        <p:txBody>
          <a:bodyPr/>
          <a:lstStyle/>
          <a:p>
            <a:endParaRPr lang="es-CL"/>
          </a:p>
        </p:txBody>
      </p:sp>
      <p:sp>
        <p:nvSpPr>
          <p:cNvPr id="1051" name="sh1051"/>
          <p:cNvSpPr/>
          <p:nvPr/>
        </p:nvSpPr>
        <p:spPr>
          <a:xfrm>
            <a:off x="7010400" y="46482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state</a:t>
            </a:r>
          </a:p>
        </p:txBody>
      </p:sp>
      <p:sp>
        <p:nvSpPr>
          <p:cNvPr id="1052" name="sh1052"/>
          <p:cNvSpPr/>
          <p:nvPr/>
        </p:nvSpPr>
        <p:spPr>
          <a:xfrm>
            <a:off x="8686800" y="46482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vigente · revisada · reemplazada</a:t>
            </a:r>
          </a:p>
        </p:txBody>
      </p:sp>
      <p:sp>
        <p:nvSpPr>
          <p:cNvPr id="1056" name="sh1056"/>
          <p:cNvSpPr/>
          <p:nvPr/>
        </p:nvSpPr>
        <p:spPr>
          <a:xfrm>
            <a:off x="762000" y="5613400"/>
            <a:ext cx="38100" cy="558800"/>
          </a:xfrm>
          <a:prstGeom prst="rect">
            <a:avLst/>
          </a:prstGeom>
          <a:solidFill>
            <a:srgbClr val="2ED3E8"/>
          </a:solidFill>
          <a:ln>
            <a:noFill/>
          </a:ln>
        </p:spPr>
        <p:txBody>
          <a:bodyPr/>
          <a:lstStyle/>
          <a:p>
            <a:endParaRPr lang="es-CL"/>
          </a:p>
        </p:txBody>
      </p:sp>
      <p:sp>
        <p:nvSpPr>
          <p:cNvPr id="1057" name="sh1057"/>
          <p:cNvSpPr/>
          <p:nvPr/>
        </p:nvSpPr>
        <p:spPr>
          <a:xfrm>
            <a:off x="990600" y="5486400"/>
            <a:ext cx="10160000" cy="482600"/>
          </a:xfrm>
          <a:prstGeom prst="rect">
            <a:avLst/>
          </a:prstGeom>
          <a:noFill/>
          <a:ln>
            <a:noFill/>
          </a:ln>
        </p:spPr>
        <p:txBody>
          <a:bodyPr wrap="square" lIns="0" tIns="0" rIns="0" bIns="0" anchor="ctr">
            <a:noAutofit/>
          </a:bodyPr>
          <a:lstStyle/>
          <a:p>
            <a:pPr algn="l">
              <a:lnSpc>
                <a:spcPct val="120000"/>
              </a:lnSpc>
              <a:buNone/>
            </a:pPr>
            <a:r>
              <a:rPr lang="es-CL" sz="1450" b="1" spc="0" dirty="0">
                <a:solidFill>
                  <a:srgbClr val="12406E"/>
                </a:solidFill>
              </a:rPr>
              <a:t>El diagrama describe la arquitectura contemplada; la documentación distingue la arquitectura madura de los componentes efectivamente entregados: la capacidad objetivo no se asume implementada.</a:t>
            </a:r>
          </a:p>
        </p:txBody>
      </p:sp>
      <p:sp>
        <p:nvSpPr>
          <p:cNvPr id="1058" name="sh1058"/>
          <p:cNvSpPr/>
          <p:nvPr/>
        </p:nvSpPr>
        <p:spPr>
          <a:xfrm>
            <a:off x="762000" y="6096000"/>
            <a:ext cx="6604000" cy="177800"/>
          </a:xfrm>
          <a:prstGeom prst="rect">
            <a:avLst/>
          </a:prstGeom>
          <a:noFill/>
          <a:ln>
            <a:noFill/>
          </a:ln>
        </p:spPr>
        <p:txBody>
          <a:bodyPr wrap="square" lIns="0" tIns="0" rIns="0" bIns="0" anchor="ctr">
            <a:noAutofit/>
          </a:bodyPr>
          <a:lstStyle/>
          <a:p>
            <a:pPr algn="l">
              <a:lnSpc>
                <a:spcPct val="100000"/>
              </a:lnSpc>
              <a:buNone/>
            </a:pPr>
            <a:r>
              <a:rPr lang="es-CL" sz="1000" b="0" spc="0" dirty="0">
                <a:solidFill>
                  <a:srgbClr val="4A5F78"/>
                </a:solidFill>
              </a:rPr>
              <a:t>OpenKOS se presenta aquí como capacidad tecnológica en evaluación, no como resultado demostrado</a:t>
            </a:r>
          </a:p>
        </p:txBody>
      </p:sp>
      <p:sp>
        <p:nvSpPr>
          <p:cNvPr id="1992" name="fuentePrimaria"/>
          <p:cNvSpPr/>
          <p:nvPr/>
        </p:nvSpPr>
        <p:spPr>
          <a:xfrm>
            <a:off x="7493000" y="6096000"/>
            <a:ext cx="3937000" cy="177800"/>
          </a:xfrm>
          <a:prstGeom prst="rect">
            <a:avLst/>
          </a:prstGeom>
          <a:noFill/>
          <a:ln>
            <a:noFill/>
          </a:ln>
        </p:spPr>
        <p:txBody>
          <a:bodyPr wrap="square" lIns="0" tIns="0" rIns="0" bIns="0" anchor="ctr">
            <a:noAutofit/>
          </a:bodyPr>
          <a:lstStyle/>
          <a:p>
            <a:pPr algn="r">
              <a:buNone/>
            </a:pPr>
            <a:r>
              <a:rPr lang="es-CL" sz="1000" dirty="0">
                <a:solidFill>
                  <a:srgbClr val="4A5F78"/>
                </a:solidFill>
              </a:rPr>
              <a:t>Documentación primaria: arquitectura y glosario</a:t>
            </a:r>
          </a:p>
        </p:txBody>
      </p:sp>
    </p:spTree>
    <p:extLst>
      <p:ext uri="{BB962C8B-B14F-4D97-AF65-F5344CB8AC3E}">
        <p14:creationId xmlns:p14="http://schemas.microsoft.com/office/powerpoint/2010/main" val="392203189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MADUREZ DE EVIDENCIA</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La tesis evalúa viabilidad y utilidad, no ROI</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[ 10 ]</a:t>
            </a:r>
          </a:p>
        </p:txBody>
      </p:sp>
      <p:sp>
        <p:nvSpPr>
          <p:cNvPr id="1005" name="sh1005"/>
          <p:cNvSpPr/>
          <p:nvPr/>
        </p:nvSpPr>
        <p:spPr>
          <a:xfrm>
            <a:off x="762000" y="3759200"/>
            <a:ext cx="1676400" cy="1397000"/>
          </a:xfrm>
          <a:prstGeom prst="rect">
            <a:avLst/>
          </a:prstGeom>
          <a:solidFill>
            <a:srgbClr val="F1F5F9"/>
          </a:solidFill>
          <a:ln w="12700">
            <a:solidFill>
              <a:srgbClr val="C6D4E2"/>
            </a:solidFill>
          </a:ln>
        </p:spPr>
        <p:txBody>
          <a:bodyPr/>
          <a:lstStyle/>
          <a:p>
            <a:endParaRPr lang="es-CL"/>
          </a:p>
        </p:txBody>
      </p:sp>
      <p:sp>
        <p:nvSpPr>
          <p:cNvPr id="1006" name="sh1006"/>
          <p:cNvSpPr/>
          <p:nvPr/>
        </p:nvSpPr>
        <p:spPr>
          <a:xfrm>
            <a:off x="914400" y="3886200"/>
            <a:ext cx="1371600" cy="3048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5A7290"/>
                </a:solidFill>
              </a:rPr>
              <a:t>0</a:t>
            </a:r>
          </a:p>
        </p:txBody>
      </p:sp>
      <p:sp>
        <p:nvSpPr>
          <p:cNvPr id="1007" name="sh1007"/>
          <p:cNvSpPr/>
          <p:nvPr/>
        </p:nvSpPr>
        <p:spPr>
          <a:xfrm>
            <a:off x="914400" y="4216400"/>
            <a:ext cx="1371600" cy="431800"/>
          </a:xfrm>
          <a:prstGeom prst="rect">
            <a:avLst/>
          </a:prstGeom>
          <a:noFill/>
          <a:ln>
            <a:noFill/>
          </a:ln>
        </p:spPr>
        <p:txBody>
          <a:bodyPr wrap="square" lIns="0" tIns="0" rIns="0" bIns="0" anchor="t">
            <a:noAutofit/>
          </a:bodyPr>
          <a:lstStyle/>
          <a:p>
            <a:pPr algn="l">
              <a:lnSpc>
                <a:spcPct val="110000"/>
              </a:lnSpc>
              <a:buNone/>
            </a:pPr>
            <a:r>
              <a:rPr lang="es-CL" sz="1150" b="1" spc="0" dirty="0">
                <a:solidFill>
                  <a:srgbClr val="1E3A52"/>
                </a:solidFill>
              </a:rPr>
              <a:t>PLAUSIBILIDAD</a:t>
            </a:r>
          </a:p>
        </p:txBody>
      </p:sp>
      <p:sp>
        <p:nvSpPr>
          <p:cNvPr id="1008" name="sh1008"/>
          <p:cNvSpPr/>
          <p:nvPr/>
        </p:nvSpPr>
        <p:spPr>
          <a:xfrm>
            <a:off x="914400" y="4648200"/>
            <a:ext cx="1371600" cy="457200"/>
          </a:xfrm>
          <a:prstGeom prst="rect">
            <a:avLst/>
          </a:prstGeom>
          <a:noFill/>
          <a:ln>
            <a:noFill/>
          </a:ln>
        </p:spPr>
        <p:txBody>
          <a:bodyPr wrap="square" lIns="0" tIns="0" rIns="0" bIns="0" anchor="b">
            <a:noAutofit/>
          </a:bodyPr>
          <a:lstStyle/>
          <a:p>
            <a:pPr algn="l">
              <a:lnSpc>
                <a:spcPct val="115000"/>
              </a:lnSpc>
              <a:buNone/>
            </a:pPr>
            <a:r>
              <a:rPr lang="es-CL" sz="1000" b="0" spc="0" dirty="0">
                <a:solidFill>
                  <a:srgbClr val="1E3A52"/>
                </a:solidFill>
              </a:rPr>
              <a:t>Literatura y antecedentes</a:t>
            </a:r>
          </a:p>
        </p:txBody>
      </p:sp>
      <p:sp>
        <p:nvSpPr>
          <p:cNvPr id="1009" name="sh1009"/>
          <p:cNvSpPr/>
          <p:nvPr/>
        </p:nvSpPr>
        <p:spPr>
          <a:xfrm>
            <a:off x="2560320" y="3454400"/>
            <a:ext cx="1676400" cy="1701800"/>
          </a:xfrm>
          <a:prstGeom prst="rect">
            <a:avLst/>
          </a:prstGeom>
          <a:solidFill>
            <a:srgbClr val="12406E"/>
          </a:solidFill>
          <a:ln>
            <a:noFill/>
          </a:ln>
        </p:spPr>
        <p:txBody>
          <a:bodyPr/>
          <a:lstStyle/>
          <a:p>
            <a:endParaRPr lang="es-CL"/>
          </a:p>
        </p:txBody>
      </p:sp>
      <p:sp>
        <p:nvSpPr>
          <p:cNvPr id="1010" name="sh1010"/>
          <p:cNvSpPr/>
          <p:nvPr/>
        </p:nvSpPr>
        <p:spPr>
          <a:xfrm>
            <a:off x="2712720" y="3581400"/>
            <a:ext cx="1371600" cy="3048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2ED3E8"/>
                </a:solidFill>
              </a:rPr>
              <a:t>1</a:t>
            </a:r>
          </a:p>
        </p:txBody>
      </p:sp>
      <p:sp>
        <p:nvSpPr>
          <p:cNvPr id="1011" name="sh1011"/>
          <p:cNvSpPr/>
          <p:nvPr/>
        </p:nvSpPr>
        <p:spPr>
          <a:xfrm>
            <a:off x="2712720" y="3911600"/>
            <a:ext cx="1371600" cy="457200"/>
          </a:xfrm>
          <a:prstGeom prst="rect">
            <a:avLst/>
          </a:prstGeom>
          <a:noFill/>
          <a:ln>
            <a:noFill/>
          </a:ln>
        </p:spPr>
        <p:txBody>
          <a:bodyPr wrap="square" lIns="0" tIns="0" rIns="0" bIns="0" anchor="t">
            <a:noAutofit/>
          </a:bodyPr>
          <a:lstStyle/>
          <a:p>
            <a:pPr algn="l">
              <a:lnSpc>
                <a:spcPct val="110000"/>
              </a:lnSpc>
              <a:buNone/>
            </a:pPr>
            <a:r>
              <a:rPr lang="es-CL" sz="1150" b="1" spc="0" dirty="0">
                <a:solidFill>
                  <a:srgbClr val="FFFFFF"/>
                </a:solidFill>
              </a:rPr>
              <a:t>VIABILIDAD TÉCNICA</a:t>
            </a:r>
          </a:p>
        </p:txBody>
      </p:sp>
      <p:sp>
        <p:nvSpPr>
          <p:cNvPr id="1012" name="sh1012"/>
          <p:cNvSpPr/>
          <p:nvPr/>
        </p:nvSpPr>
        <p:spPr>
          <a:xfrm>
            <a:off x="2712720" y="4648200"/>
            <a:ext cx="1371600" cy="457200"/>
          </a:xfrm>
          <a:prstGeom prst="rect">
            <a:avLst/>
          </a:prstGeom>
          <a:noFill/>
          <a:ln>
            <a:noFill/>
          </a:ln>
        </p:spPr>
        <p:txBody>
          <a:bodyPr wrap="square" lIns="0" tIns="0" rIns="0" bIns="0" anchor="b">
            <a:noAutofit/>
          </a:bodyPr>
          <a:lstStyle/>
          <a:p>
            <a:pPr algn="l">
              <a:lnSpc>
                <a:spcPct val="115000"/>
              </a:lnSpc>
              <a:buNone/>
            </a:pPr>
            <a:r>
              <a:rPr lang="es-CL" sz="1000" b="0" spc="0" dirty="0">
                <a:solidFill>
                  <a:srgbClr val="FFFFFF"/>
                </a:solidFill>
              </a:rPr>
              <a:t>Experimento A</a:t>
            </a:r>
          </a:p>
        </p:txBody>
      </p:sp>
      <p:sp>
        <p:nvSpPr>
          <p:cNvPr id="1013" name="sh1013"/>
          <p:cNvSpPr/>
          <p:nvPr/>
        </p:nvSpPr>
        <p:spPr>
          <a:xfrm>
            <a:off x="4358640" y="3149600"/>
            <a:ext cx="1676400" cy="2006600"/>
          </a:xfrm>
          <a:prstGeom prst="rect">
            <a:avLst/>
          </a:prstGeom>
          <a:solidFill>
            <a:srgbClr val="1D5C9E"/>
          </a:solidFill>
          <a:ln>
            <a:noFill/>
          </a:ln>
        </p:spPr>
        <p:txBody>
          <a:bodyPr/>
          <a:lstStyle/>
          <a:p>
            <a:endParaRPr lang="es-CL"/>
          </a:p>
        </p:txBody>
      </p:sp>
      <p:sp>
        <p:nvSpPr>
          <p:cNvPr id="1014" name="sh1014"/>
          <p:cNvSpPr/>
          <p:nvPr/>
        </p:nvSpPr>
        <p:spPr>
          <a:xfrm>
            <a:off x="4511040" y="3276600"/>
            <a:ext cx="1371600" cy="3048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2ED3E8"/>
                </a:solidFill>
              </a:rPr>
              <a:t>2</a:t>
            </a:r>
          </a:p>
        </p:txBody>
      </p:sp>
      <p:sp>
        <p:nvSpPr>
          <p:cNvPr id="1015" name="sh1015"/>
          <p:cNvSpPr/>
          <p:nvPr/>
        </p:nvSpPr>
        <p:spPr>
          <a:xfrm>
            <a:off x="4511040" y="3606800"/>
            <a:ext cx="1371600" cy="457200"/>
          </a:xfrm>
          <a:prstGeom prst="rect">
            <a:avLst/>
          </a:prstGeom>
          <a:noFill/>
          <a:ln>
            <a:noFill/>
          </a:ln>
        </p:spPr>
        <p:txBody>
          <a:bodyPr wrap="square" lIns="0" tIns="0" rIns="0" bIns="0" anchor="t">
            <a:noAutofit/>
          </a:bodyPr>
          <a:lstStyle/>
          <a:p>
            <a:pPr algn="l">
              <a:lnSpc>
                <a:spcPct val="110000"/>
              </a:lnSpc>
              <a:buNone/>
            </a:pPr>
            <a:r>
              <a:rPr lang="es-CL" sz="1150" b="1" spc="0" dirty="0">
                <a:solidFill>
                  <a:srgbClr val="FFFFFF"/>
                </a:solidFill>
              </a:rPr>
              <a:t>UTILIDAD FUNCIONAL</a:t>
            </a:r>
          </a:p>
        </p:txBody>
      </p:sp>
      <p:sp>
        <p:nvSpPr>
          <p:cNvPr id="1016" name="sh1016"/>
          <p:cNvSpPr/>
          <p:nvPr/>
        </p:nvSpPr>
        <p:spPr>
          <a:xfrm>
            <a:off x="4511040" y="4648200"/>
            <a:ext cx="1371600" cy="457200"/>
          </a:xfrm>
          <a:prstGeom prst="rect">
            <a:avLst/>
          </a:prstGeom>
          <a:noFill/>
          <a:ln>
            <a:noFill/>
          </a:ln>
        </p:spPr>
        <p:txBody>
          <a:bodyPr wrap="square" lIns="0" tIns="0" rIns="0" bIns="0" anchor="b">
            <a:noAutofit/>
          </a:bodyPr>
          <a:lstStyle/>
          <a:p>
            <a:pPr algn="l">
              <a:lnSpc>
                <a:spcPct val="115000"/>
              </a:lnSpc>
              <a:buNone/>
            </a:pPr>
            <a:r>
              <a:rPr lang="es-CL" sz="1000" b="0" spc="0" dirty="0">
                <a:solidFill>
                  <a:srgbClr val="FFFFFF"/>
                </a:solidFill>
              </a:rPr>
              <a:t>Experimento B + evaluación de respuestas</a:t>
            </a:r>
          </a:p>
        </p:txBody>
      </p:sp>
      <p:sp>
        <p:nvSpPr>
          <p:cNvPr id="1017" name="sh1017"/>
          <p:cNvSpPr/>
          <p:nvPr/>
        </p:nvSpPr>
        <p:spPr>
          <a:xfrm>
            <a:off x="6156960" y="2844800"/>
            <a:ext cx="1676400" cy="2311400"/>
          </a:xfrm>
          <a:prstGeom prst="rect">
            <a:avLst/>
          </a:prstGeom>
          <a:solidFill>
            <a:srgbClr val="EAF3F7"/>
          </a:solidFill>
          <a:ln w="19050">
            <a:solidFill>
              <a:srgbClr val="0A6D82"/>
            </a:solidFill>
          </a:ln>
        </p:spPr>
        <p:txBody>
          <a:bodyPr/>
          <a:lstStyle/>
          <a:p>
            <a:endParaRPr lang="es-CL"/>
          </a:p>
        </p:txBody>
      </p:sp>
      <p:sp>
        <p:nvSpPr>
          <p:cNvPr id="1018" name="sh1018"/>
          <p:cNvSpPr/>
          <p:nvPr/>
        </p:nvSpPr>
        <p:spPr>
          <a:xfrm>
            <a:off x="6309360" y="2971800"/>
            <a:ext cx="1371600" cy="3048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0A6D82"/>
                </a:solidFill>
              </a:rPr>
              <a:t>3</a:t>
            </a:r>
          </a:p>
        </p:txBody>
      </p:sp>
      <p:sp>
        <p:nvSpPr>
          <p:cNvPr id="1019" name="sh1019"/>
          <p:cNvSpPr/>
          <p:nvPr/>
        </p:nvSpPr>
        <p:spPr>
          <a:xfrm>
            <a:off x="6309360" y="3302000"/>
            <a:ext cx="1371600" cy="457200"/>
          </a:xfrm>
          <a:prstGeom prst="rect">
            <a:avLst/>
          </a:prstGeom>
          <a:noFill/>
          <a:ln>
            <a:noFill/>
          </a:ln>
        </p:spPr>
        <p:txBody>
          <a:bodyPr wrap="square" lIns="0" tIns="0" rIns="0" bIns="0" anchor="t">
            <a:noAutofit/>
          </a:bodyPr>
          <a:lstStyle/>
          <a:p>
            <a:pPr algn="l">
              <a:lnSpc>
                <a:spcPct val="110000"/>
              </a:lnSpc>
              <a:buNone/>
            </a:pPr>
            <a:r>
              <a:rPr lang="es-CL" sz="1150" b="1" spc="0" dirty="0">
                <a:solidFill>
                  <a:srgbClr val="0A3D4C"/>
                </a:solidFill>
              </a:rPr>
              <a:t>UTILIDAD PARA EL USUARIO</a:t>
            </a:r>
          </a:p>
        </p:txBody>
      </p:sp>
      <p:sp>
        <p:nvSpPr>
          <p:cNvPr id="1020" name="sh1020"/>
          <p:cNvSpPr/>
          <p:nvPr/>
        </p:nvSpPr>
        <p:spPr>
          <a:xfrm>
            <a:off x="6309360" y="4648200"/>
            <a:ext cx="1371600" cy="457200"/>
          </a:xfrm>
          <a:prstGeom prst="rect">
            <a:avLst/>
          </a:prstGeom>
          <a:noFill/>
          <a:ln>
            <a:noFill/>
          </a:ln>
        </p:spPr>
        <p:txBody>
          <a:bodyPr wrap="square" lIns="0" tIns="0" rIns="0" bIns="0" anchor="b">
            <a:noAutofit/>
          </a:bodyPr>
          <a:lstStyle/>
          <a:p>
            <a:pPr algn="l">
              <a:lnSpc>
                <a:spcPct val="115000"/>
              </a:lnSpc>
              <a:buNone/>
            </a:pPr>
            <a:r>
              <a:rPr lang="es-CL" sz="1000" b="0" spc="0" dirty="0">
                <a:solidFill>
                  <a:srgbClr val="0A3D4C"/>
                </a:solidFill>
              </a:rPr>
              <a:t>Estudio de tareas con participantes</a:t>
            </a:r>
          </a:p>
        </p:txBody>
      </p:sp>
      <p:sp>
        <p:nvSpPr>
          <p:cNvPr id="1021" name="sh1021"/>
          <p:cNvSpPr/>
          <p:nvPr/>
        </p:nvSpPr>
        <p:spPr>
          <a:xfrm>
            <a:off x="7955280" y="2540000"/>
            <a:ext cx="1676400" cy="2616200"/>
          </a:xfrm>
          <a:prstGeom prst="rect">
            <a:avLst/>
          </a:prstGeom>
          <a:noFill/>
          <a:ln w="12700">
            <a:solidFill>
              <a:srgbClr val="7A93AC"/>
            </a:solidFill>
            <a:prstDash val="dash"/>
          </a:ln>
        </p:spPr>
        <p:txBody>
          <a:bodyPr/>
          <a:lstStyle/>
          <a:p>
            <a:endParaRPr lang="es-CL"/>
          </a:p>
        </p:txBody>
      </p:sp>
      <p:sp>
        <p:nvSpPr>
          <p:cNvPr id="1022" name="sh1022"/>
          <p:cNvSpPr/>
          <p:nvPr/>
        </p:nvSpPr>
        <p:spPr>
          <a:xfrm>
            <a:off x="8107680" y="2667000"/>
            <a:ext cx="1371600" cy="3048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7A93AC"/>
                </a:solidFill>
              </a:rPr>
              <a:t>4</a:t>
            </a:r>
          </a:p>
        </p:txBody>
      </p:sp>
      <p:sp>
        <p:nvSpPr>
          <p:cNvPr id="1023" name="sh1023"/>
          <p:cNvSpPr/>
          <p:nvPr/>
        </p:nvSpPr>
        <p:spPr>
          <a:xfrm>
            <a:off x="8107680" y="2997200"/>
            <a:ext cx="1371600" cy="457200"/>
          </a:xfrm>
          <a:prstGeom prst="rect">
            <a:avLst/>
          </a:prstGeom>
          <a:noFill/>
          <a:ln>
            <a:noFill/>
          </a:ln>
        </p:spPr>
        <p:txBody>
          <a:bodyPr wrap="square" lIns="0" tIns="0" rIns="0" bIns="0" anchor="t">
            <a:noAutofit/>
          </a:bodyPr>
          <a:lstStyle/>
          <a:p>
            <a:pPr algn="l">
              <a:lnSpc>
                <a:spcPct val="110000"/>
              </a:lnSpc>
              <a:buNone/>
            </a:pPr>
            <a:r>
              <a:rPr lang="es-CL" sz="1150" b="1" spc="0" dirty="0">
                <a:solidFill>
                  <a:srgbClr val="4A5F78"/>
                </a:solidFill>
              </a:rPr>
              <a:t>VALOR OPERACIONAL</a:t>
            </a:r>
          </a:p>
        </p:txBody>
      </p:sp>
      <p:sp>
        <p:nvSpPr>
          <p:cNvPr id="1024" name="sh1024"/>
          <p:cNvSpPr/>
          <p:nvPr/>
        </p:nvSpPr>
        <p:spPr>
          <a:xfrm>
            <a:off x="8107680" y="4648200"/>
            <a:ext cx="1371600" cy="457200"/>
          </a:xfrm>
          <a:prstGeom prst="rect">
            <a:avLst/>
          </a:prstGeom>
          <a:noFill/>
          <a:ln>
            <a:noFill/>
          </a:ln>
        </p:spPr>
        <p:txBody>
          <a:bodyPr wrap="square" lIns="0" tIns="0" rIns="0" bIns="0" anchor="b">
            <a:noAutofit/>
          </a:bodyPr>
          <a:lstStyle/>
          <a:p>
            <a:pPr algn="l">
              <a:lnSpc>
                <a:spcPct val="115000"/>
              </a:lnSpc>
              <a:buNone/>
            </a:pPr>
            <a:r>
              <a:rPr lang="es-CL" sz="1000" b="0" spc="0" dirty="0">
                <a:solidFill>
                  <a:srgbClr val="4A5F78"/>
                </a:solidFill>
              </a:rPr>
              <a:t>Piloto en contexto real</a:t>
            </a:r>
          </a:p>
        </p:txBody>
      </p:sp>
      <p:sp>
        <p:nvSpPr>
          <p:cNvPr id="1025" name="sh1025"/>
          <p:cNvSpPr/>
          <p:nvPr/>
        </p:nvSpPr>
        <p:spPr>
          <a:xfrm>
            <a:off x="9753600" y="2235200"/>
            <a:ext cx="1676400" cy="2921000"/>
          </a:xfrm>
          <a:prstGeom prst="rect">
            <a:avLst/>
          </a:prstGeom>
          <a:noFill/>
          <a:ln w="12700">
            <a:solidFill>
              <a:srgbClr val="7A93AC"/>
            </a:solidFill>
            <a:prstDash val="dash"/>
          </a:ln>
        </p:spPr>
        <p:txBody>
          <a:bodyPr/>
          <a:lstStyle/>
          <a:p>
            <a:endParaRPr lang="es-CL"/>
          </a:p>
        </p:txBody>
      </p:sp>
      <p:sp>
        <p:nvSpPr>
          <p:cNvPr id="1026" name="sh1026"/>
          <p:cNvSpPr/>
          <p:nvPr/>
        </p:nvSpPr>
        <p:spPr>
          <a:xfrm>
            <a:off x="9906000" y="2362200"/>
            <a:ext cx="1371600" cy="3048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7A93AC"/>
                </a:solidFill>
              </a:rPr>
              <a:t>5</a:t>
            </a:r>
          </a:p>
        </p:txBody>
      </p:sp>
      <p:sp>
        <p:nvSpPr>
          <p:cNvPr id="1027" name="sh1027"/>
          <p:cNvSpPr/>
          <p:nvPr/>
        </p:nvSpPr>
        <p:spPr>
          <a:xfrm>
            <a:off x="9906000" y="2692400"/>
            <a:ext cx="1371600" cy="457200"/>
          </a:xfrm>
          <a:prstGeom prst="rect">
            <a:avLst/>
          </a:prstGeom>
          <a:noFill/>
          <a:ln>
            <a:noFill/>
          </a:ln>
        </p:spPr>
        <p:txBody>
          <a:bodyPr wrap="square" lIns="0" tIns="0" rIns="0" bIns="0" anchor="t">
            <a:noAutofit/>
          </a:bodyPr>
          <a:lstStyle/>
          <a:p>
            <a:pPr algn="l">
              <a:lnSpc>
                <a:spcPct val="110000"/>
              </a:lnSpc>
              <a:buNone/>
            </a:pPr>
            <a:r>
              <a:rPr lang="es-CL" sz="1150" b="1" spc="0" dirty="0">
                <a:solidFill>
                  <a:srgbClr val="4A5F78"/>
                </a:solidFill>
              </a:rPr>
              <a:t>VALOR ECONÓMICO</a:t>
            </a:r>
          </a:p>
        </p:txBody>
      </p:sp>
      <p:sp>
        <p:nvSpPr>
          <p:cNvPr id="1028" name="sh1028"/>
          <p:cNvSpPr/>
          <p:nvPr/>
        </p:nvSpPr>
        <p:spPr>
          <a:xfrm>
            <a:off x="9906000" y="4648200"/>
            <a:ext cx="1371600" cy="457200"/>
          </a:xfrm>
          <a:prstGeom prst="rect">
            <a:avLst/>
          </a:prstGeom>
          <a:noFill/>
          <a:ln>
            <a:noFill/>
          </a:ln>
        </p:spPr>
        <p:txBody>
          <a:bodyPr wrap="square" lIns="0" tIns="0" rIns="0" bIns="0" anchor="b">
            <a:noAutofit/>
          </a:bodyPr>
          <a:lstStyle/>
          <a:p>
            <a:pPr algn="l">
              <a:lnSpc>
                <a:spcPct val="115000"/>
              </a:lnSpc>
              <a:buNone/>
            </a:pPr>
            <a:r>
              <a:rPr lang="es-CL" sz="1000" b="0" spc="0" dirty="0">
                <a:solidFill>
                  <a:srgbClr val="4A5F78"/>
                </a:solidFill>
              </a:rPr>
              <a:t>Costos, volumen y beneficio neto</a:t>
            </a:r>
          </a:p>
        </p:txBody>
      </p:sp>
      <p:sp>
        <p:nvSpPr>
          <p:cNvPr id="1030" name="sh1030"/>
          <p:cNvSpPr/>
          <p:nvPr/>
        </p:nvSpPr>
        <p:spPr>
          <a:xfrm>
            <a:off x="762000" y="5334000"/>
            <a:ext cx="1676400" cy="19050"/>
          </a:xfrm>
          <a:prstGeom prst="rect">
            <a:avLst/>
          </a:prstGeom>
          <a:solidFill>
            <a:srgbClr val="9FB3C8"/>
          </a:solidFill>
          <a:ln>
            <a:noFill/>
          </a:ln>
        </p:spPr>
        <p:txBody>
          <a:bodyPr/>
          <a:lstStyle/>
          <a:p>
            <a:endParaRPr lang="es-CL"/>
          </a:p>
        </p:txBody>
      </p:sp>
      <p:sp>
        <p:nvSpPr>
          <p:cNvPr id="1031" name="sh1031"/>
          <p:cNvSpPr/>
          <p:nvPr/>
        </p:nvSpPr>
        <p:spPr>
          <a:xfrm>
            <a:off x="762000" y="5334000"/>
            <a:ext cx="19050" cy="88900"/>
          </a:xfrm>
          <a:prstGeom prst="rect">
            <a:avLst/>
          </a:prstGeom>
          <a:solidFill>
            <a:srgbClr val="9FB3C8"/>
          </a:solidFill>
          <a:ln>
            <a:noFill/>
          </a:ln>
        </p:spPr>
        <p:txBody>
          <a:bodyPr/>
          <a:lstStyle/>
          <a:p>
            <a:endParaRPr lang="es-CL"/>
          </a:p>
        </p:txBody>
      </p:sp>
      <p:sp>
        <p:nvSpPr>
          <p:cNvPr id="1032" name="sh1032"/>
          <p:cNvSpPr/>
          <p:nvPr/>
        </p:nvSpPr>
        <p:spPr>
          <a:xfrm>
            <a:off x="2419350" y="5334000"/>
            <a:ext cx="19050" cy="88900"/>
          </a:xfrm>
          <a:prstGeom prst="rect">
            <a:avLst/>
          </a:prstGeom>
          <a:solidFill>
            <a:srgbClr val="9FB3C8"/>
          </a:solidFill>
          <a:ln>
            <a:noFill/>
          </a:ln>
        </p:spPr>
        <p:txBody>
          <a:bodyPr/>
          <a:lstStyle/>
          <a:p>
            <a:endParaRPr lang="es-CL"/>
          </a:p>
        </p:txBody>
      </p:sp>
      <p:sp>
        <p:nvSpPr>
          <p:cNvPr id="1033" name="sh1033"/>
          <p:cNvSpPr/>
          <p:nvPr/>
        </p:nvSpPr>
        <p:spPr>
          <a:xfrm>
            <a:off x="762000" y="5486400"/>
            <a:ext cx="1676400" cy="330200"/>
          </a:xfrm>
          <a:prstGeom prst="rect">
            <a:avLst/>
          </a:prstGeom>
          <a:noFill/>
          <a:ln>
            <a:noFill/>
          </a:ln>
        </p:spPr>
        <p:txBody>
          <a:bodyPr wrap="square" lIns="0" tIns="0" rIns="0" bIns="0" anchor="t">
            <a:noAutofit/>
          </a:bodyPr>
          <a:lstStyle/>
          <a:p>
            <a:pPr algn="ctr">
              <a:lnSpc>
                <a:spcPct val="110000"/>
              </a:lnSpc>
              <a:buNone/>
            </a:pPr>
            <a:r>
              <a:rPr lang="es-CL" sz="1000" b="1" spc="0" dirty="0">
                <a:solidFill>
                  <a:srgbClr val="5A7290"/>
                </a:solidFill>
              </a:rPr>
              <a:t>ANTECEDENTES</a:t>
            </a:r>
          </a:p>
        </p:txBody>
      </p:sp>
      <p:sp>
        <p:nvSpPr>
          <p:cNvPr id="1034" name="sh1034"/>
          <p:cNvSpPr/>
          <p:nvPr/>
        </p:nvSpPr>
        <p:spPr>
          <a:xfrm>
            <a:off x="2560320" y="5334000"/>
            <a:ext cx="3474720" cy="19050"/>
          </a:xfrm>
          <a:prstGeom prst="rect">
            <a:avLst/>
          </a:prstGeom>
          <a:solidFill>
            <a:srgbClr val="12406E"/>
          </a:solidFill>
          <a:ln>
            <a:noFill/>
          </a:ln>
        </p:spPr>
        <p:txBody>
          <a:bodyPr/>
          <a:lstStyle/>
          <a:p>
            <a:endParaRPr lang="es-CL"/>
          </a:p>
        </p:txBody>
      </p:sp>
      <p:sp>
        <p:nvSpPr>
          <p:cNvPr id="1035" name="sh1035"/>
          <p:cNvSpPr/>
          <p:nvPr/>
        </p:nvSpPr>
        <p:spPr>
          <a:xfrm>
            <a:off x="2560320" y="5334000"/>
            <a:ext cx="19050" cy="88900"/>
          </a:xfrm>
          <a:prstGeom prst="rect">
            <a:avLst/>
          </a:prstGeom>
          <a:solidFill>
            <a:srgbClr val="12406E"/>
          </a:solidFill>
          <a:ln>
            <a:noFill/>
          </a:ln>
        </p:spPr>
        <p:txBody>
          <a:bodyPr/>
          <a:lstStyle/>
          <a:p>
            <a:endParaRPr lang="es-CL"/>
          </a:p>
        </p:txBody>
      </p:sp>
      <p:sp>
        <p:nvSpPr>
          <p:cNvPr id="1036" name="sh1036"/>
          <p:cNvSpPr/>
          <p:nvPr/>
        </p:nvSpPr>
        <p:spPr>
          <a:xfrm>
            <a:off x="6015990" y="5334000"/>
            <a:ext cx="19050" cy="88900"/>
          </a:xfrm>
          <a:prstGeom prst="rect">
            <a:avLst/>
          </a:prstGeom>
          <a:solidFill>
            <a:srgbClr val="12406E"/>
          </a:solidFill>
          <a:ln>
            <a:noFill/>
          </a:ln>
        </p:spPr>
        <p:txBody>
          <a:bodyPr/>
          <a:lstStyle/>
          <a:p>
            <a:endParaRPr lang="es-CL"/>
          </a:p>
        </p:txBody>
      </p:sp>
      <p:sp>
        <p:nvSpPr>
          <p:cNvPr id="1037" name="sh1037"/>
          <p:cNvSpPr/>
          <p:nvPr/>
        </p:nvSpPr>
        <p:spPr>
          <a:xfrm>
            <a:off x="2560320" y="5486400"/>
            <a:ext cx="3474720" cy="330200"/>
          </a:xfrm>
          <a:prstGeom prst="rect">
            <a:avLst/>
          </a:prstGeom>
          <a:noFill/>
          <a:ln>
            <a:noFill/>
          </a:ln>
        </p:spPr>
        <p:txBody>
          <a:bodyPr wrap="square" lIns="0" tIns="0" rIns="0" bIns="0" anchor="t">
            <a:noAutofit/>
          </a:bodyPr>
          <a:lstStyle/>
          <a:p>
            <a:pPr algn="ctr">
              <a:lnSpc>
                <a:spcPct val="110000"/>
              </a:lnSpc>
              <a:buNone/>
            </a:pPr>
            <a:r>
              <a:rPr lang="es-CL" sz="1000" b="1" spc="0" dirty="0">
                <a:solidFill>
                  <a:srgbClr val="12406E"/>
                </a:solidFill>
              </a:rPr>
              <a:t>ALCANCE PRINCIPAL DE LA TESIS · NIVELES 1–2</a:t>
            </a:r>
          </a:p>
        </p:txBody>
      </p:sp>
      <p:sp>
        <p:nvSpPr>
          <p:cNvPr id="1038" name="sh1038"/>
          <p:cNvSpPr/>
          <p:nvPr/>
        </p:nvSpPr>
        <p:spPr>
          <a:xfrm>
            <a:off x="6156960" y="5334000"/>
            <a:ext cx="1676400" cy="19050"/>
          </a:xfrm>
          <a:prstGeom prst="rect">
            <a:avLst/>
          </a:prstGeom>
          <a:solidFill>
            <a:srgbClr val="0A6D82"/>
          </a:solidFill>
          <a:ln>
            <a:noFill/>
          </a:ln>
        </p:spPr>
        <p:txBody>
          <a:bodyPr/>
          <a:lstStyle/>
          <a:p>
            <a:endParaRPr lang="es-CL"/>
          </a:p>
        </p:txBody>
      </p:sp>
      <p:sp>
        <p:nvSpPr>
          <p:cNvPr id="1039" name="sh1039"/>
          <p:cNvSpPr/>
          <p:nvPr/>
        </p:nvSpPr>
        <p:spPr>
          <a:xfrm>
            <a:off x="6156960" y="5334000"/>
            <a:ext cx="19050" cy="88900"/>
          </a:xfrm>
          <a:prstGeom prst="rect">
            <a:avLst/>
          </a:prstGeom>
          <a:solidFill>
            <a:srgbClr val="0A6D82"/>
          </a:solidFill>
          <a:ln>
            <a:noFill/>
          </a:ln>
        </p:spPr>
        <p:txBody>
          <a:bodyPr/>
          <a:lstStyle/>
          <a:p>
            <a:endParaRPr lang="es-CL"/>
          </a:p>
        </p:txBody>
      </p:sp>
      <p:sp>
        <p:nvSpPr>
          <p:cNvPr id="1040" name="sh1040"/>
          <p:cNvSpPr/>
          <p:nvPr/>
        </p:nvSpPr>
        <p:spPr>
          <a:xfrm>
            <a:off x="7814310" y="5334000"/>
            <a:ext cx="19050" cy="88900"/>
          </a:xfrm>
          <a:prstGeom prst="rect">
            <a:avLst/>
          </a:prstGeom>
          <a:solidFill>
            <a:srgbClr val="0A6D82"/>
          </a:solidFill>
          <a:ln>
            <a:noFill/>
          </a:ln>
        </p:spPr>
        <p:txBody>
          <a:bodyPr/>
          <a:lstStyle/>
          <a:p>
            <a:endParaRPr lang="es-CL"/>
          </a:p>
        </p:txBody>
      </p:sp>
      <p:sp>
        <p:nvSpPr>
          <p:cNvPr id="1041" name="sh1041"/>
          <p:cNvSpPr/>
          <p:nvPr/>
        </p:nvSpPr>
        <p:spPr>
          <a:xfrm>
            <a:off x="6156960" y="5486400"/>
            <a:ext cx="1676400" cy="330200"/>
          </a:xfrm>
          <a:prstGeom prst="rect">
            <a:avLst/>
          </a:prstGeom>
          <a:noFill/>
          <a:ln>
            <a:noFill/>
          </a:ln>
        </p:spPr>
        <p:txBody>
          <a:bodyPr wrap="square" lIns="0" tIns="0" rIns="0" bIns="0" anchor="t">
            <a:noAutofit/>
          </a:bodyPr>
          <a:lstStyle/>
          <a:p>
            <a:pPr algn="ctr">
              <a:lnSpc>
                <a:spcPct val="110000"/>
              </a:lnSpc>
              <a:buNone/>
            </a:pPr>
            <a:r>
              <a:rPr lang="es-CL" sz="1000" b="1" spc="0" dirty="0">
                <a:solidFill>
                  <a:srgbClr val="0A6D82"/>
                </a:solidFill>
              </a:rPr>
              <a:t>EXTENSIÓN · NIVEL 3</a:t>
            </a:r>
          </a:p>
        </p:txBody>
      </p:sp>
      <p:sp>
        <p:nvSpPr>
          <p:cNvPr id="1042" name="sh1042"/>
          <p:cNvSpPr/>
          <p:nvPr/>
        </p:nvSpPr>
        <p:spPr>
          <a:xfrm>
            <a:off x="7955280" y="5334000"/>
            <a:ext cx="3474720" cy="19050"/>
          </a:xfrm>
          <a:prstGeom prst="rect">
            <a:avLst/>
          </a:prstGeom>
          <a:solidFill>
            <a:srgbClr val="7A93AC"/>
          </a:solidFill>
          <a:ln>
            <a:noFill/>
          </a:ln>
        </p:spPr>
        <p:txBody>
          <a:bodyPr/>
          <a:lstStyle/>
          <a:p>
            <a:endParaRPr lang="es-CL"/>
          </a:p>
        </p:txBody>
      </p:sp>
      <p:sp>
        <p:nvSpPr>
          <p:cNvPr id="1043" name="sh1043"/>
          <p:cNvSpPr/>
          <p:nvPr/>
        </p:nvSpPr>
        <p:spPr>
          <a:xfrm>
            <a:off x="7955280" y="5334000"/>
            <a:ext cx="19050" cy="88900"/>
          </a:xfrm>
          <a:prstGeom prst="rect">
            <a:avLst/>
          </a:prstGeom>
          <a:solidFill>
            <a:srgbClr val="7A93AC"/>
          </a:solidFill>
          <a:ln>
            <a:noFill/>
          </a:ln>
        </p:spPr>
        <p:txBody>
          <a:bodyPr/>
          <a:lstStyle/>
          <a:p>
            <a:endParaRPr lang="es-CL"/>
          </a:p>
        </p:txBody>
      </p:sp>
      <p:sp>
        <p:nvSpPr>
          <p:cNvPr id="1044" name="sh1044"/>
          <p:cNvSpPr/>
          <p:nvPr/>
        </p:nvSpPr>
        <p:spPr>
          <a:xfrm>
            <a:off x="11410950" y="5334000"/>
            <a:ext cx="19050" cy="88900"/>
          </a:xfrm>
          <a:prstGeom prst="rect">
            <a:avLst/>
          </a:prstGeom>
          <a:solidFill>
            <a:srgbClr val="7A93AC"/>
          </a:solidFill>
          <a:ln>
            <a:noFill/>
          </a:ln>
        </p:spPr>
        <p:txBody>
          <a:bodyPr/>
          <a:lstStyle/>
          <a:p>
            <a:endParaRPr lang="es-CL"/>
          </a:p>
        </p:txBody>
      </p:sp>
      <p:sp>
        <p:nvSpPr>
          <p:cNvPr id="1045" name="sh1045"/>
          <p:cNvSpPr/>
          <p:nvPr/>
        </p:nvSpPr>
        <p:spPr>
          <a:xfrm>
            <a:off x="7955280" y="5486400"/>
            <a:ext cx="3474720" cy="330200"/>
          </a:xfrm>
          <a:prstGeom prst="rect">
            <a:avLst/>
          </a:prstGeom>
          <a:noFill/>
          <a:ln>
            <a:noFill/>
          </a:ln>
        </p:spPr>
        <p:txBody>
          <a:bodyPr wrap="square" lIns="0" tIns="0" rIns="0" bIns="0" anchor="t">
            <a:noAutofit/>
          </a:bodyPr>
          <a:lstStyle/>
          <a:p>
            <a:pPr algn="ctr">
              <a:lnSpc>
                <a:spcPct val="110000"/>
              </a:lnSpc>
              <a:buNone/>
            </a:pPr>
            <a:r>
              <a:rPr lang="es-CL" sz="1000" b="1" spc="0" dirty="0">
                <a:solidFill>
                  <a:srgbClr val="5A7290"/>
                </a:solidFill>
              </a:rPr>
              <a:t>VALIDACIÓN ORGANIZACIONAL · NIVELES 4–5</a:t>
            </a:r>
          </a:p>
        </p:txBody>
      </p:sp>
      <p:sp>
        <p:nvSpPr>
          <p:cNvPr id="1046" name="sh1046"/>
          <p:cNvSpPr/>
          <p:nvPr/>
        </p:nvSpPr>
        <p:spPr>
          <a:xfrm>
            <a:off x="762000" y="6146800"/>
            <a:ext cx="38100" cy="254000"/>
          </a:xfrm>
          <a:prstGeom prst="rect">
            <a:avLst/>
          </a:prstGeom>
          <a:solidFill>
            <a:srgbClr val="2ED3E8"/>
          </a:solidFill>
          <a:ln>
            <a:noFill/>
          </a:ln>
        </p:spPr>
        <p:txBody>
          <a:bodyPr/>
          <a:lstStyle/>
          <a:p>
            <a:endParaRPr lang="es-CL"/>
          </a:p>
        </p:txBody>
      </p:sp>
      <p:sp>
        <p:nvSpPr>
          <p:cNvPr id="1047" name="sh1047"/>
          <p:cNvSpPr/>
          <p:nvPr/>
        </p:nvSpPr>
        <p:spPr>
          <a:xfrm>
            <a:off x="990600" y="6146800"/>
            <a:ext cx="10414000" cy="254000"/>
          </a:xfrm>
          <a:prstGeom prst="rect">
            <a:avLst/>
          </a:prstGeom>
          <a:noFill/>
          <a:ln>
            <a:noFill/>
          </a:ln>
        </p:spPr>
        <p:txBody>
          <a:bodyPr wrap="square" lIns="0" tIns="0" rIns="0" bIns="0" anchor="ctr">
            <a:noAutofit/>
          </a:bodyPr>
          <a:lstStyle/>
          <a:p>
            <a:pPr algn="l">
              <a:lnSpc>
                <a:spcPct val="100000"/>
              </a:lnSpc>
              <a:buNone/>
            </a:pPr>
            <a:r>
              <a:rPr lang="es-CL" sz="1200" b="1" spc="0" dirty="0">
                <a:solidFill>
                  <a:srgbClr val="12406E"/>
                </a:solidFill>
              </a:rPr>
              <a:t>No convertir una mejora de benchmark en ROI: los niveles 4 y 5 requieren procesos, costos y volúmenes reales.</a:t>
            </a:r>
          </a:p>
        </p:txBody>
      </p:sp>
      <p:sp>
        <p:nvSpPr>
          <p:cNvPr id="1970" name="pregunta"/>
          <p:cNvSpPr/>
          <p:nvPr/>
        </p:nvSpPr>
        <p:spPr>
          <a:xfrm>
            <a:off x="762000" y="5816600"/>
            <a:ext cx="10668000" cy="203200"/>
          </a:xfrm>
          <a:prstGeom prst="rect">
            <a:avLst/>
          </a:prstGeom>
          <a:noFill/>
          <a:ln>
            <a:noFill/>
          </a:ln>
        </p:spPr>
        <p:txBody>
          <a:bodyPr wrap="square" lIns="0" tIns="0" rIns="0" bIns="0" anchor="ctr">
            <a:noAutofit/>
          </a:bodyPr>
          <a:lstStyle/>
          <a:p>
            <a:pPr algn="l">
              <a:buNone/>
            </a:pPr>
            <a:r>
              <a:rPr lang="es-CL" sz="1050" dirty="0">
                <a:solidFill>
                  <a:srgbClr val="4A5F78"/>
                </a:solidFill>
              </a:rPr>
              <a:t>Pregunta de valor: ¿qué dimensiones de valor justificarían posteriormente una evaluación organizacional real?</a:t>
            </a:r>
          </a:p>
        </p:txBody>
      </p:sp>
    </p:spTree>
    <p:extLst>
      <p:ext uri="{BB962C8B-B14F-4D97-AF65-F5344CB8AC3E}">
        <p14:creationId xmlns:p14="http://schemas.microsoft.com/office/powerpoint/2010/main" val="155713571"/>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524"/>
        </a:solidFill>
        <a:effectLst/>
      </p:bgPr>
    </p:bg>
    <p:spTree>
      <p:nvGrpSpPr>
        <p:cNvPr id="1" name=""/>
        <p:cNvGrpSpPr/>
        <p:nvPr/>
      </p:nvGrpSpPr>
      <p:grpSpPr>
        <a:xfrm>
          <a:off x="0" y="0"/>
          <a:ext cx="0" cy="0"/>
          <a:chOff x="0" y="0"/>
          <a:chExt cx="0" cy="0"/>
        </a:xfrm>
      </p:grpSpPr>
      <p:sp>
        <p:nvSpPr>
          <p:cNvPr id="1001" name="sh1001"/>
          <p:cNvSpPr/>
          <p:nvPr/>
        </p:nvSpPr>
        <p:spPr>
          <a:xfrm>
            <a:off x="0" y="0"/>
            <a:ext cx="12192000" cy="6858000"/>
          </a:xfrm>
          <a:prstGeom prst="rect">
            <a:avLst/>
          </a:prstGeom>
          <a:solidFill>
            <a:srgbClr val="0A1524"/>
          </a:solidFill>
          <a:ln>
            <a:noFill/>
          </a:ln>
        </p:spPr>
        <p:txBody>
          <a:bodyPr/>
          <a:lstStyle/>
          <a:p>
            <a:endParaRPr lang="es-CL"/>
          </a:p>
        </p:txBody>
      </p:sp>
      <p:sp>
        <p:nvSpPr>
          <p:cNvPr id="1002" name="sh1002"/>
          <p:cNvSpPr/>
          <p:nvPr/>
        </p:nvSpPr>
        <p:spPr>
          <a:xfrm>
            <a:off x="0" y="0"/>
            <a:ext cx="12192000" cy="50800"/>
          </a:xfrm>
          <a:prstGeom prst="rect">
            <a:avLst/>
          </a:prstGeom>
          <a:solidFill>
            <a:srgbClr val="12406E"/>
          </a:solidFill>
          <a:ln>
            <a:noFill/>
          </a:ln>
        </p:spPr>
        <p:txBody>
          <a:bodyPr/>
          <a:lstStyle/>
          <a:p>
            <a:endParaRPr lang="es-CL"/>
          </a:p>
        </p:txBody>
      </p:sp>
      <p:sp>
        <p:nvSpPr>
          <p:cNvPr id="1003" name="sh1003"/>
          <p:cNvSpPr/>
          <p:nvPr/>
        </p:nvSpPr>
        <p:spPr>
          <a:xfrm>
            <a:off x="8483600" y="1625600"/>
            <a:ext cx="2946400" cy="2540000"/>
          </a:xfrm>
          <a:prstGeom prst="rect">
            <a:avLst/>
          </a:prstGeom>
          <a:noFill/>
          <a:ln>
            <a:noFill/>
          </a:ln>
        </p:spPr>
        <p:txBody>
          <a:bodyPr wrap="square" lIns="0" tIns="0" rIns="0" bIns="0" anchor="ctr">
            <a:noAutofit/>
          </a:bodyPr>
          <a:lstStyle/>
          <a:p>
            <a:pPr algn="r">
              <a:lnSpc>
                <a:spcPct val="100000"/>
              </a:lnSpc>
              <a:buNone/>
            </a:pPr>
            <a:r>
              <a:rPr lang="es-CL" sz="16000" b="1" spc="0" dirty="0">
                <a:solidFill>
                  <a:srgbClr val="14263C"/>
                </a:solidFill>
              </a:rPr>
              <a:t>02</a:t>
            </a:r>
          </a:p>
        </p:txBody>
      </p:sp>
      <p:sp>
        <p:nvSpPr>
          <p:cNvPr id="1004" name="sh1004"/>
          <p:cNvSpPr/>
          <p:nvPr/>
        </p:nvSpPr>
        <p:spPr>
          <a:xfrm>
            <a:off x="762000" y="2540000"/>
            <a:ext cx="2286000" cy="177800"/>
          </a:xfrm>
          <a:prstGeom prst="rect">
            <a:avLst/>
          </a:prstGeom>
          <a:noFill/>
          <a:ln>
            <a:noFill/>
          </a:ln>
        </p:spPr>
        <p:txBody>
          <a:bodyPr wrap="square" lIns="0" tIns="0" rIns="0" bIns="0" anchor="ctr">
            <a:noAutofit/>
          </a:bodyPr>
          <a:lstStyle/>
          <a:p>
            <a:pPr algn="l">
              <a:lnSpc>
                <a:spcPct val="100000"/>
              </a:lnSpc>
              <a:buNone/>
            </a:pPr>
            <a:r>
              <a:rPr lang="es-CL" sz="1050" b="0" spc="180" dirty="0">
                <a:solidFill>
                  <a:srgbClr val="2ED3E8"/>
                </a:solidFill>
              </a:rPr>
              <a:t>SECCIÓN 02</a:t>
            </a:r>
          </a:p>
        </p:txBody>
      </p:sp>
      <p:sp>
        <p:nvSpPr>
          <p:cNvPr id="1005" name="sh1005"/>
          <p:cNvSpPr/>
          <p:nvPr/>
        </p:nvSpPr>
        <p:spPr>
          <a:xfrm>
            <a:off x="762000" y="2870200"/>
            <a:ext cx="1524000" cy="19050"/>
          </a:xfrm>
          <a:prstGeom prst="rect">
            <a:avLst/>
          </a:prstGeom>
          <a:solidFill>
            <a:srgbClr val="2ED3E8"/>
          </a:solidFill>
          <a:ln>
            <a:noFill/>
          </a:ln>
        </p:spPr>
        <p:txBody>
          <a:bodyPr/>
          <a:lstStyle/>
          <a:p>
            <a:endParaRPr lang="es-CL"/>
          </a:p>
        </p:txBody>
      </p:sp>
      <p:sp>
        <p:nvSpPr>
          <p:cNvPr id="1006" name="sh1006"/>
          <p:cNvSpPr/>
          <p:nvPr/>
        </p:nvSpPr>
        <p:spPr>
          <a:xfrm>
            <a:off x="762000" y="3124200"/>
            <a:ext cx="7112000" cy="660400"/>
          </a:xfrm>
          <a:prstGeom prst="rect">
            <a:avLst/>
          </a:prstGeom>
          <a:noFill/>
          <a:ln>
            <a:noFill/>
          </a:ln>
        </p:spPr>
        <p:txBody>
          <a:bodyPr wrap="square" lIns="0" tIns="0" rIns="0" bIns="0" anchor="ctr">
            <a:noAutofit/>
          </a:bodyPr>
          <a:lstStyle/>
          <a:p>
            <a:pPr algn="l">
              <a:lnSpc>
                <a:spcPct val="100000"/>
              </a:lnSpc>
              <a:buNone/>
            </a:pPr>
            <a:r>
              <a:rPr lang="es-CL" sz="4000" b="1" spc="0" dirty="0">
                <a:solidFill>
                  <a:srgbClr val="FFFFFF"/>
                </a:solidFill>
              </a:rPr>
              <a:t>Diseño de evaluación</a:t>
            </a:r>
          </a:p>
        </p:txBody>
      </p:sp>
      <p:sp>
        <p:nvSpPr>
          <p:cNvPr id="1007" name="sh1007"/>
          <p:cNvSpPr/>
          <p:nvPr/>
        </p:nvSpPr>
        <p:spPr>
          <a:xfrm>
            <a:off x="762000" y="3962400"/>
            <a:ext cx="6858000" cy="635000"/>
          </a:xfrm>
          <a:prstGeom prst="rect">
            <a:avLst/>
          </a:prstGeom>
          <a:noFill/>
          <a:ln>
            <a:noFill/>
          </a:ln>
        </p:spPr>
        <p:txBody>
          <a:bodyPr wrap="square" lIns="0" tIns="0" rIns="0" bIns="0" anchor="t">
            <a:noAutofit/>
          </a:bodyPr>
          <a:lstStyle/>
          <a:p>
            <a:pPr algn="l">
              <a:lnSpc>
                <a:spcPct val="130000"/>
              </a:lnSpc>
              <a:buNone/>
            </a:pPr>
            <a:r>
              <a:rPr lang="es-CL" sz="1600" b="0" spc="0" dirty="0">
                <a:solidFill>
                  <a:srgbClr val="9FB3C8"/>
                </a:solidFill>
              </a:rPr>
              <a:t>De la calidad de extracción a la utilidad funcional y su traducción a valor</a:t>
            </a:r>
          </a:p>
        </p:txBody>
      </p:sp>
      <p:sp>
        <p:nvSpPr>
          <p:cNvPr id="1008" name="sh1008"/>
          <p:cNvSpPr/>
          <p:nvPr/>
        </p:nvSpPr>
        <p:spPr>
          <a:xfrm>
            <a:off x="762000" y="6400800"/>
            <a:ext cx="10668000" cy="12700"/>
          </a:xfrm>
          <a:prstGeom prst="rect">
            <a:avLst/>
          </a:prstGeom>
          <a:solidFill>
            <a:srgbClr val="1D3A57"/>
          </a:solidFill>
          <a:ln>
            <a:noFill/>
          </a:ln>
        </p:spPr>
        <p:txBody>
          <a:bodyPr/>
          <a:lstStyle/>
          <a:p>
            <a:endParaRPr lang="es-CL"/>
          </a:p>
        </p:txBody>
      </p:sp>
      <p:sp>
        <p:nvSpPr>
          <p:cNvPr id="1009" name="sh1009"/>
          <p:cNvSpPr/>
          <p:nvPr/>
        </p:nvSpPr>
        <p:spPr>
          <a:xfrm>
            <a:off x="762000" y="6502400"/>
            <a:ext cx="7620000" cy="2032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9FB3C8"/>
                </a:solidFill>
              </a:rPr>
              <a:t>PROPUESTA DE TESIS · MAGÍSTER EN CIENCIA DE DATOS · PUC · 2026</a:t>
            </a:r>
          </a:p>
        </p:txBody>
      </p:sp>
      <p:sp>
        <p:nvSpPr>
          <p:cNvPr id="1010" name="sh1010"/>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2ED3E8"/>
                </a:solidFill>
              </a:rPr>
              <a:t>[ 11 ]</a:t>
            </a:r>
          </a:p>
        </p:txBody>
      </p:sp>
    </p:spTree>
    <p:extLst>
      <p:ext uri="{BB962C8B-B14F-4D97-AF65-F5344CB8AC3E}">
        <p14:creationId xmlns:p14="http://schemas.microsoft.com/office/powerpoint/2010/main" val="1306767672"/>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762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FEEDBACK SEMANA 04 · DECISIONES METODOLÓGICAS ADOPTADAS</a:t>
            </a:r>
          </a:p>
        </p:txBody>
      </p:sp>
      <p:sp>
        <p:nvSpPr>
          <p:cNvPr id="1002" name="sh1002"/>
          <p:cNvSpPr/>
          <p:nvPr/>
        </p:nvSpPr>
        <p:spPr>
          <a:xfrm>
            <a:off x="762000" y="863600"/>
            <a:ext cx="10160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Cinco observaciones operacionalizadas en el diseño</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[ 12 ]</a:t>
            </a:r>
          </a:p>
        </p:txBody>
      </p:sp>
      <p:sp>
        <p:nvSpPr>
          <p:cNvPr id="1005" name="sh1005"/>
          <p:cNvSpPr/>
          <p:nvPr/>
        </p:nvSpPr>
        <p:spPr>
          <a:xfrm>
            <a:off x="762000" y="2108200"/>
            <a:ext cx="1930400" cy="38100"/>
          </a:xfrm>
          <a:prstGeom prst="rect">
            <a:avLst/>
          </a:prstGeom>
          <a:solidFill>
            <a:srgbClr val="12406E"/>
          </a:solidFill>
          <a:ln>
            <a:noFill/>
          </a:ln>
        </p:spPr>
        <p:txBody>
          <a:bodyPr/>
          <a:lstStyle/>
          <a:p>
            <a:endParaRPr lang="es-CL"/>
          </a:p>
        </p:txBody>
      </p:sp>
      <p:sp>
        <p:nvSpPr>
          <p:cNvPr id="1006" name="sh1006"/>
          <p:cNvSpPr/>
          <p:nvPr/>
        </p:nvSpPr>
        <p:spPr>
          <a:xfrm>
            <a:off x="7620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12406E"/>
                </a:solidFill>
              </a:rPr>
              <a:t>01</a:t>
            </a:r>
          </a:p>
        </p:txBody>
      </p:sp>
      <p:sp>
        <p:nvSpPr>
          <p:cNvPr id="1007" name="sh1007"/>
          <p:cNvSpPr/>
          <p:nvPr/>
        </p:nvSpPr>
        <p:spPr>
          <a:xfrm>
            <a:off x="7620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MÉTRICAS EXPLÍCITAS</a:t>
            </a:r>
          </a:p>
        </p:txBody>
      </p:sp>
      <p:sp>
        <p:nvSpPr>
          <p:cNvPr id="1008" name="sh1008"/>
          <p:cNvSpPr/>
          <p:nvPr/>
        </p:nvSpPr>
        <p:spPr>
          <a:xfrm>
            <a:off x="7620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Calidad, trazabilidad, temporalidad y eficiencia quedan ligadas a métricas concretas y a un experimento.</a:t>
            </a:r>
          </a:p>
        </p:txBody>
      </p:sp>
      <p:sp>
        <p:nvSpPr>
          <p:cNvPr id="1009" name="sh1009"/>
          <p:cNvSpPr/>
          <p:nvPr/>
        </p:nvSpPr>
        <p:spPr>
          <a:xfrm>
            <a:off x="762000" y="4724400"/>
            <a:ext cx="1930400" cy="9525"/>
          </a:xfrm>
          <a:prstGeom prst="rect">
            <a:avLst/>
          </a:prstGeom>
          <a:solidFill>
            <a:srgbClr val="D8E2EC"/>
          </a:solidFill>
          <a:ln>
            <a:noFill/>
          </a:ln>
        </p:spPr>
        <p:txBody>
          <a:bodyPr/>
          <a:lstStyle/>
          <a:p>
            <a:endParaRPr lang="es-CL"/>
          </a:p>
        </p:txBody>
      </p:sp>
      <p:sp>
        <p:nvSpPr>
          <p:cNvPr id="1010" name="sh1010"/>
          <p:cNvSpPr/>
          <p:nvPr/>
        </p:nvSpPr>
        <p:spPr>
          <a:xfrm>
            <a:off x="7620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OPERACIONALIZADA</a:t>
            </a:r>
          </a:p>
        </p:txBody>
      </p:sp>
      <p:sp>
        <p:nvSpPr>
          <p:cNvPr id="1011" name="sh1011"/>
          <p:cNvSpPr/>
          <p:nvPr/>
        </p:nvSpPr>
        <p:spPr>
          <a:xfrm>
            <a:off x="2946400" y="2108200"/>
            <a:ext cx="1930400" cy="38100"/>
          </a:xfrm>
          <a:prstGeom prst="rect">
            <a:avLst/>
          </a:prstGeom>
          <a:solidFill>
            <a:srgbClr val="17508B"/>
          </a:solidFill>
          <a:ln>
            <a:noFill/>
          </a:ln>
        </p:spPr>
        <p:txBody>
          <a:bodyPr/>
          <a:lstStyle/>
          <a:p>
            <a:endParaRPr lang="es-CL"/>
          </a:p>
        </p:txBody>
      </p:sp>
      <p:sp>
        <p:nvSpPr>
          <p:cNvPr id="1012" name="sh1012"/>
          <p:cNvSpPr/>
          <p:nvPr/>
        </p:nvSpPr>
        <p:spPr>
          <a:xfrm>
            <a:off x="29464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17508B"/>
                </a:solidFill>
              </a:rPr>
              <a:t>02</a:t>
            </a:r>
          </a:p>
        </p:txBody>
      </p:sp>
      <p:sp>
        <p:nvSpPr>
          <p:cNvPr id="1013" name="sh1013"/>
          <p:cNvSpPr/>
          <p:nvPr/>
        </p:nvSpPr>
        <p:spPr>
          <a:xfrm>
            <a:off x="29464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UNIDAD DE ANÁLISIS</a:t>
            </a:r>
          </a:p>
        </p:txBody>
      </p:sp>
      <p:sp>
        <p:nvSpPr>
          <p:cNvPr id="1014" name="sh1014"/>
          <p:cNvSpPr/>
          <p:nvPr/>
        </p:nvSpPr>
        <p:spPr>
          <a:xfrm>
            <a:off x="29464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Se distinguen unidad de anotación, de recuperación y de comparación, más una estructura de dependencia estadística.</a:t>
            </a:r>
          </a:p>
        </p:txBody>
      </p:sp>
      <p:sp>
        <p:nvSpPr>
          <p:cNvPr id="1015" name="sh1015"/>
          <p:cNvSpPr/>
          <p:nvPr/>
        </p:nvSpPr>
        <p:spPr>
          <a:xfrm>
            <a:off x="2946400" y="4724400"/>
            <a:ext cx="1930400" cy="9525"/>
          </a:xfrm>
          <a:prstGeom prst="rect">
            <a:avLst/>
          </a:prstGeom>
          <a:solidFill>
            <a:srgbClr val="D8E2EC"/>
          </a:solidFill>
          <a:ln>
            <a:noFill/>
          </a:ln>
        </p:spPr>
        <p:txBody>
          <a:bodyPr/>
          <a:lstStyle/>
          <a:p>
            <a:endParaRPr lang="es-CL"/>
          </a:p>
        </p:txBody>
      </p:sp>
      <p:sp>
        <p:nvSpPr>
          <p:cNvPr id="1016" name="sh1016"/>
          <p:cNvSpPr/>
          <p:nvPr/>
        </p:nvSpPr>
        <p:spPr>
          <a:xfrm>
            <a:off x="29464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OPERACIONALIZADA</a:t>
            </a:r>
          </a:p>
        </p:txBody>
      </p:sp>
      <p:sp>
        <p:nvSpPr>
          <p:cNvPr id="1017" name="sh1017"/>
          <p:cNvSpPr/>
          <p:nvPr/>
        </p:nvSpPr>
        <p:spPr>
          <a:xfrm>
            <a:off x="5130800" y="2108200"/>
            <a:ext cx="1930400" cy="38100"/>
          </a:xfrm>
          <a:prstGeom prst="rect">
            <a:avLst/>
          </a:prstGeom>
          <a:solidFill>
            <a:srgbClr val="1D5C9E"/>
          </a:solidFill>
          <a:ln>
            <a:noFill/>
          </a:ln>
        </p:spPr>
        <p:txBody>
          <a:bodyPr/>
          <a:lstStyle/>
          <a:p>
            <a:endParaRPr lang="es-CL"/>
          </a:p>
        </p:txBody>
      </p:sp>
      <p:sp>
        <p:nvSpPr>
          <p:cNvPr id="1018" name="sh1018"/>
          <p:cNvSpPr/>
          <p:nvPr/>
        </p:nvSpPr>
        <p:spPr>
          <a:xfrm>
            <a:off x="51308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1D5C9E"/>
                </a:solidFill>
              </a:rPr>
              <a:t>03</a:t>
            </a:r>
          </a:p>
        </p:txBody>
      </p:sp>
      <p:sp>
        <p:nvSpPr>
          <p:cNvPr id="1019" name="sh1019"/>
          <p:cNvSpPr/>
          <p:nvPr/>
        </p:nvSpPr>
        <p:spPr>
          <a:xfrm>
            <a:off x="51308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QUÉ CUENTA COMO DECISIÓN</a:t>
            </a:r>
          </a:p>
        </p:txBody>
      </p:sp>
      <p:sp>
        <p:nvSpPr>
          <p:cNvPr id="1020" name="sh1020"/>
          <p:cNvSpPr/>
          <p:nvPr/>
        </p:nvSpPr>
        <p:spPr>
          <a:xfrm>
            <a:off x="51308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Definición operacional del estudio, con criterios de inclusión, exclusión y manual de anotación.</a:t>
            </a:r>
          </a:p>
        </p:txBody>
      </p:sp>
      <p:sp>
        <p:nvSpPr>
          <p:cNvPr id="1021" name="sh1021"/>
          <p:cNvSpPr/>
          <p:nvPr/>
        </p:nvSpPr>
        <p:spPr>
          <a:xfrm>
            <a:off x="5130800" y="4724400"/>
            <a:ext cx="1930400" cy="9525"/>
          </a:xfrm>
          <a:prstGeom prst="rect">
            <a:avLst/>
          </a:prstGeom>
          <a:solidFill>
            <a:srgbClr val="D8E2EC"/>
          </a:solidFill>
          <a:ln>
            <a:noFill/>
          </a:ln>
        </p:spPr>
        <p:txBody>
          <a:bodyPr/>
          <a:lstStyle/>
          <a:p>
            <a:endParaRPr lang="es-CL"/>
          </a:p>
        </p:txBody>
      </p:sp>
      <p:sp>
        <p:nvSpPr>
          <p:cNvPr id="1022" name="sh1022"/>
          <p:cNvSpPr/>
          <p:nvPr/>
        </p:nvSpPr>
        <p:spPr>
          <a:xfrm>
            <a:off x="51308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OPERACIONALIZADA</a:t>
            </a:r>
          </a:p>
        </p:txBody>
      </p:sp>
      <p:sp>
        <p:nvSpPr>
          <p:cNvPr id="1023" name="sh1023"/>
          <p:cNvSpPr/>
          <p:nvPr/>
        </p:nvSpPr>
        <p:spPr>
          <a:xfrm>
            <a:off x="7315200" y="2108200"/>
            <a:ext cx="1930400" cy="38100"/>
          </a:xfrm>
          <a:prstGeom prst="rect">
            <a:avLst/>
          </a:prstGeom>
          <a:solidFill>
            <a:srgbClr val="2A86B8"/>
          </a:solidFill>
          <a:ln>
            <a:noFill/>
          </a:ln>
        </p:spPr>
        <p:txBody>
          <a:bodyPr/>
          <a:lstStyle/>
          <a:p>
            <a:endParaRPr lang="es-CL"/>
          </a:p>
        </p:txBody>
      </p:sp>
      <p:sp>
        <p:nvSpPr>
          <p:cNvPr id="1024" name="sh1024"/>
          <p:cNvSpPr/>
          <p:nvPr/>
        </p:nvSpPr>
        <p:spPr>
          <a:xfrm>
            <a:off x="73152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2A86B8"/>
                </a:solidFill>
              </a:rPr>
              <a:t>04</a:t>
            </a:r>
          </a:p>
        </p:txBody>
      </p:sp>
      <p:sp>
        <p:nvSpPr>
          <p:cNvPr id="1025" name="sh1025"/>
          <p:cNvSpPr/>
          <p:nvPr/>
        </p:nvSpPr>
        <p:spPr>
          <a:xfrm>
            <a:off x="73152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DECISIONES QUE EVOLUCIONAN</a:t>
            </a:r>
          </a:p>
        </p:txBody>
      </p:sp>
      <p:sp>
        <p:nvSpPr>
          <p:cNvPr id="1026" name="sh1026"/>
          <p:cNvSpPr/>
          <p:nvPr/>
        </p:nvSpPr>
        <p:spPr>
          <a:xfrm>
            <a:off x="73152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Identidad persistente decision_id más secuencia de eventos entre reuniones, sin fragmentar la decisión.</a:t>
            </a:r>
          </a:p>
        </p:txBody>
      </p:sp>
      <p:sp>
        <p:nvSpPr>
          <p:cNvPr id="1027" name="sh1027"/>
          <p:cNvSpPr/>
          <p:nvPr/>
        </p:nvSpPr>
        <p:spPr>
          <a:xfrm>
            <a:off x="7315200" y="4724400"/>
            <a:ext cx="1930400" cy="9525"/>
          </a:xfrm>
          <a:prstGeom prst="rect">
            <a:avLst/>
          </a:prstGeom>
          <a:solidFill>
            <a:srgbClr val="D8E2EC"/>
          </a:solidFill>
          <a:ln>
            <a:noFill/>
          </a:ln>
        </p:spPr>
        <p:txBody>
          <a:bodyPr/>
          <a:lstStyle/>
          <a:p>
            <a:endParaRPr lang="es-CL"/>
          </a:p>
        </p:txBody>
      </p:sp>
      <p:sp>
        <p:nvSpPr>
          <p:cNvPr id="1028" name="sh1028"/>
          <p:cNvSpPr/>
          <p:nvPr/>
        </p:nvSpPr>
        <p:spPr>
          <a:xfrm>
            <a:off x="73152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OPERACIONALIZADA</a:t>
            </a:r>
          </a:p>
        </p:txBody>
      </p:sp>
      <p:sp>
        <p:nvSpPr>
          <p:cNvPr id="1029" name="sh1029"/>
          <p:cNvSpPr/>
          <p:nvPr/>
        </p:nvSpPr>
        <p:spPr>
          <a:xfrm>
            <a:off x="9499600" y="2108200"/>
            <a:ext cx="1930400" cy="38100"/>
          </a:xfrm>
          <a:prstGeom prst="rect">
            <a:avLst/>
          </a:prstGeom>
          <a:solidFill>
            <a:srgbClr val="0E9BB5"/>
          </a:solidFill>
          <a:ln>
            <a:noFill/>
          </a:ln>
        </p:spPr>
        <p:txBody>
          <a:bodyPr/>
          <a:lstStyle/>
          <a:p>
            <a:endParaRPr lang="es-CL"/>
          </a:p>
        </p:txBody>
      </p:sp>
      <p:sp>
        <p:nvSpPr>
          <p:cNvPr id="1030" name="sh1030"/>
          <p:cNvSpPr/>
          <p:nvPr/>
        </p:nvSpPr>
        <p:spPr>
          <a:xfrm>
            <a:off x="9499600" y="2260600"/>
            <a:ext cx="1930400" cy="330200"/>
          </a:xfrm>
          <a:prstGeom prst="rect">
            <a:avLst/>
          </a:prstGeom>
          <a:noFill/>
          <a:ln>
            <a:noFill/>
          </a:ln>
        </p:spPr>
        <p:txBody>
          <a:bodyPr wrap="square" lIns="0" tIns="0" rIns="0" bIns="0" anchor="t">
            <a:noAutofit/>
          </a:bodyPr>
          <a:lstStyle/>
          <a:p>
            <a:pPr algn="l">
              <a:lnSpc>
                <a:spcPct val="100000"/>
              </a:lnSpc>
              <a:buNone/>
            </a:pPr>
            <a:r>
              <a:rPr lang="es-CL" sz="2000" b="1" spc="0" dirty="0">
                <a:solidFill>
                  <a:srgbClr val="0E9BB5"/>
                </a:solidFill>
              </a:rPr>
              <a:t>05</a:t>
            </a:r>
          </a:p>
        </p:txBody>
      </p:sp>
      <p:sp>
        <p:nvSpPr>
          <p:cNvPr id="1031" name="sh1031"/>
          <p:cNvSpPr/>
          <p:nvPr/>
        </p:nvSpPr>
        <p:spPr>
          <a:xfrm>
            <a:off x="9499600" y="2692400"/>
            <a:ext cx="1930400" cy="558800"/>
          </a:xfrm>
          <a:prstGeom prst="rect">
            <a:avLst/>
          </a:prstGeom>
          <a:noFill/>
          <a:ln>
            <a:noFill/>
          </a:ln>
        </p:spPr>
        <p:txBody>
          <a:bodyPr wrap="square" lIns="0" tIns="0" rIns="0" bIns="0" anchor="t">
            <a:noAutofit/>
          </a:bodyPr>
          <a:lstStyle/>
          <a:p>
            <a:pPr algn="l">
              <a:lnSpc>
                <a:spcPct val="105000"/>
              </a:lnSpc>
              <a:buNone/>
            </a:pPr>
            <a:r>
              <a:rPr lang="es-CL" sz="1450" b="1" spc="0" dirty="0">
                <a:solidFill>
                  <a:srgbClr val="0A1524"/>
                </a:solidFill>
              </a:rPr>
              <a:t>UNA O N REUNIONES</a:t>
            </a:r>
          </a:p>
        </p:txBody>
      </p:sp>
      <p:sp>
        <p:nvSpPr>
          <p:cNvPr id="1032" name="sh1032"/>
          <p:cNvSpPr/>
          <p:nvPr/>
        </p:nvSpPr>
        <p:spPr>
          <a:xfrm>
            <a:off x="9499600" y="3327400"/>
            <a:ext cx="1930400" cy="1219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4A5F78"/>
                </a:solidFill>
              </a:rPr>
              <a:t>La regla de profundidad histórica se preespecifica. El valor o los niveles de N se determinan empíricamente y se congelan antes del Experimento B.</a:t>
            </a:r>
          </a:p>
        </p:txBody>
      </p:sp>
      <p:sp>
        <p:nvSpPr>
          <p:cNvPr id="1033" name="sh1033"/>
          <p:cNvSpPr/>
          <p:nvPr/>
        </p:nvSpPr>
        <p:spPr>
          <a:xfrm>
            <a:off x="9499600" y="4724400"/>
            <a:ext cx="1930400" cy="9525"/>
          </a:xfrm>
          <a:prstGeom prst="rect">
            <a:avLst/>
          </a:prstGeom>
          <a:solidFill>
            <a:srgbClr val="D8E2EC"/>
          </a:solidFill>
          <a:ln>
            <a:noFill/>
          </a:ln>
        </p:spPr>
        <p:txBody>
          <a:bodyPr/>
          <a:lstStyle/>
          <a:p>
            <a:endParaRPr lang="es-CL"/>
          </a:p>
        </p:txBody>
      </p:sp>
      <p:sp>
        <p:nvSpPr>
          <p:cNvPr id="1034" name="sh1034"/>
          <p:cNvSpPr/>
          <p:nvPr/>
        </p:nvSpPr>
        <p:spPr>
          <a:xfrm>
            <a:off x="9499600" y="4851400"/>
            <a:ext cx="1930400" cy="177800"/>
          </a:xfrm>
          <a:prstGeom prst="rect">
            <a:avLst/>
          </a:prstGeom>
          <a:noFill/>
          <a:ln>
            <a:noFill/>
          </a:ln>
        </p:spPr>
        <p:txBody>
          <a:bodyPr wrap="square" lIns="0" tIns="0" rIns="0" bIns="0" anchor="ctr">
            <a:noAutofit/>
          </a:bodyPr>
          <a:lstStyle/>
          <a:p>
            <a:pPr algn="l">
              <a:lnSpc>
                <a:spcPct val="100000"/>
              </a:lnSpc>
              <a:buNone/>
            </a:pPr>
            <a:r>
              <a:rPr lang="es-CL" sz="900" b="0" spc="100" dirty="0">
                <a:solidFill>
                  <a:srgbClr val="9FB3C8"/>
                </a:solidFill>
              </a:rPr>
              <a:t>OPERACIONALIZADA · REGLA DE N</a:t>
            </a:r>
          </a:p>
        </p:txBody>
      </p:sp>
      <p:sp>
        <p:nvSpPr>
          <p:cNvPr id="1035" name="sh1035"/>
          <p:cNvSpPr/>
          <p:nvPr/>
        </p:nvSpPr>
        <p:spPr>
          <a:xfrm>
            <a:off x="762000" y="5384800"/>
            <a:ext cx="38100" cy="685800"/>
          </a:xfrm>
          <a:prstGeom prst="rect">
            <a:avLst/>
          </a:prstGeom>
          <a:solidFill>
            <a:srgbClr val="2ED3E8"/>
          </a:solidFill>
          <a:ln>
            <a:noFill/>
          </a:ln>
        </p:spPr>
        <p:txBody>
          <a:bodyPr/>
          <a:lstStyle/>
          <a:p>
            <a:endParaRPr lang="es-CL"/>
          </a:p>
        </p:txBody>
      </p:sp>
      <p:sp>
        <p:nvSpPr>
          <p:cNvPr id="1036" name="sh1036"/>
          <p:cNvSpPr/>
          <p:nvPr/>
        </p:nvSpPr>
        <p:spPr>
          <a:xfrm>
            <a:off x="990600" y="5384800"/>
            <a:ext cx="9398000" cy="685800"/>
          </a:xfrm>
          <a:prstGeom prst="rect">
            <a:avLst/>
          </a:prstGeom>
          <a:noFill/>
          <a:ln>
            <a:noFill/>
          </a:ln>
        </p:spPr>
        <p:txBody>
          <a:bodyPr wrap="square" lIns="0" tIns="0" rIns="0" bIns="0" anchor="ctr">
            <a:noAutofit/>
          </a:bodyPr>
          <a:lstStyle/>
          <a:p>
            <a:pPr algn="l">
              <a:lnSpc>
                <a:spcPct val="120000"/>
              </a:lnSpc>
              <a:buNone/>
            </a:pPr>
            <a:r>
              <a:rPr lang="es-CL" sz="1500" b="1" spc="0" dirty="0">
                <a:solidFill>
                  <a:srgbClr val="12406E"/>
                </a:solidFill>
              </a:rPr>
              <a:t>Cada observación cuenta ahora con una respuesta metodológica explícita; los parámetros pendientes se congelan antes del experimento correspondiente y los niveles de N, antes del Experimento B.</a:t>
            </a:r>
          </a:p>
        </p:txBody>
      </p:sp>
      <p:sp>
        <p:nvSpPr>
          <p:cNvPr id="1037" name="sh1037"/>
          <p:cNvSpPr/>
          <p:nvPr/>
        </p:nvSpPr>
        <p:spPr>
          <a:xfrm>
            <a:off x="762000" y="6172200"/>
            <a:ext cx="96520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Respuesta metodológica al feedback de Semana 04 · las decisiones se fijan antes de observar el contraste C2 − C1</a:t>
            </a:r>
          </a:p>
        </p:txBody>
      </p:sp>
      <p:pic>
        <p:nvPicPr>
          <p:cNvPr id="1038" name="Graphic 1038" descr="Productividad"/>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2200" y="2260600"/>
            <a:ext cx="330200" cy="330200"/>
          </a:xfrm>
          <a:prstGeom prst="rect">
            <a:avLst/>
          </a:prstGeom>
        </p:spPr>
      </p:pic>
      <p:pic>
        <p:nvPicPr>
          <p:cNvPr id="1039" name="Graphic 1039" descr="Continuidad"/>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6600" y="2260600"/>
            <a:ext cx="330200" cy="330200"/>
          </a:xfrm>
          <a:prstGeom prst="rect">
            <a:avLst/>
          </a:prstGeom>
        </p:spPr>
      </p:pic>
      <p:pic>
        <p:nvPicPr>
          <p:cNvPr id="1040" name="Graphic 1040" descr="Trazabilidad"/>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31000" y="2260600"/>
            <a:ext cx="330200" cy="330200"/>
          </a:xfrm>
          <a:prstGeom prst="rect">
            <a:avLst/>
          </a:prstGeom>
        </p:spPr>
      </p:pic>
      <p:pic>
        <p:nvPicPr>
          <p:cNvPr id="1041" name="Graphic 1041" descr="Calidad y riesgo"/>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5400" y="2260600"/>
            <a:ext cx="330200" cy="330200"/>
          </a:xfrm>
          <a:prstGeom prst="rect">
            <a:avLst/>
          </a:prstGeom>
        </p:spPr>
      </p:pic>
      <p:pic>
        <p:nvPicPr>
          <p:cNvPr id="1042" name="Graphic 1042" descr="Economía"/>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099800" y="2260600"/>
            <a:ext cx="330200" cy="330200"/>
          </a:xfrm>
          <a:prstGeom prst="rect">
            <a:avLst/>
          </a:prstGeom>
        </p:spPr>
      </p:pic>
    </p:spTree>
    <p:extLst>
      <p:ext uri="{BB962C8B-B14F-4D97-AF65-F5344CB8AC3E}">
        <p14:creationId xmlns:p14="http://schemas.microsoft.com/office/powerpoint/2010/main" val="3052285833"/>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DEFINICIÓN OPERACIONAL · UNIDAD DE CONOCIMIENTO DECISIONAL</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400" b="1" spc="0" dirty="0">
                <a:solidFill>
                  <a:srgbClr val="12406E"/>
                </a:solidFill>
              </a:rPr>
              <a:t>¿Qué cuenta como una decisión?</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[ 13 ]</a:t>
            </a:r>
          </a:p>
        </p:txBody>
      </p:sp>
      <p:sp>
        <p:nvSpPr>
          <p:cNvPr id="1005" name="sh1005"/>
          <p:cNvSpPr/>
          <p:nvPr/>
        </p:nvSpPr>
        <p:spPr>
          <a:xfrm>
            <a:off x="762000" y="1930400"/>
            <a:ext cx="3429000" cy="38100"/>
          </a:xfrm>
          <a:prstGeom prst="rect">
            <a:avLst/>
          </a:prstGeom>
          <a:solidFill>
            <a:srgbClr val="12406E"/>
          </a:solidFill>
          <a:ln>
            <a:noFill/>
          </a:ln>
        </p:spPr>
        <p:txBody>
          <a:bodyPr/>
          <a:lstStyle/>
          <a:p>
            <a:endParaRPr lang="es-CL"/>
          </a:p>
        </p:txBody>
      </p:sp>
      <p:sp>
        <p:nvSpPr>
          <p:cNvPr id="1006" name="sh1006"/>
          <p:cNvSpPr/>
          <p:nvPr/>
        </p:nvSpPr>
        <p:spPr>
          <a:xfrm>
            <a:off x="762000" y="2082800"/>
            <a:ext cx="3429000" cy="279400"/>
          </a:xfrm>
          <a:prstGeom prst="rect">
            <a:avLst/>
          </a:prstGeom>
          <a:noFill/>
          <a:ln>
            <a:noFill/>
          </a:ln>
        </p:spPr>
        <p:txBody>
          <a:bodyPr wrap="square" lIns="0" tIns="0" rIns="0" bIns="0" anchor="ctr">
            <a:noAutofit/>
          </a:bodyPr>
          <a:lstStyle/>
          <a:p>
            <a:pPr algn="l">
              <a:lnSpc>
                <a:spcPct val="100000"/>
              </a:lnSpc>
              <a:buNone/>
            </a:pPr>
            <a:r>
              <a:rPr lang="es-CL" sz="1700" b="1" spc="20" dirty="0">
                <a:solidFill>
                  <a:srgbClr val="12406E"/>
                </a:solidFill>
              </a:rPr>
              <a:t>NO BASTA POR SÍ SOLO</a:t>
            </a:r>
          </a:p>
        </p:txBody>
      </p:sp>
      <p:sp>
        <p:nvSpPr>
          <p:cNvPr id="1007" name="sh1007"/>
          <p:cNvSpPr/>
          <p:nvPr/>
        </p:nvSpPr>
        <p:spPr>
          <a:xfrm>
            <a:off x="762000" y="2413000"/>
            <a:ext cx="34290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5A7290"/>
                </a:solidFill>
              </a:rPr>
              <a:t>¿Qué no constituye decisión?</a:t>
            </a:r>
          </a:p>
        </p:txBody>
      </p:sp>
      <p:sp>
        <p:nvSpPr>
          <p:cNvPr id="1008" name="sh1008"/>
          <p:cNvSpPr/>
          <p:nvPr/>
        </p:nvSpPr>
        <p:spPr>
          <a:xfrm>
            <a:off x="762000" y="29972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PROPUESTA · ALTERNATIVA</a:t>
            </a:r>
          </a:p>
        </p:txBody>
      </p:sp>
      <p:sp>
        <p:nvSpPr>
          <p:cNvPr id="1009" name="sh1009"/>
          <p:cNvSpPr/>
          <p:nvPr/>
        </p:nvSpPr>
        <p:spPr>
          <a:xfrm>
            <a:off x="2476500" y="3429000"/>
            <a:ext cx="0" cy="127000"/>
          </a:xfrm>
          <a:prstGeom prst="line">
            <a:avLst/>
          </a:prstGeom>
          <a:noFill/>
          <a:ln w="15875">
            <a:solidFill>
              <a:srgbClr val="12406E"/>
            </a:solidFill>
            <a:tailEnd type="triangle" w="med" len="med"/>
          </a:ln>
        </p:spPr>
        <p:txBody>
          <a:bodyPr/>
          <a:lstStyle/>
          <a:p>
            <a:endParaRPr lang="es-CL"/>
          </a:p>
        </p:txBody>
      </p:sp>
      <p:sp>
        <p:nvSpPr>
          <p:cNvPr id="1010" name="sh1010"/>
          <p:cNvSpPr/>
          <p:nvPr/>
        </p:nvSpPr>
        <p:spPr>
          <a:xfrm>
            <a:off x="762000" y="35560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OPINIÓN · INTENCIÓN</a:t>
            </a:r>
          </a:p>
        </p:txBody>
      </p:sp>
      <p:sp>
        <p:nvSpPr>
          <p:cNvPr id="1011" name="sh1011"/>
          <p:cNvSpPr/>
          <p:nvPr/>
        </p:nvSpPr>
        <p:spPr>
          <a:xfrm>
            <a:off x="2476500" y="3987800"/>
            <a:ext cx="0" cy="127000"/>
          </a:xfrm>
          <a:prstGeom prst="line">
            <a:avLst/>
          </a:prstGeom>
          <a:noFill/>
          <a:ln w="15875">
            <a:solidFill>
              <a:srgbClr val="12406E"/>
            </a:solidFill>
            <a:tailEnd type="triangle" w="med" len="med"/>
          </a:ln>
        </p:spPr>
        <p:txBody>
          <a:bodyPr/>
          <a:lstStyle/>
          <a:p>
            <a:endParaRPr lang="es-CL"/>
          </a:p>
        </p:txBody>
      </p:sp>
      <p:sp>
        <p:nvSpPr>
          <p:cNvPr id="1012" name="sh1012"/>
          <p:cNvSpPr/>
          <p:nvPr/>
        </p:nvSpPr>
        <p:spPr>
          <a:xfrm>
            <a:off x="762000" y="41148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PREGUNTA · SUGERENCIA</a:t>
            </a:r>
          </a:p>
        </p:txBody>
      </p:sp>
      <p:sp>
        <p:nvSpPr>
          <p:cNvPr id="1013" name="sh1013"/>
          <p:cNvSpPr/>
          <p:nvPr/>
        </p:nvSpPr>
        <p:spPr>
          <a:xfrm>
            <a:off x="2476500" y="4546600"/>
            <a:ext cx="0" cy="127000"/>
          </a:xfrm>
          <a:prstGeom prst="line">
            <a:avLst/>
          </a:prstGeom>
          <a:noFill/>
          <a:ln w="15875">
            <a:solidFill>
              <a:srgbClr val="12406E"/>
            </a:solidFill>
            <a:tailEnd type="triangle" w="med" len="med"/>
          </a:ln>
        </p:spPr>
        <p:txBody>
          <a:bodyPr/>
          <a:lstStyle/>
          <a:p>
            <a:endParaRPr lang="es-CL"/>
          </a:p>
        </p:txBody>
      </p:sp>
      <p:sp>
        <p:nvSpPr>
          <p:cNvPr id="1014" name="sh1014"/>
          <p:cNvSpPr/>
          <p:nvPr/>
        </p:nvSpPr>
        <p:spPr>
          <a:xfrm>
            <a:off x="762000" y="4673600"/>
            <a:ext cx="3429000" cy="431800"/>
          </a:xfrm>
          <a:prstGeom prst="rect">
            <a:avLst/>
          </a:prstGeom>
          <a:solidFill>
            <a:srgbClr val="12406E"/>
          </a:solidFill>
          <a:ln>
            <a:noFill/>
          </a:ln>
        </p:spPr>
        <p:txBody>
          <a:bodyPr wrap="square" lIns="0" tIns="0" rIns="0" bIns="0" anchor="ctr">
            <a:noAutofit/>
          </a:bodyPr>
          <a:lstStyle/>
          <a:p>
            <a:pPr algn="ctr">
              <a:lnSpc>
                <a:spcPct val="100000"/>
              </a:lnSpc>
              <a:buNone/>
            </a:pPr>
            <a:r>
              <a:rPr lang="es-CL" sz="1300" b="1" spc="0" dirty="0">
                <a:solidFill>
                  <a:srgbClr val="FFFFFF"/>
                </a:solidFill>
              </a:rPr>
              <a:t>POSIBILIDAD DISCUTIDA</a:t>
            </a:r>
          </a:p>
        </p:txBody>
      </p:sp>
      <p:sp>
        <p:nvSpPr>
          <p:cNvPr id="1015" name="sh1015"/>
          <p:cNvSpPr/>
          <p:nvPr/>
        </p:nvSpPr>
        <p:spPr>
          <a:xfrm>
            <a:off x="762000" y="5511800"/>
            <a:ext cx="3429000" cy="304800"/>
          </a:xfrm>
          <a:prstGeom prst="rect">
            <a:avLst/>
          </a:prstGeom>
          <a:noFill/>
          <a:ln>
            <a:noFill/>
          </a:ln>
        </p:spPr>
        <p:txBody>
          <a:bodyPr wrap="square" lIns="0" tIns="0" rIns="0" bIns="0" anchor="t">
            <a:noAutofit/>
          </a:bodyPr>
          <a:lstStyle/>
          <a:p>
            <a:pPr algn="l">
              <a:lnSpc>
                <a:spcPct val="120000"/>
              </a:lnSpc>
              <a:buNone/>
            </a:pPr>
            <a:r>
              <a:rPr lang="es-CL" sz="1150" b="0" spc="0" dirty="0">
                <a:solidFill>
                  <a:srgbClr val="4A5F78"/>
                </a:solidFill>
              </a:rPr>
              <a:t>Una propuesta puede no cerrarse nunca.</a:t>
            </a:r>
          </a:p>
        </p:txBody>
      </p:sp>
      <p:sp>
        <p:nvSpPr>
          <p:cNvPr id="1016" name="sh1016"/>
          <p:cNvSpPr/>
          <p:nvPr/>
        </p:nvSpPr>
        <p:spPr>
          <a:xfrm>
            <a:off x="4381500" y="1930400"/>
            <a:ext cx="3429000" cy="38100"/>
          </a:xfrm>
          <a:prstGeom prst="rect">
            <a:avLst/>
          </a:prstGeom>
          <a:solidFill>
            <a:srgbClr val="1D5C9E"/>
          </a:solidFill>
          <a:ln>
            <a:noFill/>
          </a:ln>
        </p:spPr>
        <p:txBody>
          <a:bodyPr/>
          <a:lstStyle/>
          <a:p>
            <a:endParaRPr lang="es-CL"/>
          </a:p>
        </p:txBody>
      </p:sp>
      <p:sp>
        <p:nvSpPr>
          <p:cNvPr id="1017" name="sh1017"/>
          <p:cNvSpPr/>
          <p:nvPr/>
        </p:nvSpPr>
        <p:spPr>
          <a:xfrm>
            <a:off x="4381500" y="2082800"/>
            <a:ext cx="3429000" cy="279400"/>
          </a:xfrm>
          <a:prstGeom prst="rect">
            <a:avLst/>
          </a:prstGeom>
          <a:noFill/>
          <a:ln>
            <a:noFill/>
          </a:ln>
        </p:spPr>
        <p:txBody>
          <a:bodyPr wrap="square" lIns="0" tIns="0" rIns="0" bIns="0" anchor="ctr">
            <a:noAutofit/>
          </a:bodyPr>
          <a:lstStyle/>
          <a:p>
            <a:pPr algn="l">
              <a:lnSpc>
                <a:spcPct val="100000"/>
              </a:lnSpc>
              <a:buNone/>
            </a:pPr>
            <a:r>
              <a:rPr lang="es-CL" sz="1700" b="1" spc="20" dirty="0">
                <a:solidFill>
                  <a:srgbClr val="1D5C9E"/>
                </a:solidFill>
              </a:rPr>
              <a:t>PUEDE CONSTITUIR DECISIÓN</a:t>
            </a:r>
          </a:p>
        </p:txBody>
      </p:sp>
      <p:sp>
        <p:nvSpPr>
          <p:cNvPr id="1018" name="sh1018"/>
          <p:cNvSpPr/>
          <p:nvPr/>
        </p:nvSpPr>
        <p:spPr>
          <a:xfrm>
            <a:off x="4381500" y="2413000"/>
            <a:ext cx="34290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5A7290"/>
                </a:solidFill>
              </a:rPr>
              <a:t>¿Qué sí califica?</a:t>
            </a:r>
          </a:p>
        </p:txBody>
      </p:sp>
      <p:sp>
        <p:nvSpPr>
          <p:cNvPr id="1019" name="sh1019"/>
          <p:cNvSpPr/>
          <p:nvPr/>
        </p:nvSpPr>
        <p:spPr>
          <a:xfrm>
            <a:off x="4381500" y="29972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ACUERDO EXPLÍCITO</a:t>
            </a:r>
          </a:p>
        </p:txBody>
      </p:sp>
      <p:sp>
        <p:nvSpPr>
          <p:cNvPr id="1020" name="sh1020"/>
          <p:cNvSpPr/>
          <p:nvPr/>
        </p:nvSpPr>
        <p:spPr>
          <a:xfrm>
            <a:off x="6096000" y="3429000"/>
            <a:ext cx="0" cy="127000"/>
          </a:xfrm>
          <a:prstGeom prst="line">
            <a:avLst/>
          </a:prstGeom>
          <a:noFill/>
          <a:ln w="15875">
            <a:solidFill>
              <a:srgbClr val="1D5C9E"/>
            </a:solidFill>
            <a:tailEnd type="triangle" w="med" len="med"/>
          </a:ln>
        </p:spPr>
        <p:txBody>
          <a:bodyPr/>
          <a:lstStyle/>
          <a:p>
            <a:endParaRPr lang="es-CL"/>
          </a:p>
        </p:txBody>
      </p:sp>
      <p:sp>
        <p:nvSpPr>
          <p:cNvPr id="1021" name="sh1021"/>
          <p:cNvSpPr/>
          <p:nvPr/>
        </p:nvSpPr>
        <p:spPr>
          <a:xfrm>
            <a:off x="4381500" y="35560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SELECCIÓN ENTRE OPCIONES</a:t>
            </a:r>
          </a:p>
        </p:txBody>
      </p:sp>
      <p:sp>
        <p:nvSpPr>
          <p:cNvPr id="1022" name="sh1022"/>
          <p:cNvSpPr/>
          <p:nvPr/>
        </p:nvSpPr>
        <p:spPr>
          <a:xfrm>
            <a:off x="6096000" y="3987800"/>
            <a:ext cx="0" cy="127000"/>
          </a:xfrm>
          <a:prstGeom prst="line">
            <a:avLst/>
          </a:prstGeom>
          <a:noFill/>
          <a:ln w="15875">
            <a:solidFill>
              <a:srgbClr val="1D5C9E"/>
            </a:solidFill>
            <a:tailEnd type="triangle" w="med" len="med"/>
          </a:ln>
        </p:spPr>
        <p:txBody>
          <a:bodyPr/>
          <a:lstStyle/>
          <a:p>
            <a:endParaRPr lang="es-CL"/>
          </a:p>
        </p:txBody>
      </p:sp>
      <p:sp>
        <p:nvSpPr>
          <p:cNvPr id="1024" name="sh1024"/>
          <p:cNvSpPr/>
          <p:nvPr/>
        </p:nvSpPr>
        <p:spPr>
          <a:xfrm>
            <a:off x="6096000" y="4546600"/>
            <a:ext cx="0" cy="127000"/>
          </a:xfrm>
          <a:prstGeom prst="line">
            <a:avLst/>
          </a:prstGeom>
          <a:noFill/>
          <a:ln w="15875">
            <a:solidFill>
              <a:srgbClr val="1D5C9E"/>
            </a:solidFill>
            <a:tailEnd type="triangle" w="med" len="med"/>
          </a:ln>
        </p:spPr>
        <p:txBody>
          <a:bodyPr/>
          <a:lstStyle/>
          <a:p>
            <a:endParaRPr lang="es-CL"/>
          </a:p>
        </p:txBody>
      </p:sp>
      <p:sp>
        <p:nvSpPr>
          <p:cNvPr id="1025" name="sh1025"/>
          <p:cNvSpPr/>
          <p:nvPr/>
        </p:nvSpPr>
        <p:spPr>
          <a:xfrm>
            <a:off x="4381500" y="41148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COMPROMISO ADOPTADO</a:t>
            </a:r>
          </a:p>
        </p:txBody>
      </p:sp>
      <p:sp>
        <p:nvSpPr>
          <p:cNvPr id="1027" name="sh1027"/>
          <p:cNvSpPr/>
          <p:nvPr/>
        </p:nvSpPr>
        <p:spPr>
          <a:xfrm>
            <a:off x="4381500" y="4673600"/>
            <a:ext cx="3429000" cy="431800"/>
          </a:xfrm>
          <a:prstGeom prst="rect">
            <a:avLst/>
          </a:prstGeom>
          <a:solidFill>
            <a:srgbClr val="1D5C9E"/>
          </a:solidFill>
          <a:ln>
            <a:noFill/>
          </a:ln>
        </p:spPr>
        <p:txBody>
          <a:bodyPr wrap="square" lIns="0" tIns="0" rIns="0" bIns="0" anchor="ctr">
            <a:noAutofit/>
          </a:bodyPr>
          <a:lstStyle/>
          <a:p>
            <a:pPr algn="ctr">
              <a:lnSpc>
                <a:spcPct val="100000"/>
              </a:lnSpc>
              <a:buNone/>
            </a:pPr>
            <a:r>
              <a:rPr lang="es-CL" sz="1300" b="1" spc="0" dirty="0">
                <a:solidFill>
                  <a:srgbClr val="FFFFFF"/>
                </a:solidFill>
              </a:rPr>
              <a:t>CURSO DE ACCIÓN CONFIRMADO</a:t>
            </a:r>
          </a:p>
        </p:txBody>
      </p:sp>
      <p:sp>
        <p:nvSpPr>
          <p:cNvPr id="1028" name="sh1028"/>
          <p:cNvSpPr/>
          <p:nvPr/>
        </p:nvSpPr>
        <p:spPr>
          <a:xfrm>
            <a:off x="4381500" y="5511800"/>
            <a:ext cx="3429000" cy="304800"/>
          </a:xfrm>
          <a:prstGeom prst="rect">
            <a:avLst/>
          </a:prstGeom>
          <a:noFill/>
          <a:ln>
            <a:noFill/>
          </a:ln>
        </p:spPr>
        <p:txBody>
          <a:bodyPr wrap="square" lIns="0" tIns="0" rIns="0" bIns="0" anchor="t">
            <a:noAutofit/>
          </a:bodyPr>
          <a:lstStyle/>
          <a:p>
            <a:pPr algn="l">
              <a:lnSpc>
                <a:spcPct val="120000"/>
              </a:lnSpc>
              <a:buNone/>
            </a:pPr>
            <a:r>
              <a:rPr lang="es-CL" sz="1150" b="0" spc="0" dirty="0">
                <a:solidFill>
                  <a:srgbClr val="4A5F78"/>
                </a:solidFill>
              </a:rPr>
              <a:t>Determinada y con evidencia observable.</a:t>
            </a:r>
          </a:p>
        </p:txBody>
      </p:sp>
      <p:sp>
        <p:nvSpPr>
          <p:cNvPr id="1029" name="sh1029"/>
          <p:cNvSpPr/>
          <p:nvPr/>
        </p:nvSpPr>
        <p:spPr>
          <a:xfrm>
            <a:off x="8001000" y="1930400"/>
            <a:ext cx="3429000" cy="38100"/>
          </a:xfrm>
          <a:prstGeom prst="rect">
            <a:avLst/>
          </a:prstGeom>
          <a:solidFill>
            <a:srgbClr val="0A6D82"/>
          </a:solidFill>
          <a:ln>
            <a:noFill/>
          </a:ln>
        </p:spPr>
        <p:txBody>
          <a:bodyPr/>
          <a:lstStyle/>
          <a:p>
            <a:endParaRPr lang="es-CL"/>
          </a:p>
        </p:txBody>
      </p:sp>
      <p:sp>
        <p:nvSpPr>
          <p:cNvPr id="1030" name="sh1030"/>
          <p:cNvSpPr/>
          <p:nvPr/>
        </p:nvSpPr>
        <p:spPr>
          <a:xfrm>
            <a:off x="8001000" y="2082800"/>
            <a:ext cx="3429000" cy="279400"/>
          </a:xfrm>
          <a:prstGeom prst="rect">
            <a:avLst/>
          </a:prstGeom>
          <a:noFill/>
          <a:ln>
            <a:noFill/>
          </a:ln>
        </p:spPr>
        <p:txBody>
          <a:bodyPr wrap="square" lIns="0" tIns="0" rIns="0" bIns="0" anchor="ctr">
            <a:noAutofit/>
          </a:bodyPr>
          <a:lstStyle/>
          <a:p>
            <a:pPr algn="l">
              <a:lnSpc>
                <a:spcPct val="100000"/>
              </a:lnSpc>
              <a:buNone/>
            </a:pPr>
            <a:r>
              <a:rPr lang="es-CL" sz="1700" b="1" spc="20" dirty="0">
                <a:solidFill>
                  <a:srgbClr val="0A6D82"/>
                </a:solidFill>
              </a:rPr>
              <a:t>ANATOMÍA DE LA UNIDAD</a:t>
            </a:r>
          </a:p>
        </p:txBody>
      </p:sp>
      <p:sp>
        <p:nvSpPr>
          <p:cNvPr id="1031" name="sh1031"/>
          <p:cNvSpPr/>
          <p:nvPr/>
        </p:nvSpPr>
        <p:spPr>
          <a:xfrm>
            <a:off x="8001000" y="2413000"/>
            <a:ext cx="34290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5A7290"/>
                </a:solidFill>
              </a:rPr>
              <a:t>¿Cómo queda registrada?</a:t>
            </a:r>
          </a:p>
        </p:txBody>
      </p:sp>
      <p:sp>
        <p:nvSpPr>
          <p:cNvPr id="1032" name="sh1032"/>
          <p:cNvSpPr/>
          <p:nvPr/>
        </p:nvSpPr>
        <p:spPr>
          <a:xfrm>
            <a:off x="8001000" y="29972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decision_id · statement</a:t>
            </a:r>
          </a:p>
        </p:txBody>
      </p:sp>
      <p:sp>
        <p:nvSpPr>
          <p:cNvPr id="1033" name="sh1033"/>
          <p:cNvSpPr/>
          <p:nvPr/>
        </p:nvSpPr>
        <p:spPr>
          <a:xfrm>
            <a:off x="9715500" y="3429000"/>
            <a:ext cx="0" cy="127000"/>
          </a:xfrm>
          <a:prstGeom prst="line">
            <a:avLst/>
          </a:prstGeom>
          <a:noFill/>
          <a:ln w="15875">
            <a:solidFill>
              <a:srgbClr val="0A6D82"/>
            </a:solidFill>
            <a:tailEnd type="triangle" w="med" len="med"/>
          </a:ln>
        </p:spPr>
        <p:txBody>
          <a:bodyPr/>
          <a:lstStyle/>
          <a:p>
            <a:endParaRPr lang="es-CL"/>
          </a:p>
        </p:txBody>
      </p:sp>
      <p:sp>
        <p:nvSpPr>
          <p:cNvPr id="1034" name="sh1034"/>
          <p:cNvSpPr/>
          <p:nvPr/>
        </p:nvSpPr>
        <p:spPr>
          <a:xfrm>
            <a:off x="8001000" y="35560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evidence · provenance</a:t>
            </a:r>
          </a:p>
        </p:txBody>
      </p:sp>
      <p:sp>
        <p:nvSpPr>
          <p:cNvPr id="1035" name="sh1035"/>
          <p:cNvSpPr/>
          <p:nvPr/>
        </p:nvSpPr>
        <p:spPr>
          <a:xfrm>
            <a:off x="9715500" y="3987800"/>
            <a:ext cx="0" cy="127000"/>
          </a:xfrm>
          <a:prstGeom prst="line">
            <a:avLst/>
          </a:prstGeom>
          <a:noFill/>
          <a:ln w="15875">
            <a:solidFill>
              <a:srgbClr val="0A6D82"/>
            </a:solidFill>
            <a:tailEnd type="triangle" w="med" len="med"/>
          </a:ln>
        </p:spPr>
        <p:txBody>
          <a:bodyPr/>
          <a:lstStyle/>
          <a:p>
            <a:endParaRPr lang="es-CL"/>
          </a:p>
        </p:txBody>
      </p:sp>
      <p:sp>
        <p:nvSpPr>
          <p:cNvPr id="1036" name="sh1036"/>
          <p:cNvSpPr/>
          <p:nvPr/>
        </p:nvSpPr>
        <p:spPr>
          <a:xfrm>
            <a:off x="8001000" y="41148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events · state</a:t>
            </a:r>
          </a:p>
        </p:txBody>
      </p:sp>
      <p:sp>
        <p:nvSpPr>
          <p:cNvPr id="1037" name="sh1037"/>
          <p:cNvSpPr/>
          <p:nvPr/>
        </p:nvSpPr>
        <p:spPr>
          <a:xfrm>
            <a:off x="9715500" y="4546600"/>
            <a:ext cx="0" cy="127000"/>
          </a:xfrm>
          <a:prstGeom prst="line">
            <a:avLst/>
          </a:prstGeom>
          <a:noFill/>
          <a:ln w="15875">
            <a:solidFill>
              <a:srgbClr val="0A6D82"/>
            </a:solidFill>
            <a:tailEnd type="triangle" w="med" len="med"/>
          </a:ln>
        </p:spPr>
        <p:txBody>
          <a:bodyPr/>
          <a:lstStyle/>
          <a:p>
            <a:endParaRPr lang="es-CL"/>
          </a:p>
        </p:txBody>
      </p:sp>
      <p:sp>
        <p:nvSpPr>
          <p:cNvPr id="1038" name="sh1038"/>
          <p:cNvSpPr/>
          <p:nvPr/>
        </p:nvSpPr>
        <p:spPr>
          <a:xfrm>
            <a:off x="8001000" y="4673600"/>
            <a:ext cx="3429000" cy="431800"/>
          </a:xfrm>
          <a:prstGeom prst="rect">
            <a:avLst/>
          </a:prstGeom>
          <a:solidFill>
            <a:srgbClr val="0A6D82"/>
          </a:solidFill>
          <a:ln>
            <a:noFill/>
          </a:ln>
        </p:spPr>
        <p:txBody>
          <a:bodyPr wrap="square" lIns="0" tIns="0" rIns="0" bIns="0" anchor="ctr">
            <a:noAutofit/>
          </a:bodyPr>
          <a:lstStyle/>
          <a:p>
            <a:pPr algn="ctr">
              <a:lnSpc>
                <a:spcPct val="100000"/>
              </a:lnSpc>
              <a:buNone/>
            </a:pPr>
            <a:r>
              <a:rPr lang="es-CL" sz="1300" b="1" spc="0" dirty="0">
                <a:solidFill>
                  <a:srgbClr val="FFFFFF"/>
                </a:solidFill>
              </a:rPr>
              <a:t>relations</a:t>
            </a:r>
          </a:p>
        </p:txBody>
      </p:sp>
      <p:sp>
        <p:nvSpPr>
          <p:cNvPr id="1039" name="sh1039"/>
          <p:cNvSpPr/>
          <p:nvPr/>
        </p:nvSpPr>
        <p:spPr>
          <a:xfrm>
            <a:off x="8001000" y="5511800"/>
            <a:ext cx="3429000" cy="304800"/>
          </a:xfrm>
          <a:prstGeom prst="rect">
            <a:avLst/>
          </a:prstGeom>
          <a:noFill/>
          <a:ln>
            <a:noFill/>
          </a:ln>
        </p:spPr>
        <p:txBody>
          <a:bodyPr wrap="square" lIns="0" tIns="0" rIns="0" bIns="0" anchor="t">
            <a:noAutofit/>
          </a:bodyPr>
          <a:lstStyle/>
          <a:p>
            <a:pPr algn="l">
              <a:lnSpc>
                <a:spcPct val="120000"/>
              </a:lnSpc>
              <a:buNone/>
            </a:pPr>
            <a:r>
              <a:rPr lang="es-CL" sz="1150" b="0" spc="0" dirty="0">
                <a:solidFill>
                  <a:srgbClr val="4A5F78"/>
                </a:solidFill>
              </a:rPr>
              <a:t>Unidad anotable y comparable entre anotadores.</a:t>
            </a:r>
          </a:p>
        </p:txBody>
      </p:sp>
      <p:sp>
        <p:nvSpPr>
          <p:cNvPr id="1040" name="sh1040"/>
          <p:cNvSpPr/>
          <p:nvPr/>
        </p:nvSpPr>
        <p:spPr>
          <a:xfrm>
            <a:off x="762000" y="5867400"/>
            <a:ext cx="38100" cy="279400"/>
          </a:xfrm>
          <a:prstGeom prst="rect">
            <a:avLst/>
          </a:prstGeom>
          <a:solidFill>
            <a:srgbClr val="2ED3E8"/>
          </a:solidFill>
          <a:ln>
            <a:noFill/>
          </a:ln>
        </p:spPr>
        <p:txBody>
          <a:bodyPr/>
          <a:lstStyle/>
          <a:p>
            <a:endParaRPr lang="es-CL"/>
          </a:p>
        </p:txBody>
      </p:sp>
      <p:sp>
        <p:nvSpPr>
          <p:cNvPr id="1041" name="sh1041"/>
          <p:cNvSpPr/>
          <p:nvPr/>
        </p:nvSpPr>
        <p:spPr>
          <a:xfrm>
            <a:off x="990600" y="5867400"/>
            <a:ext cx="10414000" cy="2794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12406E"/>
                </a:solidFill>
              </a:rPr>
              <a:t>Definición operacional del estudio, no universal: depende del contexto y del manual de anotación congelado.</a:t>
            </a:r>
          </a:p>
        </p:txBody>
      </p:sp>
      <p:sp>
        <p:nvSpPr>
          <p:cNvPr id="1042" name="sh1042"/>
          <p:cNvSpPr/>
          <p:nvPr/>
        </p:nvSpPr>
        <p:spPr>
          <a:xfrm>
            <a:off x="762000" y="6197600"/>
            <a:ext cx="9652000" cy="152400"/>
          </a:xfrm>
          <a:prstGeom prst="rect">
            <a:avLst/>
          </a:prstGeom>
          <a:noFill/>
          <a:ln>
            <a:noFill/>
          </a:ln>
        </p:spPr>
        <p:txBody>
          <a:bodyPr wrap="square" lIns="0" tIns="0" rIns="0" bIns="0" anchor="ctr">
            <a:noAutofit/>
          </a:bodyPr>
          <a:lstStyle/>
          <a:p>
            <a:pPr algn="l">
              <a:lnSpc>
                <a:spcPct val="100000"/>
              </a:lnSpc>
              <a:buNone/>
            </a:pPr>
            <a:r>
              <a:rPr lang="es-CL" sz="1000" b="0" spc="0" dirty="0">
                <a:solidFill>
                  <a:srgbClr val="4A5F78"/>
                </a:solidFill>
              </a:rPr>
              <a:t>Manual de anotación con criterios de inclusión, exclusión y ejemplos positivos y negativos del corpus</a:t>
            </a:r>
          </a:p>
        </p:txBody>
      </p:sp>
    </p:spTree>
    <p:extLst>
      <p:ext uri="{BB962C8B-B14F-4D97-AF65-F5344CB8AC3E}">
        <p14:creationId xmlns:p14="http://schemas.microsoft.com/office/powerpoint/2010/main" val="290352822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762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EVOLUCIÓN TEMPORAL · IDENTIDAD PERSISTENTE Y EVENTOS</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600" b="1" spc="0" dirty="0">
                <a:solidFill>
                  <a:srgbClr val="12406E"/>
                </a:solidFill>
              </a:rPr>
              <a:t>Una decisión puede abarcar múltiples reuniones</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[ 14 ]</a:t>
            </a:r>
          </a:p>
        </p:txBody>
      </p:sp>
      <p:sp>
        <p:nvSpPr>
          <p:cNvPr id="1005" name="sh1005"/>
          <p:cNvSpPr/>
          <p:nvPr/>
        </p:nvSpPr>
        <p:spPr>
          <a:xfrm>
            <a:off x="762000" y="2006600"/>
            <a:ext cx="812800" cy="558800"/>
          </a:xfrm>
          <a:prstGeom prst="rect">
            <a:avLst/>
          </a:prstGeom>
          <a:solidFill>
            <a:srgbClr val="5A7290"/>
          </a:solidFill>
          <a:ln>
            <a:noFill/>
          </a:ln>
        </p:spPr>
        <p:txBody>
          <a:bodyPr wrap="square" lIns="50800" tIns="0" rIns="50800" bIns="0" anchor="ctr">
            <a:noAutofit/>
          </a:bodyPr>
          <a:lstStyle/>
          <a:p>
            <a:pPr algn="ctr">
              <a:lnSpc>
                <a:spcPct val="110000"/>
              </a:lnSpc>
              <a:buNone/>
            </a:pPr>
            <a:r>
              <a:rPr lang="es-CL" sz="900" b="1" spc="0" dirty="0">
                <a:solidFill>
                  <a:srgbClr val="FFFFFF"/>
                </a:solidFill>
              </a:rPr>
              <a:t>REUNIÓN 1</a:t>
            </a:r>
          </a:p>
        </p:txBody>
      </p:sp>
      <p:sp>
        <p:nvSpPr>
          <p:cNvPr id="1006" name="sh1006"/>
          <p:cNvSpPr/>
          <p:nvPr/>
        </p:nvSpPr>
        <p:spPr>
          <a:xfrm>
            <a:off x="1574800" y="2006600"/>
            <a:ext cx="4394200" cy="558800"/>
          </a:xfrm>
          <a:prstGeom prst="rect">
            <a:avLst/>
          </a:prstGeom>
          <a:solidFill>
            <a:srgbClr val="F7FAFC"/>
          </a:solidFill>
          <a:ln w="9525">
            <a:solidFill>
              <a:srgbClr val="E3EAF2"/>
            </a:solidFill>
          </a:ln>
        </p:spPr>
        <p:txBody>
          <a:bodyPr/>
          <a:lstStyle/>
          <a:p>
            <a:endParaRPr lang="es-CL"/>
          </a:p>
        </p:txBody>
      </p:sp>
      <p:sp>
        <p:nvSpPr>
          <p:cNvPr id="1007" name="sh1007"/>
          <p:cNvSpPr/>
          <p:nvPr/>
        </p:nvSpPr>
        <p:spPr>
          <a:xfrm>
            <a:off x="1727200" y="20955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PROPUESTA A</a:t>
            </a:r>
          </a:p>
        </p:txBody>
      </p:sp>
      <p:sp>
        <p:nvSpPr>
          <p:cNvPr id="1008" name="sh1008"/>
          <p:cNvSpPr/>
          <p:nvPr/>
        </p:nvSpPr>
        <p:spPr>
          <a:xfrm>
            <a:off x="1727200" y="23241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estado · propuesta / candidata</a:t>
            </a:r>
          </a:p>
        </p:txBody>
      </p:sp>
      <p:sp>
        <p:nvSpPr>
          <p:cNvPr id="1009" name="sh1009"/>
          <p:cNvSpPr/>
          <p:nvPr/>
        </p:nvSpPr>
        <p:spPr>
          <a:xfrm>
            <a:off x="1168400" y="2565400"/>
            <a:ext cx="0" cy="127000"/>
          </a:xfrm>
          <a:prstGeom prst="line">
            <a:avLst/>
          </a:prstGeom>
          <a:noFill/>
          <a:ln w="12700">
            <a:solidFill>
              <a:srgbClr val="9FB3C8"/>
            </a:solidFill>
            <a:tailEnd type="triangle" w="med" len="med"/>
          </a:ln>
        </p:spPr>
        <p:txBody>
          <a:bodyPr/>
          <a:lstStyle/>
          <a:p>
            <a:endParaRPr lang="es-CL"/>
          </a:p>
        </p:txBody>
      </p:sp>
      <p:sp>
        <p:nvSpPr>
          <p:cNvPr id="1010" name="sh1010"/>
          <p:cNvSpPr/>
          <p:nvPr/>
        </p:nvSpPr>
        <p:spPr>
          <a:xfrm>
            <a:off x="762000" y="2692400"/>
            <a:ext cx="812800" cy="558800"/>
          </a:xfrm>
          <a:prstGeom prst="rect">
            <a:avLst/>
          </a:prstGeom>
          <a:solidFill>
            <a:srgbClr val="1D5C9E"/>
          </a:solidFill>
          <a:ln>
            <a:noFill/>
          </a:ln>
        </p:spPr>
        <p:txBody>
          <a:bodyPr wrap="square" lIns="50800" tIns="0" rIns="50800" bIns="0" anchor="ctr">
            <a:noAutofit/>
          </a:bodyPr>
          <a:lstStyle/>
          <a:p>
            <a:pPr algn="ctr">
              <a:lnSpc>
                <a:spcPct val="110000"/>
              </a:lnSpc>
              <a:buNone/>
            </a:pPr>
            <a:r>
              <a:rPr lang="es-CL" sz="900" b="1" spc="0" dirty="0">
                <a:solidFill>
                  <a:srgbClr val="FFFFFF"/>
                </a:solidFill>
              </a:rPr>
              <a:t>REUNIÓN 2</a:t>
            </a:r>
          </a:p>
        </p:txBody>
      </p:sp>
      <p:sp>
        <p:nvSpPr>
          <p:cNvPr id="1011" name="sh1011"/>
          <p:cNvSpPr/>
          <p:nvPr/>
        </p:nvSpPr>
        <p:spPr>
          <a:xfrm>
            <a:off x="1574800" y="2692400"/>
            <a:ext cx="4394200" cy="558800"/>
          </a:xfrm>
          <a:prstGeom prst="rect">
            <a:avLst/>
          </a:prstGeom>
          <a:solidFill>
            <a:srgbClr val="F7FAFC"/>
          </a:solidFill>
          <a:ln w="9525">
            <a:solidFill>
              <a:srgbClr val="E3EAF2"/>
            </a:solidFill>
          </a:ln>
        </p:spPr>
        <p:txBody>
          <a:bodyPr/>
          <a:lstStyle/>
          <a:p>
            <a:endParaRPr lang="es-CL"/>
          </a:p>
        </p:txBody>
      </p:sp>
      <p:sp>
        <p:nvSpPr>
          <p:cNvPr id="1012" name="sh1012"/>
          <p:cNvSpPr/>
          <p:nvPr/>
        </p:nvSpPr>
        <p:spPr>
          <a:xfrm>
            <a:off x="1727200" y="27813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A ADOPTADA</a:t>
            </a:r>
          </a:p>
        </p:txBody>
      </p:sp>
      <p:sp>
        <p:nvSpPr>
          <p:cNvPr id="1013" name="sh1013"/>
          <p:cNvSpPr/>
          <p:nvPr/>
        </p:nvSpPr>
        <p:spPr>
          <a:xfrm>
            <a:off x="1727200" y="30099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evento · adopted</a:t>
            </a:r>
          </a:p>
        </p:txBody>
      </p:sp>
      <p:sp>
        <p:nvSpPr>
          <p:cNvPr id="1014" name="sh1014"/>
          <p:cNvSpPr/>
          <p:nvPr/>
        </p:nvSpPr>
        <p:spPr>
          <a:xfrm>
            <a:off x="1168400" y="3251200"/>
            <a:ext cx="0" cy="127000"/>
          </a:xfrm>
          <a:prstGeom prst="line">
            <a:avLst/>
          </a:prstGeom>
          <a:noFill/>
          <a:ln w="12700">
            <a:solidFill>
              <a:srgbClr val="9FB3C8"/>
            </a:solidFill>
            <a:tailEnd type="triangle" w="med" len="med"/>
          </a:ln>
        </p:spPr>
        <p:txBody>
          <a:bodyPr/>
          <a:lstStyle/>
          <a:p>
            <a:endParaRPr lang="es-CL"/>
          </a:p>
        </p:txBody>
      </p:sp>
      <p:sp>
        <p:nvSpPr>
          <p:cNvPr id="1015" name="sh1015"/>
          <p:cNvSpPr/>
          <p:nvPr/>
        </p:nvSpPr>
        <p:spPr>
          <a:xfrm>
            <a:off x="762000" y="3378200"/>
            <a:ext cx="812800" cy="558800"/>
          </a:xfrm>
          <a:prstGeom prst="rect">
            <a:avLst/>
          </a:prstGeom>
          <a:solidFill>
            <a:srgbClr val="12406E"/>
          </a:solidFill>
          <a:ln>
            <a:noFill/>
          </a:ln>
        </p:spPr>
        <p:txBody>
          <a:bodyPr wrap="square" lIns="50800" tIns="0" rIns="50800" bIns="0" anchor="ctr">
            <a:noAutofit/>
          </a:bodyPr>
          <a:lstStyle/>
          <a:p>
            <a:pPr algn="ctr">
              <a:lnSpc>
                <a:spcPct val="110000"/>
              </a:lnSpc>
              <a:buNone/>
            </a:pPr>
            <a:r>
              <a:rPr lang="es-CL" sz="900" b="1" spc="0" dirty="0">
                <a:solidFill>
                  <a:srgbClr val="FFFFFF"/>
                </a:solidFill>
              </a:rPr>
              <a:t>REUNIÓN 3</a:t>
            </a:r>
          </a:p>
        </p:txBody>
      </p:sp>
      <p:sp>
        <p:nvSpPr>
          <p:cNvPr id="1016" name="sh1016"/>
          <p:cNvSpPr/>
          <p:nvPr/>
        </p:nvSpPr>
        <p:spPr>
          <a:xfrm>
            <a:off x="1574800" y="3378200"/>
            <a:ext cx="4394200" cy="558800"/>
          </a:xfrm>
          <a:prstGeom prst="rect">
            <a:avLst/>
          </a:prstGeom>
          <a:solidFill>
            <a:srgbClr val="EAF3F7"/>
          </a:solidFill>
          <a:ln w="15875">
            <a:solidFill>
              <a:srgbClr val="0E9BB5"/>
            </a:solidFill>
          </a:ln>
        </p:spPr>
        <p:txBody>
          <a:bodyPr/>
          <a:lstStyle/>
          <a:p>
            <a:endParaRPr lang="es-CL"/>
          </a:p>
        </p:txBody>
      </p:sp>
      <p:sp>
        <p:nvSpPr>
          <p:cNvPr id="1017" name="sh1017"/>
          <p:cNvSpPr/>
          <p:nvPr/>
        </p:nvSpPr>
        <p:spPr>
          <a:xfrm>
            <a:off x="1727200" y="34671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A REVISADA</a:t>
            </a:r>
          </a:p>
        </p:txBody>
      </p:sp>
      <p:sp>
        <p:nvSpPr>
          <p:cNvPr id="1018" name="sh1018"/>
          <p:cNvSpPr/>
          <p:nvPr/>
        </p:nvSpPr>
        <p:spPr>
          <a:xfrm>
            <a:off x="1727200" y="36957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evento · revised</a:t>
            </a:r>
          </a:p>
        </p:txBody>
      </p:sp>
      <p:sp>
        <p:nvSpPr>
          <p:cNvPr id="1019" name="sh1019"/>
          <p:cNvSpPr/>
          <p:nvPr/>
        </p:nvSpPr>
        <p:spPr>
          <a:xfrm>
            <a:off x="1168400" y="3937000"/>
            <a:ext cx="0" cy="127000"/>
          </a:xfrm>
          <a:prstGeom prst="line">
            <a:avLst/>
          </a:prstGeom>
          <a:noFill/>
          <a:ln w="12700">
            <a:solidFill>
              <a:srgbClr val="9FB3C8"/>
            </a:solidFill>
            <a:tailEnd type="triangle" w="med" len="med"/>
          </a:ln>
        </p:spPr>
        <p:txBody>
          <a:bodyPr/>
          <a:lstStyle/>
          <a:p>
            <a:endParaRPr lang="es-CL"/>
          </a:p>
        </p:txBody>
      </p:sp>
      <p:sp>
        <p:nvSpPr>
          <p:cNvPr id="1020" name="sh1020"/>
          <p:cNvSpPr/>
          <p:nvPr/>
        </p:nvSpPr>
        <p:spPr>
          <a:xfrm>
            <a:off x="762000" y="4064000"/>
            <a:ext cx="812800" cy="558800"/>
          </a:xfrm>
          <a:prstGeom prst="rect">
            <a:avLst/>
          </a:prstGeom>
          <a:solidFill>
            <a:srgbClr val="1D5C9E"/>
          </a:solidFill>
          <a:ln>
            <a:noFill/>
          </a:ln>
        </p:spPr>
        <p:txBody>
          <a:bodyPr wrap="square" lIns="50800" tIns="0" rIns="50800" bIns="0" anchor="ctr">
            <a:noAutofit/>
          </a:bodyPr>
          <a:lstStyle/>
          <a:p>
            <a:pPr algn="ctr">
              <a:lnSpc>
                <a:spcPct val="110000"/>
              </a:lnSpc>
              <a:buNone/>
            </a:pPr>
            <a:r>
              <a:rPr lang="es-CL" sz="900" b="1" spc="0" dirty="0">
                <a:solidFill>
                  <a:srgbClr val="FFFFFF"/>
                </a:solidFill>
              </a:rPr>
              <a:t>REUNIÓN 4</a:t>
            </a:r>
          </a:p>
        </p:txBody>
      </p:sp>
      <p:sp>
        <p:nvSpPr>
          <p:cNvPr id="1021" name="sh1021"/>
          <p:cNvSpPr/>
          <p:nvPr/>
        </p:nvSpPr>
        <p:spPr>
          <a:xfrm>
            <a:off x="1574800" y="4064000"/>
            <a:ext cx="4394200" cy="558800"/>
          </a:xfrm>
          <a:prstGeom prst="rect">
            <a:avLst/>
          </a:prstGeom>
          <a:solidFill>
            <a:srgbClr val="F7FAFC"/>
          </a:solidFill>
          <a:ln w="9525">
            <a:solidFill>
              <a:srgbClr val="E3EAF2"/>
            </a:solidFill>
          </a:ln>
        </p:spPr>
        <p:txBody>
          <a:bodyPr/>
          <a:lstStyle/>
          <a:p>
            <a:endParaRPr lang="es-CL"/>
          </a:p>
        </p:txBody>
      </p:sp>
      <p:sp>
        <p:nvSpPr>
          <p:cNvPr id="1022" name="sh1022"/>
          <p:cNvSpPr/>
          <p:nvPr/>
        </p:nvSpPr>
        <p:spPr>
          <a:xfrm>
            <a:off x="1727200" y="41529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B REEMPLAZA A</a:t>
            </a:r>
          </a:p>
        </p:txBody>
      </p:sp>
      <p:sp>
        <p:nvSpPr>
          <p:cNvPr id="1023" name="sh1023"/>
          <p:cNvSpPr/>
          <p:nvPr/>
        </p:nvSpPr>
        <p:spPr>
          <a:xfrm>
            <a:off x="1727200" y="43815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evento · replaced</a:t>
            </a:r>
          </a:p>
        </p:txBody>
      </p:sp>
      <p:sp>
        <p:nvSpPr>
          <p:cNvPr id="1024" name="sh1024"/>
          <p:cNvSpPr/>
          <p:nvPr/>
        </p:nvSpPr>
        <p:spPr>
          <a:xfrm>
            <a:off x="1168400" y="4622800"/>
            <a:ext cx="0" cy="127000"/>
          </a:xfrm>
          <a:prstGeom prst="line">
            <a:avLst/>
          </a:prstGeom>
          <a:noFill/>
          <a:ln w="12700">
            <a:solidFill>
              <a:srgbClr val="9FB3C8"/>
            </a:solidFill>
            <a:tailEnd type="triangle" w="med" len="med"/>
          </a:ln>
        </p:spPr>
        <p:txBody>
          <a:bodyPr/>
          <a:lstStyle/>
          <a:p>
            <a:endParaRPr lang="es-CL"/>
          </a:p>
        </p:txBody>
      </p:sp>
      <p:sp>
        <p:nvSpPr>
          <p:cNvPr id="1025" name="sh1025"/>
          <p:cNvSpPr/>
          <p:nvPr/>
        </p:nvSpPr>
        <p:spPr>
          <a:xfrm>
            <a:off x="762000" y="4749800"/>
            <a:ext cx="812800" cy="558800"/>
          </a:xfrm>
          <a:prstGeom prst="rect">
            <a:avLst/>
          </a:prstGeom>
          <a:solidFill>
            <a:srgbClr val="0A6D82"/>
          </a:solidFill>
          <a:ln>
            <a:noFill/>
          </a:ln>
        </p:spPr>
        <p:txBody>
          <a:bodyPr wrap="square" lIns="50800" tIns="0" rIns="50800" bIns="0" anchor="ctr">
            <a:noAutofit/>
          </a:bodyPr>
          <a:lstStyle/>
          <a:p>
            <a:pPr algn="ctr">
              <a:lnSpc>
                <a:spcPct val="110000"/>
              </a:lnSpc>
              <a:buNone/>
            </a:pPr>
            <a:r>
              <a:rPr lang="es-CL" sz="900" b="1" spc="0" dirty="0">
                <a:solidFill>
                  <a:srgbClr val="FFFFFF"/>
                </a:solidFill>
              </a:rPr>
              <a:t>ESTADO FINAL</a:t>
            </a:r>
          </a:p>
        </p:txBody>
      </p:sp>
      <p:sp>
        <p:nvSpPr>
          <p:cNvPr id="1026" name="sh1026"/>
          <p:cNvSpPr/>
          <p:nvPr/>
        </p:nvSpPr>
        <p:spPr>
          <a:xfrm>
            <a:off x="1574800" y="4749800"/>
            <a:ext cx="4394200" cy="558800"/>
          </a:xfrm>
          <a:prstGeom prst="rect">
            <a:avLst/>
          </a:prstGeom>
          <a:solidFill>
            <a:srgbClr val="F7FAFC"/>
          </a:solidFill>
          <a:ln w="9525">
            <a:solidFill>
              <a:srgbClr val="E3EAF2"/>
            </a:solidFill>
          </a:ln>
        </p:spPr>
        <p:txBody>
          <a:bodyPr/>
          <a:lstStyle/>
          <a:p>
            <a:endParaRPr lang="es-CL"/>
          </a:p>
        </p:txBody>
      </p:sp>
      <p:sp>
        <p:nvSpPr>
          <p:cNvPr id="1027" name="sh1027"/>
          <p:cNvSpPr/>
          <p:nvPr/>
        </p:nvSpPr>
        <p:spPr>
          <a:xfrm>
            <a:off x="1727200" y="4838700"/>
            <a:ext cx="4089400" cy="203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0A1524"/>
                </a:solidFill>
              </a:rPr>
              <a:t>A REEMPLAZADA · B VIGENTE</a:t>
            </a:r>
          </a:p>
        </p:txBody>
      </p:sp>
      <p:sp>
        <p:nvSpPr>
          <p:cNvPr id="1028" name="sh1028"/>
          <p:cNvSpPr/>
          <p:nvPr/>
        </p:nvSpPr>
        <p:spPr>
          <a:xfrm>
            <a:off x="1727200" y="5067300"/>
            <a:ext cx="40894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una trayectoria vinculada a través de cuatro reuniones</a:t>
            </a:r>
          </a:p>
        </p:txBody>
      </p:sp>
      <p:sp>
        <p:nvSpPr>
          <p:cNvPr id="1029" name="sh1029"/>
          <p:cNvSpPr/>
          <p:nvPr/>
        </p:nvSpPr>
        <p:spPr>
          <a:xfrm>
            <a:off x="6019800" y="3530600"/>
            <a:ext cx="736600" cy="0"/>
          </a:xfrm>
          <a:prstGeom prst="line">
            <a:avLst/>
          </a:prstGeom>
          <a:noFill/>
          <a:ln w="15875">
            <a:solidFill>
              <a:srgbClr val="0E9BB5"/>
            </a:solidFill>
            <a:tailEnd type="triangle" w="med" len="med"/>
          </a:ln>
        </p:spPr>
        <p:txBody>
          <a:bodyPr/>
          <a:lstStyle/>
          <a:p>
            <a:endParaRPr lang="es-CL"/>
          </a:p>
        </p:txBody>
      </p:sp>
      <p:sp>
        <p:nvSpPr>
          <p:cNvPr id="1030" name="sh1030"/>
          <p:cNvSpPr/>
          <p:nvPr/>
        </p:nvSpPr>
        <p:spPr>
          <a:xfrm>
            <a:off x="6019800" y="3276600"/>
            <a:ext cx="762000" cy="203200"/>
          </a:xfrm>
          <a:prstGeom prst="rect">
            <a:avLst/>
          </a:prstGeom>
          <a:noFill/>
          <a:ln>
            <a:noFill/>
          </a:ln>
        </p:spPr>
        <p:txBody>
          <a:bodyPr wrap="square" lIns="0" tIns="0" rIns="0" bIns="0" anchor="ctr">
            <a:noAutofit/>
          </a:bodyPr>
          <a:lstStyle/>
          <a:p>
            <a:pPr algn="ctr">
              <a:lnSpc>
                <a:spcPct val="100000"/>
              </a:lnSpc>
              <a:buNone/>
            </a:pPr>
            <a:r>
              <a:rPr lang="es-CL" sz="900" b="1" spc="60" dirty="0">
                <a:solidFill>
                  <a:srgbClr val="0A6D82"/>
                </a:solidFill>
              </a:rPr>
              <a:t>D001</a:t>
            </a:r>
          </a:p>
        </p:txBody>
      </p:sp>
      <p:sp>
        <p:nvSpPr>
          <p:cNvPr id="1031" name="sh1031"/>
          <p:cNvSpPr/>
          <p:nvPr/>
        </p:nvSpPr>
        <p:spPr>
          <a:xfrm>
            <a:off x="6858000" y="2006600"/>
            <a:ext cx="4572000" cy="330200"/>
          </a:xfrm>
          <a:prstGeom prst="rect">
            <a:avLst/>
          </a:prstGeom>
          <a:solidFill>
            <a:srgbClr val="12406E"/>
          </a:solidFill>
          <a:ln>
            <a:noFill/>
          </a:ln>
        </p:spPr>
        <p:txBody>
          <a:bodyPr wrap="square" lIns="0" tIns="0" rIns="0" bIns="0" anchor="ctr">
            <a:noAutofit/>
          </a:bodyPr>
          <a:lstStyle/>
          <a:p>
            <a:pPr algn="ctr">
              <a:lnSpc>
                <a:spcPct val="100000"/>
              </a:lnSpc>
              <a:buNone/>
            </a:pPr>
            <a:r>
              <a:rPr lang="es-CL" sz="1050" b="1" spc="80" dirty="0">
                <a:solidFill>
                  <a:srgbClr val="FFFFFF"/>
                </a:solidFill>
              </a:rPr>
              <a:t>DECISION_ID D001 · QUÉ SE DISTINGUE</a:t>
            </a:r>
          </a:p>
        </p:txBody>
      </p:sp>
      <p:sp>
        <p:nvSpPr>
          <p:cNvPr id="1032" name="sh1032"/>
          <p:cNvSpPr/>
          <p:nvPr/>
        </p:nvSpPr>
        <p:spPr>
          <a:xfrm>
            <a:off x="6858000" y="2336800"/>
            <a:ext cx="4572000" cy="3073400"/>
          </a:xfrm>
          <a:prstGeom prst="rect">
            <a:avLst/>
          </a:prstGeom>
          <a:noFill/>
          <a:ln w="12700">
            <a:solidFill>
              <a:srgbClr val="C6D4E2"/>
            </a:solidFill>
          </a:ln>
        </p:spPr>
        <p:txBody>
          <a:bodyPr/>
          <a:lstStyle/>
          <a:p>
            <a:endParaRPr lang="es-CL"/>
          </a:p>
        </p:txBody>
      </p:sp>
      <p:sp>
        <p:nvSpPr>
          <p:cNvPr id="1033" name="sh1033"/>
          <p:cNvSpPr/>
          <p:nvPr/>
        </p:nvSpPr>
        <p:spPr>
          <a:xfrm>
            <a:off x="7010400" y="24384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identidad</a:t>
            </a:r>
          </a:p>
        </p:txBody>
      </p:sp>
      <p:sp>
        <p:nvSpPr>
          <p:cNvPr id="1034" name="sh1034"/>
          <p:cNvSpPr/>
          <p:nvPr/>
        </p:nvSpPr>
        <p:spPr>
          <a:xfrm>
            <a:off x="8686800" y="24384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¿qué decisión seguimos?</a:t>
            </a:r>
          </a:p>
        </p:txBody>
      </p:sp>
      <p:sp>
        <p:nvSpPr>
          <p:cNvPr id="1035" name="sh1035"/>
          <p:cNvSpPr/>
          <p:nvPr/>
        </p:nvSpPr>
        <p:spPr>
          <a:xfrm>
            <a:off x="7010400" y="2717800"/>
            <a:ext cx="4267200" cy="9525"/>
          </a:xfrm>
          <a:prstGeom prst="rect">
            <a:avLst/>
          </a:prstGeom>
          <a:solidFill>
            <a:srgbClr val="EDF2F7"/>
          </a:solidFill>
          <a:ln>
            <a:noFill/>
          </a:ln>
        </p:spPr>
        <p:txBody>
          <a:bodyPr/>
          <a:lstStyle/>
          <a:p>
            <a:endParaRPr lang="es-CL"/>
          </a:p>
        </p:txBody>
      </p:sp>
      <p:sp>
        <p:nvSpPr>
          <p:cNvPr id="1036" name="sh1036"/>
          <p:cNvSpPr/>
          <p:nvPr/>
        </p:nvSpPr>
        <p:spPr>
          <a:xfrm>
            <a:off x="7010400" y="28067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evento</a:t>
            </a:r>
          </a:p>
        </p:txBody>
      </p:sp>
      <p:sp>
        <p:nvSpPr>
          <p:cNvPr id="1037" name="sh1037"/>
          <p:cNvSpPr/>
          <p:nvPr/>
        </p:nvSpPr>
        <p:spPr>
          <a:xfrm>
            <a:off x="8686800" y="28067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¿qué ocurrió en esta reunión?</a:t>
            </a:r>
          </a:p>
        </p:txBody>
      </p:sp>
      <p:sp>
        <p:nvSpPr>
          <p:cNvPr id="1038" name="sh1038"/>
          <p:cNvSpPr/>
          <p:nvPr/>
        </p:nvSpPr>
        <p:spPr>
          <a:xfrm>
            <a:off x="7010400" y="3086100"/>
            <a:ext cx="4267200" cy="9525"/>
          </a:xfrm>
          <a:prstGeom prst="rect">
            <a:avLst/>
          </a:prstGeom>
          <a:solidFill>
            <a:srgbClr val="EDF2F7"/>
          </a:solidFill>
          <a:ln>
            <a:noFill/>
          </a:ln>
        </p:spPr>
        <p:txBody>
          <a:bodyPr/>
          <a:lstStyle/>
          <a:p>
            <a:endParaRPr lang="es-CL"/>
          </a:p>
        </p:txBody>
      </p:sp>
      <p:sp>
        <p:nvSpPr>
          <p:cNvPr id="1039" name="sh1039"/>
          <p:cNvSpPr/>
          <p:nvPr/>
        </p:nvSpPr>
        <p:spPr>
          <a:xfrm>
            <a:off x="7010400" y="31750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estado</a:t>
            </a:r>
          </a:p>
        </p:txBody>
      </p:sp>
      <p:sp>
        <p:nvSpPr>
          <p:cNvPr id="1040" name="sh1040"/>
          <p:cNvSpPr/>
          <p:nvPr/>
        </p:nvSpPr>
        <p:spPr>
          <a:xfrm>
            <a:off x="8686800" y="31750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¿cuál es su condición ahora?</a:t>
            </a:r>
          </a:p>
        </p:txBody>
      </p:sp>
      <p:sp>
        <p:nvSpPr>
          <p:cNvPr id="1041" name="sh1041"/>
          <p:cNvSpPr/>
          <p:nvPr/>
        </p:nvSpPr>
        <p:spPr>
          <a:xfrm>
            <a:off x="7010400" y="3454400"/>
            <a:ext cx="4267200" cy="9525"/>
          </a:xfrm>
          <a:prstGeom prst="rect">
            <a:avLst/>
          </a:prstGeom>
          <a:solidFill>
            <a:srgbClr val="EDF2F7"/>
          </a:solidFill>
          <a:ln>
            <a:noFill/>
          </a:ln>
        </p:spPr>
        <p:txBody>
          <a:bodyPr/>
          <a:lstStyle/>
          <a:p>
            <a:endParaRPr lang="es-CL"/>
          </a:p>
        </p:txBody>
      </p:sp>
      <p:sp>
        <p:nvSpPr>
          <p:cNvPr id="1042" name="sh1042"/>
          <p:cNvSpPr/>
          <p:nvPr/>
        </p:nvSpPr>
        <p:spPr>
          <a:xfrm>
            <a:off x="7010400" y="35433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evidencia</a:t>
            </a:r>
          </a:p>
        </p:txBody>
      </p:sp>
      <p:sp>
        <p:nvSpPr>
          <p:cNvPr id="1043" name="sh1043"/>
          <p:cNvSpPr/>
          <p:nvPr/>
        </p:nvSpPr>
        <p:spPr>
          <a:xfrm>
            <a:off x="8686800" y="35433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¿qué fragmento lo sostiene?</a:t>
            </a:r>
          </a:p>
        </p:txBody>
      </p:sp>
      <p:sp>
        <p:nvSpPr>
          <p:cNvPr id="1044" name="sh1044"/>
          <p:cNvSpPr/>
          <p:nvPr/>
        </p:nvSpPr>
        <p:spPr>
          <a:xfrm>
            <a:off x="7010400" y="3822700"/>
            <a:ext cx="4267200" cy="9525"/>
          </a:xfrm>
          <a:prstGeom prst="rect">
            <a:avLst/>
          </a:prstGeom>
          <a:solidFill>
            <a:srgbClr val="EDF2F7"/>
          </a:solidFill>
          <a:ln>
            <a:noFill/>
          </a:ln>
        </p:spPr>
        <p:txBody>
          <a:bodyPr/>
          <a:lstStyle/>
          <a:p>
            <a:endParaRPr lang="es-CL"/>
          </a:p>
        </p:txBody>
      </p:sp>
      <p:sp>
        <p:nvSpPr>
          <p:cNvPr id="1045" name="sh1045"/>
          <p:cNvSpPr/>
          <p:nvPr/>
        </p:nvSpPr>
        <p:spPr>
          <a:xfrm>
            <a:off x="7010400" y="39116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propuesta</a:t>
            </a:r>
          </a:p>
        </p:txBody>
      </p:sp>
      <p:sp>
        <p:nvSpPr>
          <p:cNvPr id="1046" name="sh1046"/>
          <p:cNvSpPr/>
          <p:nvPr/>
        </p:nvSpPr>
        <p:spPr>
          <a:xfrm>
            <a:off x="8686800" y="39116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R1 · candidata, aún no adoptada</a:t>
            </a:r>
          </a:p>
        </p:txBody>
      </p:sp>
      <p:sp>
        <p:nvSpPr>
          <p:cNvPr id="1047" name="sh1047"/>
          <p:cNvSpPr/>
          <p:nvPr/>
        </p:nvSpPr>
        <p:spPr>
          <a:xfrm>
            <a:off x="7010400" y="4191000"/>
            <a:ext cx="4267200" cy="9525"/>
          </a:xfrm>
          <a:prstGeom prst="rect">
            <a:avLst/>
          </a:prstGeom>
          <a:solidFill>
            <a:srgbClr val="EDF2F7"/>
          </a:solidFill>
          <a:ln>
            <a:noFill/>
          </a:ln>
        </p:spPr>
        <p:txBody>
          <a:bodyPr/>
          <a:lstStyle/>
          <a:p>
            <a:endParaRPr lang="es-CL"/>
          </a:p>
        </p:txBody>
      </p:sp>
      <p:sp>
        <p:nvSpPr>
          <p:cNvPr id="1048" name="sh1048"/>
          <p:cNvSpPr/>
          <p:nvPr/>
        </p:nvSpPr>
        <p:spPr>
          <a:xfrm>
            <a:off x="7010400" y="42799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adopted</a:t>
            </a:r>
          </a:p>
        </p:txBody>
      </p:sp>
      <p:sp>
        <p:nvSpPr>
          <p:cNvPr id="1049" name="sh1049"/>
          <p:cNvSpPr/>
          <p:nvPr/>
        </p:nvSpPr>
        <p:spPr>
          <a:xfrm>
            <a:off x="8686800" y="42799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R2 · evidencia suficiente de adopción</a:t>
            </a:r>
          </a:p>
        </p:txBody>
      </p:sp>
      <p:sp>
        <p:nvSpPr>
          <p:cNvPr id="1050" name="sh1050"/>
          <p:cNvSpPr/>
          <p:nvPr/>
        </p:nvSpPr>
        <p:spPr>
          <a:xfrm>
            <a:off x="7010400" y="4559300"/>
            <a:ext cx="4267200" cy="9525"/>
          </a:xfrm>
          <a:prstGeom prst="rect">
            <a:avLst/>
          </a:prstGeom>
          <a:solidFill>
            <a:srgbClr val="EDF2F7"/>
          </a:solidFill>
          <a:ln>
            <a:noFill/>
          </a:ln>
        </p:spPr>
        <p:txBody>
          <a:bodyPr/>
          <a:lstStyle/>
          <a:p>
            <a:endParaRPr lang="es-CL"/>
          </a:p>
        </p:txBody>
      </p:sp>
      <p:sp>
        <p:nvSpPr>
          <p:cNvPr id="1051" name="sh1051"/>
          <p:cNvSpPr/>
          <p:nvPr/>
        </p:nvSpPr>
        <p:spPr>
          <a:xfrm>
            <a:off x="7010400" y="46482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revised</a:t>
            </a:r>
          </a:p>
        </p:txBody>
      </p:sp>
      <p:sp>
        <p:nvSpPr>
          <p:cNvPr id="1052" name="sh1052"/>
          <p:cNvSpPr/>
          <p:nvPr/>
        </p:nvSpPr>
        <p:spPr>
          <a:xfrm>
            <a:off x="8686800" y="46482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R3 · cambio de alcance</a:t>
            </a:r>
          </a:p>
        </p:txBody>
      </p:sp>
      <p:sp>
        <p:nvSpPr>
          <p:cNvPr id="1053" name="sh1053"/>
          <p:cNvSpPr/>
          <p:nvPr/>
        </p:nvSpPr>
        <p:spPr>
          <a:xfrm>
            <a:off x="7010400" y="4927600"/>
            <a:ext cx="4267200" cy="9525"/>
          </a:xfrm>
          <a:prstGeom prst="rect">
            <a:avLst/>
          </a:prstGeom>
          <a:solidFill>
            <a:srgbClr val="EDF2F7"/>
          </a:solidFill>
          <a:ln>
            <a:noFill/>
          </a:ln>
        </p:spPr>
        <p:txBody>
          <a:bodyPr/>
          <a:lstStyle/>
          <a:p>
            <a:endParaRPr lang="es-CL"/>
          </a:p>
        </p:txBody>
      </p:sp>
      <p:sp>
        <p:nvSpPr>
          <p:cNvPr id="1054" name="sh1054"/>
          <p:cNvSpPr/>
          <p:nvPr/>
        </p:nvSpPr>
        <p:spPr>
          <a:xfrm>
            <a:off x="7010400" y="5016500"/>
            <a:ext cx="16256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latin typeface="Consolas"/>
              </a:rPr>
              <a:t>replaced</a:t>
            </a:r>
          </a:p>
        </p:txBody>
      </p:sp>
      <p:sp>
        <p:nvSpPr>
          <p:cNvPr id="1055" name="sh1055"/>
          <p:cNvSpPr/>
          <p:nvPr/>
        </p:nvSpPr>
        <p:spPr>
          <a:xfrm>
            <a:off x="8686800" y="5016500"/>
            <a:ext cx="2743200" cy="2032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R4 · B ocupa su lugar</a:t>
            </a:r>
          </a:p>
        </p:txBody>
      </p:sp>
      <p:sp>
        <p:nvSpPr>
          <p:cNvPr id="1056" name="sh1056"/>
          <p:cNvSpPr/>
          <p:nvPr/>
        </p:nvSpPr>
        <p:spPr>
          <a:xfrm>
            <a:off x="762000" y="5613400"/>
            <a:ext cx="38100" cy="558800"/>
          </a:xfrm>
          <a:prstGeom prst="rect">
            <a:avLst/>
          </a:prstGeom>
          <a:solidFill>
            <a:srgbClr val="2ED3E8"/>
          </a:solidFill>
          <a:ln>
            <a:noFill/>
          </a:ln>
        </p:spPr>
        <p:txBody>
          <a:bodyPr/>
          <a:lstStyle/>
          <a:p>
            <a:endParaRPr lang="es-CL"/>
          </a:p>
        </p:txBody>
      </p:sp>
      <p:sp>
        <p:nvSpPr>
          <p:cNvPr id="1057" name="sh1057"/>
          <p:cNvSpPr/>
          <p:nvPr/>
        </p:nvSpPr>
        <p:spPr>
          <a:xfrm>
            <a:off x="990600" y="5486400"/>
            <a:ext cx="10160000" cy="482600"/>
          </a:xfrm>
          <a:prstGeom prst="rect">
            <a:avLst/>
          </a:prstGeom>
          <a:noFill/>
          <a:ln>
            <a:noFill/>
          </a:ln>
        </p:spPr>
        <p:txBody>
          <a:bodyPr wrap="square" lIns="0" tIns="0" rIns="0" bIns="0" anchor="ctr">
            <a:noAutofit/>
          </a:bodyPr>
          <a:lstStyle/>
          <a:p>
            <a:pPr algn="l">
              <a:lnSpc>
                <a:spcPct val="120000"/>
              </a:lnSpc>
              <a:buNone/>
            </a:pPr>
            <a:r>
              <a:rPr lang="es-CL" sz="1450" b="1" spc="0" dirty="0">
                <a:solidFill>
                  <a:srgbClr val="12406E"/>
                </a:solidFill>
              </a:rPr>
              <a:t>No se crean cuatro decisiones independientes: con continuidad semántica y evidencia suficiente existe una identidad persistente y una secuencia de eventos.</a:t>
            </a:r>
          </a:p>
        </p:txBody>
      </p:sp>
      <p:sp>
        <p:nvSpPr>
          <p:cNvPr id="1058" name="sh1058"/>
          <p:cNvSpPr/>
          <p:nvPr/>
        </p:nvSpPr>
        <p:spPr>
          <a:xfrm>
            <a:off x="762000" y="6096000"/>
            <a:ext cx="6604000" cy="177800"/>
          </a:xfrm>
          <a:prstGeom prst="rect">
            <a:avLst/>
          </a:prstGeom>
          <a:noFill/>
          <a:ln>
            <a:noFill/>
          </a:ln>
        </p:spPr>
        <p:txBody>
          <a:bodyPr wrap="square" lIns="0" tIns="0" rIns="0" bIns="0" anchor="ctr">
            <a:noAutofit/>
          </a:bodyPr>
          <a:lstStyle/>
          <a:p>
            <a:pPr algn="l">
              <a:lnSpc>
                <a:spcPct val="100000"/>
              </a:lnSpc>
              <a:buNone/>
            </a:pPr>
            <a:r>
              <a:rPr lang="es-CL" sz="1000" b="0" spc="0" dirty="0">
                <a:solidFill>
                  <a:srgbClr val="4A5F78"/>
                </a:solidFill>
              </a:rPr>
              <a:t>No toda propuesta llega a ser decisión; sin evidencia de vinculación se conserva la ambigüedad</a:t>
            </a:r>
          </a:p>
        </p:txBody>
      </p:sp>
      <p:sp>
        <p:nvSpPr>
          <p:cNvPr id="1992" name="fuentePrimaria"/>
          <p:cNvSpPr/>
          <p:nvPr/>
        </p:nvSpPr>
        <p:spPr>
          <a:xfrm>
            <a:off x="7493000" y="6096000"/>
            <a:ext cx="3937000" cy="177800"/>
          </a:xfrm>
          <a:prstGeom prst="rect">
            <a:avLst/>
          </a:prstGeom>
          <a:noFill/>
          <a:ln>
            <a:noFill/>
          </a:ln>
        </p:spPr>
        <p:txBody>
          <a:bodyPr wrap="square" lIns="0" tIns="0" rIns="0" bIns="0" anchor="ctr">
            <a:noAutofit/>
          </a:bodyPr>
          <a:lstStyle/>
          <a:p>
            <a:pPr algn="r">
              <a:buNone/>
            </a:pPr>
            <a:r>
              <a:rPr lang="es-CL" sz="1000" dirty="0">
                <a:solidFill>
                  <a:srgbClr val="4A5F78"/>
                </a:solidFill>
              </a:rPr>
              <a:t>Regla de decisiones longitudinales · documento de research</a:t>
            </a:r>
          </a:p>
        </p:txBody>
      </p:sp>
    </p:spTree>
    <p:extLst>
      <p:ext uri="{BB962C8B-B14F-4D97-AF65-F5344CB8AC3E}">
        <p14:creationId xmlns:p14="http://schemas.microsoft.com/office/powerpoint/2010/main" val="38488549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UNIDADES DEL ESTUDIO · NIVELES DE ANÁLISIS</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Tres unidades y una estructura de dependencia</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[ 15 ]</a:t>
            </a:r>
          </a:p>
        </p:txBody>
      </p:sp>
      <p:sp>
        <p:nvSpPr>
          <p:cNvPr id="1005" name="sh1005"/>
          <p:cNvSpPr/>
          <p:nvPr/>
        </p:nvSpPr>
        <p:spPr>
          <a:xfrm>
            <a:off x="762000" y="2006600"/>
            <a:ext cx="2349500" cy="38100"/>
          </a:xfrm>
          <a:prstGeom prst="rect">
            <a:avLst/>
          </a:prstGeom>
          <a:solidFill>
            <a:srgbClr val="12406E"/>
          </a:solidFill>
          <a:ln>
            <a:noFill/>
          </a:ln>
        </p:spPr>
        <p:txBody>
          <a:bodyPr/>
          <a:lstStyle/>
          <a:p>
            <a:endParaRPr lang="es-CL"/>
          </a:p>
        </p:txBody>
      </p:sp>
      <p:sp>
        <p:nvSpPr>
          <p:cNvPr id="1006" name="sh1006"/>
          <p:cNvSpPr/>
          <p:nvPr/>
        </p:nvSpPr>
        <p:spPr>
          <a:xfrm>
            <a:off x="762000" y="2133600"/>
            <a:ext cx="2349500" cy="431800"/>
          </a:xfrm>
          <a:prstGeom prst="rect">
            <a:avLst/>
          </a:prstGeom>
          <a:noFill/>
          <a:ln>
            <a:noFill/>
          </a:ln>
        </p:spPr>
        <p:txBody>
          <a:bodyPr wrap="square" lIns="0" tIns="0" rIns="0" bIns="0" anchor="t">
            <a:noAutofit/>
          </a:bodyPr>
          <a:lstStyle/>
          <a:p>
            <a:pPr algn="l">
              <a:lnSpc>
                <a:spcPct val="110000"/>
              </a:lnSpc>
              <a:buNone/>
            </a:pPr>
            <a:r>
              <a:rPr lang="es-CL" sz="1350" b="1" spc="0" dirty="0">
                <a:solidFill>
                  <a:srgbClr val="12406E"/>
                </a:solidFill>
              </a:rPr>
              <a:t>01 · ANOTACIÓN</a:t>
            </a:r>
          </a:p>
        </p:txBody>
      </p:sp>
      <p:sp>
        <p:nvSpPr>
          <p:cNvPr id="1007" name="sh1007"/>
          <p:cNvSpPr/>
          <p:nvPr/>
        </p:nvSpPr>
        <p:spPr>
          <a:xfrm>
            <a:off x="3492500" y="2006600"/>
            <a:ext cx="2349500" cy="38100"/>
          </a:xfrm>
          <a:prstGeom prst="rect">
            <a:avLst/>
          </a:prstGeom>
          <a:solidFill>
            <a:srgbClr val="1D5C9E"/>
          </a:solidFill>
          <a:ln>
            <a:noFill/>
          </a:ln>
        </p:spPr>
        <p:txBody>
          <a:bodyPr/>
          <a:lstStyle/>
          <a:p>
            <a:endParaRPr lang="es-CL"/>
          </a:p>
        </p:txBody>
      </p:sp>
      <p:sp>
        <p:nvSpPr>
          <p:cNvPr id="1008" name="sh1008"/>
          <p:cNvSpPr/>
          <p:nvPr/>
        </p:nvSpPr>
        <p:spPr>
          <a:xfrm>
            <a:off x="3492500" y="2133600"/>
            <a:ext cx="2349500" cy="431800"/>
          </a:xfrm>
          <a:prstGeom prst="rect">
            <a:avLst/>
          </a:prstGeom>
          <a:noFill/>
          <a:ln>
            <a:noFill/>
          </a:ln>
        </p:spPr>
        <p:txBody>
          <a:bodyPr wrap="square" lIns="0" tIns="0" rIns="0" bIns="0" anchor="t">
            <a:noAutofit/>
          </a:bodyPr>
          <a:lstStyle/>
          <a:p>
            <a:pPr algn="l">
              <a:lnSpc>
                <a:spcPct val="110000"/>
              </a:lnSpc>
              <a:buNone/>
            </a:pPr>
            <a:r>
              <a:rPr lang="es-CL" sz="1350" b="1" spc="0" dirty="0">
                <a:solidFill>
                  <a:srgbClr val="1D5C9E"/>
                </a:solidFill>
              </a:rPr>
              <a:t>02 · RECUPERACIÓN</a:t>
            </a:r>
          </a:p>
        </p:txBody>
      </p:sp>
      <p:sp>
        <p:nvSpPr>
          <p:cNvPr id="1009" name="sh1009"/>
          <p:cNvSpPr/>
          <p:nvPr/>
        </p:nvSpPr>
        <p:spPr>
          <a:xfrm>
            <a:off x="6223000" y="2006600"/>
            <a:ext cx="2349500" cy="38100"/>
          </a:xfrm>
          <a:prstGeom prst="rect">
            <a:avLst/>
          </a:prstGeom>
          <a:solidFill>
            <a:srgbClr val="2A86B8"/>
          </a:solidFill>
          <a:ln>
            <a:noFill/>
          </a:ln>
        </p:spPr>
        <p:txBody>
          <a:bodyPr/>
          <a:lstStyle/>
          <a:p>
            <a:endParaRPr lang="es-CL"/>
          </a:p>
        </p:txBody>
      </p:sp>
      <p:sp>
        <p:nvSpPr>
          <p:cNvPr id="1010" name="sh1010"/>
          <p:cNvSpPr/>
          <p:nvPr/>
        </p:nvSpPr>
        <p:spPr>
          <a:xfrm>
            <a:off x="6223000" y="2133600"/>
            <a:ext cx="2349500" cy="431800"/>
          </a:xfrm>
          <a:prstGeom prst="rect">
            <a:avLst/>
          </a:prstGeom>
          <a:noFill/>
          <a:ln>
            <a:noFill/>
          </a:ln>
        </p:spPr>
        <p:txBody>
          <a:bodyPr wrap="square" lIns="0" tIns="0" rIns="0" bIns="0" anchor="t">
            <a:noAutofit/>
          </a:bodyPr>
          <a:lstStyle/>
          <a:p>
            <a:pPr algn="l">
              <a:lnSpc>
                <a:spcPct val="110000"/>
              </a:lnSpc>
              <a:buNone/>
            </a:pPr>
            <a:r>
              <a:rPr lang="es-CL" sz="1350" b="1" spc="0" dirty="0">
                <a:solidFill>
                  <a:srgbClr val="2A86B8"/>
                </a:solidFill>
              </a:rPr>
              <a:t>03 · COMPARACIÓN</a:t>
            </a:r>
          </a:p>
        </p:txBody>
      </p:sp>
      <p:sp>
        <p:nvSpPr>
          <p:cNvPr id="1011" name="sh1011"/>
          <p:cNvSpPr/>
          <p:nvPr/>
        </p:nvSpPr>
        <p:spPr>
          <a:xfrm>
            <a:off x="8953500" y="2006600"/>
            <a:ext cx="2349500" cy="38100"/>
          </a:xfrm>
          <a:prstGeom prst="rect">
            <a:avLst/>
          </a:prstGeom>
          <a:solidFill>
            <a:srgbClr val="0A6D82"/>
          </a:solidFill>
          <a:ln>
            <a:noFill/>
          </a:ln>
        </p:spPr>
        <p:txBody>
          <a:bodyPr/>
          <a:lstStyle/>
          <a:p>
            <a:endParaRPr lang="es-CL"/>
          </a:p>
        </p:txBody>
      </p:sp>
      <p:sp>
        <p:nvSpPr>
          <p:cNvPr id="1012" name="sh1012"/>
          <p:cNvSpPr/>
          <p:nvPr/>
        </p:nvSpPr>
        <p:spPr>
          <a:xfrm>
            <a:off x="8953500" y="2133600"/>
            <a:ext cx="2349500" cy="431800"/>
          </a:xfrm>
          <a:prstGeom prst="rect">
            <a:avLst/>
          </a:prstGeom>
          <a:noFill/>
          <a:ln>
            <a:noFill/>
          </a:ln>
        </p:spPr>
        <p:txBody>
          <a:bodyPr wrap="square" lIns="0" tIns="0" rIns="0" bIns="0" anchor="t">
            <a:noAutofit/>
          </a:bodyPr>
          <a:lstStyle/>
          <a:p>
            <a:pPr algn="l">
              <a:lnSpc>
                <a:spcPct val="110000"/>
              </a:lnSpc>
              <a:buNone/>
            </a:pPr>
            <a:r>
              <a:rPr lang="es-CL" sz="1350" b="1" spc="0" dirty="0">
                <a:solidFill>
                  <a:srgbClr val="0A6D82"/>
                </a:solidFill>
              </a:rPr>
              <a:t>04 · DEPENDENCIA</a:t>
            </a:r>
          </a:p>
        </p:txBody>
      </p:sp>
      <p:sp>
        <p:nvSpPr>
          <p:cNvPr id="1013" name="sh1013"/>
          <p:cNvSpPr/>
          <p:nvPr/>
        </p:nvSpPr>
        <p:spPr>
          <a:xfrm>
            <a:off x="762000" y="2590800"/>
            <a:ext cx="10668000" cy="9525"/>
          </a:xfrm>
          <a:prstGeom prst="rect">
            <a:avLst/>
          </a:prstGeom>
          <a:solidFill>
            <a:srgbClr val="E3EAF2"/>
          </a:solidFill>
          <a:ln>
            <a:noFill/>
          </a:ln>
        </p:spPr>
        <p:txBody>
          <a:bodyPr/>
          <a:lstStyle/>
          <a:p>
            <a:endParaRPr lang="es-CL"/>
          </a:p>
        </p:txBody>
      </p:sp>
      <p:sp>
        <p:nvSpPr>
          <p:cNvPr id="1014" name="sh1014"/>
          <p:cNvSpPr/>
          <p:nvPr/>
        </p:nvSpPr>
        <p:spPr>
          <a:xfrm>
            <a:off x="762000" y="2717800"/>
            <a:ext cx="2349500" cy="685800"/>
          </a:xfrm>
          <a:prstGeom prst="rect">
            <a:avLst/>
          </a:prstGeom>
          <a:noFill/>
          <a:ln>
            <a:noFill/>
          </a:ln>
        </p:spPr>
        <p:txBody>
          <a:bodyPr wrap="square" lIns="0" tIns="0" rIns="0" bIns="0" anchor="t">
            <a:noAutofit/>
          </a:bodyPr>
          <a:lstStyle/>
          <a:p>
            <a:pPr algn="l">
              <a:lnSpc>
                <a:spcPct val="120000"/>
              </a:lnSpc>
              <a:buNone/>
            </a:pPr>
            <a:r>
              <a:rPr lang="es-CL" sz="1350" b="1" spc="0" dirty="0">
                <a:solidFill>
                  <a:srgbClr val="12406E"/>
                </a:solidFill>
              </a:rPr>
              <a:t>Decisión, eventos y evidencia observables en la transcripción</a:t>
            </a:r>
          </a:p>
        </p:txBody>
      </p:sp>
      <p:sp>
        <p:nvSpPr>
          <p:cNvPr id="1015" name="sh1015"/>
          <p:cNvSpPr/>
          <p:nvPr/>
        </p:nvSpPr>
        <p:spPr>
          <a:xfrm>
            <a:off x="3187700" y="2870200"/>
            <a:ext cx="228600" cy="0"/>
          </a:xfrm>
          <a:prstGeom prst="line">
            <a:avLst/>
          </a:prstGeom>
          <a:noFill/>
          <a:ln w="15875">
            <a:solidFill>
              <a:srgbClr val="9FB3C8"/>
            </a:solidFill>
            <a:tailEnd type="triangle" w="med" len="med"/>
          </a:ln>
        </p:spPr>
        <p:txBody>
          <a:bodyPr/>
          <a:lstStyle/>
          <a:p>
            <a:endParaRPr lang="es-CL"/>
          </a:p>
        </p:txBody>
      </p:sp>
      <p:sp>
        <p:nvSpPr>
          <p:cNvPr id="1016" name="sh1016"/>
          <p:cNvSpPr/>
          <p:nvPr/>
        </p:nvSpPr>
        <p:spPr>
          <a:xfrm>
            <a:off x="3492500" y="2717800"/>
            <a:ext cx="2349500" cy="685800"/>
          </a:xfrm>
          <a:prstGeom prst="rect">
            <a:avLst/>
          </a:prstGeom>
          <a:noFill/>
          <a:ln>
            <a:noFill/>
          </a:ln>
        </p:spPr>
        <p:txBody>
          <a:bodyPr wrap="square" lIns="0" tIns="0" rIns="0" bIns="0" anchor="t">
            <a:noAutofit/>
          </a:bodyPr>
          <a:lstStyle/>
          <a:p>
            <a:pPr algn="l">
              <a:lnSpc>
                <a:spcPct val="120000"/>
              </a:lnSpc>
              <a:buNone/>
            </a:pPr>
            <a:r>
              <a:rPr lang="es-CL" sz="1350" b="0" spc="0" dirty="0">
                <a:solidFill>
                  <a:srgbClr val="1E3A52"/>
                </a:solidFill>
              </a:rPr>
              <a:t>C1 · fragmentos y pasajes documentales</a:t>
            </a:r>
          </a:p>
        </p:txBody>
      </p:sp>
      <p:sp>
        <p:nvSpPr>
          <p:cNvPr id="1017" name="sh1017"/>
          <p:cNvSpPr/>
          <p:nvPr/>
        </p:nvSpPr>
        <p:spPr>
          <a:xfrm>
            <a:off x="5918200" y="2870200"/>
            <a:ext cx="228600" cy="0"/>
          </a:xfrm>
          <a:prstGeom prst="line">
            <a:avLst/>
          </a:prstGeom>
          <a:noFill/>
          <a:ln w="15875">
            <a:solidFill>
              <a:srgbClr val="9FB3C8"/>
            </a:solidFill>
            <a:tailEnd type="triangle" w="med" len="med"/>
          </a:ln>
        </p:spPr>
        <p:txBody>
          <a:bodyPr/>
          <a:lstStyle/>
          <a:p>
            <a:endParaRPr lang="es-CL"/>
          </a:p>
        </p:txBody>
      </p:sp>
      <p:sp>
        <p:nvSpPr>
          <p:cNvPr id="1018" name="sh1018"/>
          <p:cNvSpPr/>
          <p:nvPr/>
        </p:nvSpPr>
        <p:spPr>
          <a:xfrm>
            <a:off x="6223000" y="2717800"/>
            <a:ext cx="2349500" cy="685800"/>
          </a:xfrm>
          <a:prstGeom prst="rect">
            <a:avLst/>
          </a:prstGeom>
          <a:noFill/>
          <a:ln>
            <a:noFill/>
          </a:ln>
        </p:spPr>
        <p:txBody>
          <a:bodyPr wrap="square" lIns="0" tIns="0" rIns="0" bIns="0" anchor="t">
            <a:noAutofit/>
          </a:bodyPr>
          <a:lstStyle/>
          <a:p>
            <a:pPr algn="l">
              <a:lnSpc>
                <a:spcPct val="120000"/>
              </a:lnSpc>
              <a:buNone/>
            </a:pPr>
            <a:r>
              <a:rPr lang="es-CL" sz="1350" b="0" spc="0" dirty="0">
                <a:solidFill>
                  <a:srgbClr val="1E3A52"/>
                </a:solidFill>
              </a:rPr>
              <a:t>Instancia pregunta–caso evaluada en C1 y en C2</a:t>
            </a:r>
          </a:p>
        </p:txBody>
      </p:sp>
      <p:sp>
        <p:nvSpPr>
          <p:cNvPr id="1019" name="sh1019"/>
          <p:cNvSpPr/>
          <p:nvPr/>
        </p:nvSpPr>
        <p:spPr>
          <a:xfrm>
            <a:off x="8648700" y="2870200"/>
            <a:ext cx="228600" cy="0"/>
          </a:xfrm>
          <a:prstGeom prst="line">
            <a:avLst/>
          </a:prstGeom>
          <a:noFill/>
          <a:ln w="15875">
            <a:solidFill>
              <a:srgbClr val="9FB3C8"/>
            </a:solidFill>
            <a:tailEnd type="triangle" w="med" len="med"/>
          </a:ln>
        </p:spPr>
        <p:txBody>
          <a:bodyPr/>
          <a:lstStyle/>
          <a:p>
            <a:endParaRPr lang="es-CL"/>
          </a:p>
        </p:txBody>
      </p:sp>
      <p:sp>
        <p:nvSpPr>
          <p:cNvPr id="1020" name="sh1020"/>
          <p:cNvSpPr/>
          <p:nvPr/>
        </p:nvSpPr>
        <p:spPr>
          <a:xfrm>
            <a:off x="8953500" y="2717800"/>
            <a:ext cx="2349500" cy="685800"/>
          </a:xfrm>
          <a:prstGeom prst="rect">
            <a:avLst/>
          </a:prstGeom>
          <a:noFill/>
          <a:ln>
            <a:noFill/>
          </a:ln>
        </p:spPr>
        <p:txBody>
          <a:bodyPr wrap="square" lIns="0" tIns="0" rIns="0" bIns="0" anchor="t">
            <a:noAutofit/>
          </a:bodyPr>
          <a:lstStyle/>
          <a:p>
            <a:pPr algn="l">
              <a:lnSpc>
                <a:spcPct val="120000"/>
              </a:lnSpc>
              <a:buNone/>
            </a:pPr>
            <a:r>
              <a:rPr lang="es-CL" sz="1350" b="0" spc="0" dirty="0">
                <a:solidFill>
                  <a:srgbClr val="1E3A52"/>
                </a:solidFill>
              </a:rPr>
              <a:t>Estructura de dependencia: serie de reuniones y, cuando corresponda, decisión</a:t>
            </a:r>
          </a:p>
        </p:txBody>
      </p:sp>
      <p:sp>
        <p:nvSpPr>
          <p:cNvPr id="1021" name="sh1021"/>
          <p:cNvSpPr/>
          <p:nvPr/>
        </p:nvSpPr>
        <p:spPr>
          <a:xfrm>
            <a:off x="762000" y="3479800"/>
            <a:ext cx="10668000" cy="9525"/>
          </a:xfrm>
          <a:prstGeom prst="rect">
            <a:avLst/>
          </a:prstGeom>
          <a:solidFill>
            <a:srgbClr val="E3EAF2"/>
          </a:solidFill>
          <a:ln>
            <a:noFill/>
          </a:ln>
        </p:spPr>
        <p:txBody>
          <a:bodyPr/>
          <a:lstStyle/>
          <a:p>
            <a:endParaRPr lang="es-CL"/>
          </a:p>
        </p:txBody>
      </p:sp>
      <p:sp>
        <p:nvSpPr>
          <p:cNvPr id="1022" name="sh1022"/>
          <p:cNvSpPr/>
          <p:nvPr/>
        </p:nvSpPr>
        <p:spPr>
          <a:xfrm>
            <a:off x="762000" y="3606800"/>
            <a:ext cx="2349500" cy="685800"/>
          </a:xfrm>
          <a:prstGeom prst="rect">
            <a:avLst/>
          </a:prstGeom>
          <a:noFill/>
          <a:ln>
            <a:noFill/>
          </a:ln>
        </p:spPr>
        <p:txBody>
          <a:bodyPr wrap="square" lIns="0" tIns="0" rIns="0" bIns="0" anchor="t">
            <a:noAutofit/>
          </a:bodyPr>
          <a:lstStyle/>
          <a:p>
            <a:pPr algn="l">
              <a:lnSpc>
                <a:spcPct val="120000"/>
              </a:lnSpc>
              <a:buNone/>
            </a:pPr>
            <a:r>
              <a:rPr lang="es-CL" sz="1350" b="1" spc="0" dirty="0">
                <a:solidFill>
                  <a:srgbClr val="12406E"/>
                </a:solidFill>
              </a:rPr>
              <a:t>El Ground Truth humano se construye en este nivel</a:t>
            </a:r>
          </a:p>
        </p:txBody>
      </p:sp>
      <p:sp>
        <p:nvSpPr>
          <p:cNvPr id="1023" name="sh1023"/>
          <p:cNvSpPr/>
          <p:nvPr/>
        </p:nvSpPr>
        <p:spPr>
          <a:xfrm>
            <a:off x="3187700" y="3759200"/>
            <a:ext cx="228600" cy="0"/>
          </a:xfrm>
          <a:prstGeom prst="line">
            <a:avLst/>
          </a:prstGeom>
          <a:noFill/>
          <a:ln w="15875">
            <a:solidFill>
              <a:srgbClr val="9FB3C8"/>
            </a:solidFill>
            <a:tailEnd type="triangle" w="med" len="med"/>
          </a:ln>
        </p:spPr>
        <p:txBody>
          <a:bodyPr/>
          <a:lstStyle/>
          <a:p>
            <a:endParaRPr lang="es-CL"/>
          </a:p>
        </p:txBody>
      </p:sp>
      <p:sp>
        <p:nvSpPr>
          <p:cNvPr id="1024" name="sh1024"/>
          <p:cNvSpPr/>
          <p:nvPr/>
        </p:nvSpPr>
        <p:spPr>
          <a:xfrm>
            <a:off x="3492500" y="3606800"/>
            <a:ext cx="2349500" cy="685800"/>
          </a:xfrm>
          <a:prstGeom prst="rect">
            <a:avLst/>
          </a:prstGeom>
          <a:noFill/>
          <a:ln>
            <a:noFill/>
          </a:ln>
        </p:spPr>
        <p:txBody>
          <a:bodyPr wrap="square" lIns="0" tIns="0" rIns="0" bIns="0" anchor="t">
            <a:noAutofit/>
          </a:bodyPr>
          <a:lstStyle/>
          <a:p>
            <a:pPr algn="l">
              <a:lnSpc>
                <a:spcPct val="120000"/>
              </a:lnSpc>
              <a:buNone/>
            </a:pPr>
            <a:r>
              <a:rPr lang="es-CL" sz="1350" b="0" spc="0" dirty="0">
                <a:solidFill>
                  <a:srgbClr val="1E3A52"/>
                </a:solidFill>
              </a:rPr>
              <a:t>C2 · objetos de decisión con evidencias y relaciones</a:t>
            </a:r>
          </a:p>
        </p:txBody>
      </p:sp>
      <p:sp>
        <p:nvSpPr>
          <p:cNvPr id="1025" name="sh1025"/>
          <p:cNvSpPr/>
          <p:nvPr/>
        </p:nvSpPr>
        <p:spPr>
          <a:xfrm>
            <a:off x="5918200" y="3759200"/>
            <a:ext cx="228600" cy="0"/>
          </a:xfrm>
          <a:prstGeom prst="line">
            <a:avLst/>
          </a:prstGeom>
          <a:noFill/>
          <a:ln w="15875">
            <a:solidFill>
              <a:srgbClr val="9FB3C8"/>
            </a:solidFill>
            <a:tailEnd type="triangle" w="med" len="med"/>
          </a:ln>
        </p:spPr>
        <p:txBody>
          <a:bodyPr/>
          <a:lstStyle/>
          <a:p>
            <a:endParaRPr lang="es-CL"/>
          </a:p>
        </p:txBody>
      </p:sp>
      <p:sp>
        <p:nvSpPr>
          <p:cNvPr id="1026" name="sh1026"/>
          <p:cNvSpPr/>
          <p:nvPr/>
        </p:nvSpPr>
        <p:spPr>
          <a:xfrm>
            <a:off x="6223000" y="3606800"/>
            <a:ext cx="2349500" cy="685800"/>
          </a:xfrm>
          <a:prstGeom prst="rect">
            <a:avLst/>
          </a:prstGeom>
          <a:noFill/>
          <a:ln>
            <a:noFill/>
          </a:ln>
        </p:spPr>
        <p:txBody>
          <a:bodyPr wrap="square" lIns="0" tIns="0" rIns="0" bIns="0" anchor="t">
            <a:noAutofit/>
          </a:bodyPr>
          <a:lstStyle/>
          <a:p>
            <a:pPr algn="l">
              <a:lnSpc>
                <a:spcPct val="120000"/>
              </a:lnSpc>
              <a:buNone/>
            </a:pPr>
            <a:r>
              <a:rPr lang="es-CL" sz="1350" b="0" spc="0" dirty="0">
                <a:solidFill>
                  <a:srgbClr val="1E3A52"/>
                </a:solidFill>
              </a:rPr>
              <a:t>Pregunta + serie o caso + respuesta C1 + respuesta C2</a:t>
            </a:r>
          </a:p>
        </p:txBody>
      </p:sp>
      <p:sp>
        <p:nvSpPr>
          <p:cNvPr id="1027" name="sh1027"/>
          <p:cNvSpPr/>
          <p:nvPr/>
        </p:nvSpPr>
        <p:spPr>
          <a:xfrm>
            <a:off x="8648700" y="3759200"/>
            <a:ext cx="228600" cy="0"/>
          </a:xfrm>
          <a:prstGeom prst="line">
            <a:avLst/>
          </a:prstGeom>
          <a:noFill/>
          <a:ln w="15875">
            <a:solidFill>
              <a:srgbClr val="9FB3C8"/>
            </a:solidFill>
            <a:tailEnd type="triangle" w="med" len="med"/>
          </a:ln>
        </p:spPr>
        <p:txBody>
          <a:bodyPr/>
          <a:lstStyle/>
          <a:p>
            <a:endParaRPr lang="es-CL"/>
          </a:p>
        </p:txBody>
      </p:sp>
      <p:sp>
        <p:nvSpPr>
          <p:cNvPr id="1028" name="sh1028"/>
          <p:cNvSpPr/>
          <p:nvPr/>
        </p:nvSpPr>
        <p:spPr>
          <a:xfrm>
            <a:off x="8953500" y="3606800"/>
            <a:ext cx="2349500" cy="685800"/>
          </a:xfrm>
          <a:prstGeom prst="rect">
            <a:avLst/>
          </a:prstGeom>
          <a:noFill/>
          <a:ln>
            <a:noFill/>
          </a:ln>
        </p:spPr>
        <p:txBody>
          <a:bodyPr wrap="square" lIns="0" tIns="0" rIns="0" bIns="0" anchor="t">
            <a:noAutofit/>
          </a:bodyPr>
          <a:lstStyle/>
          <a:p>
            <a:pPr algn="l">
              <a:lnSpc>
                <a:spcPct val="120000"/>
              </a:lnSpc>
              <a:buNone/>
            </a:pPr>
            <a:r>
              <a:rPr lang="es-CL" sz="1350" b="0" spc="0" dirty="0">
                <a:solidFill>
                  <a:srgbClr val="1E3A52"/>
                </a:solidFill>
              </a:rPr>
              <a:t>Las preguntas de una misma serie comparten contexto</a:t>
            </a:r>
          </a:p>
        </p:txBody>
      </p:sp>
      <p:sp>
        <p:nvSpPr>
          <p:cNvPr id="1029" name="sh1029"/>
          <p:cNvSpPr/>
          <p:nvPr/>
        </p:nvSpPr>
        <p:spPr>
          <a:xfrm>
            <a:off x="762000" y="4368800"/>
            <a:ext cx="10668000" cy="9525"/>
          </a:xfrm>
          <a:prstGeom prst="rect">
            <a:avLst/>
          </a:prstGeom>
          <a:solidFill>
            <a:srgbClr val="E3EAF2"/>
          </a:solidFill>
          <a:ln>
            <a:noFill/>
          </a:ln>
        </p:spPr>
        <p:txBody>
          <a:bodyPr/>
          <a:lstStyle/>
          <a:p>
            <a:endParaRPr lang="es-CL"/>
          </a:p>
        </p:txBody>
      </p:sp>
      <p:sp>
        <p:nvSpPr>
          <p:cNvPr id="1030" name="sh1030"/>
          <p:cNvSpPr/>
          <p:nvPr/>
        </p:nvSpPr>
        <p:spPr>
          <a:xfrm>
            <a:off x="762000" y="4495800"/>
            <a:ext cx="2349500" cy="685800"/>
          </a:xfrm>
          <a:prstGeom prst="rect">
            <a:avLst/>
          </a:prstGeom>
          <a:noFill/>
          <a:ln>
            <a:noFill/>
          </a:ln>
        </p:spPr>
        <p:txBody>
          <a:bodyPr wrap="square" lIns="0" tIns="0" rIns="0" bIns="0" anchor="t">
            <a:noAutofit/>
          </a:bodyPr>
          <a:lstStyle/>
          <a:p>
            <a:pPr algn="l">
              <a:lnSpc>
                <a:spcPct val="120000"/>
              </a:lnSpc>
              <a:buNone/>
            </a:pPr>
            <a:r>
              <a:rPr lang="es-CL" sz="1350" b="1" spc="0" dirty="0">
                <a:solidFill>
                  <a:srgbClr val="12406E"/>
                </a:solidFill>
              </a:rPr>
              <a:t>Sirve para evaluar el Experimento A</a:t>
            </a:r>
          </a:p>
        </p:txBody>
      </p:sp>
      <p:sp>
        <p:nvSpPr>
          <p:cNvPr id="1031" name="sh1031"/>
          <p:cNvSpPr/>
          <p:nvPr/>
        </p:nvSpPr>
        <p:spPr>
          <a:xfrm>
            <a:off x="3187700" y="4648200"/>
            <a:ext cx="228600" cy="0"/>
          </a:xfrm>
          <a:prstGeom prst="line">
            <a:avLst/>
          </a:prstGeom>
          <a:noFill/>
          <a:ln w="15875">
            <a:solidFill>
              <a:srgbClr val="9FB3C8"/>
            </a:solidFill>
            <a:tailEnd type="triangle" w="med" len="med"/>
          </a:ln>
        </p:spPr>
        <p:txBody>
          <a:bodyPr/>
          <a:lstStyle/>
          <a:p>
            <a:endParaRPr lang="es-CL"/>
          </a:p>
        </p:txBody>
      </p:sp>
      <p:sp>
        <p:nvSpPr>
          <p:cNvPr id="1032" name="sh1032"/>
          <p:cNvSpPr/>
          <p:nvPr/>
        </p:nvSpPr>
        <p:spPr>
          <a:xfrm>
            <a:off x="3492500" y="4495800"/>
            <a:ext cx="2349500" cy="685800"/>
          </a:xfrm>
          <a:prstGeom prst="rect">
            <a:avLst/>
          </a:prstGeom>
          <a:noFill/>
          <a:ln>
            <a:noFill/>
          </a:ln>
        </p:spPr>
        <p:txBody>
          <a:bodyPr wrap="square" lIns="0" tIns="0" rIns="0" bIns="0" anchor="t">
            <a:noAutofit/>
          </a:bodyPr>
          <a:lstStyle/>
          <a:p>
            <a:pPr algn="l">
              <a:lnSpc>
                <a:spcPct val="120000"/>
              </a:lnSpc>
              <a:buNone/>
            </a:pPr>
            <a:r>
              <a:rPr lang="es-CL" sz="1350" b="0" spc="0" dirty="0">
                <a:solidFill>
                  <a:srgbClr val="1E3A52"/>
                </a:solidFill>
              </a:rPr>
              <a:t>Unidades distintas porque los pipelines son distintos</a:t>
            </a:r>
          </a:p>
        </p:txBody>
      </p:sp>
      <p:sp>
        <p:nvSpPr>
          <p:cNvPr id="1033" name="sh1033"/>
          <p:cNvSpPr/>
          <p:nvPr/>
        </p:nvSpPr>
        <p:spPr>
          <a:xfrm>
            <a:off x="5918200" y="4648200"/>
            <a:ext cx="228600" cy="0"/>
          </a:xfrm>
          <a:prstGeom prst="line">
            <a:avLst/>
          </a:prstGeom>
          <a:noFill/>
          <a:ln w="15875">
            <a:solidFill>
              <a:srgbClr val="9FB3C8"/>
            </a:solidFill>
            <a:tailEnd type="triangle" w="med" len="med"/>
          </a:ln>
        </p:spPr>
        <p:txBody>
          <a:bodyPr/>
          <a:lstStyle/>
          <a:p>
            <a:endParaRPr lang="es-CL"/>
          </a:p>
        </p:txBody>
      </p:sp>
      <p:sp>
        <p:nvSpPr>
          <p:cNvPr id="1034" name="sh1034"/>
          <p:cNvSpPr/>
          <p:nvPr/>
        </p:nvSpPr>
        <p:spPr>
          <a:xfrm>
            <a:off x="6223000" y="4495800"/>
            <a:ext cx="2349500" cy="685800"/>
          </a:xfrm>
          <a:prstGeom prst="rect">
            <a:avLst/>
          </a:prstGeom>
          <a:noFill/>
          <a:ln>
            <a:noFill/>
          </a:ln>
        </p:spPr>
        <p:txBody>
          <a:bodyPr wrap="square" lIns="0" tIns="0" rIns="0" bIns="0" anchor="t">
            <a:noAutofit/>
          </a:bodyPr>
          <a:lstStyle/>
          <a:p>
            <a:pPr algn="l">
              <a:lnSpc>
                <a:spcPct val="120000"/>
              </a:lnSpc>
              <a:buNone/>
            </a:pPr>
            <a:r>
              <a:rPr lang="es-CL" sz="1350" b="0" spc="0" dirty="0">
                <a:solidFill>
                  <a:srgbClr val="1E3A52"/>
                </a:solidFill>
              </a:rPr>
              <a:t>Unidad primaria del Experimento B</a:t>
            </a:r>
          </a:p>
        </p:txBody>
      </p:sp>
      <p:sp>
        <p:nvSpPr>
          <p:cNvPr id="1035" name="sh1035"/>
          <p:cNvSpPr/>
          <p:nvPr/>
        </p:nvSpPr>
        <p:spPr>
          <a:xfrm>
            <a:off x="8648700" y="4648200"/>
            <a:ext cx="228600" cy="0"/>
          </a:xfrm>
          <a:prstGeom prst="line">
            <a:avLst/>
          </a:prstGeom>
          <a:noFill/>
          <a:ln w="15875">
            <a:solidFill>
              <a:srgbClr val="9FB3C8"/>
            </a:solidFill>
            <a:tailEnd type="triangle" w="med" len="med"/>
          </a:ln>
        </p:spPr>
        <p:txBody>
          <a:bodyPr/>
          <a:lstStyle/>
          <a:p>
            <a:endParaRPr lang="es-CL"/>
          </a:p>
        </p:txBody>
      </p:sp>
      <p:sp>
        <p:nvSpPr>
          <p:cNvPr id="1036" name="sh1036"/>
          <p:cNvSpPr/>
          <p:nvPr/>
        </p:nvSpPr>
        <p:spPr>
          <a:xfrm>
            <a:off x="8953500" y="4495800"/>
            <a:ext cx="2349500" cy="685800"/>
          </a:xfrm>
          <a:prstGeom prst="rect">
            <a:avLst/>
          </a:prstGeom>
          <a:noFill/>
          <a:ln>
            <a:noFill/>
          </a:ln>
        </p:spPr>
        <p:txBody>
          <a:bodyPr wrap="square" lIns="0" tIns="0" rIns="0" bIns="0" anchor="t">
            <a:noAutofit/>
          </a:bodyPr>
          <a:lstStyle/>
          <a:p>
            <a:pPr algn="l">
              <a:lnSpc>
                <a:spcPct val="120000"/>
              </a:lnSpc>
              <a:buNone/>
            </a:pPr>
            <a:r>
              <a:rPr lang="es-CL" sz="1350" b="0" spc="0" dirty="0">
                <a:solidFill>
                  <a:srgbClr val="1E3A52"/>
                </a:solidFill>
              </a:rPr>
              <a:t>No se asumen observaciones independientes</a:t>
            </a:r>
          </a:p>
        </p:txBody>
      </p:sp>
      <p:sp>
        <p:nvSpPr>
          <p:cNvPr id="1037" name="sh1037"/>
          <p:cNvSpPr/>
          <p:nvPr/>
        </p:nvSpPr>
        <p:spPr>
          <a:xfrm>
            <a:off x="762000" y="5257800"/>
            <a:ext cx="10668000" cy="9525"/>
          </a:xfrm>
          <a:prstGeom prst="rect">
            <a:avLst/>
          </a:prstGeom>
          <a:solidFill>
            <a:srgbClr val="E3EAF2"/>
          </a:solidFill>
          <a:ln>
            <a:noFill/>
          </a:ln>
        </p:spPr>
        <p:txBody>
          <a:bodyPr/>
          <a:lstStyle/>
          <a:p>
            <a:endParaRPr lang="es-CL"/>
          </a:p>
        </p:txBody>
      </p:sp>
      <p:sp>
        <p:nvSpPr>
          <p:cNvPr id="1038" name="sh1038"/>
          <p:cNvSpPr/>
          <p:nvPr/>
        </p:nvSpPr>
        <p:spPr>
          <a:xfrm>
            <a:off x="762000" y="5334000"/>
            <a:ext cx="106680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9FB3C8"/>
                </a:solidFill>
              </a:rPr>
              <a:t>REGLA DE DESAMBIGUACIÓN · APLICA A TODO EL DISEÑO</a:t>
            </a:r>
          </a:p>
        </p:txBody>
      </p:sp>
      <p:sp>
        <p:nvSpPr>
          <p:cNvPr id="1039" name="sh1039"/>
          <p:cNvSpPr/>
          <p:nvPr/>
        </p:nvSpPr>
        <p:spPr>
          <a:xfrm>
            <a:off x="762000" y="5562600"/>
            <a:ext cx="10668000" cy="177800"/>
          </a:xfrm>
          <a:prstGeom prst="rect">
            <a:avLst/>
          </a:prstGeom>
          <a:noFill/>
          <a:ln>
            <a:noFill/>
          </a:ln>
        </p:spPr>
        <p:txBody>
          <a:bodyPr wrap="square" lIns="0" tIns="0" rIns="0" bIns="0" anchor="ctr">
            <a:noAutofit/>
          </a:bodyPr>
          <a:lstStyle/>
          <a:p>
            <a:pPr algn="l">
              <a:lnSpc>
                <a:spcPct val="100000"/>
              </a:lnSpc>
              <a:buNone/>
            </a:pPr>
            <a:r>
              <a:rPr lang="es-CL" sz="1100" b="0" spc="0" dirty="0">
                <a:solidFill>
                  <a:srgbClr val="4A5F78"/>
                </a:solidFill>
              </a:rPr>
              <a:t>Unidad de anotación ≠ unidad de recuperación ≠ unidad primaria de comparación</a:t>
            </a:r>
          </a:p>
        </p:txBody>
      </p:sp>
      <p:sp>
        <p:nvSpPr>
          <p:cNvPr id="1040" name="sh1040"/>
          <p:cNvSpPr/>
          <p:nvPr/>
        </p:nvSpPr>
        <p:spPr>
          <a:xfrm>
            <a:off x="762000" y="5892800"/>
            <a:ext cx="38100" cy="381000"/>
          </a:xfrm>
          <a:prstGeom prst="rect">
            <a:avLst/>
          </a:prstGeom>
          <a:solidFill>
            <a:srgbClr val="2ED3E8"/>
          </a:solidFill>
          <a:ln>
            <a:noFill/>
          </a:ln>
        </p:spPr>
        <p:txBody>
          <a:bodyPr/>
          <a:lstStyle/>
          <a:p>
            <a:endParaRPr lang="es-CL"/>
          </a:p>
        </p:txBody>
      </p:sp>
      <p:sp>
        <p:nvSpPr>
          <p:cNvPr id="1041" name="sh1041"/>
          <p:cNvSpPr/>
          <p:nvPr/>
        </p:nvSpPr>
        <p:spPr>
          <a:xfrm>
            <a:off x="990600" y="5892800"/>
            <a:ext cx="10414000" cy="381000"/>
          </a:xfrm>
          <a:prstGeom prst="rect">
            <a:avLst/>
          </a:prstGeom>
          <a:noFill/>
          <a:ln>
            <a:noFill/>
          </a:ln>
        </p:spPr>
        <p:txBody>
          <a:bodyPr wrap="square" lIns="0" tIns="0" rIns="0" bIns="0" anchor="ctr">
            <a:noAutofit/>
          </a:bodyPr>
          <a:lstStyle/>
          <a:p>
            <a:pPr algn="l">
              <a:lnSpc>
                <a:spcPct val="100000"/>
              </a:lnSpc>
              <a:buNone/>
            </a:pPr>
            <a:r>
              <a:rPr lang="es-CL" sz="1250" b="1" spc="0" dirty="0">
                <a:solidFill>
                  <a:srgbClr val="12406E"/>
                </a:solidFill>
              </a:rPr>
              <a:t>Cada etapa del experimento opera sobre una unidad distinta: confundirlas volvería ambigua la comparación y el análisis estadístico.</a:t>
            </a:r>
          </a:p>
        </p:txBody>
      </p:sp>
    </p:spTree>
    <p:extLst>
      <p:ext uri="{BB962C8B-B14F-4D97-AF65-F5344CB8AC3E}">
        <p14:creationId xmlns:p14="http://schemas.microsoft.com/office/powerpoint/2010/main" val="1650839981"/>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DISEÑO EXPERIMENTAL · CONSTRUCCIÓN CONTROLADA</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Ground Truth: referencia humana de evaluación</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[ 16 ]</a:t>
            </a:r>
          </a:p>
        </p:txBody>
      </p:sp>
      <p:sp>
        <p:nvSpPr>
          <p:cNvPr id="1005" name="sh1005"/>
          <p:cNvSpPr/>
          <p:nvPr/>
        </p:nvSpPr>
        <p:spPr>
          <a:xfrm>
            <a:off x="2794000" y="1981200"/>
            <a:ext cx="2540000" cy="533400"/>
          </a:xfrm>
          <a:prstGeom prst="rect">
            <a:avLst/>
          </a:prstGeom>
          <a:solidFill>
            <a:srgbClr val="F2F6FA"/>
          </a:solidFill>
          <a:ln w="12700">
            <a:solidFill>
              <a:srgbClr val="C6D4E2"/>
            </a:solidFill>
          </a:ln>
        </p:spPr>
        <p:txBody>
          <a:bodyPr/>
          <a:lstStyle/>
          <a:p>
            <a:endParaRPr lang="es-CL"/>
          </a:p>
        </p:txBody>
      </p:sp>
      <p:sp>
        <p:nvSpPr>
          <p:cNvPr id="1006" name="sh1006"/>
          <p:cNvSpPr/>
          <p:nvPr/>
        </p:nvSpPr>
        <p:spPr>
          <a:xfrm>
            <a:off x="2921000" y="2082800"/>
            <a:ext cx="2286000" cy="203200"/>
          </a:xfrm>
          <a:prstGeom prst="rect">
            <a:avLst/>
          </a:prstGeom>
          <a:noFill/>
          <a:ln>
            <a:noFill/>
          </a:ln>
        </p:spPr>
        <p:txBody>
          <a:bodyPr wrap="square" lIns="0" tIns="0" rIns="0" bIns="0" anchor="ctr">
            <a:noAutofit/>
          </a:bodyPr>
          <a:lstStyle/>
          <a:p>
            <a:pPr algn="ctr">
              <a:lnSpc>
                <a:spcPct val="100000"/>
              </a:lnSpc>
              <a:buNone/>
            </a:pPr>
            <a:r>
              <a:rPr lang="es-CL" sz="1250" b="1" spc="0" dirty="0">
                <a:solidFill>
                  <a:srgbClr val="0A1524"/>
                </a:solidFill>
              </a:rPr>
              <a:t>TRANSCRIPCIÓN</a:t>
            </a:r>
          </a:p>
        </p:txBody>
      </p:sp>
      <p:sp>
        <p:nvSpPr>
          <p:cNvPr id="1007" name="sh1007"/>
          <p:cNvSpPr/>
          <p:nvPr/>
        </p:nvSpPr>
        <p:spPr>
          <a:xfrm>
            <a:off x="2921000" y="2286000"/>
            <a:ext cx="22860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5A7290"/>
                </a:solidFill>
              </a:rPr>
              <a:t>serie de reuniones</a:t>
            </a:r>
          </a:p>
        </p:txBody>
      </p:sp>
      <p:sp>
        <p:nvSpPr>
          <p:cNvPr id="1008" name="sh1008"/>
          <p:cNvSpPr/>
          <p:nvPr/>
        </p:nvSpPr>
        <p:spPr>
          <a:xfrm>
            <a:off x="4064000" y="2514600"/>
            <a:ext cx="0" cy="177800"/>
          </a:xfrm>
          <a:prstGeom prst="line">
            <a:avLst/>
          </a:prstGeom>
          <a:noFill/>
          <a:ln w="12700">
            <a:solidFill>
              <a:srgbClr val="9FB3C8"/>
            </a:solidFill>
          </a:ln>
        </p:spPr>
        <p:txBody>
          <a:bodyPr/>
          <a:lstStyle/>
          <a:p>
            <a:endParaRPr lang="es-CL"/>
          </a:p>
        </p:txBody>
      </p:sp>
      <p:sp>
        <p:nvSpPr>
          <p:cNvPr id="1009" name="sh1009"/>
          <p:cNvSpPr/>
          <p:nvPr/>
        </p:nvSpPr>
        <p:spPr>
          <a:xfrm>
            <a:off x="2476500" y="2692400"/>
            <a:ext cx="3175000" cy="0"/>
          </a:xfrm>
          <a:prstGeom prst="line">
            <a:avLst/>
          </a:prstGeom>
          <a:noFill/>
          <a:ln w="12700">
            <a:solidFill>
              <a:srgbClr val="9FB3C8"/>
            </a:solidFill>
          </a:ln>
        </p:spPr>
        <p:txBody>
          <a:bodyPr/>
          <a:lstStyle/>
          <a:p>
            <a:endParaRPr lang="es-CL"/>
          </a:p>
        </p:txBody>
      </p:sp>
      <p:sp>
        <p:nvSpPr>
          <p:cNvPr id="1010" name="sh1010"/>
          <p:cNvSpPr/>
          <p:nvPr/>
        </p:nvSpPr>
        <p:spPr>
          <a:xfrm>
            <a:off x="2476500" y="2692400"/>
            <a:ext cx="0" cy="177800"/>
          </a:xfrm>
          <a:prstGeom prst="line">
            <a:avLst/>
          </a:prstGeom>
          <a:noFill/>
          <a:ln w="12700">
            <a:solidFill>
              <a:srgbClr val="9FB3C8"/>
            </a:solidFill>
            <a:tailEnd type="triangle" w="med" len="med"/>
          </a:ln>
        </p:spPr>
        <p:txBody>
          <a:bodyPr/>
          <a:lstStyle/>
          <a:p>
            <a:endParaRPr lang="es-CL"/>
          </a:p>
        </p:txBody>
      </p:sp>
      <p:sp>
        <p:nvSpPr>
          <p:cNvPr id="1011" name="sh1011"/>
          <p:cNvSpPr/>
          <p:nvPr/>
        </p:nvSpPr>
        <p:spPr>
          <a:xfrm>
            <a:off x="5651500" y="2692400"/>
            <a:ext cx="0" cy="177800"/>
          </a:xfrm>
          <a:prstGeom prst="line">
            <a:avLst/>
          </a:prstGeom>
          <a:noFill/>
          <a:ln w="12700">
            <a:solidFill>
              <a:srgbClr val="9FB3C8"/>
            </a:solidFill>
            <a:tailEnd type="triangle" w="med" len="med"/>
          </a:ln>
        </p:spPr>
        <p:txBody>
          <a:bodyPr/>
          <a:lstStyle/>
          <a:p>
            <a:endParaRPr lang="es-CL"/>
          </a:p>
        </p:txBody>
      </p:sp>
      <p:sp>
        <p:nvSpPr>
          <p:cNvPr id="1012" name="sh1012"/>
          <p:cNvSpPr/>
          <p:nvPr/>
        </p:nvSpPr>
        <p:spPr>
          <a:xfrm>
            <a:off x="1270000" y="2870200"/>
            <a:ext cx="2413000" cy="558800"/>
          </a:xfrm>
          <a:prstGeom prst="rect">
            <a:avLst/>
          </a:prstGeom>
          <a:solidFill>
            <a:srgbClr val="F2F6FA"/>
          </a:solidFill>
          <a:ln w="12700">
            <a:solidFill>
              <a:srgbClr val="C6D4E2"/>
            </a:solidFill>
          </a:ln>
        </p:spPr>
        <p:txBody>
          <a:bodyPr/>
          <a:lstStyle/>
          <a:p>
            <a:endParaRPr lang="es-CL"/>
          </a:p>
        </p:txBody>
      </p:sp>
      <p:sp>
        <p:nvSpPr>
          <p:cNvPr id="1013" name="sh1013"/>
          <p:cNvSpPr/>
          <p:nvPr/>
        </p:nvSpPr>
        <p:spPr>
          <a:xfrm>
            <a:off x="1397000" y="2971800"/>
            <a:ext cx="2159000" cy="203200"/>
          </a:xfrm>
          <a:prstGeom prst="rect">
            <a:avLst/>
          </a:prstGeom>
          <a:noFill/>
          <a:ln>
            <a:noFill/>
          </a:ln>
        </p:spPr>
        <p:txBody>
          <a:bodyPr wrap="square" lIns="0" tIns="0" rIns="0" bIns="0" anchor="ctr">
            <a:noAutofit/>
          </a:bodyPr>
          <a:lstStyle/>
          <a:p>
            <a:pPr algn="ctr">
              <a:lnSpc>
                <a:spcPct val="100000"/>
              </a:lnSpc>
              <a:buNone/>
            </a:pPr>
            <a:r>
              <a:rPr lang="es-CL" sz="1250" b="1" spc="0" dirty="0">
                <a:solidFill>
                  <a:srgbClr val="0A1524"/>
                </a:solidFill>
              </a:rPr>
              <a:t>ANOTACIÓN HUMANA</a:t>
            </a:r>
          </a:p>
        </p:txBody>
      </p:sp>
      <p:sp>
        <p:nvSpPr>
          <p:cNvPr id="1014" name="sh1014"/>
          <p:cNvSpPr/>
          <p:nvPr/>
        </p:nvSpPr>
        <p:spPr>
          <a:xfrm>
            <a:off x="1397000" y="3175000"/>
            <a:ext cx="21590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5A7290"/>
                </a:solidFill>
              </a:rPr>
              <a:t>según el manual</a:t>
            </a:r>
          </a:p>
        </p:txBody>
      </p:sp>
      <p:sp>
        <p:nvSpPr>
          <p:cNvPr id="1015" name="sh1015"/>
          <p:cNvSpPr/>
          <p:nvPr/>
        </p:nvSpPr>
        <p:spPr>
          <a:xfrm>
            <a:off x="4445000" y="2870200"/>
            <a:ext cx="2413000" cy="558800"/>
          </a:xfrm>
          <a:prstGeom prst="rect">
            <a:avLst/>
          </a:prstGeom>
          <a:solidFill>
            <a:srgbClr val="F2F6FA"/>
          </a:solidFill>
          <a:ln w="12700">
            <a:solidFill>
              <a:srgbClr val="C6D4E2"/>
            </a:solidFill>
          </a:ln>
        </p:spPr>
        <p:txBody>
          <a:bodyPr/>
          <a:lstStyle/>
          <a:p>
            <a:endParaRPr lang="es-CL"/>
          </a:p>
        </p:txBody>
      </p:sp>
      <p:sp>
        <p:nvSpPr>
          <p:cNvPr id="1016" name="sh1016"/>
          <p:cNvSpPr/>
          <p:nvPr/>
        </p:nvSpPr>
        <p:spPr>
          <a:xfrm>
            <a:off x="4572000" y="2971800"/>
            <a:ext cx="2159000" cy="203200"/>
          </a:xfrm>
          <a:prstGeom prst="rect">
            <a:avLst/>
          </a:prstGeom>
          <a:noFill/>
          <a:ln>
            <a:noFill/>
          </a:ln>
        </p:spPr>
        <p:txBody>
          <a:bodyPr wrap="square" lIns="0" tIns="0" rIns="0" bIns="0" anchor="ctr">
            <a:noAutofit/>
          </a:bodyPr>
          <a:lstStyle/>
          <a:p>
            <a:pPr algn="ctr">
              <a:lnSpc>
                <a:spcPct val="100000"/>
              </a:lnSpc>
              <a:buNone/>
            </a:pPr>
            <a:r>
              <a:rPr lang="es-CL" sz="1250" b="1" spc="0" dirty="0">
                <a:solidFill>
                  <a:srgbClr val="0A1524"/>
                </a:solidFill>
              </a:rPr>
              <a:t>ANOTACIÓN PARALELA</a:t>
            </a:r>
          </a:p>
        </p:txBody>
      </p:sp>
      <p:sp>
        <p:nvSpPr>
          <p:cNvPr id="1017" name="sh1017"/>
          <p:cNvSpPr/>
          <p:nvPr/>
        </p:nvSpPr>
        <p:spPr>
          <a:xfrm>
            <a:off x="4572000" y="3175000"/>
            <a:ext cx="21590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5A7290"/>
                </a:solidFill>
              </a:rPr>
              <a:t>de forma independiente</a:t>
            </a:r>
          </a:p>
        </p:txBody>
      </p:sp>
      <p:sp>
        <p:nvSpPr>
          <p:cNvPr id="1018" name="sh1018"/>
          <p:cNvSpPr/>
          <p:nvPr/>
        </p:nvSpPr>
        <p:spPr>
          <a:xfrm>
            <a:off x="2476500" y="3429000"/>
            <a:ext cx="0" cy="177800"/>
          </a:xfrm>
          <a:prstGeom prst="line">
            <a:avLst/>
          </a:prstGeom>
          <a:noFill/>
          <a:ln w="12700">
            <a:solidFill>
              <a:srgbClr val="9FB3C8"/>
            </a:solidFill>
          </a:ln>
        </p:spPr>
        <p:txBody>
          <a:bodyPr/>
          <a:lstStyle/>
          <a:p>
            <a:endParaRPr lang="es-CL"/>
          </a:p>
        </p:txBody>
      </p:sp>
      <p:sp>
        <p:nvSpPr>
          <p:cNvPr id="1019" name="sh1019"/>
          <p:cNvSpPr/>
          <p:nvPr/>
        </p:nvSpPr>
        <p:spPr>
          <a:xfrm>
            <a:off x="5651500" y="3429000"/>
            <a:ext cx="0" cy="177800"/>
          </a:xfrm>
          <a:prstGeom prst="line">
            <a:avLst/>
          </a:prstGeom>
          <a:noFill/>
          <a:ln w="12700">
            <a:solidFill>
              <a:srgbClr val="9FB3C8"/>
            </a:solidFill>
          </a:ln>
        </p:spPr>
        <p:txBody>
          <a:bodyPr/>
          <a:lstStyle/>
          <a:p>
            <a:endParaRPr lang="es-CL"/>
          </a:p>
        </p:txBody>
      </p:sp>
      <p:sp>
        <p:nvSpPr>
          <p:cNvPr id="1020" name="sh1020"/>
          <p:cNvSpPr/>
          <p:nvPr/>
        </p:nvSpPr>
        <p:spPr>
          <a:xfrm>
            <a:off x="2476500" y="3606800"/>
            <a:ext cx="3175000" cy="0"/>
          </a:xfrm>
          <a:prstGeom prst="line">
            <a:avLst/>
          </a:prstGeom>
          <a:noFill/>
          <a:ln w="12700">
            <a:solidFill>
              <a:srgbClr val="9FB3C8"/>
            </a:solidFill>
          </a:ln>
        </p:spPr>
        <p:txBody>
          <a:bodyPr/>
          <a:lstStyle/>
          <a:p>
            <a:endParaRPr lang="es-CL"/>
          </a:p>
        </p:txBody>
      </p:sp>
      <p:sp>
        <p:nvSpPr>
          <p:cNvPr id="1021" name="sh1021"/>
          <p:cNvSpPr/>
          <p:nvPr/>
        </p:nvSpPr>
        <p:spPr>
          <a:xfrm>
            <a:off x="4064000" y="3606800"/>
            <a:ext cx="0" cy="177800"/>
          </a:xfrm>
          <a:prstGeom prst="line">
            <a:avLst/>
          </a:prstGeom>
          <a:noFill/>
          <a:ln w="12700">
            <a:solidFill>
              <a:srgbClr val="9FB3C8"/>
            </a:solidFill>
            <a:tailEnd type="triangle" w="med" len="med"/>
          </a:ln>
        </p:spPr>
        <p:txBody>
          <a:bodyPr/>
          <a:lstStyle/>
          <a:p>
            <a:endParaRPr lang="es-CL"/>
          </a:p>
        </p:txBody>
      </p:sp>
      <p:sp>
        <p:nvSpPr>
          <p:cNvPr id="1022" name="sh1022"/>
          <p:cNvSpPr/>
          <p:nvPr/>
        </p:nvSpPr>
        <p:spPr>
          <a:xfrm>
            <a:off x="2794000" y="3784600"/>
            <a:ext cx="2540000" cy="533400"/>
          </a:xfrm>
          <a:prstGeom prst="rect">
            <a:avLst/>
          </a:prstGeom>
          <a:solidFill>
            <a:srgbClr val="F2F6FA"/>
          </a:solidFill>
          <a:ln w="12700">
            <a:solidFill>
              <a:srgbClr val="C6D4E2"/>
            </a:solidFill>
          </a:ln>
        </p:spPr>
        <p:txBody>
          <a:bodyPr/>
          <a:lstStyle/>
          <a:p>
            <a:endParaRPr lang="es-CL"/>
          </a:p>
        </p:txBody>
      </p:sp>
      <p:sp>
        <p:nvSpPr>
          <p:cNvPr id="1023" name="sh1023"/>
          <p:cNvSpPr/>
          <p:nvPr/>
        </p:nvSpPr>
        <p:spPr>
          <a:xfrm>
            <a:off x="2921000" y="3886200"/>
            <a:ext cx="2286000" cy="203200"/>
          </a:xfrm>
          <a:prstGeom prst="rect">
            <a:avLst/>
          </a:prstGeom>
          <a:noFill/>
          <a:ln>
            <a:noFill/>
          </a:ln>
        </p:spPr>
        <p:txBody>
          <a:bodyPr wrap="square" lIns="0" tIns="0" rIns="0" bIns="0" anchor="ctr">
            <a:noAutofit/>
          </a:bodyPr>
          <a:lstStyle/>
          <a:p>
            <a:pPr algn="ctr">
              <a:lnSpc>
                <a:spcPct val="100000"/>
              </a:lnSpc>
              <a:buNone/>
            </a:pPr>
            <a:r>
              <a:rPr lang="es-CL" sz="1250" b="1" spc="0" dirty="0">
                <a:solidFill>
                  <a:srgbClr val="0A1524"/>
                </a:solidFill>
              </a:rPr>
              <a:t>ACUERDO</a:t>
            </a:r>
          </a:p>
        </p:txBody>
      </p:sp>
      <p:sp>
        <p:nvSpPr>
          <p:cNvPr id="1024" name="sh1024"/>
          <p:cNvSpPr/>
          <p:nvPr/>
        </p:nvSpPr>
        <p:spPr>
          <a:xfrm>
            <a:off x="2921000" y="4089400"/>
            <a:ext cx="22860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5A7290"/>
                </a:solidFill>
              </a:rPr>
              <a:t>métrica según tipo de anotación</a:t>
            </a:r>
          </a:p>
        </p:txBody>
      </p:sp>
      <p:sp>
        <p:nvSpPr>
          <p:cNvPr id="1025" name="sh1025"/>
          <p:cNvSpPr/>
          <p:nvPr/>
        </p:nvSpPr>
        <p:spPr>
          <a:xfrm>
            <a:off x="4064000" y="4318000"/>
            <a:ext cx="0" cy="177800"/>
          </a:xfrm>
          <a:prstGeom prst="line">
            <a:avLst/>
          </a:prstGeom>
          <a:noFill/>
          <a:ln w="12700">
            <a:solidFill>
              <a:srgbClr val="9FB3C8"/>
            </a:solidFill>
            <a:tailEnd type="triangle" w="med" len="med"/>
          </a:ln>
        </p:spPr>
        <p:txBody>
          <a:bodyPr/>
          <a:lstStyle/>
          <a:p>
            <a:endParaRPr lang="es-CL"/>
          </a:p>
        </p:txBody>
      </p:sp>
      <p:sp>
        <p:nvSpPr>
          <p:cNvPr id="1026" name="sh1026"/>
          <p:cNvSpPr/>
          <p:nvPr/>
        </p:nvSpPr>
        <p:spPr>
          <a:xfrm>
            <a:off x="2794000" y="4495800"/>
            <a:ext cx="2540000" cy="533400"/>
          </a:xfrm>
          <a:prstGeom prst="rect">
            <a:avLst/>
          </a:prstGeom>
          <a:solidFill>
            <a:srgbClr val="F2F6FA"/>
          </a:solidFill>
          <a:ln w="12700">
            <a:solidFill>
              <a:srgbClr val="C6D4E2"/>
            </a:solidFill>
          </a:ln>
        </p:spPr>
        <p:txBody>
          <a:bodyPr/>
          <a:lstStyle/>
          <a:p>
            <a:endParaRPr lang="es-CL"/>
          </a:p>
        </p:txBody>
      </p:sp>
      <p:sp>
        <p:nvSpPr>
          <p:cNvPr id="1027" name="sh1027"/>
          <p:cNvSpPr/>
          <p:nvPr/>
        </p:nvSpPr>
        <p:spPr>
          <a:xfrm>
            <a:off x="2921000" y="4597400"/>
            <a:ext cx="2286000" cy="203200"/>
          </a:xfrm>
          <a:prstGeom prst="rect">
            <a:avLst/>
          </a:prstGeom>
          <a:noFill/>
          <a:ln>
            <a:noFill/>
          </a:ln>
        </p:spPr>
        <p:txBody>
          <a:bodyPr wrap="square" lIns="0" tIns="0" rIns="0" bIns="0" anchor="ctr">
            <a:noAutofit/>
          </a:bodyPr>
          <a:lstStyle/>
          <a:p>
            <a:pPr algn="ctr">
              <a:lnSpc>
                <a:spcPct val="100000"/>
              </a:lnSpc>
              <a:buNone/>
            </a:pPr>
            <a:r>
              <a:rPr lang="es-CL" sz="1250" b="1" spc="0" dirty="0">
                <a:solidFill>
                  <a:srgbClr val="0A1524"/>
                </a:solidFill>
              </a:rPr>
              <a:t>ADJUDICACIÓN</a:t>
            </a:r>
          </a:p>
        </p:txBody>
      </p:sp>
      <p:sp>
        <p:nvSpPr>
          <p:cNvPr id="1028" name="sh1028"/>
          <p:cNvSpPr/>
          <p:nvPr/>
        </p:nvSpPr>
        <p:spPr>
          <a:xfrm>
            <a:off x="2921000" y="4800600"/>
            <a:ext cx="22860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5A7290"/>
                </a:solidFill>
              </a:rPr>
              <a:t>resolución de desacuerdos</a:t>
            </a:r>
          </a:p>
        </p:txBody>
      </p:sp>
      <p:sp>
        <p:nvSpPr>
          <p:cNvPr id="1029" name="sh1029"/>
          <p:cNvSpPr/>
          <p:nvPr/>
        </p:nvSpPr>
        <p:spPr>
          <a:xfrm>
            <a:off x="4064000" y="5029200"/>
            <a:ext cx="0" cy="177800"/>
          </a:xfrm>
          <a:prstGeom prst="line">
            <a:avLst/>
          </a:prstGeom>
          <a:noFill/>
          <a:ln w="15875">
            <a:solidFill>
              <a:srgbClr val="12406E"/>
            </a:solidFill>
            <a:tailEnd type="triangle" w="med" len="med"/>
          </a:ln>
        </p:spPr>
        <p:txBody>
          <a:bodyPr/>
          <a:lstStyle/>
          <a:p>
            <a:endParaRPr lang="es-CL"/>
          </a:p>
        </p:txBody>
      </p:sp>
      <p:sp>
        <p:nvSpPr>
          <p:cNvPr id="1030" name="sh1030"/>
          <p:cNvSpPr/>
          <p:nvPr/>
        </p:nvSpPr>
        <p:spPr>
          <a:xfrm>
            <a:off x="2540000" y="5207000"/>
            <a:ext cx="3048000" cy="609600"/>
          </a:xfrm>
          <a:prstGeom prst="rect">
            <a:avLst/>
          </a:prstGeom>
          <a:solidFill>
            <a:srgbClr val="12406E"/>
          </a:solidFill>
          <a:ln w="12700">
            <a:solidFill>
              <a:srgbClr val="12406E"/>
            </a:solidFill>
          </a:ln>
        </p:spPr>
        <p:txBody>
          <a:bodyPr/>
          <a:lstStyle/>
          <a:p>
            <a:endParaRPr lang="es-CL"/>
          </a:p>
        </p:txBody>
      </p:sp>
      <p:sp>
        <p:nvSpPr>
          <p:cNvPr id="1031" name="sh1031"/>
          <p:cNvSpPr/>
          <p:nvPr/>
        </p:nvSpPr>
        <p:spPr>
          <a:xfrm>
            <a:off x="2667000" y="5308600"/>
            <a:ext cx="2794000" cy="203200"/>
          </a:xfrm>
          <a:prstGeom prst="rect">
            <a:avLst/>
          </a:prstGeom>
          <a:noFill/>
          <a:ln>
            <a:noFill/>
          </a:ln>
        </p:spPr>
        <p:txBody>
          <a:bodyPr wrap="square" lIns="0" tIns="0" rIns="0" bIns="0" anchor="ctr">
            <a:noAutofit/>
          </a:bodyPr>
          <a:lstStyle/>
          <a:p>
            <a:pPr algn="ctr">
              <a:lnSpc>
                <a:spcPct val="100000"/>
              </a:lnSpc>
              <a:buNone/>
            </a:pPr>
            <a:r>
              <a:rPr lang="es-CL" sz="1250" b="1" spc="0" dirty="0">
                <a:solidFill>
                  <a:srgbClr val="FFFFFF"/>
                </a:solidFill>
              </a:rPr>
              <a:t>GROUND TRUTH</a:t>
            </a:r>
          </a:p>
        </p:txBody>
      </p:sp>
      <p:sp>
        <p:nvSpPr>
          <p:cNvPr id="1032" name="sh1032"/>
          <p:cNvSpPr/>
          <p:nvPr/>
        </p:nvSpPr>
        <p:spPr>
          <a:xfrm>
            <a:off x="2667000" y="5511800"/>
            <a:ext cx="27940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9FB3C8"/>
                </a:solidFill>
              </a:rPr>
              <a:t>versionado y congelado</a:t>
            </a:r>
          </a:p>
        </p:txBody>
      </p:sp>
      <p:sp>
        <p:nvSpPr>
          <p:cNvPr id="1033" name="sh1033"/>
          <p:cNvSpPr/>
          <p:nvPr/>
        </p:nvSpPr>
        <p:spPr>
          <a:xfrm>
            <a:off x="8001000" y="1981200"/>
            <a:ext cx="3429000" cy="38100"/>
          </a:xfrm>
          <a:prstGeom prst="rect">
            <a:avLst/>
          </a:prstGeom>
          <a:solidFill>
            <a:srgbClr val="0A6D82"/>
          </a:solidFill>
          <a:ln>
            <a:noFill/>
          </a:ln>
        </p:spPr>
        <p:txBody>
          <a:bodyPr/>
          <a:lstStyle/>
          <a:p>
            <a:endParaRPr lang="es-CL"/>
          </a:p>
        </p:txBody>
      </p:sp>
      <p:sp>
        <p:nvSpPr>
          <p:cNvPr id="1034" name="sh1034"/>
          <p:cNvSpPr/>
          <p:nvPr/>
        </p:nvSpPr>
        <p:spPr>
          <a:xfrm>
            <a:off x="8001000" y="2133600"/>
            <a:ext cx="3429000" cy="203200"/>
          </a:xfrm>
          <a:prstGeom prst="rect">
            <a:avLst/>
          </a:prstGeom>
          <a:noFill/>
          <a:ln>
            <a:noFill/>
          </a:ln>
        </p:spPr>
        <p:txBody>
          <a:bodyPr wrap="square" lIns="0" tIns="0" rIns="0" bIns="0" anchor="ctr">
            <a:noAutofit/>
          </a:bodyPr>
          <a:lstStyle/>
          <a:p>
            <a:pPr algn="l">
              <a:lnSpc>
                <a:spcPct val="100000"/>
              </a:lnSpc>
              <a:buNone/>
            </a:pPr>
            <a:r>
              <a:rPr lang="es-CL" sz="1150" b="1" spc="60" dirty="0">
                <a:solidFill>
                  <a:srgbClr val="0A6D82"/>
                </a:solidFill>
              </a:rPr>
              <a:t>REFERENCIA DE EVALUACIÓN</a:t>
            </a:r>
          </a:p>
        </p:txBody>
      </p:sp>
      <p:sp>
        <p:nvSpPr>
          <p:cNvPr id="1035" name="sh1035"/>
          <p:cNvSpPr/>
          <p:nvPr/>
        </p:nvSpPr>
        <p:spPr>
          <a:xfrm>
            <a:off x="8001000" y="2438400"/>
            <a:ext cx="3429000" cy="13716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4A5F78"/>
                </a:solidFill>
              </a:rPr>
              <a:t>Mide detección, atributos, evidencia, estado, relaciones y temporalidad de la representación automática.</a:t>
            </a:r>
          </a:p>
          <a:p>
            <a:pPr algn="l">
              <a:lnSpc>
                <a:spcPct val="130000"/>
              </a:lnSpc>
              <a:buNone/>
            </a:pPr>
            <a:r>
              <a:rPr lang="es-CL" sz="1150" b="0" spc="0" dirty="0">
                <a:solidFill>
                  <a:srgbClr val="4A5F78"/>
                </a:solidFill>
              </a:rPr>
              <a:t>Anota decision_id, statement normalizado, evidencia, reunión de origen, eventos, estado, relaciones, procedencia y ambigüedad.</a:t>
            </a:r>
          </a:p>
        </p:txBody>
      </p:sp>
      <p:sp>
        <p:nvSpPr>
          <p:cNvPr id="1036" name="sh1036"/>
          <p:cNvSpPr/>
          <p:nvPr/>
        </p:nvSpPr>
        <p:spPr>
          <a:xfrm>
            <a:off x="8001000" y="3962400"/>
            <a:ext cx="3429000" cy="38100"/>
          </a:xfrm>
          <a:prstGeom prst="rect">
            <a:avLst/>
          </a:prstGeom>
          <a:solidFill>
            <a:srgbClr val="B03A2E"/>
          </a:solidFill>
          <a:ln>
            <a:noFill/>
          </a:ln>
        </p:spPr>
        <p:txBody>
          <a:bodyPr/>
          <a:lstStyle/>
          <a:p>
            <a:endParaRPr lang="es-CL"/>
          </a:p>
        </p:txBody>
      </p:sp>
      <p:sp>
        <p:nvSpPr>
          <p:cNvPr id="1037" name="sh1037"/>
          <p:cNvSpPr/>
          <p:nvPr/>
        </p:nvSpPr>
        <p:spPr>
          <a:xfrm>
            <a:off x="8001000" y="4114800"/>
            <a:ext cx="3429000" cy="203200"/>
          </a:xfrm>
          <a:prstGeom prst="rect">
            <a:avLst/>
          </a:prstGeom>
          <a:noFill/>
          <a:ln>
            <a:noFill/>
          </a:ln>
        </p:spPr>
        <p:txBody>
          <a:bodyPr wrap="square" lIns="0" tIns="0" rIns="0" bIns="0" anchor="ctr">
            <a:noAutofit/>
          </a:bodyPr>
          <a:lstStyle/>
          <a:p>
            <a:pPr algn="l">
              <a:lnSpc>
                <a:spcPct val="100000"/>
              </a:lnSpc>
              <a:buNone/>
            </a:pPr>
            <a:r>
              <a:rPr lang="es-CL" sz="1150" b="1" spc="40" dirty="0">
                <a:solidFill>
                  <a:srgbClr val="B03A2E"/>
                </a:solidFill>
              </a:rPr>
              <a:t>NO ALIMENTA LA BASE AUTOMÁTICA</a:t>
            </a:r>
          </a:p>
        </p:txBody>
      </p:sp>
      <p:sp>
        <p:nvSpPr>
          <p:cNvPr id="1038" name="sh1038"/>
          <p:cNvSpPr/>
          <p:nvPr/>
        </p:nvSpPr>
        <p:spPr>
          <a:xfrm>
            <a:off x="8001000" y="4419600"/>
            <a:ext cx="3429000" cy="11176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4A5F78"/>
                </a:solidFill>
              </a:rPr>
              <a:t>El Ground Truth no construye, no corrige y no completa la condición C2 durante el test: se usa únicamente como referencia de evaluación.</a:t>
            </a:r>
          </a:p>
        </p:txBody>
      </p:sp>
      <p:sp>
        <p:nvSpPr>
          <p:cNvPr id="1039" name="sh1039"/>
          <p:cNvSpPr/>
          <p:nvPr/>
        </p:nvSpPr>
        <p:spPr>
          <a:xfrm>
            <a:off x="8001000" y="5537200"/>
            <a:ext cx="3429000" cy="279400"/>
          </a:xfrm>
          <a:prstGeom prst="rect">
            <a:avLst/>
          </a:prstGeom>
          <a:noFill/>
          <a:ln w="12700">
            <a:solidFill>
              <a:srgbClr val="B03A2E"/>
            </a:solidFill>
          </a:ln>
        </p:spPr>
        <p:txBody>
          <a:bodyPr wrap="square" lIns="0" tIns="0" rIns="0" bIns="0" anchor="ctr">
            <a:noAutofit/>
          </a:bodyPr>
          <a:lstStyle/>
          <a:p>
            <a:pPr algn="ctr">
              <a:lnSpc>
                <a:spcPct val="100000"/>
              </a:lnSpc>
              <a:buNone/>
            </a:pPr>
            <a:r>
              <a:rPr lang="es-CL" sz="1000" b="1" spc="60" dirty="0">
                <a:solidFill>
                  <a:srgbClr val="B03A2E"/>
                </a:solidFill>
              </a:rPr>
              <a:t>CONSTRUIDO CON LA DEFINICIÓN Y EL MANUAL YA CONGELADOS</a:t>
            </a:r>
          </a:p>
        </p:txBody>
      </p:sp>
      <p:sp>
        <p:nvSpPr>
          <p:cNvPr id="1040" name="sh1040"/>
          <p:cNvSpPr/>
          <p:nvPr/>
        </p:nvSpPr>
        <p:spPr>
          <a:xfrm>
            <a:off x="762000" y="6121400"/>
            <a:ext cx="9652000" cy="177800"/>
          </a:xfrm>
          <a:prstGeom prst="rect">
            <a:avLst/>
          </a:prstGeom>
          <a:noFill/>
          <a:ln>
            <a:noFill/>
          </a:ln>
        </p:spPr>
        <p:txBody>
          <a:bodyPr wrap="square" lIns="0" tIns="0" rIns="0" bIns="0" anchor="ctr">
            <a:noAutofit/>
          </a:bodyPr>
          <a:lstStyle/>
          <a:p>
            <a:pPr algn="l">
              <a:lnSpc>
                <a:spcPct val="100000"/>
              </a:lnSpc>
              <a:buNone/>
            </a:pPr>
            <a:endParaRPr/>
          </a:p>
        </p:txBody>
      </p:sp>
    </p:spTree>
    <p:extLst>
      <p:ext uri="{BB962C8B-B14F-4D97-AF65-F5344CB8AC3E}">
        <p14:creationId xmlns:p14="http://schemas.microsoft.com/office/powerpoint/2010/main" val="2889535376"/>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EXPERIMENTO A · FIDELIDAD DE EXTRACCIÓN</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600" b="1" spc="0" dirty="0">
                <a:solidFill>
                  <a:srgbClr val="12406E"/>
                </a:solidFill>
              </a:rPr>
              <a:t>Experimento A mide la fidelidad de la extracción automática</a:t>
            </a:r>
          </a:p>
        </p:txBody>
      </p:sp>
      <p:sp>
        <p:nvSpPr>
          <p:cNvPr id="1003" name="sh1003"/>
          <p:cNvSpPr/>
          <p:nvPr/>
        </p:nvSpPr>
        <p:spPr>
          <a:xfrm>
            <a:off x="762000" y="1524000"/>
            <a:ext cx="1524000" cy="19050"/>
          </a:xfrm>
          <a:prstGeom prst="rect">
            <a:avLst/>
          </a:prstGeom>
          <a:solidFill>
            <a:srgbClr val="2ED3E8"/>
          </a:solidFill>
          <a:ln>
            <a:noFill/>
          </a:ln>
        </p:spPr>
        <p:txBody>
          <a:bodyPr wrap="square" lIns="0" tIns="0" rIns="0" bIns="0" anchor="t">
            <a:noAutofit/>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[ 17 ]</a:t>
            </a:r>
          </a:p>
        </p:txBody>
      </p:sp>
      <p:sp>
        <p:nvSpPr>
          <p:cNvPr id="1005" name="sh1005"/>
          <p:cNvSpPr/>
          <p:nvPr/>
        </p:nvSpPr>
        <p:spPr>
          <a:xfrm>
            <a:off x="762000" y="1828800"/>
            <a:ext cx="10668000" cy="279400"/>
          </a:xfrm>
          <a:prstGeom prst="rect">
            <a:avLst/>
          </a:prstGeom>
          <a:solidFill>
            <a:srgbClr val="EAF3F7"/>
          </a:solidFill>
          <a:ln>
            <a:noFill/>
          </a:ln>
        </p:spPr>
        <p:txBody>
          <a:bodyPr wrap="square" lIns="0" tIns="0" rIns="0" bIns="0" anchor="ctr">
            <a:noAutofit/>
          </a:bodyPr>
          <a:lstStyle/>
          <a:p>
            <a:pPr algn="ctr">
              <a:lnSpc>
                <a:spcPct val="100000"/>
              </a:lnSpc>
              <a:buNone/>
            </a:pPr>
            <a:r>
              <a:rPr lang="es-CL" sz="1050" b="1" spc="100" dirty="0">
                <a:solidFill>
                  <a:srgbClr val="0A6D82"/>
                </a:solidFill>
              </a:rPr>
              <a:t>MISMA ENTRADA · MISMO CONTEXTO · MISMO GROUND TRUTH</a:t>
            </a:r>
          </a:p>
        </p:txBody>
      </p:sp>
      <p:sp>
        <p:nvSpPr>
          <p:cNvPr id="1006" name="sh1006"/>
          <p:cNvSpPr/>
          <p:nvPr/>
        </p:nvSpPr>
        <p:spPr>
          <a:xfrm>
            <a:off x="762000" y="2235200"/>
            <a:ext cx="10668000" cy="254000"/>
          </a:xfrm>
          <a:prstGeom prst="rect">
            <a:avLst/>
          </a:prstGeom>
          <a:noFill/>
          <a:ln>
            <a:noFill/>
          </a:ln>
        </p:spPr>
        <p:txBody>
          <a:bodyPr wrap="square" lIns="0" tIns="0" rIns="0" bIns="0" anchor="ctr">
            <a:noAutofit/>
          </a:bodyPr>
          <a:lstStyle/>
          <a:p>
            <a:pPr algn="l">
              <a:lnSpc>
                <a:spcPct val="100000"/>
              </a:lnSpc>
              <a:buNone/>
            </a:pPr>
            <a:r>
              <a:rPr lang="es-CL" sz="1450" b="1" spc="0" dirty="0">
                <a:solidFill>
                  <a:srgbClr val="12406E"/>
                </a:solidFill>
              </a:rPr>
              <a:t>¿Con qué fidelidad puede construirse automáticamente la representación de decisiones?</a:t>
            </a:r>
          </a:p>
        </p:txBody>
      </p:sp>
      <p:sp>
        <p:nvSpPr>
          <p:cNvPr id="1007" name="sh1007"/>
          <p:cNvSpPr/>
          <p:nvPr/>
        </p:nvSpPr>
        <p:spPr>
          <a:xfrm>
            <a:off x="762000" y="2667000"/>
            <a:ext cx="3810000" cy="177800"/>
          </a:xfrm>
          <a:prstGeom prst="rect">
            <a:avLst/>
          </a:prstGeom>
          <a:noFill/>
          <a:ln>
            <a:noFill/>
          </a:ln>
        </p:spPr>
        <p:txBody>
          <a:bodyPr wrap="square" lIns="0" tIns="0" rIns="0" bIns="0" anchor="ctr">
            <a:noAutofit/>
          </a:bodyPr>
          <a:lstStyle/>
          <a:p>
            <a:pPr algn="l">
              <a:lnSpc>
                <a:spcPct val="100000"/>
              </a:lnSpc>
              <a:buNone/>
            </a:pPr>
            <a:r>
              <a:rPr lang="es-CL" sz="1000" b="1" spc="120" dirty="0">
                <a:solidFill>
                  <a:srgbClr val="1D5C9E"/>
                </a:solidFill>
              </a:rPr>
              <a:t>CANDIDATOS DE EXTRACCIÓN</a:t>
            </a:r>
          </a:p>
        </p:txBody>
      </p:sp>
      <p:sp>
        <p:nvSpPr>
          <p:cNvPr id="1008" name="sh1008"/>
          <p:cNvSpPr/>
          <p:nvPr/>
        </p:nvSpPr>
        <p:spPr>
          <a:xfrm>
            <a:off x="5334000" y="2667000"/>
            <a:ext cx="6096000" cy="177800"/>
          </a:xfrm>
          <a:prstGeom prst="rect">
            <a:avLst/>
          </a:prstGeom>
          <a:noFill/>
          <a:ln>
            <a:noFill/>
          </a:ln>
        </p:spPr>
        <p:txBody>
          <a:bodyPr wrap="square" lIns="0" tIns="0" rIns="0" bIns="0" anchor="ctr">
            <a:noAutofit/>
          </a:bodyPr>
          <a:lstStyle/>
          <a:p>
            <a:pPr algn="l">
              <a:lnSpc>
                <a:spcPct val="100000"/>
              </a:lnSpc>
              <a:buNone/>
            </a:pPr>
            <a:r>
              <a:rPr lang="es-CL" sz="1000" b="1" spc="120" dirty="0">
                <a:solidFill>
                  <a:srgbClr val="12406E"/>
                </a:solidFill>
              </a:rPr>
              <a:t>EVALUACIÓN CONTRA GROUND TRUTH</a:t>
            </a:r>
          </a:p>
        </p:txBody>
      </p:sp>
      <p:sp>
        <p:nvSpPr>
          <p:cNvPr id="1009" name="sh1009"/>
          <p:cNvSpPr/>
          <p:nvPr/>
        </p:nvSpPr>
        <p:spPr>
          <a:xfrm>
            <a:off x="762000" y="2946400"/>
            <a:ext cx="3810000" cy="2641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10" name="sh1010"/>
          <p:cNvSpPr/>
          <p:nvPr/>
        </p:nvSpPr>
        <p:spPr>
          <a:xfrm>
            <a:off x="762000" y="2946400"/>
            <a:ext cx="38100" cy="2641600"/>
          </a:xfrm>
          <a:prstGeom prst="rect">
            <a:avLst/>
          </a:prstGeom>
          <a:solidFill>
            <a:srgbClr val="1D5C9E"/>
          </a:solidFill>
          <a:ln>
            <a:noFill/>
          </a:ln>
        </p:spPr>
        <p:txBody>
          <a:bodyPr wrap="square" lIns="0" tIns="0" rIns="0" bIns="0" anchor="t">
            <a:noAutofit/>
          </a:bodyPr>
          <a:lstStyle/>
          <a:p>
            <a:endParaRPr lang="es-CL"/>
          </a:p>
        </p:txBody>
      </p:sp>
      <p:sp>
        <p:nvSpPr>
          <p:cNvPr id="1011" name="sh1011"/>
          <p:cNvSpPr/>
          <p:nvPr/>
        </p:nvSpPr>
        <p:spPr>
          <a:xfrm>
            <a:off x="939800" y="3759200"/>
            <a:ext cx="3454400" cy="228600"/>
          </a:xfrm>
          <a:prstGeom prst="rect">
            <a:avLst/>
          </a:prstGeom>
          <a:noFill/>
          <a:ln>
            <a:noFill/>
          </a:ln>
        </p:spPr>
        <p:txBody>
          <a:bodyPr wrap="square" lIns="0" tIns="0" rIns="0" bIns="0" anchor="ctr">
            <a:noAutofit/>
          </a:bodyPr>
          <a:lstStyle/>
          <a:p>
            <a:pPr algn="l">
              <a:lnSpc>
                <a:spcPct val="100000"/>
              </a:lnSpc>
              <a:buNone/>
            </a:pPr>
            <a:r>
              <a:rPr lang="es-CL" sz="1300" b="1" spc="0" dirty="0">
                <a:solidFill>
                  <a:srgbClr val="0A1524"/>
                </a:solidFill>
              </a:rPr>
              <a:t>MÉTODOS CANDIDATOS DE EXTRACCIÓN</a:t>
            </a:r>
          </a:p>
        </p:txBody>
      </p:sp>
      <p:sp>
        <p:nvSpPr>
          <p:cNvPr id="1012" name="sh1012"/>
          <p:cNvSpPr/>
          <p:nvPr/>
        </p:nvSpPr>
        <p:spPr>
          <a:xfrm>
            <a:off x="939800" y="4038600"/>
            <a:ext cx="3454400" cy="711200"/>
          </a:xfrm>
          <a:prstGeom prst="rect">
            <a:avLst/>
          </a:prstGeom>
          <a:noFill/>
          <a:ln>
            <a:noFill/>
          </a:ln>
        </p:spPr>
        <p:txBody>
          <a:bodyPr wrap="square" lIns="0" tIns="0" rIns="0" bIns="0" anchor="ctr">
            <a:noAutofit/>
          </a:bodyPr>
          <a:lstStyle/>
          <a:p>
            <a:pPr algn="l">
              <a:lnSpc>
                <a:spcPct val="100000"/>
              </a:lnSpc>
              <a:buNone/>
            </a:pPr>
            <a:r>
              <a:rPr lang="es-CL" sz="1100" b="0" spc="0" dirty="0">
                <a:solidFill>
                  <a:srgbClr val="5A7290"/>
                </a:solidFill>
              </a:rPr>
              <a:t>Definidos y documentados antes de la evaluación; comparados bajo el mismo protocolo, la misma entrada y el mismo Ground Truth.</a:t>
            </a:r>
          </a:p>
        </p:txBody>
      </p:sp>
      <p:sp>
        <p:nvSpPr>
          <p:cNvPr id="1025" name="sh1025"/>
          <p:cNvSpPr/>
          <p:nvPr/>
        </p:nvSpPr>
        <p:spPr>
          <a:xfrm>
            <a:off x="4724400" y="2946400"/>
            <a:ext cx="457200" cy="2641600"/>
          </a:xfrm>
          <a:prstGeom prst="rect">
            <a:avLst/>
          </a:prstGeom>
          <a:solidFill>
            <a:srgbClr val="12406E"/>
          </a:solidFill>
          <a:ln>
            <a:noFill/>
          </a:ln>
        </p:spPr>
        <p:txBody>
          <a:bodyPr vert="vert270" wrap="square" lIns="0" tIns="0" rIns="0" bIns="0" anchor="ctr">
            <a:noAutofit/>
          </a:bodyPr>
          <a:lstStyle/>
          <a:p>
            <a:pPr algn="ctr">
              <a:lnSpc>
                <a:spcPct val="100000"/>
              </a:lnSpc>
              <a:buNone/>
            </a:pPr>
            <a:r>
              <a:rPr lang="es-CL" sz="1000" b="1" spc="80" dirty="0">
                <a:solidFill>
                  <a:srgbClr val="FFFFFF"/>
                </a:solidFill>
              </a:rPr>
              <a:t>GROUND TRUTH · REFERENCIA CONGELADA</a:t>
            </a:r>
          </a:p>
        </p:txBody>
      </p:sp>
      <p:sp>
        <p:nvSpPr>
          <p:cNvPr id="1026" name="sh1026"/>
          <p:cNvSpPr/>
          <p:nvPr/>
        </p:nvSpPr>
        <p:spPr>
          <a:xfrm>
            <a:off x="5334000" y="2946400"/>
            <a:ext cx="6096000" cy="38100"/>
          </a:xfrm>
          <a:prstGeom prst="rect">
            <a:avLst/>
          </a:prstGeom>
          <a:solidFill>
            <a:srgbClr val="12406E"/>
          </a:solidFill>
          <a:ln>
            <a:noFill/>
          </a:ln>
        </p:spPr>
        <p:txBody>
          <a:bodyPr wrap="square" lIns="0" tIns="0" rIns="0" bIns="0" anchor="t">
            <a:noAutofit/>
          </a:bodyPr>
          <a:lstStyle/>
          <a:p>
            <a:endParaRPr lang="es-CL"/>
          </a:p>
        </p:txBody>
      </p:sp>
      <p:sp>
        <p:nvSpPr>
          <p:cNvPr id="1027" name="sh1027"/>
          <p:cNvSpPr/>
          <p:nvPr/>
        </p:nvSpPr>
        <p:spPr>
          <a:xfrm>
            <a:off x="5334000" y="3073400"/>
            <a:ext cx="6096000" cy="190500"/>
          </a:xfrm>
          <a:prstGeom prst="rect">
            <a:avLst/>
          </a:prstGeom>
          <a:noFill/>
          <a:ln>
            <a:noFill/>
          </a:ln>
        </p:spPr>
        <p:txBody>
          <a:bodyPr wrap="square" lIns="0" tIns="0" rIns="0" bIns="0" anchor="ctr">
            <a:noAutofit/>
          </a:bodyPr>
          <a:lstStyle/>
          <a:p>
            <a:pPr algn="l">
              <a:lnSpc>
                <a:spcPct val="100000"/>
              </a:lnSpc>
              <a:buNone/>
            </a:pPr>
            <a:r>
              <a:rPr lang="es-CL" sz="1200" b="1" spc="40" dirty="0">
                <a:solidFill>
                  <a:srgbClr val="12406E"/>
                </a:solidFill>
              </a:rPr>
              <a:t>DETECCIÓN · ¿identificó correctamente la decisión?</a:t>
            </a:r>
          </a:p>
        </p:txBody>
      </p:sp>
      <p:sp>
        <p:nvSpPr>
          <p:cNvPr id="1028" name="sh1028"/>
          <p:cNvSpPr/>
          <p:nvPr/>
        </p:nvSpPr>
        <p:spPr>
          <a:xfrm>
            <a:off x="5334000" y="3302000"/>
            <a:ext cx="6096000" cy="228600"/>
          </a:xfrm>
          <a:prstGeom prst="rect">
            <a:avLst/>
          </a:prstGeom>
          <a:noFill/>
          <a:ln>
            <a:noFill/>
          </a:ln>
        </p:spPr>
        <p:txBody>
          <a:bodyPr wrap="square" lIns="0" tIns="0" rIns="0" bIns="0" anchor="ctr">
            <a:noAutofit/>
          </a:bodyPr>
          <a:lstStyle/>
          <a:p>
            <a:pPr algn="l">
              <a:lnSpc>
                <a:spcPct val="100000"/>
              </a:lnSpc>
              <a:buNone/>
            </a:pPr>
            <a:r>
              <a:rPr lang="es-CL" sz="1200" b="0" spc="0" dirty="0">
                <a:solidFill>
                  <a:srgbClr val="1E3A52"/>
                </a:solidFill>
              </a:rPr>
              <a:t>Precision · Recall · F1</a:t>
            </a:r>
          </a:p>
        </p:txBody>
      </p:sp>
      <p:sp>
        <p:nvSpPr>
          <p:cNvPr id="1029" name="sh1029"/>
          <p:cNvSpPr/>
          <p:nvPr/>
        </p:nvSpPr>
        <p:spPr>
          <a:xfrm>
            <a:off x="5334000" y="3632200"/>
            <a:ext cx="6096000" cy="38100"/>
          </a:xfrm>
          <a:prstGeom prst="rect">
            <a:avLst/>
          </a:prstGeom>
          <a:solidFill>
            <a:srgbClr val="17508B"/>
          </a:solidFill>
          <a:ln>
            <a:noFill/>
          </a:ln>
        </p:spPr>
        <p:txBody>
          <a:bodyPr wrap="square" lIns="0" tIns="0" rIns="0" bIns="0" anchor="t">
            <a:noAutofit/>
          </a:bodyPr>
          <a:lstStyle/>
          <a:p>
            <a:endParaRPr lang="es-CL"/>
          </a:p>
        </p:txBody>
      </p:sp>
      <p:sp>
        <p:nvSpPr>
          <p:cNvPr id="1030" name="sh1030"/>
          <p:cNvSpPr/>
          <p:nvPr/>
        </p:nvSpPr>
        <p:spPr>
          <a:xfrm>
            <a:off x="5334000" y="3759200"/>
            <a:ext cx="6096000" cy="190500"/>
          </a:xfrm>
          <a:prstGeom prst="rect">
            <a:avLst/>
          </a:prstGeom>
          <a:noFill/>
          <a:ln>
            <a:noFill/>
          </a:ln>
        </p:spPr>
        <p:txBody>
          <a:bodyPr wrap="square" lIns="0" tIns="0" rIns="0" bIns="0" anchor="ctr">
            <a:noAutofit/>
          </a:bodyPr>
          <a:lstStyle/>
          <a:p>
            <a:pPr algn="l">
              <a:lnSpc>
                <a:spcPct val="100000"/>
              </a:lnSpc>
              <a:buNone/>
            </a:pPr>
            <a:r>
              <a:rPr lang="es-CL" sz="1200" b="1" spc="40" dirty="0">
                <a:solidFill>
                  <a:srgbClr val="17508B"/>
                </a:solidFill>
              </a:rPr>
              <a:t>ATRIBUTOS Y RELACIONES · ¿statement, evidencia y vínculos correctos?</a:t>
            </a:r>
          </a:p>
        </p:txBody>
      </p:sp>
      <p:sp>
        <p:nvSpPr>
          <p:cNvPr id="1031" name="sh1031"/>
          <p:cNvSpPr/>
          <p:nvPr/>
        </p:nvSpPr>
        <p:spPr>
          <a:xfrm>
            <a:off x="5334000" y="3987800"/>
            <a:ext cx="6096000" cy="228600"/>
          </a:xfrm>
          <a:prstGeom prst="rect">
            <a:avLst/>
          </a:prstGeom>
          <a:noFill/>
          <a:ln>
            <a:noFill/>
          </a:ln>
        </p:spPr>
        <p:txBody>
          <a:bodyPr wrap="square" lIns="0" tIns="0" rIns="0" bIns="0" anchor="ctr">
            <a:noAutofit/>
          </a:bodyPr>
          <a:lstStyle/>
          <a:p>
            <a:pPr algn="l">
              <a:lnSpc>
                <a:spcPct val="100000"/>
              </a:lnSpc>
              <a:buNone/>
            </a:pPr>
            <a:r>
              <a:rPr lang="es-CL" sz="1200" b="0" spc="0" dirty="0">
                <a:solidFill>
                  <a:srgbClr val="1E3A52"/>
                </a:solidFill>
              </a:rPr>
              <a:t>Evidence Matching · Relation Accuracy</a:t>
            </a:r>
          </a:p>
        </p:txBody>
      </p:sp>
      <p:sp>
        <p:nvSpPr>
          <p:cNvPr id="1032" name="sh1032"/>
          <p:cNvSpPr/>
          <p:nvPr/>
        </p:nvSpPr>
        <p:spPr>
          <a:xfrm>
            <a:off x="5334000" y="4318000"/>
            <a:ext cx="6096000" cy="38100"/>
          </a:xfrm>
          <a:prstGeom prst="rect">
            <a:avLst/>
          </a:prstGeom>
          <a:solidFill>
            <a:srgbClr val="1D5C9E"/>
          </a:solidFill>
          <a:ln>
            <a:noFill/>
          </a:ln>
        </p:spPr>
        <p:txBody>
          <a:bodyPr wrap="square" lIns="0" tIns="0" rIns="0" bIns="0" anchor="t">
            <a:noAutofit/>
          </a:bodyPr>
          <a:lstStyle/>
          <a:p>
            <a:endParaRPr lang="es-CL"/>
          </a:p>
        </p:txBody>
      </p:sp>
      <p:sp>
        <p:nvSpPr>
          <p:cNvPr id="1033" name="sh1033"/>
          <p:cNvSpPr/>
          <p:nvPr/>
        </p:nvSpPr>
        <p:spPr>
          <a:xfrm>
            <a:off x="5334000" y="4445000"/>
            <a:ext cx="6096000" cy="190500"/>
          </a:xfrm>
          <a:prstGeom prst="rect">
            <a:avLst/>
          </a:prstGeom>
          <a:noFill/>
          <a:ln>
            <a:noFill/>
          </a:ln>
        </p:spPr>
        <p:txBody>
          <a:bodyPr wrap="square" lIns="0" tIns="0" rIns="0" bIns="0" anchor="ctr">
            <a:noAutofit/>
          </a:bodyPr>
          <a:lstStyle/>
          <a:p>
            <a:pPr algn="l">
              <a:lnSpc>
                <a:spcPct val="100000"/>
              </a:lnSpc>
              <a:buNone/>
            </a:pPr>
            <a:r>
              <a:rPr lang="es-CL" sz="1200" b="1" spc="40" dirty="0">
                <a:solidFill>
                  <a:srgbClr val="1D5C9E"/>
                </a:solidFill>
              </a:rPr>
              <a:t>TEMPORALIDAD · ¿reconstruyó eventos y estado?</a:t>
            </a:r>
          </a:p>
        </p:txBody>
      </p:sp>
      <p:sp>
        <p:nvSpPr>
          <p:cNvPr id="1034" name="sh1034"/>
          <p:cNvSpPr/>
          <p:nvPr/>
        </p:nvSpPr>
        <p:spPr>
          <a:xfrm>
            <a:off x="5334000" y="4673600"/>
            <a:ext cx="6096000" cy="228600"/>
          </a:xfrm>
          <a:prstGeom prst="rect">
            <a:avLst/>
          </a:prstGeom>
          <a:noFill/>
          <a:ln>
            <a:noFill/>
          </a:ln>
        </p:spPr>
        <p:txBody>
          <a:bodyPr wrap="square" lIns="0" tIns="0" rIns="0" bIns="0" anchor="ctr">
            <a:noAutofit/>
          </a:bodyPr>
          <a:lstStyle/>
          <a:p>
            <a:pPr algn="l">
              <a:lnSpc>
                <a:spcPct val="100000"/>
              </a:lnSpc>
              <a:buNone/>
            </a:pPr>
            <a:r>
              <a:rPr lang="es-CL" sz="1200" b="0" spc="0" dirty="0">
                <a:solidFill>
                  <a:srgbClr val="1E3A52"/>
                </a:solidFill>
              </a:rPr>
              <a:t>Current State Accuracy · Temporal Correctness · DLA*</a:t>
            </a:r>
          </a:p>
        </p:txBody>
      </p:sp>
      <p:sp>
        <p:nvSpPr>
          <p:cNvPr id="1038" name="sh1038"/>
          <p:cNvSpPr/>
          <p:nvPr/>
        </p:nvSpPr>
        <p:spPr>
          <a:xfrm>
            <a:off x="762000" y="5867400"/>
            <a:ext cx="38100" cy="406400"/>
          </a:xfrm>
          <a:prstGeom prst="rect">
            <a:avLst/>
          </a:prstGeom>
          <a:solidFill>
            <a:srgbClr val="2ED3E8"/>
          </a:solidFill>
          <a:ln>
            <a:noFill/>
          </a:ln>
        </p:spPr>
        <p:txBody>
          <a:bodyPr wrap="square" lIns="0" tIns="0" rIns="0" bIns="0" anchor="t">
            <a:noAutofit/>
          </a:bodyPr>
          <a:lstStyle/>
          <a:p>
            <a:endParaRPr lang="es-CL"/>
          </a:p>
        </p:txBody>
      </p:sp>
      <p:sp>
        <p:nvSpPr>
          <p:cNvPr id="1039" name="sh1039"/>
          <p:cNvSpPr/>
          <p:nvPr/>
        </p:nvSpPr>
        <p:spPr>
          <a:xfrm>
            <a:off x="990600" y="5867400"/>
            <a:ext cx="10414000" cy="406400"/>
          </a:xfrm>
          <a:prstGeom prst="rect">
            <a:avLst/>
          </a:prstGeom>
          <a:noFill/>
          <a:ln>
            <a:noFill/>
          </a:ln>
        </p:spPr>
        <p:txBody>
          <a:bodyPr wrap="square" lIns="0" tIns="0" rIns="0" bIns="0" anchor="ctr">
            <a:noAutofit/>
          </a:bodyPr>
          <a:lstStyle/>
          <a:p>
            <a:pPr algn="l">
              <a:lnSpc>
                <a:spcPct val="100000"/>
              </a:lnSpc>
              <a:buNone/>
            </a:pPr>
            <a:r>
              <a:rPr lang="es-CL" sz="1300" b="1" spc="0" dirty="0">
                <a:solidFill>
                  <a:srgbClr val="12406E"/>
                </a:solidFill>
              </a:rPr>
              <a:t>* DLA se reporta sólo cuando existe referencia longitudinal válida · no se anticipa qué candidato obtiene mejor desempeño.</a:t>
            </a:r>
          </a:p>
        </p:txBody>
      </p:sp>
    </p:spTree>
    <p:extLst>
      <p:ext uri="{BB962C8B-B14F-4D97-AF65-F5344CB8AC3E}">
        <p14:creationId xmlns:p14="http://schemas.microsoft.com/office/powerpoint/2010/main" val="11660690"/>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SELECCIÓN Y CONGELAMIENTO DEL EXTRACTOR</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El extractor se selecciona en A y luego queda congelado</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[ 18 ]</a:t>
            </a:r>
          </a:p>
        </p:txBody>
      </p:sp>
      <p:sp>
        <p:nvSpPr>
          <p:cNvPr id="1005" name="sh1005"/>
          <p:cNvSpPr/>
          <p:nvPr/>
        </p:nvSpPr>
        <p:spPr>
          <a:xfrm>
            <a:off x="889000" y="2006600"/>
            <a:ext cx="5588000" cy="609600"/>
          </a:xfrm>
          <a:prstGeom prst="rect">
            <a:avLst/>
          </a:prstGeom>
          <a:solidFill>
            <a:srgbClr val="F2F6FA"/>
          </a:solidFill>
          <a:ln w="12700">
            <a:solidFill>
              <a:srgbClr val="1D5C9E"/>
            </a:solidFill>
          </a:ln>
        </p:spPr>
        <p:txBody>
          <a:bodyPr/>
          <a:lstStyle/>
          <a:p>
            <a:endParaRPr lang="es-CL"/>
          </a:p>
        </p:txBody>
      </p:sp>
      <p:sp>
        <p:nvSpPr>
          <p:cNvPr id="1006" name="sh1006"/>
          <p:cNvSpPr/>
          <p:nvPr/>
        </p:nvSpPr>
        <p:spPr>
          <a:xfrm>
            <a:off x="901700" y="2006600"/>
            <a:ext cx="5588000" cy="31750"/>
          </a:xfrm>
          <a:prstGeom prst="rect">
            <a:avLst/>
          </a:prstGeom>
          <a:solidFill>
            <a:srgbClr val="1D5C9E"/>
          </a:solidFill>
          <a:ln>
            <a:noFill/>
          </a:ln>
        </p:spPr>
        <p:txBody>
          <a:bodyPr/>
          <a:lstStyle/>
          <a:p>
            <a:endParaRPr lang="es-CL"/>
          </a:p>
        </p:txBody>
      </p:sp>
      <p:sp>
        <p:nvSpPr>
          <p:cNvPr id="1007" name="sh1007"/>
          <p:cNvSpPr/>
          <p:nvPr/>
        </p:nvSpPr>
        <p:spPr>
          <a:xfrm>
            <a:off x="1016000" y="2133600"/>
            <a:ext cx="5334000" cy="203200"/>
          </a:xfrm>
          <a:prstGeom prst="rect">
            <a:avLst/>
          </a:prstGeom>
          <a:noFill/>
          <a:ln>
            <a:noFill/>
          </a:ln>
        </p:spPr>
        <p:txBody>
          <a:bodyPr wrap="square" lIns="0" tIns="0" rIns="0" bIns="0" anchor="ctr">
            <a:noAutofit/>
          </a:bodyPr>
          <a:lstStyle/>
          <a:p>
            <a:pPr algn="ctr">
              <a:lnSpc>
                <a:spcPct val="100000"/>
              </a:lnSpc>
              <a:buNone/>
            </a:pPr>
            <a:r>
              <a:rPr lang="es-CL" sz="1300" b="1" spc="0" dirty="0">
                <a:solidFill>
                  <a:srgbClr val="0A1524"/>
                </a:solidFill>
              </a:rPr>
              <a:t>CANDIDATOS DE EXTRACCIÓN</a:t>
            </a:r>
          </a:p>
        </p:txBody>
      </p:sp>
      <p:sp>
        <p:nvSpPr>
          <p:cNvPr id="1008" name="sh1008"/>
          <p:cNvSpPr/>
          <p:nvPr/>
        </p:nvSpPr>
        <p:spPr>
          <a:xfrm>
            <a:off x="1016000" y="2362200"/>
            <a:ext cx="5334000" cy="177800"/>
          </a:xfrm>
          <a:prstGeom prst="rect">
            <a:avLst/>
          </a:prstGeom>
          <a:noFill/>
          <a:ln>
            <a:noFill/>
          </a:ln>
        </p:spPr>
        <p:txBody>
          <a:bodyPr wrap="square" lIns="0" tIns="0" rIns="0" bIns="0" anchor="ctr">
            <a:noAutofit/>
          </a:bodyPr>
          <a:lstStyle/>
          <a:p>
            <a:pPr algn="ctr">
              <a:lnSpc>
                <a:spcPct val="100000"/>
              </a:lnSpc>
              <a:buNone/>
            </a:pPr>
            <a:r>
              <a:rPr lang="es-CL" sz="1050" b="0" spc="0" dirty="0">
                <a:solidFill>
                  <a:srgbClr val="5A7290"/>
                </a:solidFill>
              </a:rPr>
              <a:t>evaluados en el Experimento A</a:t>
            </a:r>
          </a:p>
        </p:txBody>
      </p:sp>
      <p:sp>
        <p:nvSpPr>
          <p:cNvPr id="1009" name="sh1009"/>
          <p:cNvSpPr/>
          <p:nvPr/>
        </p:nvSpPr>
        <p:spPr>
          <a:xfrm>
            <a:off x="3683000" y="2616200"/>
            <a:ext cx="0" cy="177800"/>
          </a:xfrm>
          <a:prstGeom prst="line">
            <a:avLst/>
          </a:prstGeom>
          <a:noFill/>
          <a:ln w="12700">
            <a:solidFill>
              <a:srgbClr val="9FB3C8"/>
            </a:solidFill>
            <a:tailEnd type="triangle" w="med" len="med"/>
          </a:ln>
        </p:spPr>
        <p:txBody>
          <a:bodyPr/>
          <a:lstStyle/>
          <a:p>
            <a:endParaRPr lang="es-CL"/>
          </a:p>
        </p:txBody>
      </p:sp>
      <p:sp>
        <p:nvSpPr>
          <p:cNvPr id="1010" name="sh1010"/>
          <p:cNvSpPr/>
          <p:nvPr/>
        </p:nvSpPr>
        <p:spPr>
          <a:xfrm>
            <a:off x="1346200" y="2794000"/>
            <a:ext cx="4673600" cy="609600"/>
          </a:xfrm>
          <a:prstGeom prst="rect">
            <a:avLst/>
          </a:prstGeom>
          <a:solidFill>
            <a:srgbClr val="F2F6FA"/>
          </a:solidFill>
          <a:ln w="12700">
            <a:solidFill>
              <a:srgbClr val="17508B"/>
            </a:solidFill>
          </a:ln>
        </p:spPr>
        <p:txBody>
          <a:bodyPr/>
          <a:lstStyle/>
          <a:p>
            <a:endParaRPr lang="es-CL"/>
          </a:p>
        </p:txBody>
      </p:sp>
      <p:sp>
        <p:nvSpPr>
          <p:cNvPr id="1011" name="sh1011"/>
          <p:cNvSpPr/>
          <p:nvPr/>
        </p:nvSpPr>
        <p:spPr>
          <a:xfrm>
            <a:off x="1358900" y="2794000"/>
            <a:ext cx="4673600" cy="31750"/>
          </a:xfrm>
          <a:prstGeom prst="rect">
            <a:avLst/>
          </a:prstGeom>
          <a:solidFill>
            <a:srgbClr val="17508B"/>
          </a:solidFill>
          <a:ln>
            <a:noFill/>
          </a:ln>
        </p:spPr>
        <p:txBody>
          <a:bodyPr/>
          <a:lstStyle/>
          <a:p>
            <a:endParaRPr lang="es-CL"/>
          </a:p>
        </p:txBody>
      </p:sp>
      <p:sp>
        <p:nvSpPr>
          <p:cNvPr id="1012" name="sh1012"/>
          <p:cNvSpPr/>
          <p:nvPr/>
        </p:nvSpPr>
        <p:spPr>
          <a:xfrm>
            <a:off x="1473200" y="2921000"/>
            <a:ext cx="4419600" cy="203200"/>
          </a:xfrm>
          <a:prstGeom prst="rect">
            <a:avLst/>
          </a:prstGeom>
          <a:noFill/>
          <a:ln>
            <a:noFill/>
          </a:ln>
        </p:spPr>
        <p:txBody>
          <a:bodyPr wrap="square" lIns="0" tIns="0" rIns="0" bIns="0" anchor="ctr">
            <a:noAutofit/>
          </a:bodyPr>
          <a:lstStyle/>
          <a:p>
            <a:pPr algn="ctr">
              <a:lnSpc>
                <a:spcPct val="100000"/>
              </a:lnSpc>
              <a:buNone/>
            </a:pPr>
            <a:r>
              <a:rPr lang="es-CL" sz="1300" b="1" spc="0" dirty="0">
                <a:solidFill>
                  <a:srgbClr val="0A1524"/>
                </a:solidFill>
              </a:rPr>
              <a:t>CRITERIO DE SELECCIÓN PREDEFINIDO</a:t>
            </a:r>
          </a:p>
        </p:txBody>
      </p:sp>
      <p:sp>
        <p:nvSpPr>
          <p:cNvPr id="1013" name="sh1013"/>
          <p:cNvSpPr/>
          <p:nvPr/>
        </p:nvSpPr>
        <p:spPr>
          <a:xfrm>
            <a:off x="1473200" y="3149600"/>
            <a:ext cx="4419600" cy="177800"/>
          </a:xfrm>
          <a:prstGeom prst="rect">
            <a:avLst/>
          </a:prstGeom>
          <a:noFill/>
          <a:ln>
            <a:noFill/>
          </a:ln>
        </p:spPr>
        <p:txBody>
          <a:bodyPr wrap="square" lIns="0" tIns="0" rIns="0" bIns="0" anchor="ctr">
            <a:noAutofit/>
          </a:bodyPr>
          <a:lstStyle/>
          <a:p>
            <a:pPr algn="ctr">
              <a:lnSpc>
                <a:spcPct val="100000"/>
              </a:lnSpc>
              <a:buNone/>
            </a:pPr>
            <a:r>
              <a:rPr lang="es-CL" sz="1050" b="0" spc="0" dirty="0">
                <a:solidFill>
                  <a:srgbClr val="5A7290"/>
                </a:solidFill>
              </a:rPr>
              <a:t>documentado antes de observar el resultado end-to-end</a:t>
            </a:r>
          </a:p>
        </p:txBody>
      </p:sp>
      <p:sp>
        <p:nvSpPr>
          <p:cNvPr id="1014" name="sh1014"/>
          <p:cNvSpPr/>
          <p:nvPr/>
        </p:nvSpPr>
        <p:spPr>
          <a:xfrm>
            <a:off x="3683000" y="3403600"/>
            <a:ext cx="0" cy="177800"/>
          </a:xfrm>
          <a:prstGeom prst="line">
            <a:avLst/>
          </a:prstGeom>
          <a:noFill/>
          <a:ln w="12700">
            <a:solidFill>
              <a:srgbClr val="9FB3C8"/>
            </a:solidFill>
            <a:tailEnd type="triangle" w="med" len="med"/>
          </a:ln>
        </p:spPr>
        <p:txBody>
          <a:bodyPr/>
          <a:lstStyle/>
          <a:p>
            <a:endParaRPr lang="es-CL"/>
          </a:p>
        </p:txBody>
      </p:sp>
      <p:sp>
        <p:nvSpPr>
          <p:cNvPr id="1015" name="sh1015"/>
          <p:cNvSpPr/>
          <p:nvPr/>
        </p:nvSpPr>
        <p:spPr>
          <a:xfrm>
            <a:off x="1803400" y="3581400"/>
            <a:ext cx="3759200" cy="609600"/>
          </a:xfrm>
          <a:prstGeom prst="rect">
            <a:avLst/>
          </a:prstGeom>
          <a:solidFill>
            <a:srgbClr val="F2F6FA"/>
          </a:solidFill>
          <a:ln w="12700">
            <a:solidFill>
              <a:srgbClr val="12406E"/>
            </a:solidFill>
          </a:ln>
        </p:spPr>
        <p:txBody>
          <a:bodyPr/>
          <a:lstStyle/>
          <a:p>
            <a:endParaRPr lang="es-CL"/>
          </a:p>
        </p:txBody>
      </p:sp>
      <p:sp>
        <p:nvSpPr>
          <p:cNvPr id="1016" name="sh1016"/>
          <p:cNvSpPr/>
          <p:nvPr/>
        </p:nvSpPr>
        <p:spPr>
          <a:xfrm>
            <a:off x="1816100" y="3581400"/>
            <a:ext cx="3759200" cy="31750"/>
          </a:xfrm>
          <a:prstGeom prst="rect">
            <a:avLst/>
          </a:prstGeom>
          <a:solidFill>
            <a:srgbClr val="12406E"/>
          </a:solidFill>
          <a:ln>
            <a:noFill/>
          </a:ln>
        </p:spPr>
        <p:txBody>
          <a:bodyPr/>
          <a:lstStyle/>
          <a:p>
            <a:endParaRPr lang="es-CL"/>
          </a:p>
        </p:txBody>
      </p:sp>
      <p:sp>
        <p:nvSpPr>
          <p:cNvPr id="1017" name="sh1017"/>
          <p:cNvSpPr/>
          <p:nvPr/>
        </p:nvSpPr>
        <p:spPr>
          <a:xfrm>
            <a:off x="1930400" y="3708400"/>
            <a:ext cx="3505200" cy="203200"/>
          </a:xfrm>
          <a:prstGeom prst="rect">
            <a:avLst/>
          </a:prstGeom>
          <a:noFill/>
          <a:ln>
            <a:noFill/>
          </a:ln>
        </p:spPr>
        <p:txBody>
          <a:bodyPr wrap="square" lIns="0" tIns="0" rIns="0" bIns="0" anchor="ctr">
            <a:noAutofit/>
          </a:bodyPr>
          <a:lstStyle/>
          <a:p>
            <a:pPr algn="ctr">
              <a:lnSpc>
                <a:spcPct val="100000"/>
              </a:lnSpc>
              <a:buNone/>
            </a:pPr>
            <a:r>
              <a:rPr lang="es-CL" sz="1300" b="1" spc="0" dirty="0">
                <a:solidFill>
                  <a:srgbClr val="0A1524"/>
                </a:solidFill>
              </a:rPr>
              <a:t>SELECCIÓN</a:t>
            </a:r>
          </a:p>
        </p:txBody>
      </p:sp>
      <p:sp>
        <p:nvSpPr>
          <p:cNvPr id="1018" name="sh1018"/>
          <p:cNvSpPr/>
          <p:nvPr/>
        </p:nvSpPr>
        <p:spPr>
          <a:xfrm>
            <a:off x="1930400" y="3937000"/>
            <a:ext cx="3505200" cy="177800"/>
          </a:xfrm>
          <a:prstGeom prst="rect">
            <a:avLst/>
          </a:prstGeom>
          <a:noFill/>
          <a:ln>
            <a:noFill/>
          </a:ln>
        </p:spPr>
        <p:txBody>
          <a:bodyPr wrap="square" lIns="0" tIns="0" rIns="0" bIns="0" anchor="ctr">
            <a:noAutofit/>
          </a:bodyPr>
          <a:lstStyle/>
          <a:p>
            <a:pPr algn="ctr">
              <a:lnSpc>
                <a:spcPct val="100000"/>
              </a:lnSpc>
              <a:buNone/>
            </a:pPr>
            <a:r>
              <a:rPr lang="es-CL" sz="1050" b="0" spc="0" dirty="0">
                <a:solidFill>
                  <a:srgbClr val="5A7290"/>
                </a:solidFill>
              </a:rPr>
              <a:t>un único extractor</a:t>
            </a:r>
          </a:p>
        </p:txBody>
      </p:sp>
      <p:sp>
        <p:nvSpPr>
          <p:cNvPr id="1019" name="sh1019"/>
          <p:cNvSpPr/>
          <p:nvPr/>
        </p:nvSpPr>
        <p:spPr>
          <a:xfrm>
            <a:off x="3683000" y="4191000"/>
            <a:ext cx="0" cy="177800"/>
          </a:xfrm>
          <a:prstGeom prst="line">
            <a:avLst/>
          </a:prstGeom>
          <a:noFill/>
          <a:ln w="12700">
            <a:solidFill>
              <a:srgbClr val="9FB3C8"/>
            </a:solidFill>
            <a:tailEnd type="triangle" w="med" len="med"/>
          </a:ln>
        </p:spPr>
        <p:txBody>
          <a:bodyPr/>
          <a:lstStyle/>
          <a:p>
            <a:endParaRPr lang="es-CL"/>
          </a:p>
        </p:txBody>
      </p:sp>
      <p:sp>
        <p:nvSpPr>
          <p:cNvPr id="1020" name="sh1020"/>
          <p:cNvSpPr/>
          <p:nvPr/>
        </p:nvSpPr>
        <p:spPr>
          <a:xfrm>
            <a:off x="2260600" y="4368800"/>
            <a:ext cx="2844800" cy="609600"/>
          </a:xfrm>
          <a:prstGeom prst="rect">
            <a:avLst/>
          </a:prstGeom>
          <a:solidFill>
            <a:srgbClr val="F2F6FA"/>
          </a:solidFill>
          <a:ln w="12700">
            <a:solidFill>
              <a:srgbClr val="0F3358"/>
            </a:solidFill>
          </a:ln>
        </p:spPr>
        <p:txBody>
          <a:bodyPr/>
          <a:lstStyle/>
          <a:p>
            <a:endParaRPr lang="es-CL"/>
          </a:p>
        </p:txBody>
      </p:sp>
      <p:sp>
        <p:nvSpPr>
          <p:cNvPr id="1021" name="sh1021"/>
          <p:cNvSpPr/>
          <p:nvPr/>
        </p:nvSpPr>
        <p:spPr>
          <a:xfrm>
            <a:off x="2273300" y="4368800"/>
            <a:ext cx="2844800" cy="31750"/>
          </a:xfrm>
          <a:prstGeom prst="rect">
            <a:avLst/>
          </a:prstGeom>
          <a:solidFill>
            <a:srgbClr val="0F3358"/>
          </a:solidFill>
          <a:ln>
            <a:noFill/>
          </a:ln>
        </p:spPr>
        <p:txBody>
          <a:bodyPr/>
          <a:lstStyle/>
          <a:p>
            <a:endParaRPr lang="es-CL"/>
          </a:p>
        </p:txBody>
      </p:sp>
      <p:sp>
        <p:nvSpPr>
          <p:cNvPr id="1022" name="sh1022"/>
          <p:cNvSpPr/>
          <p:nvPr/>
        </p:nvSpPr>
        <p:spPr>
          <a:xfrm>
            <a:off x="2387600" y="4495800"/>
            <a:ext cx="2590800" cy="203200"/>
          </a:xfrm>
          <a:prstGeom prst="rect">
            <a:avLst/>
          </a:prstGeom>
          <a:noFill/>
          <a:ln>
            <a:noFill/>
          </a:ln>
        </p:spPr>
        <p:txBody>
          <a:bodyPr wrap="square" lIns="0" tIns="0" rIns="0" bIns="0" anchor="ctr">
            <a:noAutofit/>
          </a:bodyPr>
          <a:lstStyle/>
          <a:p>
            <a:pPr algn="ctr">
              <a:lnSpc>
                <a:spcPct val="100000"/>
              </a:lnSpc>
              <a:buNone/>
            </a:pPr>
            <a:r>
              <a:rPr lang="es-CL" sz="1300" b="1" spc="0" dirty="0">
                <a:solidFill>
                  <a:srgbClr val="0A1524"/>
                </a:solidFill>
              </a:rPr>
              <a:t>CONGELAMIENTO</a:t>
            </a:r>
          </a:p>
        </p:txBody>
      </p:sp>
      <p:sp>
        <p:nvSpPr>
          <p:cNvPr id="1023" name="sh1023"/>
          <p:cNvSpPr/>
          <p:nvPr/>
        </p:nvSpPr>
        <p:spPr>
          <a:xfrm>
            <a:off x="2387600" y="4724400"/>
            <a:ext cx="2590800" cy="177800"/>
          </a:xfrm>
          <a:prstGeom prst="rect">
            <a:avLst/>
          </a:prstGeom>
          <a:noFill/>
          <a:ln>
            <a:noFill/>
          </a:ln>
        </p:spPr>
        <p:txBody>
          <a:bodyPr wrap="square" lIns="0" tIns="0" rIns="0" bIns="0" anchor="ctr">
            <a:noAutofit/>
          </a:bodyPr>
          <a:lstStyle/>
          <a:p>
            <a:pPr algn="ctr">
              <a:lnSpc>
                <a:spcPct val="100000"/>
              </a:lnSpc>
              <a:buNone/>
            </a:pPr>
            <a:r>
              <a:rPr lang="es-CL" sz="1050" b="0" spc="0" dirty="0">
                <a:solidFill>
                  <a:srgbClr val="5A7290"/>
                </a:solidFill>
              </a:rPr>
              <a:t>modelo, versión, prompt y parámetros</a:t>
            </a:r>
          </a:p>
        </p:txBody>
      </p:sp>
      <p:sp>
        <p:nvSpPr>
          <p:cNvPr id="1024" name="sh1024"/>
          <p:cNvSpPr/>
          <p:nvPr/>
        </p:nvSpPr>
        <p:spPr>
          <a:xfrm>
            <a:off x="3683000" y="4978400"/>
            <a:ext cx="0" cy="177800"/>
          </a:xfrm>
          <a:prstGeom prst="line">
            <a:avLst/>
          </a:prstGeom>
          <a:noFill/>
          <a:ln w="12700">
            <a:solidFill>
              <a:srgbClr val="9FB3C8"/>
            </a:solidFill>
            <a:tailEnd type="triangle" w="med" len="med"/>
          </a:ln>
        </p:spPr>
        <p:txBody>
          <a:bodyPr/>
          <a:lstStyle/>
          <a:p>
            <a:endParaRPr lang="es-CL"/>
          </a:p>
        </p:txBody>
      </p:sp>
      <p:sp>
        <p:nvSpPr>
          <p:cNvPr id="1025" name="sh1025"/>
          <p:cNvSpPr/>
          <p:nvPr/>
        </p:nvSpPr>
        <p:spPr>
          <a:xfrm>
            <a:off x="2032000" y="5156200"/>
            <a:ext cx="3302000" cy="254000"/>
          </a:xfrm>
          <a:prstGeom prst="rect">
            <a:avLst/>
          </a:prstGeom>
          <a:noFill/>
          <a:ln>
            <a:noFill/>
          </a:ln>
        </p:spPr>
        <p:txBody>
          <a:bodyPr wrap="square" lIns="0" tIns="0" rIns="0" bIns="0" anchor="ctr">
            <a:noAutofit/>
          </a:bodyPr>
          <a:lstStyle/>
          <a:p>
            <a:pPr algn="ctr">
              <a:lnSpc>
                <a:spcPct val="100000"/>
              </a:lnSpc>
              <a:buNone/>
            </a:pPr>
            <a:r>
              <a:rPr lang="es-CL" sz="950" b="1" spc="120" dirty="0">
                <a:solidFill>
                  <a:srgbClr val="0A6D82"/>
                </a:solidFill>
              </a:rPr>
              <a:t>OUTPUT DEL PROCEDIMIENTO</a:t>
            </a:r>
          </a:p>
        </p:txBody>
      </p:sp>
      <p:sp>
        <p:nvSpPr>
          <p:cNvPr id="1026" name="sh1026"/>
          <p:cNvSpPr/>
          <p:nvPr/>
        </p:nvSpPr>
        <p:spPr>
          <a:xfrm>
            <a:off x="2032000" y="5435600"/>
            <a:ext cx="3302000" cy="635000"/>
          </a:xfrm>
          <a:prstGeom prst="rect">
            <a:avLst/>
          </a:prstGeom>
          <a:solidFill>
            <a:srgbClr val="12406E"/>
          </a:solidFill>
          <a:ln>
            <a:noFill/>
          </a:ln>
        </p:spPr>
        <p:txBody>
          <a:bodyPr/>
          <a:lstStyle/>
          <a:p>
            <a:endParaRPr lang="es-CL"/>
          </a:p>
        </p:txBody>
      </p:sp>
      <p:sp>
        <p:nvSpPr>
          <p:cNvPr id="1027" name="sh1027"/>
          <p:cNvSpPr/>
          <p:nvPr/>
        </p:nvSpPr>
        <p:spPr>
          <a:xfrm>
            <a:off x="2184400" y="5562600"/>
            <a:ext cx="2997200" cy="228600"/>
          </a:xfrm>
          <a:prstGeom prst="rect">
            <a:avLst/>
          </a:prstGeom>
          <a:noFill/>
          <a:ln>
            <a:noFill/>
          </a:ln>
        </p:spPr>
        <p:txBody>
          <a:bodyPr wrap="square" lIns="0" tIns="0" rIns="0" bIns="0" anchor="ctr">
            <a:noAutofit/>
          </a:bodyPr>
          <a:lstStyle/>
          <a:p>
            <a:pPr algn="ctr">
              <a:lnSpc>
                <a:spcPct val="100000"/>
              </a:lnSpc>
              <a:buNone/>
            </a:pPr>
            <a:r>
              <a:rPr lang="es-CL" sz="1200" b="1" spc="0" dirty="0">
                <a:solidFill>
                  <a:srgbClr val="FFFFFF"/>
                </a:solidFill>
              </a:rPr>
              <a:t>C2 · BASE ESTRUCTURADA AUTOMÁTICA</a:t>
            </a:r>
          </a:p>
        </p:txBody>
      </p:sp>
      <p:sp>
        <p:nvSpPr>
          <p:cNvPr id="1028" name="sh1028"/>
          <p:cNvSpPr/>
          <p:nvPr/>
        </p:nvSpPr>
        <p:spPr>
          <a:xfrm>
            <a:off x="2184400" y="5816600"/>
            <a:ext cx="29972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9FB3C8"/>
                </a:solidFill>
              </a:rPr>
              <a:t>condición evaluada en el Experimento B</a:t>
            </a:r>
          </a:p>
        </p:txBody>
      </p:sp>
      <p:sp>
        <p:nvSpPr>
          <p:cNvPr id="1029" name="sh1029"/>
          <p:cNvSpPr/>
          <p:nvPr/>
        </p:nvSpPr>
        <p:spPr>
          <a:xfrm>
            <a:off x="7112000" y="2006600"/>
            <a:ext cx="4318000" cy="38100"/>
          </a:xfrm>
          <a:prstGeom prst="rect">
            <a:avLst/>
          </a:prstGeom>
          <a:solidFill>
            <a:srgbClr val="0A6D82"/>
          </a:solidFill>
          <a:ln>
            <a:noFill/>
          </a:ln>
        </p:spPr>
        <p:txBody>
          <a:bodyPr/>
          <a:lstStyle/>
          <a:p>
            <a:endParaRPr lang="es-CL"/>
          </a:p>
        </p:txBody>
      </p:sp>
      <p:sp>
        <p:nvSpPr>
          <p:cNvPr id="1030" name="sh1030"/>
          <p:cNvSpPr/>
          <p:nvPr/>
        </p:nvSpPr>
        <p:spPr>
          <a:xfrm>
            <a:off x="7112000" y="2159000"/>
            <a:ext cx="4318000" cy="203200"/>
          </a:xfrm>
          <a:prstGeom prst="rect">
            <a:avLst/>
          </a:prstGeom>
          <a:noFill/>
          <a:ln>
            <a:noFill/>
          </a:ln>
        </p:spPr>
        <p:txBody>
          <a:bodyPr wrap="square" lIns="0" tIns="0" rIns="0" bIns="0" anchor="ctr">
            <a:noAutofit/>
          </a:bodyPr>
          <a:lstStyle/>
          <a:p>
            <a:pPr algn="l">
              <a:lnSpc>
                <a:spcPct val="100000"/>
              </a:lnSpc>
              <a:buNone/>
            </a:pPr>
            <a:r>
              <a:rPr lang="es-CL" sz="1150" b="1" spc="60" dirty="0">
                <a:solidFill>
                  <a:srgbClr val="0A6D82"/>
                </a:solidFill>
              </a:rPr>
              <a:t>SOBRE QUÉ SE DECIDE</a:t>
            </a:r>
          </a:p>
        </p:txBody>
      </p:sp>
      <p:sp>
        <p:nvSpPr>
          <p:cNvPr id="1031" name="sh1031"/>
          <p:cNvSpPr/>
          <p:nvPr/>
        </p:nvSpPr>
        <p:spPr>
          <a:xfrm>
            <a:off x="7112000" y="2489200"/>
            <a:ext cx="4318000" cy="1778000"/>
          </a:xfrm>
          <a:prstGeom prst="rect">
            <a:avLst/>
          </a:prstGeom>
          <a:noFill/>
          <a:ln>
            <a:noFill/>
          </a:ln>
        </p:spPr>
        <p:txBody>
          <a:bodyPr wrap="square" lIns="0" tIns="0" rIns="0" bIns="0" anchor="t">
            <a:noAutofit/>
          </a:bodyPr>
          <a:lstStyle/>
          <a:p>
            <a:pPr marL="127000" indent="-127000" algn="l">
              <a:lnSpc>
                <a:spcPct val="100000"/>
              </a:lnSpc>
              <a:buClr>
                <a:srgbClr val="0A6D82"/>
              </a:buClr>
              <a:buFont typeface="Segoe UI"/>
              <a:buChar char="–"/>
            </a:pPr>
            <a:r>
              <a:rPr lang="es-CL" sz="1300" b="0" spc="0" dirty="0">
                <a:solidFill>
                  <a:srgbClr val="0A1524"/>
                </a:solidFill>
              </a:rPr>
              <a:t>Métricas de calidad de extracción del Experimento A</a:t>
            </a:r>
          </a:p>
          <a:p>
            <a:pPr marL="127000" indent="-127000" algn="l">
              <a:lnSpc>
                <a:spcPct val="100000"/>
              </a:lnSpc>
              <a:buClr>
                <a:srgbClr val="0A6D82"/>
              </a:buClr>
              <a:buFont typeface="Segoe UI"/>
              <a:buChar char="–"/>
            </a:pPr>
            <a:r>
              <a:rPr lang="es-CL" sz="1300" b="0" spc="0" dirty="0">
                <a:solidFill>
                  <a:srgbClr val="0A1524"/>
                </a:solidFill>
              </a:rPr>
              <a:t>Criterio de selección predefinido</a:t>
            </a:r>
          </a:p>
          <a:p>
            <a:pPr marL="127000" indent="-127000" algn="l">
              <a:lnSpc>
                <a:spcPct val="100000"/>
              </a:lnSpc>
              <a:buClr>
                <a:srgbClr val="0A6D82"/>
              </a:buClr>
              <a:buFont typeface="Segoe UI"/>
              <a:buChar char="–"/>
            </a:pPr>
            <a:r>
              <a:rPr lang="es-CL" sz="1300" b="0" spc="0" dirty="0">
                <a:solidFill>
                  <a:srgbClr val="0A1524"/>
                </a:solidFill>
              </a:rPr>
              <a:t>Sin fórmula ni ponderaciones fijadas todavía</a:t>
            </a:r>
          </a:p>
        </p:txBody>
      </p:sp>
      <p:sp>
        <p:nvSpPr>
          <p:cNvPr id="1032" name="sh1032"/>
          <p:cNvSpPr/>
          <p:nvPr/>
        </p:nvSpPr>
        <p:spPr>
          <a:xfrm>
            <a:off x="7112000" y="4419600"/>
            <a:ext cx="4318000" cy="330200"/>
          </a:xfrm>
          <a:prstGeom prst="rect">
            <a:avLst/>
          </a:prstGeom>
          <a:noFill/>
          <a:ln w="12700">
            <a:solidFill>
              <a:srgbClr val="12406E"/>
            </a:solidFill>
          </a:ln>
        </p:spPr>
        <p:txBody>
          <a:bodyPr wrap="square" lIns="0" tIns="0" rIns="0" bIns="0" anchor="ctr">
            <a:noAutofit/>
          </a:bodyPr>
          <a:lstStyle/>
          <a:p>
            <a:pPr algn="ctr">
              <a:lnSpc>
                <a:spcPct val="100000"/>
              </a:lnSpc>
              <a:buNone/>
            </a:pPr>
            <a:r>
              <a:rPr lang="es-CL" sz="1000" b="1" spc="80" dirty="0">
                <a:solidFill>
                  <a:srgbClr val="12406E"/>
                </a:solidFill>
              </a:rPr>
              <a:t>CRITERIO PREDEFINIDO · EXTRACTOR CONGELADO</a:t>
            </a:r>
          </a:p>
        </p:txBody>
      </p:sp>
      <p:sp>
        <p:nvSpPr>
          <p:cNvPr id="1033" name="sh1033"/>
          <p:cNvSpPr/>
          <p:nvPr/>
        </p:nvSpPr>
        <p:spPr>
          <a:xfrm>
            <a:off x="7112000" y="4978400"/>
            <a:ext cx="4318000" cy="1092200"/>
          </a:xfrm>
          <a:prstGeom prst="rect">
            <a:avLst/>
          </a:prstGeom>
          <a:solidFill>
            <a:srgbClr val="F5F8FB"/>
          </a:solidFill>
          <a:ln>
            <a:noFill/>
          </a:ln>
        </p:spPr>
        <p:txBody>
          <a:bodyPr wrap="square" lIns="152400" tIns="0" rIns="152400" bIns="0" anchor="ctr">
            <a:noAutofit/>
          </a:bodyPr>
          <a:lstStyle/>
          <a:p>
            <a:pPr algn="l">
              <a:lnSpc>
                <a:spcPct val="130000"/>
              </a:lnSpc>
              <a:buNone/>
            </a:pPr>
            <a:r>
              <a:rPr lang="es-CL" sz="1150" b="0" spc="0" dirty="0">
                <a:solidFill>
                  <a:srgbClr val="4A5F78"/>
                </a:solidFill>
              </a:rPr>
              <a:t>El extractor se selecciona con criterios predefinidos en el Experimento A y luego se congela: modelo, versión, prompt y parámetros quedan fijados y documentados. C2 se construye exclusivamente con su salida automática.</a:t>
            </a:r>
          </a:p>
        </p:txBody>
      </p:sp>
      <p:sp>
        <p:nvSpPr>
          <p:cNvPr id="1034" name="sh1034"/>
          <p:cNvSpPr/>
          <p:nvPr/>
        </p:nvSpPr>
        <p:spPr>
          <a:xfrm>
            <a:off x="762000" y="6172200"/>
            <a:ext cx="38100" cy="0"/>
          </a:xfrm>
          <a:prstGeom prst="rect">
            <a:avLst/>
          </a:prstGeom>
          <a:solidFill>
            <a:srgbClr val="FFFFFF"/>
          </a:solidFill>
          <a:ln>
            <a:noFill/>
          </a:ln>
        </p:spPr>
        <p:txBody>
          <a:bodyPr/>
          <a:lstStyle/>
          <a:p>
            <a:endParaRPr lang="es-CL"/>
          </a:p>
        </p:txBody>
      </p:sp>
      <p:sp>
        <p:nvSpPr>
          <p:cNvPr id="1035" name="sh1035"/>
          <p:cNvSpPr/>
          <p:nvPr/>
        </p:nvSpPr>
        <p:spPr>
          <a:xfrm>
            <a:off x="762000" y="6146800"/>
            <a:ext cx="10668000" cy="203200"/>
          </a:xfrm>
          <a:prstGeom prst="rect">
            <a:avLst/>
          </a:prstGeom>
          <a:noFill/>
          <a:ln>
            <a:noFill/>
          </a:ln>
        </p:spPr>
        <p:txBody>
          <a:bodyPr wrap="square" lIns="0" tIns="0" rIns="0" bIns="0" anchor="ctr">
            <a:noAutofit/>
          </a:bodyPr>
          <a:lstStyle/>
          <a:p>
            <a:pPr algn="l">
              <a:lnSpc>
                <a:spcPct val="100000"/>
              </a:lnSpc>
              <a:buNone/>
            </a:pPr>
            <a:r>
              <a:rPr lang="es-CL" sz="1100" b="1" spc="0" dirty="0">
                <a:solidFill>
                  <a:srgbClr val="12406E"/>
                </a:solidFill>
              </a:rPr>
              <a:t>No se elige retrospectivamente el extractor que favorezca el resultado end-to-end de C2 en el Experimento B.</a:t>
            </a:r>
          </a:p>
        </p:txBody>
      </p:sp>
    </p:spTree>
    <p:extLst>
      <p:ext uri="{BB962C8B-B14F-4D97-AF65-F5344CB8AC3E}">
        <p14:creationId xmlns:p14="http://schemas.microsoft.com/office/powerpoint/2010/main" val="18850038"/>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EXPERIMENTO B · COMPARACIÓN PAREADA</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Experimento B compara dos pipelines completos</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[ 19 ]</a:t>
            </a:r>
          </a:p>
        </p:txBody>
      </p:sp>
      <p:sp>
        <p:nvSpPr>
          <p:cNvPr id="1005" name="sh1005"/>
          <p:cNvSpPr/>
          <p:nvPr/>
        </p:nvSpPr>
        <p:spPr>
          <a:xfrm>
            <a:off x="762000" y="1778000"/>
            <a:ext cx="10668000" cy="279400"/>
          </a:xfrm>
          <a:prstGeom prst="rect">
            <a:avLst/>
          </a:prstGeom>
          <a:solidFill>
            <a:srgbClr val="12406E"/>
          </a:solidFill>
          <a:ln>
            <a:noFill/>
          </a:ln>
        </p:spPr>
        <p:txBody>
          <a:bodyPr wrap="square" lIns="0" tIns="0" rIns="0" bIns="0" anchor="ctr">
            <a:noAutofit/>
          </a:bodyPr>
          <a:lstStyle/>
          <a:p>
            <a:pPr algn="ctr">
              <a:lnSpc>
                <a:spcPct val="100000"/>
              </a:lnSpc>
              <a:buNone/>
            </a:pPr>
            <a:r>
              <a:rPr lang="es-CL" sz="1050" b="1" spc="100" dirty="0">
                <a:solidFill>
                  <a:srgbClr val="FFFFFF"/>
                </a:solidFill>
              </a:rPr>
              <a:t>MISMO CORPUS · MISMO BANCO · MISMOS CASOS · MISMO GENERADOR · MISMO PRESUPUESTO DE CONTEXTO</a:t>
            </a:r>
          </a:p>
        </p:txBody>
      </p:sp>
      <p:sp>
        <p:nvSpPr>
          <p:cNvPr id="1006" name="sh1006"/>
          <p:cNvSpPr/>
          <p:nvPr/>
        </p:nvSpPr>
        <p:spPr>
          <a:xfrm>
            <a:off x="762000" y="2235200"/>
            <a:ext cx="4318000" cy="190500"/>
          </a:xfrm>
          <a:prstGeom prst="rect">
            <a:avLst/>
          </a:prstGeom>
          <a:noFill/>
          <a:ln>
            <a:noFill/>
          </a:ln>
        </p:spPr>
        <p:txBody>
          <a:bodyPr wrap="square" lIns="0" tIns="0" rIns="0" bIns="0" anchor="ctr">
            <a:noAutofit/>
          </a:bodyPr>
          <a:lstStyle/>
          <a:p>
            <a:pPr algn="l">
              <a:lnSpc>
                <a:spcPct val="100000"/>
              </a:lnSpc>
              <a:buNone/>
            </a:pPr>
            <a:r>
              <a:rPr lang="es-CL" sz="1200" b="1" spc="60" dirty="0">
                <a:solidFill>
                  <a:srgbClr val="5A7290"/>
                </a:solidFill>
              </a:rPr>
              <a:t>C1 · RAG DOCUMENTAL</a:t>
            </a:r>
          </a:p>
        </p:txBody>
      </p:sp>
      <p:sp>
        <p:nvSpPr>
          <p:cNvPr id="1007" name="sh1007"/>
          <p:cNvSpPr/>
          <p:nvPr/>
        </p:nvSpPr>
        <p:spPr>
          <a:xfrm>
            <a:off x="5080000" y="2235200"/>
            <a:ext cx="6350000" cy="190500"/>
          </a:xfrm>
          <a:prstGeom prst="rect">
            <a:avLst/>
          </a:prstGeom>
          <a:noFill/>
          <a:ln>
            <a:noFill/>
          </a:ln>
        </p:spPr>
        <p:txBody>
          <a:bodyPr wrap="square" lIns="0" tIns="0" rIns="0" bIns="0" anchor="ctr">
            <a:noAutofit/>
          </a:bodyPr>
          <a:lstStyle/>
          <a:p>
            <a:pPr algn="r">
              <a:lnSpc>
                <a:spcPct val="100000"/>
              </a:lnSpc>
              <a:buNone/>
            </a:pPr>
            <a:r>
              <a:rPr lang="es-CL" sz="1000" b="0" spc="0" dirty="0">
                <a:solidFill>
                  <a:srgbClr val="5A7290"/>
                </a:solidFill>
              </a:rPr>
              <a:t>condición de referencia</a:t>
            </a:r>
          </a:p>
        </p:txBody>
      </p:sp>
      <p:sp>
        <p:nvSpPr>
          <p:cNvPr id="1008" name="sh1008"/>
          <p:cNvSpPr/>
          <p:nvPr/>
        </p:nvSpPr>
        <p:spPr>
          <a:xfrm>
            <a:off x="762000" y="2489200"/>
            <a:ext cx="1409700" cy="736600"/>
          </a:xfrm>
          <a:prstGeom prst="rect">
            <a:avLst/>
          </a:prstGeom>
          <a:solidFill>
            <a:srgbClr val="F7FAFC"/>
          </a:solidFill>
          <a:ln w="12700">
            <a:solidFill>
              <a:srgbClr val="5A7290"/>
            </a:solidFill>
          </a:ln>
        </p:spPr>
        <p:txBody>
          <a:bodyPr/>
          <a:lstStyle/>
          <a:p>
            <a:endParaRPr lang="es-CL"/>
          </a:p>
        </p:txBody>
      </p:sp>
      <p:sp>
        <p:nvSpPr>
          <p:cNvPr id="1009" name="sh1009"/>
          <p:cNvSpPr/>
          <p:nvPr/>
        </p:nvSpPr>
        <p:spPr>
          <a:xfrm>
            <a:off x="850900" y="2590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TRANSCRIPCIÓN</a:t>
            </a:r>
          </a:p>
        </p:txBody>
      </p:sp>
      <p:sp>
        <p:nvSpPr>
          <p:cNvPr id="1010" name="sh1010"/>
          <p:cNvSpPr/>
          <p:nvPr/>
        </p:nvSpPr>
        <p:spPr>
          <a:xfrm>
            <a:off x="2184400" y="2844800"/>
            <a:ext cx="114300" cy="0"/>
          </a:xfrm>
          <a:prstGeom prst="line">
            <a:avLst/>
          </a:prstGeom>
          <a:noFill/>
          <a:ln w="12700">
            <a:solidFill>
              <a:srgbClr val="9FB3C8"/>
            </a:solidFill>
            <a:tailEnd type="triangle" w="sm" len="sm"/>
          </a:ln>
        </p:spPr>
        <p:txBody>
          <a:bodyPr/>
          <a:lstStyle/>
          <a:p>
            <a:endParaRPr lang="es-CL"/>
          </a:p>
        </p:txBody>
      </p:sp>
      <p:sp>
        <p:nvSpPr>
          <p:cNvPr id="1011" name="sh1011"/>
          <p:cNvSpPr/>
          <p:nvPr/>
        </p:nvSpPr>
        <p:spPr>
          <a:xfrm>
            <a:off x="2305050" y="2489200"/>
            <a:ext cx="1409700" cy="736600"/>
          </a:xfrm>
          <a:prstGeom prst="rect">
            <a:avLst/>
          </a:prstGeom>
          <a:solidFill>
            <a:srgbClr val="F7FAFC"/>
          </a:solidFill>
          <a:ln w="12700">
            <a:solidFill>
              <a:srgbClr val="5A7290"/>
            </a:solidFill>
          </a:ln>
        </p:spPr>
        <p:txBody>
          <a:bodyPr/>
          <a:lstStyle/>
          <a:p>
            <a:endParaRPr lang="es-CL"/>
          </a:p>
        </p:txBody>
      </p:sp>
      <p:sp>
        <p:nvSpPr>
          <p:cNvPr id="1012" name="sh1012"/>
          <p:cNvSpPr/>
          <p:nvPr/>
        </p:nvSpPr>
        <p:spPr>
          <a:xfrm>
            <a:off x="2393950" y="2590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FRAGMENTACIÓN</a:t>
            </a:r>
          </a:p>
        </p:txBody>
      </p:sp>
      <p:sp>
        <p:nvSpPr>
          <p:cNvPr id="1013" name="sh1013"/>
          <p:cNvSpPr/>
          <p:nvPr/>
        </p:nvSpPr>
        <p:spPr>
          <a:xfrm>
            <a:off x="3727450" y="2844800"/>
            <a:ext cx="114300" cy="0"/>
          </a:xfrm>
          <a:prstGeom prst="line">
            <a:avLst/>
          </a:prstGeom>
          <a:noFill/>
          <a:ln w="12700">
            <a:solidFill>
              <a:srgbClr val="9FB3C8"/>
            </a:solidFill>
            <a:tailEnd type="triangle" w="sm" len="sm"/>
          </a:ln>
        </p:spPr>
        <p:txBody>
          <a:bodyPr/>
          <a:lstStyle/>
          <a:p>
            <a:endParaRPr lang="es-CL"/>
          </a:p>
        </p:txBody>
      </p:sp>
      <p:sp>
        <p:nvSpPr>
          <p:cNvPr id="1014" name="sh1014"/>
          <p:cNvSpPr/>
          <p:nvPr/>
        </p:nvSpPr>
        <p:spPr>
          <a:xfrm>
            <a:off x="3848100" y="2489200"/>
            <a:ext cx="1409700" cy="736600"/>
          </a:xfrm>
          <a:prstGeom prst="rect">
            <a:avLst/>
          </a:prstGeom>
          <a:solidFill>
            <a:srgbClr val="F7FAFC"/>
          </a:solidFill>
          <a:ln w="12700">
            <a:solidFill>
              <a:srgbClr val="5A7290"/>
            </a:solidFill>
          </a:ln>
        </p:spPr>
        <p:txBody>
          <a:bodyPr/>
          <a:lstStyle/>
          <a:p>
            <a:endParaRPr lang="es-CL"/>
          </a:p>
        </p:txBody>
      </p:sp>
      <p:sp>
        <p:nvSpPr>
          <p:cNvPr id="1015" name="sh1015"/>
          <p:cNvSpPr/>
          <p:nvPr/>
        </p:nvSpPr>
        <p:spPr>
          <a:xfrm>
            <a:off x="3937000" y="2590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ÍNDICE DOCUMENTAL</a:t>
            </a:r>
          </a:p>
        </p:txBody>
      </p:sp>
      <p:sp>
        <p:nvSpPr>
          <p:cNvPr id="1016" name="sh1016"/>
          <p:cNvSpPr/>
          <p:nvPr/>
        </p:nvSpPr>
        <p:spPr>
          <a:xfrm>
            <a:off x="5270500" y="2844800"/>
            <a:ext cx="114300" cy="0"/>
          </a:xfrm>
          <a:prstGeom prst="line">
            <a:avLst/>
          </a:prstGeom>
          <a:noFill/>
          <a:ln w="12700">
            <a:solidFill>
              <a:srgbClr val="9FB3C8"/>
            </a:solidFill>
            <a:tailEnd type="triangle" w="sm" len="sm"/>
          </a:ln>
        </p:spPr>
        <p:txBody>
          <a:bodyPr/>
          <a:lstStyle/>
          <a:p>
            <a:endParaRPr lang="es-CL"/>
          </a:p>
        </p:txBody>
      </p:sp>
      <p:sp>
        <p:nvSpPr>
          <p:cNvPr id="1017" name="sh1017"/>
          <p:cNvSpPr/>
          <p:nvPr/>
        </p:nvSpPr>
        <p:spPr>
          <a:xfrm>
            <a:off x="5391150" y="2489200"/>
            <a:ext cx="1409700" cy="736600"/>
          </a:xfrm>
          <a:prstGeom prst="rect">
            <a:avLst/>
          </a:prstGeom>
          <a:solidFill>
            <a:srgbClr val="F7FAFC"/>
          </a:solidFill>
          <a:ln w="12700">
            <a:solidFill>
              <a:srgbClr val="5A7290"/>
            </a:solidFill>
          </a:ln>
        </p:spPr>
        <p:txBody>
          <a:bodyPr/>
          <a:lstStyle/>
          <a:p>
            <a:endParaRPr lang="es-CL"/>
          </a:p>
        </p:txBody>
      </p:sp>
      <p:sp>
        <p:nvSpPr>
          <p:cNvPr id="1018" name="sh1018"/>
          <p:cNvSpPr/>
          <p:nvPr/>
        </p:nvSpPr>
        <p:spPr>
          <a:xfrm>
            <a:off x="5480050" y="2590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RECUPERACIÓN DE PASAJES</a:t>
            </a:r>
          </a:p>
        </p:txBody>
      </p:sp>
      <p:sp>
        <p:nvSpPr>
          <p:cNvPr id="1019" name="sh1019"/>
          <p:cNvSpPr/>
          <p:nvPr/>
        </p:nvSpPr>
        <p:spPr>
          <a:xfrm>
            <a:off x="6813550" y="2844800"/>
            <a:ext cx="114300" cy="0"/>
          </a:xfrm>
          <a:prstGeom prst="line">
            <a:avLst/>
          </a:prstGeom>
          <a:noFill/>
          <a:ln w="12700">
            <a:solidFill>
              <a:srgbClr val="9FB3C8"/>
            </a:solidFill>
            <a:tailEnd type="triangle" w="sm" len="sm"/>
          </a:ln>
        </p:spPr>
        <p:txBody>
          <a:bodyPr/>
          <a:lstStyle/>
          <a:p>
            <a:endParaRPr lang="es-CL"/>
          </a:p>
        </p:txBody>
      </p:sp>
      <p:sp>
        <p:nvSpPr>
          <p:cNvPr id="1020" name="sh1020"/>
          <p:cNvSpPr/>
          <p:nvPr/>
        </p:nvSpPr>
        <p:spPr>
          <a:xfrm>
            <a:off x="6934200" y="2489200"/>
            <a:ext cx="1409700" cy="736600"/>
          </a:xfrm>
          <a:prstGeom prst="rect">
            <a:avLst/>
          </a:prstGeom>
          <a:solidFill>
            <a:srgbClr val="EAF3F7"/>
          </a:solidFill>
          <a:ln w="15875">
            <a:solidFill>
              <a:srgbClr val="0E9BB5"/>
            </a:solidFill>
          </a:ln>
        </p:spPr>
        <p:txBody>
          <a:bodyPr/>
          <a:lstStyle/>
          <a:p>
            <a:endParaRPr lang="es-CL"/>
          </a:p>
        </p:txBody>
      </p:sp>
      <p:sp>
        <p:nvSpPr>
          <p:cNvPr id="1021" name="sh1021"/>
          <p:cNvSpPr/>
          <p:nvPr/>
        </p:nvSpPr>
        <p:spPr>
          <a:xfrm>
            <a:off x="7023100" y="2590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CONTEXTO</a:t>
            </a:r>
          </a:p>
        </p:txBody>
      </p:sp>
      <p:sp>
        <p:nvSpPr>
          <p:cNvPr id="1022" name="sh1022"/>
          <p:cNvSpPr/>
          <p:nvPr/>
        </p:nvSpPr>
        <p:spPr>
          <a:xfrm>
            <a:off x="8356600" y="2844800"/>
            <a:ext cx="114300" cy="0"/>
          </a:xfrm>
          <a:prstGeom prst="line">
            <a:avLst/>
          </a:prstGeom>
          <a:noFill/>
          <a:ln w="12700">
            <a:solidFill>
              <a:srgbClr val="9FB3C8"/>
            </a:solidFill>
            <a:tailEnd type="triangle" w="sm" len="sm"/>
          </a:ln>
        </p:spPr>
        <p:txBody>
          <a:bodyPr/>
          <a:lstStyle/>
          <a:p>
            <a:endParaRPr lang="es-CL"/>
          </a:p>
        </p:txBody>
      </p:sp>
      <p:sp>
        <p:nvSpPr>
          <p:cNvPr id="1023" name="sh1023"/>
          <p:cNvSpPr/>
          <p:nvPr/>
        </p:nvSpPr>
        <p:spPr>
          <a:xfrm>
            <a:off x="8477250" y="2489200"/>
            <a:ext cx="1409700" cy="736600"/>
          </a:xfrm>
          <a:prstGeom prst="rect">
            <a:avLst/>
          </a:prstGeom>
          <a:solidFill>
            <a:srgbClr val="EAF3F7"/>
          </a:solidFill>
          <a:ln w="15875">
            <a:solidFill>
              <a:srgbClr val="0E9BB5"/>
            </a:solidFill>
          </a:ln>
        </p:spPr>
        <p:txBody>
          <a:bodyPr/>
          <a:lstStyle/>
          <a:p>
            <a:endParaRPr lang="es-CL"/>
          </a:p>
        </p:txBody>
      </p:sp>
      <p:sp>
        <p:nvSpPr>
          <p:cNvPr id="1024" name="sh1024"/>
          <p:cNvSpPr/>
          <p:nvPr/>
        </p:nvSpPr>
        <p:spPr>
          <a:xfrm>
            <a:off x="8566150" y="2590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GENERADOR</a:t>
            </a:r>
          </a:p>
        </p:txBody>
      </p:sp>
      <p:sp>
        <p:nvSpPr>
          <p:cNvPr id="1025" name="sh1025"/>
          <p:cNvSpPr/>
          <p:nvPr/>
        </p:nvSpPr>
        <p:spPr>
          <a:xfrm>
            <a:off x="9899650" y="2844800"/>
            <a:ext cx="114300" cy="0"/>
          </a:xfrm>
          <a:prstGeom prst="line">
            <a:avLst/>
          </a:prstGeom>
          <a:noFill/>
          <a:ln w="12700">
            <a:solidFill>
              <a:srgbClr val="9FB3C8"/>
            </a:solidFill>
            <a:tailEnd type="triangle" w="sm" len="sm"/>
          </a:ln>
        </p:spPr>
        <p:txBody>
          <a:bodyPr/>
          <a:lstStyle/>
          <a:p>
            <a:endParaRPr lang="es-CL"/>
          </a:p>
        </p:txBody>
      </p:sp>
      <p:sp>
        <p:nvSpPr>
          <p:cNvPr id="1026" name="sh1026"/>
          <p:cNvSpPr/>
          <p:nvPr/>
        </p:nvSpPr>
        <p:spPr>
          <a:xfrm>
            <a:off x="10020300" y="2489200"/>
            <a:ext cx="1409700" cy="736600"/>
          </a:xfrm>
          <a:prstGeom prst="rect">
            <a:avLst/>
          </a:prstGeom>
          <a:solidFill>
            <a:srgbClr val="EAF3F7"/>
          </a:solidFill>
          <a:ln w="15875">
            <a:solidFill>
              <a:srgbClr val="0E9BB5"/>
            </a:solidFill>
          </a:ln>
        </p:spPr>
        <p:txBody>
          <a:bodyPr/>
          <a:lstStyle/>
          <a:p>
            <a:endParaRPr lang="es-CL"/>
          </a:p>
        </p:txBody>
      </p:sp>
      <p:sp>
        <p:nvSpPr>
          <p:cNvPr id="1027" name="sh1027"/>
          <p:cNvSpPr/>
          <p:nvPr/>
        </p:nvSpPr>
        <p:spPr>
          <a:xfrm>
            <a:off x="10109200" y="2590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RESPUESTA</a:t>
            </a:r>
          </a:p>
        </p:txBody>
      </p:sp>
      <p:sp>
        <p:nvSpPr>
          <p:cNvPr id="1028" name="sh1028"/>
          <p:cNvSpPr/>
          <p:nvPr/>
        </p:nvSpPr>
        <p:spPr>
          <a:xfrm>
            <a:off x="762000" y="3632200"/>
            <a:ext cx="4318000" cy="190500"/>
          </a:xfrm>
          <a:prstGeom prst="rect">
            <a:avLst/>
          </a:prstGeom>
          <a:noFill/>
          <a:ln>
            <a:noFill/>
          </a:ln>
        </p:spPr>
        <p:txBody>
          <a:bodyPr wrap="square" lIns="0" tIns="0" rIns="0" bIns="0" anchor="ctr">
            <a:noAutofit/>
          </a:bodyPr>
          <a:lstStyle/>
          <a:p>
            <a:pPr algn="l">
              <a:lnSpc>
                <a:spcPct val="100000"/>
              </a:lnSpc>
              <a:buNone/>
            </a:pPr>
            <a:r>
              <a:rPr lang="es-CL" sz="1200" b="1" spc="60" dirty="0">
                <a:solidFill>
                  <a:srgbClr val="12406E"/>
                </a:solidFill>
              </a:rPr>
              <a:t>C2 · BASE ESTRUCTURADA AUTOMÁTICA</a:t>
            </a:r>
          </a:p>
        </p:txBody>
      </p:sp>
      <p:sp>
        <p:nvSpPr>
          <p:cNvPr id="1029" name="sh1029"/>
          <p:cNvSpPr/>
          <p:nvPr/>
        </p:nvSpPr>
        <p:spPr>
          <a:xfrm>
            <a:off x="5080000" y="3632200"/>
            <a:ext cx="6350000" cy="190500"/>
          </a:xfrm>
          <a:prstGeom prst="rect">
            <a:avLst/>
          </a:prstGeom>
          <a:noFill/>
          <a:ln>
            <a:noFill/>
          </a:ln>
        </p:spPr>
        <p:txBody>
          <a:bodyPr wrap="square" lIns="0" tIns="0" rIns="0" bIns="0" anchor="ctr">
            <a:noAutofit/>
          </a:bodyPr>
          <a:lstStyle/>
          <a:p>
            <a:pPr algn="r">
              <a:lnSpc>
                <a:spcPct val="100000"/>
              </a:lnSpc>
              <a:buNone/>
            </a:pPr>
            <a:r>
              <a:rPr lang="es-CL" sz="1000" b="0" spc="0" dirty="0">
                <a:solidFill>
                  <a:srgbClr val="5A7290"/>
                </a:solidFill>
              </a:rPr>
              <a:t>condición evaluada</a:t>
            </a:r>
          </a:p>
        </p:txBody>
      </p:sp>
      <p:sp>
        <p:nvSpPr>
          <p:cNvPr id="1030" name="sh1030"/>
          <p:cNvSpPr/>
          <p:nvPr/>
        </p:nvSpPr>
        <p:spPr>
          <a:xfrm>
            <a:off x="762000" y="3886200"/>
            <a:ext cx="1409700" cy="736600"/>
          </a:xfrm>
          <a:prstGeom prst="rect">
            <a:avLst/>
          </a:prstGeom>
          <a:solidFill>
            <a:srgbClr val="F2F6FA"/>
          </a:solidFill>
          <a:ln w="12700">
            <a:solidFill>
              <a:srgbClr val="12406E"/>
            </a:solidFill>
          </a:ln>
        </p:spPr>
        <p:txBody>
          <a:bodyPr/>
          <a:lstStyle/>
          <a:p>
            <a:endParaRPr lang="es-CL"/>
          </a:p>
        </p:txBody>
      </p:sp>
      <p:sp>
        <p:nvSpPr>
          <p:cNvPr id="1031" name="sh1031"/>
          <p:cNvSpPr/>
          <p:nvPr/>
        </p:nvSpPr>
        <p:spPr>
          <a:xfrm>
            <a:off x="850900" y="3987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TRANSCRIPCIÓN</a:t>
            </a:r>
          </a:p>
        </p:txBody>
      </p:sp>
      <p:sp>
        <p:nvSpPr>
          <p:cNvPr id="1032" name="sh1032"/>
          <p:cNvSpPr/>
          <p:nvPr/>
        </p:nvSpPr>
        <p:spPr>
          <a:xfrm>
            <a:off x="2184400" y="4241800"/>
            <a:ext cx="114300" cy="0"/>
          </a:xfrm>
          <a:prstGeom prst="line">
            <a:avLst/>
          </a:prstGeom>
          <a:noFill/>
          <a:ln w="12700">
            <a:solidFill>
              <a:srgbClr val="9FB3C8"/>
            </a:solidFill>
            <a:tailEnd type="triangle" w="sm" len="sm"/>
          </a:ln>
        </p:spPr>
        <p:txBody>
          <a:bodyPr/>
          <a:lstStyle/>
          <a:p>
            <a:endParaRPr lang="es-CL"/>
          </a:p>
        </p:txBody>
      </p:sp>
      <p:sp>
        <p:nvSpPr>
          <p:cNvPr id="1033" name="sh1033"/>
          <p:cNvSpPr/>
          <p:nvPr/>
        </p:nvSpPr>
        <p:spPr>
          <a:xfrm>
            <a:off x="2305050" y="3886200"/>
            <a:ext cx="1409700" cy="736600"/>
          </a:xfrm>
          <a:prstGeom prst="rect">
            <a:avLst/>
          </a:prstGeom>
          <a:solidFill>
            <a:srgbClr val="F2F6FA"/>
          </a:solidFill>
          <a:ln w="12700">
            <a:solidFill>
              <a:srgbClr val="12406E"/>
            </a:solidFill>
          </a:ln>
        </p:spPr>
        <p:txBody>
          <a:bodyPr/>
          <a:lstStyle/>
          <a:p>
            <a:endParaRPr lang="es-CL"/>
          </a:p>
        </p:txBody>
      </p:sp>
      <p:sp>
        <p:nvSpPr>
          <p:cNvPr id="1034" name="sh1034"/>
          <p:cNvSpPr/>
          <p:nvPr/>
        </p:nvSpPr>
        <p:spPr>
          <a:xfrm>
            <a:off x="2393950" y="3987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EXTRACTOR CONGELADO</a:t>
            </a:r>
          </a:p>
        </p:txBody>
      </p:sp>
      <p:sp>
        <p:nvSpPr>
          <p:cNvPr id="1035" name="sh1035"/>
          <p:cNvSpPr/>
          <p:nvPr/>
        </p:nvSpPr>
        <p:spPr>
          <a:xfrm>
            <a:off x="3727450" y="4241800"/>
            <a:ext cx="114300" cy="0"/>
          </a:xfrm>
          <a:prstGeom prst="line">
            <a:avLst/>
          </a:prstGeom>
          <a:noFill/>
          <a:ln w="12700">
            <a:solidFill>
              <a:srgbClr val="9FB3C8"/>
            </a:solidFill>
            <a:tailEnd type="triangle" w="sm" len="sm"/>
          </a:ln>
        </p:spPr>
        <p:txBody>
          <a:bodyPr/>
          <a:lstStyle/>
          <a:p>
            <a:endParaRPr lang="es-CL"/>
          </a:p>
        </p:txBody>
      </p:sp>
      <p:sp>
        <p:nvSpPr>
          <p:cNvPr id="1036" name="sh1036"/>
          <p:cNvSpPr/>
          <p:nvPr/>
        </p:nvSpPr>
        <p:spPr>
          <a:xfrm>
            <a:off x="3848100" y="3886200"/>
            <a:ext cx="1409700" cy="736600"/>
          </a:xfrm>
          <a:prstGeom prst="rect">
            <a:avLst/>
          </a:prstGeom>
          <a:solidFill>
            <a:srgbClr val="F2F6FA"/>
          </a:solidFill>
          <a:ln w="12700">
            <a:solidFill>
              <a:srgbClr val="12406E"/>
            </a:solidFill>
          </a:ln>
        </p:spPr>
        <p:txBody>
          <a:bodyPr/>
          <a:lstStyle/>
          <a:p>
            <a:endParaRPr lang="es-CL"/>
          </a:p>
        </p:txBody>
      </p:sp>
      <p:sp>
        <p:nvSpPr>
          <p:cNvPr id="1037" name="sh1037"/>
          <p:cNvSpPr/>
          <p:nvPr/>
        </p:nvSpPr>
        <p:spPr>
          <a:xfrm>
            <a:off x="3937000" y="3987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OBJETOS DE DECISIÓN</a:t>
            </a:r>
          </a:p>
        </p:txBody>
      </p:sp>
      <p:sp>
        <p:nvSpPr>
          <p:cNvPr id="1038" name="sh1038"/>
          <p:cNvSpPr/>
          <p:nvPr/>
        </p:nvSpPr>
        <p:spPr>
          <a:xfrm>
            <a:off x="5270500" y="4241800"/>
            <a:ext cx="114300" cy="0"/>
          </a:xfrm>
          <a:prstGeom prst="line">
            <a:avLst/>
          </a:prstGeom>
          <a:noFill/>
          <a:ln w="12700">
            <a:solidFill>
              <a:srgbClr val="9FB3C8"/>
            </a:solidFill>
            <a:tailEnd type="triangle" w="sm" len="sm"/>
          </a:ln>
        </p:spPr>
        <p:txBody>
          <a:bodyPr/>
          <a:lstStyle/>
          <a:p>
            <a:endParaRPr lang="es-CL"/>
          </a:p>
        </p:txBody>
      </p:sp>
      <p:sp>
        <p:nvSpPr>
          <p:cNvPr id="1039" name="sh1039"/>
          <p:cNvSpPr/>
          <p:nvPr/>
        </p:nvSpPr>
        <p:spPr>
          <a:xfrm>
            <a:off x="5391150" y="3886200"/>
            <a:ext cx="1409700" cy="736600"/>
          </a:xfrm>
          <a:prstGeom prst="rect">
            <a:avLst/>
          </a:prstGeom>
          <a:solidFill>
            <a:srgbClr val="F2F6FA"/>
          </a:solidFill>
          <a:ln w="12700">
            <a:solidFill>
              <a:srgbClr val="12406E"/>
            </a:solidFill>
          </a:ln>
        </p:spPr>
        <p:txBody>
          <a:bodyPr/>
          <a:lstStyle/>
          <a:p>
            <a:endParaRPr lang="es-CL"/>
          </a:p>
        </p:txBody>
      </p:sp>
      <p:sp>
        <p:nvSpPr>
          <p:cNvPr id="1040" name="sh1040"/>
          <p:cNvSpPr/>
          <p:nvPr/>
        </p:nvSpPr>
        <p:spPr>
          <a:xfrm>
            <a:off x="5480050" y="3987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RECUPERACIÓN ESTRUCTURADA</a:t>
            </a:r>
          </a:p>
        </p:txBody>
      </p:sp>
      <p:sp>
        <p:nvSpPr>
          <p:cNvPr id="1041" name="sh1041"/>
          <p:cNvSpPr/>
          <p:nvPr/>
        </p:nvSpPr>
        <p:spPr>
          <a:xfrm>
            <a:off x="6813550" y="4241800"/>
            <a:ext cx="114300" cy="0"/>
          </a:xfrm>
          <a:prstGeom prst="line">
            <a:avLst/>
          </a:prstGeom>
          <a:noFill/>
          <a:ln w="12700">
            <a:solidFill>
              <a:srgbClr val="9FB3C8"/>
            </a:solidFill>
            <a:tailEnd type="triangle" w="sm" len="sm"/>
          </a:ln>
        </p:spPr>
        <p:txBody>
          <a:bodyPr/>
          <a:lstStyle/>
          <a:p>
            <a:endParaRPr lang="es-CL"/>
          </a:p>
        </p:txBody>
      </p:sp>
      <p:sp>
        <p:nvSpPr>
          <p:cNvPr id="1042" name="sh1042"/>
          <p:cNvSpPr/>
          <p:nvPr/>
        </p:nvSpPr>
        <p:spPr>
          <a:xfrm>
            <a:off x="6934200" y="3886200"/>
            <a:ext cx="1409700" cy="736600"/>
          </a:xfrm>
          <a:prstGeom prst="rect">
            <a:avLst/>
          </a:prstGeom>
          <a:solidFill>
            <a:srgbClr val="EAF3F7"/>
          </a:solidFill>
          <a:ln w="15875">
            <a:solidFill>
              <a:srgbClr val="0E9BB5"/>
            </a:solidFill>
          </a:ln>
        </p:spPr>
        <p:txBody>
          <a:bodyPr/>
          <a:lstStyle/>
          <a:p>
            <a:endParaRPr lang="es-CL"/>
          </a:p>
        </p:txBody>
      </p:sp>
      <p:sp>
        <p:nvSpPr>
          <p:cNvPr id="1043" name="sh1043"/>
          <p:cNvSpPr/>
          <p:nvPr/>
        </p:nvSpPr>
        <p:spPr>
          <a:xfrm>
            <a:off x="7023100" y="3987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CONTEXTO</a:t>
            </a:r>
          </a:p>
        </p:txBody>
      </p:sp>
      <p:sp>
        <p:nvSpPr>
          <p:cNvPr id="1044" name="sh1044"/>
          <p:cNvSpPr/>
          <p:nvPr/>
        </p:nvSpPr>
        <p:spPr>
          <a:xfrm>
            <a:off x="8356600" y="4241800"/>
            <a:ext cx="114300" cy="0"/>
          </a:xfrm>
          <a:prstGeom prst="line">
            <a:avLst/>
          </a:prstGeom>
          <a:noFill/>
          <a:ln w="12700">
            <a:solidFill>
              <a:srgbClr val="9FB3C8"/>
            </a:solidFill>
            <a:tailEnd type="triangle" w="sm" len="sm"/>
          </a:ln>
        </p:spPr>
        <p:txBody>
          <a:bodyPr/>
          <a:lstStyle/>
          <a:p>
            <a:endParaRPr lang="es-CL"/>
          </a:p>
        </p:txBody>
      </p:sp>
      <p:sp>
        <p:nvSpPr>
          <p:cNvPr id="1045" name="sh1045"/>
          <p:cNvSpPr/>
          <p:nvPr/>
        </p:nvSpPr>
        <p:spPr>
          <a:xfrm>
            <a:off x="8477250" y="3886200"/>
            <a:ext cx="1409700" cy="736600"/>
          </a:xfrm>
          <a:prstGeom prst="rect">
            <a:avLst/>
          </a:prstGeom>
          <a:solidFill>
            <a:srgbClr val="EAF3F7"/>
          </a:solidFill>
          <a:ln w="15875">
            <a:solidFill>
              <a:srgbClr val="0E9BB5"/>
            </a:solidFill>
          </a:ln>
        </p:spPr>
        <p:txBody>
          <a:bodyPr/>
          <a:lstStyle/>
          <a:p>
            <a:endParaRPr lang="es-CL"/>
          </a:p>
        </p:txBody>
      </p:sp>
      <p:sp>
        <p:nvSpPr>
          <p:cNvPr id="1046" name="sh1046"/>
          <p:cNvSpPr/>
          <p:nvPr/>
        </p:nvSpPr>
        <p:spPr>
          <a:xfrm>
            <a:off x="8566150" y="3987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MISMO GENERADOR</a:t>
            </a:r>
          </a:p>
        </p:txBody>
      </p:sp>
      <p:sp>
        <p:nvSpPr>
          <p:cNvPr id="1047" name="sh1047"/>
          <p:cNvSpPr/>
          <p:nvPr/>
        </p:nvSpPr>
        <p:spPr>
          <a:xfrm>
            <a:off x="9899650" y="4241800"/>
            <a:ext cx="114300" cy="0"/>
          </a:xfrm>
          <a:prstGeom prst="line">
            <a:avLst/>
          </a:prstGeom>
          <a:noFill/>
          <a:ln w="12700">
            <a:solidFill>
              <a:srgbClr val="9FB3C8"/>
            </a:solidFill>
            <a:tailEnd type="triangle" w="sm" len="sm"/>
          </a:ln>
        </p:spPr>
        <p:txBody>
          <a:bodyPr/>
          <a:lstStyle/>
          <a:p>
            <a:endParaRPr lang="es-CL"/>
          </a:p>
        </p:txBody>
      </p:sp>
      <p:sp>
        <p:nvSpPr>
          <p:cNvPr id="1048" name="sh1048"/>
          <p:cNvSpPr/>
          <p:nvPr/>
        </p:nvSpPr>
        <p:spPr>
          <a:xfrm>
            <a:off x="10020300" y="3886200"/>
            <a:ext cx="1409700" cy="736600"/>
          </a:xfrm>
          <a:prstGeom prst="rect">
            <a:avLst/>
          </a:prstGeom>
          <a:solidFill>
            <a:srgbClr val="EAF3F7"/>
          </a:solidFill>
          <a:ln w="15875">
            <a:solidFill>
              <a:srgbClr val="0E9BB5"/>
            </a:solidFill>
          </a:ln>
        </p:spPr>
        <p:txBody>
          <a:bodyPr/>
          <a:lstStyle/>
          <a:p>
            <a:endParaRPr lang="es-CL"/>
          </a:p>
        </p:txBody>
      </p:sp>
      <p:sp>
        <p:nvSpPr>
          <p:cNvPr id="1049" name="sh1049"/>
          <p:cNvSpPr/>
          <p:nvPr/>
        </p:nvSpPr>
        <p:spPr>
          <a:xfrm>
            <a:off x="10109200" y="3987800"/>
            <a:ext cx="1231900" cy="558800"/>
          </a:xfrm>
          <a:prstGeom prst="rect">
            <a:avLst/>
          </a:prstGeom>
          <a:noFill/>
          <a:ln>
            <a:noFill/>
          </a:ln>
        </p:spPr>
        <p:txBody>
          <a:bodyPr wrap="square" lIns="0" tIns="0" rIns="0" bIns="0" anchor="ctr">
            <a:noAutofit/>
          </a:bodyPr>
          <a:lstStyle/>
          <a:p>
            <a:pPr algn="ctr">
              <a:lnSpc>
                <a:spcPct val="110000"/>
              </a:lnSpc>
              <a:buNone/>
            </a:pPr>
            <a:r>
              <a:rPr lang="es-CL" sz="1050" b="1" spc="0" dirty="0">
                <a:solidFill>
                  <a:srgbClr val="0A1524"/>
                </a:solidFill>
              </a:rPr>
              <a:t>RESPUESTA</a:t>
            </a:r>
          </a:p>
        </p:txBody>
      </p:sp>
      <p:sp>
        <p:nvSpPr>
          <p:cNvPr id="1051" name="sh1051"/>
          <p:cNvSpPr/>
          <p:nvPr/>
        </p:nvSpPr>
        <p:spPr>
          <a:xfrm>
            <a:off x="6908800" y="4927600"/>
            <a:ext cx="4521200" cy="9525"/>
          </a:xfrm>
          <a:prstGeom prst="rect">
            <a:avLst/>
          </a:prstGeom>
          <a:solidFill>
            <a:srgbClr val="0E9BB5"/>
          </a:solidFill>
          <a:ln>
            <a:noFill/>
          </a:ln>
        </p:spPr>
        <p:txBody>
          <a:bodyPr/>
          <a:lstStyle/>
          <a:p>
            <a:endParaRPr lang="es-CL"/>
          </a:p>
        </p:txBody>
      </p:sp>
      <p:sp>
        <p:nvSpPr>
          <p:cNvPr id="1052" name="sh1052"/>
          <p:cNvSpPr/>
          <p:nvPr/>
        </p:nvSpPr>
        <p:spPr>
          <a:xfrm>
            <a:off x="6908800" y="4978400"/>
            <a:ext cx="4521200" cy="177800"/>
          </a:xfrm>
          <a:prstGeom prst="rect">
            <a:avLst/>
          </a:prstGeom>
          <a:noFill/>
          <a:ln>
            <a:noFill/>
          </a:ln>
        </p:spPr>
        <p:txBody>
          <a:bodyPr wrap="square" lIns="0" tIns="0" rIns="0" bIns="0" anchor="ctr">
            <a:noAutofit/>
          </a:bodyPr>
          <a:lstStyle/>
          <a:p>
            <a:pPr algn="ctr">
              <a:lnSpc>
                <a:spcPct val="100000"/>
              </a:lnSpc>
              <a:buNone/>
            </a:pPr>
            <a:r>
              <a:rPr lang="es-CL" sz="950" b="1" spc="80" dirty="0">
                <a:solidFill>
                  <a:srgbClr val="0A6D82"/>
                </a:solidFill>
              </a:rPr>
              <a:t>ETAPAS COMPARTIDAS EN AMBAS CONDICIONES</a:t>
            </a:r>
          </a:p>
        </p:txBody>
      </p:sp>
      <p:sp>
        <p:nvSpPr>
          <p:cNvPr id="1053" name="sh1053"/>
          <p:cNvSpPr/>
          <p:nvPr/>
        </p:nvSpPr>
        <p:spPr>
          <a:xfrm>
            <a:off x="762000" y="5257800"/>
            <a:ext cx="38100" cy="762000"/>
          </a:xfrm>
          <a:prstGeom prst="rect">
            <a:avLst/>
          </a:prstGeom>
          <a:solidFill>
            <a:srgbClr val="2ED3E8"/>
          </a:solidFill>
          <a:ln>
            <a:noFill/>
          </a:ln>
        </p:spPr>
        <p:txBody>
          <a:bodyPr/>
          <a:lstStyle/>
          <a:p>
            <a:endParaRPr lang="es-CL"/>
          </a:p>
        </p:txBody>
      </p:sp>
      <p:sp>
        <p:nvSpPr>
          <p:cNvPr id="1054" name="sh1054"/>
          <p:cNvSpPr/>
          <p:nvPr/>
        </p:nvSpPr>
        <p:spPr>
          <a:xfrm>
            <a:off x="990600" y="5232400"/>
            <a:ext cx="10414000" cy="203200"/>
          </a:xfrm>
          <a:prstGeom prst="rect">
            <a:avLst/>
          </a:prstGeom>
          <a:noFill/>
          <a:ln>
            <a:noFill/>
          </a:ln>
        </p:spPr>
        <p:txBody>
          <a:bodyPr wrap="square" lIns="0" tIns="0" rIns="0" bIns="0" anchor="ctr">
            <a:noAutofit/>
          </a:bodyPr>
          <a:lstStyle/>
          <a:p>
            <a:pPr algn="l">
              <a:lnSpc>
                <a:spcPct val="100000"/>
              </a:lnSpc>
              <a:buNone/>
            </a:pPr>
            <a:r>
              <a:rPr lang="es-CL" sz="1000" b="1" spc="120" dirty="0">
                <a:solidFill>
                  <a:srgbClr val="0A6D82"/>
                </a:solidFill>
              </a:rPr>
              <a:t>ELEMENTOS CONTROLADOS E INTERPRETACIÓN METODOLÓGICA</a:t>
            </a:r>
          </a:p>
        </p:txBody>
      </p:sp>
      <p:sp>
        <p:nvSpPr>
          <p:cNvPr id="1055" name="sh1055"/>
          <p:cNvSpPr/>
          <p:nvPr/>
        </p:nvSpPr>
        <p:spPr>
          <a:xfrm>
            <a:off x="990600" y="5486400"/>
            <a:ext cx="10414000" cy="5588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Controlados, en la medida de lo posible: corpus e historial disponible, banco de preguntas, generador, instrucciones de respuesta, presupuesto de contexto y hardware y configuración de medición cuando se compare eficiencia.</a:t>
            </a:r>
          </a:p>
          <a:p>
            <a:pPr algn="l">
              <a:lnSpc>
                <a:spcPct val="130000"/>
              </a:lnSpc>
              <a:buNone/>
            </a:pPr>
            <a:r>
              <a:rPr lang="es-CL" sz="1150" b="0" spc="0" dirty="0">
                <a:solidFill>
                  <a:srgbClr val="1E3A52"/>
                </a:solidFill>
              </a:rPr>
              <a:t>C1 y C2 difieren a la vez en representación, construcción previa y recuperación: B estima una diferencia end-to-end, no el efecto causal puro de la estructura.</a:t>
            </a:r>
          </a:p>
        </p:txBody>
      </p:sp>
      <p:sp>
        <p:nvSpPr>
          <p:cNvPr id="1056" name="sh1056"/>
          <p:cNvSpPr/>
          <p:nvPr/>
        </p:nvSpPr>
        <p:spPr>
          <a:xfrm>
            <a:off x="762000" y="6223000"/>
            <a:ext cx="96520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Lewis et al. (2020) · diseño pareado y control de variables</a:t>
            </a:r>
          </a:p>
        </p:txBody>
      </p:sp>
    </p:spTree>
    <p:extLst>
      <p:ext uri="{BB962C8B-B14F-4D97-AF65-F5344CB8AC3E}">
        <p14:creationId xmlns:p14="http://schemas.microsoft.com/office/powerpoint/2010/main" val="3165885568"/>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762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INTERPRETACIÓN CONJUNTA A + B</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600" b="1" spc="0" dirty="0">
                <a:solidFill>
                  <a:srgbClr val="12406E"/>
                </a:solidFill>
              </a:rPr>
              <a:t>Experimento A contextualiza B; no descompone causalmente B</a:t>
            </a:r>
          </a:p>
        </p:txBody>
      </p:sp>
      <p:sp>
        <p:nvSpPr>
          <p:cNvPr id="1003" name="sh1003"/>
          <p:cNvSpPr/>
          <p:nvPr/>
        </p:nvSpPr>
        <p:spPr>
          <a:xfrm>
            <a:off x="762000" y="1524000"/>
            <a:ext cx="1524000" cy="19050"/>
          </a:xfrm>
          <a:prstGeom prst="rect">
            <a:avLst/>
          </a:prstGeom>
          <a:solidFill>
            <a:srgbClr val="2ED3E8"/>
          </a:solidFill>
          <a:ln>
            <a:noFill/>
          </a:ln>
        </p:spPr>
        <p:txBody>
          <a:bodyPr wrap="square" lIns="0" tIns="0" rIns="0" bIns="0" anchor="t">
            <a:noAutofit/>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[ 20 ]</a:t>
            </a:r>
          </a:p>
        </p:txBody>
      </p:sp>
      <p:sp>
        <p:nvSpPr>
          <p:cNvPr id="1005" name="sh1005"/>
          <p:cNvSpPr/>
          <p:nvPr/>
        </p:nvSpPr>
        <p:spPr>
          <a:xfrm>
            <a:off x="762000" y="1879600"/>
            <a:ext cx="5207000" cy="431800"/>
          </a:xfrm>
          <a:prstGeom prst="rect">
            <a:avLst/>
          </a:prstGeom>
          <a:solidFill>
            <a:srgbClr val="F5F8FB"/>
          </a:solidFill>
          <a:ln>
            <a:noFill/>
          </a:ln>
        </p:spPr>
        <p:txBody>
          <a:bodyPr wrap="square" lIns="0" tIns="0" rIns="0" bIns="0" anchor="t">
            <a:noAutofit/>
          </a:bodyPr>
          <a:lstStyle/>
          <a:p>
            <a:endParaRPr lang="es-CL"/>
          </a:p>
        </p:txBody>
      </p:sp>
      <p:sp>
        <p:nvSpPr>
          <p:cNvPr id="1006" name="sh1006"/>
          <p:cNvSpPr/>
          <p:nvPr/>
        </p:nvSpPr>
        <p:spPr>
          <a:xfrm>
            <a:off x="762000" y="1879600"/>
            <a:ext cx="38100" cy="431800"/>
          </a:xfrm>
          <a:prstGeom prst="rect">
            <a:avLst/>
          </a:prstGeom>
          <a:solidFill>
            <a:srgbClr val="1D5C9E"/>
          </a:solidFill>
          <a:ln>
            <a:noFill/>
          </a:ln>
        </p:spPr>
        <p:txBody>
          <a:bodyPr wrap="square" lIns="0" tIns="0" rIns="0" bIns="0" anchor="t">
            <a:noAutofit/>
          </a:bodyPr>
          <a:lstStyle/>
          <a:p>
            <a:endParaRPr lang="es-CL"/>
          </a:p>
        </p:txBody>
      </p:sp>
      <p:sp>
        <p:nvSpPr>
          <p:cNvPr id="1007" name="sh1007"/>
          <p:cNvSpPr/>
          <p:nvPr/>
        </p:nvSpPr>
        <p:spPr>
          <a:xfrm>
            <a:off x="939800" y="1955800"/>
            <a:ext cx="2286000" cy="165100"/>
          </a:xfrm>
          <a:prstGeom prst="rect">
            <a:avLst/>
          </a:prstGeom>
          <a:noFill/>
          <a:ln>
            <a:noFill/>
          </a:ln>
        </p:spPr>
        <p:txBody>
          <a:bodyPr wrap="square" lIns="0" tIns="0" rIns="0" bIns="0" anchor="ctr">
            <a:noAutofit/>
          </a:bodyPr>
          <a:lstStyle/>
          <a:p>
            <a:pPr algn="l">
              <a:lnSpc>
                <a:spcPct val="100000"/>
              </a:lnSpc>
              <a:buNone/>
            </a:pPr>
            <a:r>
              <a:rPr lang="es-CL" sz="950" b="1" spc="80" dirty="0">
                <a:solidFill>
                  <a:srgbClr val="1D5C9E"/>
                </a:solidFill>
              </a:rPr>
              <a:t>EXPERIMENTO A</a:t>
            </a:r>
          </a:p>
        </p:txBody>
      </p:sp>
      <p:sp>
        <p:nvSpPr>
          <p:cNvPr id="1008" name="sh1008"/>
          <p:cNvSpPr/>
          <p:nvPr/>
        </p:nvSpPr>
        <p:spPr>
          <a:xfrm>
            <a:off x="939800" y="2133600"/>
            <a:ext cx="4851400" cy="177800"/>
          </a:xfrm>
          <a:prstGeom prst="rect">
            <a:avLst/>
          </a:prstGeom>
          <a:noFill/>
          <a:ln>
            <a:noFill/>
          </a:ln>
        </p:spPr>
        <p:txBody>
          <a:bodyPr wrap="square" lIns="0" tIns="0" rIns="0" bIns="0" anchor="ctr">
            <a:noAutofit/>
          </a:bodyPr>
          <a:lstStyle/>
          <a:p>
            <a:pPr algn="l">
              <a:lnSpc>
                <a:spcPct val="100000"/>
              </a:lnSpc>
              <a:buNone/>
            </a:pPr>
            <a:r>
              <a:rPr lang="es-CL" sz="1100" b="0" spc="0" dirty="0">
                <a:solidFill>
                  <a:srgbClr val="1E3A52"/>
                </a:solidFill>
              </a:rPr>
              <a:t>¿Qué calidad tiene el extractor congelado?</a:t>
            </a:r>
          </a:p>
        </p:txBody>
      </p:sp>
      <p:sp>
        <p:nvSpPr>
          <p:cNvPr id="1009" name="sh1009"/>
          <p:cNvSpPr/>
          <p:nvPr/>
        </p:nvSpPr>
        <p:spPr>
          <a:xfrm>
            <a:off x="6223000" y="1879600"/>
            <a:ext cx="5207000" cy="431800"/>
          </a:xfrm>
          <a:prstGeom prst="rect">
            <a:avLst/>
          </a:prstGeom>
          <a:solidFill>
            <a:srgbClr val="F5F8FB"/>
          </a:solidFill>
          <a:ln>
            <a:noFill/>
          </a:ln>
        </p:spPr>
        <p:txBody>
          <a:bodyPr wrap="square" lIns="0" tIns="0" rIns="0" bIns="0" anchor="t">
            <a:noAutofit/>
          </a:bodyPr>
          <a:lstStyle/>
          <a:p>
            <a:endParaRPr lang="es-CL"/>
          </a:p>
        </p:txBody>
      </p:sp>
      <p:sp>
        <p:nvSpPr>
          <p:cNvPr id="1010" name="sh1010"/>
          <p:cNvSpPr/>
          <p:nvPr/>
        </p:nvSpPr>
        <p:spPr>
          <a:xfrm>
            <a:off x="6223000" y="1879600"/>
            <a:ext cx="38100" cy="431800"/>
          </a:xfrm>
          <a:prstGeom prst="rect">
            <a:avLst/>
          </a:prstGeom>
          <a:solidFill>
            <a:srgbClr val="12406E"/>
          </a:solidFill>
          <a:ln>
            <a:noFill/>
          </a:ln>
        </p:spPr>
        <p:txBody>
          <a:bodyPr wrap="square" lIns="0" tIns="0" rIns="0" bIns="0" anchor="t">
            <a:noAutofit/>
          </a:bodyPr>
          <a:lstStyle/>
          <a:p>
            <a:endParaRPr lang="es-CL"/>
          </a:p>
        </p:txBody>
      </p:sp>
      <p:sp>
        <p:nvSpPr>
          <p:cNvPr id="1011" name="sh1011"/>
          <p:cNvSpPr/>
          <p:nvPr/>
        </p:nvSpPr>
        <p:spPr>
          <a:xfrm>
            <a:off x="6400800" y="1955800"/>
            <a:ext cx="2286000" cy="165100"/>
          </a:xfrm>
          <a:prstGeom prst="rect">
            <a:avLst/>
          </a:prstGeom>
          <a:noFill/>
          <a:ln>
            <a:noFill/>
          </a:ln>
        </p:spPr>
        <p:txBody>
          <a:bodyPr wrap="square" lIns="0" tIns="0" rIns="0" bIns="0" anchor="ctr">
            <a:noAutofit/>
          </a:bodyPr>
          <a:lstStyle/>
          <a:p>
            <a:pPr algn="l">
              <a:lnSpc>
                <a:spcPct val="100000"/>
              </a:lnSpc>
              <a:buNone/>
            </a:pPr>
            <a:r>
              <a:rPr lang="es-CL" sz="950" b="1" spc="80" dirty="0">
                <a:solidFill>
                  <a:srgbClr val="12406E"/>
                </a:solidFill>
              </a:rPr>
              <a:t>EXPERIMENTO B</a:t>
            </a:r>
          </a:p>
        </p:txBody>
      </p:sp>
      <p:sp>
        <p:nvSpPr>
          <p:cNvPr id="1012" name="sh1012"/>
          <p:cNvSpPr/>
          <p:nvPr/>
        </p:nvSpPr>
        <p:spPr>
          <a:xfrm>
            <a:off x="6400800" y="2133600"/>
            <a:ext cx="4851400" cy="177800"/>
          </a:xfrm>
          <a:prstGeom prst="rect">
            <a:avLst/>
          </a:prstGeom>
          <a:noFill/>
          <a:ln>
            <a:noFill/>
          </a:ln>
        </p:spPr>
        <p:txBody>
          <a:bodyPr wrap="square" lIns="0" tIns="0" rIns="0" bIns="0" anchor="ctr">
            <a:noAutofit/>
          </a:bodyPr>
          <a:lstStyle/>
          <a:p>
            <a:pPr algn="l">
              <a:lnSpc>
                <a:spcPct val="100000"/>
              </a:lnSpc>
              <a:buNone/>
            </a:pPr>
            <a:r>
              <a:rPr lang="es-CL" sz="1100" b="0" spc="0" dirty="0">
                <a:solidFill>
                  <a:srgbClr val="1E3A52"/>
                </a:solidFill>
              </a:rPr>
              <a:t>¿Cómo se comporta C2 frente a C1?</a:t>
            </a:r>
          </a:p>
        </p:txBody>
      </p:sp>
      <p:sp>
        <p:nvSpPr>
          <p:cNvPr id="1013" name="sh1013"/>
          <p:cNvSpPr/>
          <p:nvPr/>
        </p:nvSpPr>
        <p:spPr>
          <a:xfrm>
            <a:off x="1905000" y="2590800"/>
            <a:ext cx="9525000" cy="2844800"/>
          </a:xfrm>
          <a:prstGeom prst="rect">
            <a:avLst/>
          </a:prstGeom>
          <a:noFill/>
          <a:ln w="12700">
            <a:solidFill>
              <a:srgbClr val="C6D4E2"/>
            </a:solidFill>
          </a:ln>
        </p:spPr>
        <p:txBody>
          <a:bodyPr wrap="square" lIns="0" tIns="0" rIns="0" bIns="0" anchor="t">
            <a:noAutofit/>
          </a:bodyPr>
          <a:lstStyle/>
          <a:p>
            <a:endParaRPr lang="es-CL"/>
          </a:p>
        </p:txBody>
      </p:sp>
      <p:sp>
        <p:nvSpPr>
          <p:cNvPr id="1014" name="sh1014"/>
          <p:cNvSpPr/>
          <p:nvPr/>
        </p:nvSpPr>
        <p:spPr>
          <a:xfrm>
            <a:off x="6667500" y="2590800"/>
            <a:ext cx="0" cy="2844800"/>
          </a:xfrm>
          <a:prstGeom prst="line">
            <a:avLst/>
          </a:prstGeom>
          <a:noFill/>
          <a:ln w="12700">
            <a:solidFill>
              <a:srgbClr val="C6D4E2"/>
            </a:solidFill>
          </a:ln>
        </p:spPr>
        <p:txBody>
          <a:bodyPr wrap="square" lIns="0" tIns="0" rIns="0" bIns="0" anchor="t">
            <a:noAutofit/>
          </a:bodyPr>
          <a:lstStyle/>
          <a:p>
            <a:endParaRPr lang="es-CL"/>
          </a:p>
        </p:txBody>
      </p:sp>
      <p:sp>
        <p:nvSpPr>
          <p:cNvPr id="1015" name="sh1015"/>
          <p:cNvSpPr/>
          <p:nvPr/>
        </p:nvSpPr>
        <p:spPr>
          <a:xfrm>
            <a:off x="1905000" y="4013200"/>
            <a:ext cx="9525000" cy="0"/>
          </a:xfrm>
          <a:prstGeom prst="line">
            <a:avLst/>
          </a:prstGeom>
          <a:noFill/>
          <a:ln w="12700">
            <a:solidFill>
              <a:srgbClr val="C6D4E2"/>
            </a:solidFill>
          </a:ln>
        </p:spPr>
        <p:txBody>
          <a:bodyPr wrap="square" lIns="0" tIns="0" rIns="0" bIns="0" anchor="t">
            <a:noAutofit/>
          </a:bodyPr>
          <a:lstStyle/>
          <a:p>
            <a:endParaRPr lang="es-CL"/>
          </a:p>
        </p:txBody>
      </p:sp>
      <p:sp>
        <p:nvSpPr>
          <p:cNvPr id="1016" name="sh1016"/>
          <p:cNvSpPr/>
          <p:nvPr/>
        </p:nvSpPr>
        <p:spPr>
          <a:xfrm>
            <a:off x="1371600" y="2514600"/>
            <a:ext cx="431800" cy="2997200"/>
          </a:xfrm>
          <a:prstGeom prst="rect">
            <a:avLst/>
          </a:prstGeom>
          <a:noFill/>
          <a:ln>
            <a:noFill/>
          </a:ln>
        </p:spPr>
        <p:txBody>
          <a:bodyPr vert="vert270" wrap="square" lIns="0" tIns="0" rIns="0" bIns="0" anchor="ctr">
            <a:noAutofit/>
          </a:bodyPr>
          <a:lstStyle/>
          <a:p>
            <a:pPr algn="ctr">
              <a:lnSpc>
                <a:spcPct val="100000"/>
              </a:lnSpc>
              <a:buNone/>
            </a:pPr>
            <a:r>
              <a:rPr lang="es-CL" sz="950" b="1" spc="60" dirty="0">
                <a:solidFill>
                  <a:srgbClr val="5A7290"/>
                </a:solidFill>
              </a:rPr>
              <a:t>CALIDAD DE EXTRACCIÓN   baja → alta</a:t>
            </a:r>
          </a:p>
        </p:txBody>
      </p:sp>
      <p:sp>
        <p:nvSpPr>
          <p:cNvPr id="1017" name="sh1017"/>
          <p:cNvSpPr/>
          <p:nvPr/>
        </p:nvSpPr>
        <p:spPr>
          <a:xfrm>
            <a:off x="1905000" y="5486400"/>
            <a:ext cx="9525000" cy="152400"/>
          </a:xfrm>
          <a:prstGeom prst="rect">
            <a:avLst/>
          </a:prstGeom>
          <a:noFill/>
          <a:ln>
            <a:noFill/>
          </a:ln>
        </p:spPr>
        <p:txBody>
          <a:bodyPr wrap="square" lIns="0" tIns="0" rIns="0" bIns="0" anchor="ctr">
            <a:noAutofit/>
          </a:bodyPr>
          <a:lstStyle/>
          <a:p>
            <a:pPr algn="ctr">
              <a:lnSpc>
                <a:spcPct val="100000"/>
              </a:lnSpc>
              <a:buNone/>
            </a:pPr>
            <a:r>
              <a:rPr lang="es-CL" sz="950" b="1" spc="60" dirty="0">
                <a:solidFill>
                  <a:srgbClr val="5A7290"/>
                </a:solidFill>
              </a:rPr>
              <a:t>RESULTADO C2 vs C1   negativo → positivo</a:t>
            </a:r>
          </a:p>
        </p:txBody>
      </p:sp>
      <p:sp>
        <p:nvSpPr>
          <p:cNvPr id="1018" name="sh1018"/>
          <p:cNvSpPr/>
          <p:nvPr/>
        </p:nvSpPr>
        <p:spPr>
          <a:xfrm>
            <a:off x="2108200" y="2794000"/>
            <a:ext cx="4356100" cy="330200"/>
          </a:xfrm>
          <a:prstGeom prst="rect">
            <a:avLst/>
          </a:prstGeom>
          <a:noFill/>
          <a:ln>
            <a:noFill/>
          </a:ln>
        </p:spPr>
        <p:txBody>
          <a:bodyPr wrap="square" lIns="0" tIns="0" rIns="0" bIns="0" anchor="t">
            <a:noAutofit/>
          </a:bodyPr>
          <a:lstStyle/>
          <a:p>
            <a:pPr algn="l">
              <a:lnSpc>
                <a:spcPct val="110000"/>
              </a:lnSpc>
              <a:buNone/>
            </a:pPr>
            <a:r>
              <a:rPr lang="es-CL" sz="1100" b="1" spc="0" dirty="0">
                <a:solidFill>
                  <a:srgbClr val="5A7290"/>
                </a:solidFill>
              </a:rPr>
              <a:t>EXTRACCIÓN ALTA · SIN DIFERENCIA CONCLUYENTE o C1 &gt; C2</a:t>
            </a:r>
          </a:p>
        </p:txBody>
      </p:sp>
      <p:sp>
        <p:nvSpPr>
          <p:cNvPr id="1019" name="sh1019"/>
          <p:cNvSpPr/>
          <p:nvPr/>
        </p:nvSpPr>
        <p:spPr>
          <a:xfrm>
            <a:off x="2108200" y="3200400"/>
            <a:ext cx="4356100" cy="685800"/>
          </a:xfrm>
          <a:prstGeom prst="rect">
            <a:avLst/>
          </a:prstGeom>
          <a:noFill/>
          <a:ln>
            <a:noFill/>
          </a:ln>
        </p:spPr>
        <p:txBody>
          <a:bodyPr wrap="square" lIns="0" tIns="0" rIns="0" bIns="0" anchor="t">
            <a:noAutofit/>
          </a:bodyPr>
          <a:lstStyle/>
          <a:p>
            <a:pPr algn="l">
              <a:lnSpc>
                <a:spcPct val="125000"/>
              </a:lnSpc>
              <a:buNone/>
            </a:pPr>
            <a:r>
              <a:rPr lang="es-CL" sz="1200" b="0" spc="0" dirty="0">
                <a:solidFill>
                  <a:srgbClr val="1E3A52"/>
                </a:solidFill>
              </a:rPr>
              <a:t>No aparece evidencia concluyente de una ventaja de C2 en las tareas evaluadas.</a:t>
            </a:r>
          </a:p>
        </p:txBody>
      </p:sp>
      <p:sp>
        <p:nvSpPr>
          <p:cNvPr id="1020" name="sh1020"/>
          <p:cNvSpPr/>
          <p:nvPr/>
        </p:nvSpPr>
        <p:spPr>
          <a:xfrm>
            <a:off x="6870700" y="2794000"/>
            <a:ext cx="4356100" cy="330200"/>
          </a:xfrm>
          <a:prstGeom prst="rect">
            <a:avLst/>
          </a:prstGeom>
          <a:noFill/>
          <a:ln>
            <a:noFill/>
          </a:ln>
        </p:spPr>
        <p:txBody>
          <a:bodyPr wrap="square" lIns="0" tIns="0" rIns="0" bIns="0" anchor="t">
            <a:noAutofit/>
          </a:bodyPr>
          <a:lstStyle/>
          <a:p>
            <a:pPr algn="l">
              <a:lnSpc>
                <a:spcPct val="110000"/>
              </a:lnSpc>
              <a:buNone/>
            </a:pPr>
            <a:r>
              <a:rPr lang="es-CL" sz="1100" b="1" spc="0" dirty="0">
                <a:solidFill>
                  <a:srgbClr val="12406E"/>
                </a:solidFill>
              </a:rPr>
              <a:t>EXTRACCIÓN ALTA · C2 &gt; C1</a:t>
            </a:r>
          </a:p>
        </p:txBody>
      </p:sp>
      <p:sp>
        <p:nvSpPr>
          <p:cNvPr id="1021" name="sh1021"/>
          <p:cNvSpPr/>
          <p:nvPr/>
        </p:nvSpPr>
        <p:spPr>
          <a:xfrm>
            <a:off x="6870700" y="3200400"/>
            <a:ext cx="4356100" cy="685800"/>
          </a:xfrm>
          <a:prstGeom prst="rect">
            <a:avLst/>
          </a:prstGeom>
          <a:noFill/>
          <a:ln>
            <a:noFill/>
          </a:ln>
        </p:spPr>
        <p:txBody>
          <a:bodyPr wrap="square" lIns="0" tIns="0" rIns="0" bIns="0" anchor="t">
            <a:noAutofit/>
          </a:bodyPr>
          <a:lstStyle/>
          <a:p>
            <a:pPr algn="l">
              <a:lnSpc>
                <a:spcPct val="125000"/>
              </a:lnSpc>
              <a:buNone/>
            </a:pPr>
            <a:r>
              <a:rPr lang="es-CL" sz="1200" b="0" spc="0" dirty="0">
                <a:solidFill>
                  <a:srgbClr val="1E3A52"/>
                </a:solidFill>
              </a:rPr>
              <a:t>Ventaja end-to-end bajo estas condiciones.</a:t>
            </a:r>
          </a:p>
        </p:txBody>
      </p:sp>
      <p:sp>
        <p:nvSpPr>
          <p:cNvPr id="1022" name="sh1022"/>
          <p:cNvSpPr/>
          <p:nvPr/>
        </p:nvSpPr>
        <p:spPr>
          <a:xfrm>
            <a:off x="2108200" y="4216400"/>
            <a:ext cx="4356100" cy="330200"/>
          </a:xfrm>
          <a:prstGeom prst="rect">
            <a:avLst/>
          </a:prstGeom>
          <a:noFill/>
          <a:ln>
            <a:noFill/>
          </a:ln>
        </p:spPr>
        <p:txBody>
          <a:bodyPr wrap="square" lIns="0" tIns="0" rIns="0" bIns="0" anchor="t">
            <a:noAutofit/>
          </a:bodyPr>
          <a:lstStyle/>
          <a:p>
            <a:pPr algn="l">
              <a:lnSpc>
                <a:spcPct val="110000"/>
              </a:lnSpc>
              <a:buNone/>
            </a:pPr>
            <a:r>
              <a:rPr lang="es-CL" sz="1100" b="1" spc="0" dirty="0">
                <a:solidFill>
                  <a:srgbClr val="B03A2E"/>
                </a:solidFill>
              </a:rPr>
              <a:t>EXTRACCIÓN LIMITADA · C2 &lt; C1</a:t>
            </a:r>
          </a:p>
        </p:txBody>
      </p:sp>
      <p:sp>
        <p:nvSpPr>
          <p:cNvPr id="1023" name="sh1023"/>
          <p:cNvSpPr/>
          <p:nvPr/>
        </p:nvSpPr>
        <p:spPr>
          <a:xfrm>
            <a:off x="2108200" y="4622800"/>
            <a:ext cx="4356100" cy="685800"/>
          </a:xfrm>
          <a:prstGeom prst="rect">
            <a:avLst/>
          </a:prstGeom>
          <a:noFill/>
          <a:ln>
            <a:noFill/>
          </a:ln>
        </p:spPr>
        <p:txBody>
          <a:bodyPr wrap="square" lIns="0" tIns="0" rIns="0" bIns="0" anchor="t">
            <a:noAutofit/>
          </a:bodyPr>
          <a:lstStyle/>
          <a:p>
            <a:pPr algn="l">
              <a:lnSpc>
                <a:spcPct val="125000"/>
              </a:lnSpc>
              <a:buNone/>
            </a:pPr>
            <a:r>
              <a:rPr lang="es-CL" sz="1200" b="0" spc="0" dirty="0">
                <a:solidFill>
                  <a:srgbClr val="1E3A52"/>
                </a:solidFill>
              </a:rPr>
              <a:t>Extracción limitada puede contribuir al resultado; no identifica causalidad.</a:t>
            </a:r>
          </a:p>
        </p:txBody>
      </p:sp>
      <p:sp>
        <p:nvSpPr>
          <p:cNvPr id="1024" name="sh1024"/>
          <p:cNvSpPr/>
          <p:nvPr/>
        </p:nvSpPr>
        <p:spPr>
          <a:xfrm>
            <a:off x="6870700" y="4216400"/>
            <a:ext cx="4356100" cy="330200"/>
          </a:xfrm>
          <a:prstGeom prst="rect">
            <a:avLst/>
          </a:prstGeom>
          <a:noFill/>
          <a:ln>
            <a:noFill/>
          </a:ln>
        </p:spPr>
        <p:txBody>
          <a:bodyPr wrap="square" lIns="0" tIns="0" rIns="0" bIns="0" anchor="t">
            <a:noAutofit/>
          </a:bodyPr>
          <a:lstStyle/>
          <a:p>
            <a:pPr algn="l">
              <a:lnSpc>
                <a:spcPct val="110000"/>
              </a:lnSpc>
              <a:buNone/>
            </a:pPr>
            <a:r>
              <a:rPr lang="es-CL" sz="1100" b="1" spc="0" dirty="0">
                <a:solidFill>
                  <a:srgbClr val="0A6D82"/>
                </a:solidFill>
              </a:rPr>
              <a:t>EXTRACCIÓN LIMITADA · C2 &gt; C1</a:t>
            </a:r>
          </a:p>
        </p:txBody>
      </p:sp>
      <p:sp>
        <p:nvSpPr>
          <p:cNvPr id="1025" name="sh1025"/>
          <p:cNvSpPr/>
          <p:nvPr/>
        </p:nvSpPr>
        <p:spPr>
          <a:xfrm>
            <a:off x="6870700" y="4622800"/>
            <a:ext cx="4356100" cy="685800"/>
          </a:xfrm>
          <a:prstGeom prst="rect">
            <a:avLst/>
          </a:prstGeom>
          <a:noFill/>
          <a:ln>
            <a:noFill/>
          </a:ln>
        </p:spPr>
        <p:txBody>
          <a:bodyPr wrap="square" lIns="0" tIns="0" rIns="0" bIns="0" anchor="t">
            <a:noAutofit/>
          </a:bodyPr>
          <a:lstStyle/>
          <a:p>
            <a:pPr algn="l">
              <a:lnSpc>
                <a:spcPct val="125000"/>
              </a:lnSpc>
              <a:buNone/>
            </a:pPr>
            <a:r>
              <a:rPr lang="es-CL" sz="1200" b="0" spc="0" dirty="0">
                <a:solidFill>
                  <a:srgbClr val="1E3A52"/>
                </a:solidFill>
              </a:rPr>
              <a:t>Ventaja pese a extracción imperfecta: señal favorable al pipeline completo, no evidencia causal.</a:t>
            </a:r>
          </a:p>
        </p:txBody>
      </p:sp>
      <p:sp>
        <p:nvSpPr>
          <p:cNvPr id="1026" name="sh1026"/>
          <p:cNvSpPr/>
          <p:nvPr/>
        </p:nvSpPr>
        <p:spPr>
          <a:xfrm>
            <a:off x="762000" y="5791200"/>
            <a:ext cx="38100" cy="431800"/>
          </a:xfrm>
          <a:prstGeom prst="rect">
            <a:avLst/>
          </a:prstGeom>
          <a:solidFill>
            <a:srgbClr val="2ED3E8"/>
          </a:solidFill>
          <a:ln>
            <a:noFill/>
          </a:ln>
        </p:spPr>
        <p:txBody>
          <a:bodyPr wrap="square" lIns="0" tIns="0" rIns="0" bIns="0" anchor="t">
            <a:noAutofit/>
          </a:bodyPr>
          <a:lstStyle/>
          <a:p>
            <a:endParaRPr lang="es-CL"/>
          </a:p>
        </p:txBody>
      </p:sp>
      <p:sp>
        <p:nvSpPr>
          <p:cNvPr id="1027" name="sh1027"/>
          <p:cNvSpPr/>
          <p:nvPr/>
        </p:nvSpPr>
        <p:spPr>
          <a:xfrm>
            <a:off x="990600" y="5765800"/>
            <a:ext cx="6858000" cy="431800"/>
          </a:xfrm>
          <a:prstGeom prst="rect">
            <a:avLst/>
          </a:prstGeom>
          <a:noFill/>
          <a:ln>
            <a:noFill/>
          </a:ln>
        </p:spPr>
        <p:txBody>
          <a:bodyPr wrap="square" lIns="0" tIns="0" rIns="0" bIns="0" anchor="t">
            <a:noAutofit/>
          </a:bodyPr>
          <a:lstStyle/>
          <a:p>
            <a:pPr algn="l">
              <a:lnSpc>
                <a:spcPct val="120000"/>
              </a:lnSpc>
              <a:buNone/>
            </a:pPr>
            <a:r>
              <a:rPr lang="es-CL" sz="1250" b="1" spc="0" dirty="0">
                <a:solidFill>
                  <a:srgbClr val="12406E"/>
                </a:solidFill>
              </a:rPr>
              <a:t>A contextualiza B; no separa causalmente representación, construcción y recuperación.</a:t>
            </a:r>
          </a:p>
        </p:txBody>
      </p:sp>
      <p:sp>
        <p:nvSpPr>
          <p:cNvPr id="1028" name="sh1028"/>
          <p:cNvSpPr/>
          <p:nvPr/>
        </p:nvSpPr>
        <p:spPr>
          <a:xfrm>
            <a:off x="8128000" y="5765800"/>
            <a:ext cx="3302000" cy="431800"/>
          </a:xfrm>
          <a:prstGeom prst="rect">
            <a:avLst/>
          </a:prstGeom>
          <a:noFill/>
          <a:ln>
            <a:noFill/>
          </a:ln>
        </p:spPr>
        <p:txBody>
          <a:bodyPr wrap="square" lIns="0" tIns="0" rIns="0" bIns="0" anchor="t">
            <a:noAutofit/>
          </a:bodyPr>
          <a:lstStyle/>
          <a:p>
            <a:pPr algn="r">
              <a:lnSpc>
                <a:spcPct val="120000"/>
              </a:lnSpc>
              <a:buNone/>
            </a:pPr>
            <a:r>
              <a:rPr lang="es-CL" sz="1050" b="0" spc="0" dirty="0">
                <a:solidFill>
                  <a:srgbClr val="5A7290"/>
                </a:solidFill>
              </a:rPr>
              <a:t>La heterogeneidad Q1–Q7 atraviesa los cuatro cuadrantes.</a:t>
            </a:r>
          </a:p>
        </p:txBody>
      </p:sp>
    </p:spTree>
    <p:extLst>
      <p:ext uri="{BB962C8B-B14F-4D97-AF65-F5344CB8AC3E}">
        <p14:creationId xmlns:p14="http://schemas.microsoft.com/office/powerpoint/2010/main" val="183530737"/>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524"/>
        </a:solidFill>
        <a:effectLst/>
      </p:bgPr>
    </p:bg>
    <p:spTree>
      <p:nvGrpSpPr>
        <p:cNvPr id="1" name=""/>
        <p:cNvGrpSpPr/>
        <p:nvPr/>
      </p:nvGrpSpPr>
      <p:grpSpPr>
        <a:xfrm>
          <a:off x="0" y="0"/>
          <a:ext cx="0" cy="0"/>
          <a:chOff x="0" y="0"/>
          <a:chExt cx="0" cy="0"/>
        </a:xfrm>
      </p:grpSpPr>
      <p:sp>
        <p:nvSpPr>
          <p:cNvPr id="1001" name="sh1001"/>
          <p:cNvSpPr/>
          <p:nvPr/>
        </p:nvSpPr>
        <p:spPr>
          <a:xfrm>
            <a:off x="0" y="0"/>
            <a:ext cx="12192000" cy="6858000"/>
          </a:xfrm>
          <a:prstGeom prst="rect">
            <a:avLst/>
          </a:prstGeom>
          <a:solidFill>
            <a:srgbClr val="0A1524"/>
          </a:solidFill>
          <a:ln>
            <a:noFill/>
          </a:ln>
        </p:spPr>
        <p:txBody>
          <a:bodyPr/>
          <a:lstStyle/>
          <a:p>
            <a:endParaRPr lang="es-CL"/>
          </a:p>
        </p:txBody>
      </p:sp>
      <p:sp>
        <p:nvSpPr>
          <p:cNvPr id="1002" name="sh1002"/>
          <p:cNvSpPr/>
          <p:nvPr/>
        </p:nvSpPr>
        <p:spPr>
          <a:xfrm>
            <a:off x="0" y="0"/>
            <a:ext cx="12192000" cy="50800"/>
          </a:xfrm>
          <a:prstGeom prst="rect">
            <a:avLst/>
          </a:prstGeom>
          <a:solidFill>
            <a:srgbClr val="12406E"/>
          </a:solidFill>
          <a:ln>
            <a:noFill/>
          </a:ln>
        </p:spPr>
        <p:txBody>
          <a:bodyPr/>
          <a:lstStyle/>
          <a:p>
            <a:endParaRPr lang="es-CL"/>
          </a:p>
        </p:txBody>
      </p:sp>
      <p:sp>
        <p:nvSpPr>
          <p:cNvPr id="1003" name="sh1003"/>
          <p:cNvSpPr/>
          <p:nvPr/>
        </p:nvSpPr>
        <p:spPr>
          <a:xfrm>
            <a:off x="8483600" y="1625600"/>
            <a:ext cx="2946400" cy="2540000"/>
          </a:xfrm>
          <a:prstGeom prst="rect">
            <a:avLst/>
          </a:prstGeom>
          <a:noFill/>
          <a:ln>
            <a:noFill/>
          </a:ln>
        </p:spPr>
        <p:txBody>
          <a:bodyPr wrap="square" lIns="0" tIns="0" rIns="0" bIns="0" anchor="ctr">
            <a:noAutofit/>
          </a:bodyPr>
          <a:lstStyle/>
          <a:p>
            <a:pPr algn="r">
              <a:lnSpc>
                <a:spcPct val="100000"/>
              </a:lnSpc>
              <a:buNone/>
            </a:pPr>
            <a:r>
              <a:rPr lang="es-CL" sz="16000" b="1" spc="0" dirty="0">
                <a:solidFill>
                  <a:srgbClr val="14263C"/>
                </a:solidFill>
              </a:rPr>
              <a:t>03</a:t>
            </a:r>
          </a:p>
        </p:txBody>
      </p:sp>
      <p:sp>
        <p:nvSpPr>
          <p:cNvPr id="1004" name="sh1004"/>
          <p:cNvSpPr/>
          <p:nvPr/>
        </p:nvSpPr>
        <p:spPr>
          <a:xfrm>
            <a:off x="762000" y="2540000"/>
            <a:ext cx="2286000" cy="177800"/>
          </a:xfrm>
          <a:prstGeom prst="rect">
            <a:avLst/>
          </a:prstGeom>
          <a:noFill/>
          <a:ln>
            <a:noFill/>
          </a:ln>
        </p:spPr>
        <p:txBody>
          <a:bodyPr wrap="square" lIns="0" tIns="0" rIns="0" bIns="0" anchor="ctr">
            <a:noAutofit/>
          </a:bodyPr>
          <a:lstStyle/>
          <a:p>
            <a:pPr algn="l">
              <a:lnSpc>
                <a:spcPct val="100000"/>
              </a:lnSpc>
              <a:buNone/>
            </a:pPr>
            <a:r>
              <a:rPr lang="es-CL" sz="1050" b="0" spc="180" dirty="0">
                <a:solidFill>
                  <a:srgbClr val="2ED3E8"/>
                </a:solidFill>
              </a:rPr>
              <a:t>SECCIÓN 03</a:t>
            </a:r>
          </a:p>
        </p:txBody>
      </p:sp>
      <p:sp>
        <p:nvSpPr>
          <p:cNvPr id="1005" name="sh1005"/>
          <p:cNvSpPr/>
          <p:nvPr/>
        </p:nvSpPr>
        <p:spPr>
          <a:xfrm>
            <a:off x="762000" y="2870200"/>
            <a:ext cx="1524000" cy="19050"/>
          </a:xfrm>
          <a:prstGeom prst="rect">
            <a:avLst/>
          </a:prstGeom>
          <a:solidFill>
            <a:srgbClr val="2ED3E8"/>
          </a:solidFill>
          <a:ln>
            <a:noFill/>
          </a:ln>
        </p:spPr>
        <p:txBody>
          <a:bodyPr/>
          <a:lstStyle/>
          <a:p>
            <a:endParaRPr lang="es-CL"/>
          </a:p>
        </p:txBody>
      </p:sp>
      <p:sp>
        <p:nvSpPr>
          <p:cNvPr id="1006" name="sh1006"/>
          <p:cNvSpPr/>
          <p:nvPr/>
        </p:nvSpPr>
        <p:spPr>
          <a:xfrm>
            <a:off x="762000" y="3124200"/>
            <a:ext cx="7112000" cy="660400"/>
          </a:xfrm>
          <a:prstGeom prst="rect">
            <a:avLst/>
          </a:prstGeom>
          <a:noFill/>
          <a:ln>
            <a:noFill/>
          </a:ln>
        </p:spPr>
        <p:txBody>
          <a:bodyPr wrap="square" lIns="0" tIns="0" rIns="0" bIns="0" anchor="ctr">
            <a:noAutofit/>
          </a:bodyPr>
          <a:lstStyle/>
          <a:p>
            <a:pPr algn="l">
              <a:lnSpc>
                <a:spcPct val="100000"/>
              </a:lnSpc>
              <a:buNone/>
            </a:pPr>
            <a:r>
              <a:rPr lang="es-CL" sz="4000" b="1" spc="0" dirty="0">
                <a:solidFill>
                  <a:srgbClr val="FFFFFF"/>
                </a:solidFill>
              </a:rPr>
              <a:t>Medición, inferencia y decisión</a:t>
            </a:r>
          </a:p>
        </p:txBody>
      </p:sp>
      <p:sp>
        <p:nvSpPr>
          <p:cNvPr id="1007" name="sh1007"/>
          <p:cNvSpPr/>
          <p:nvPr/>
        </p:nvSpPr>
        <p:spPr>
          <a:xfrm>
            <a:off x="762000" y="4368800"/>
            <a:ext cx="6858000" cy="635000"/>
          </a:xfrm>
          <a:prstGeom prst="rect">
            <a:avLst/>
          </a:prstGeom>
          <a:noFill/>
          <a:ln>
            <a:noFill/>
          </a:ln>
        </p:spPr>
        <p:txBody>
          <a:bodyPr wrap="square" lIns="0" tIns="0" rIns="0" bIns="0" anchor="t">
            <a:noAutofit/>
          </a:bodyPr>
          <a:lstStyle/>
          <a:p>
            <a:pPr algn="l">
              <a:lnSpc>
                <a:spcPct val="130000"/>
              </a:lnSpc>
              <a:buNone/>
            </a:pPr>
            <a:r>
              <a:rPr lang="es-CL" sz="1600" b="0" spc="0" dirty="0">
                <a:solidFill>
                  <a:srgbClr val="9FB3C8"/>
                </a:solidFill>
              </a:rPr>
              <a:t>De las métricas técnicas a las condiciones de interpretación organizacional</a:t>
            </a:r>
          </a:p>
        </p:txBody>
      </p:sp>
      <p:sp>
        <p:nvSpPr>
          <p:cNvPr id="1008" name="sh1008"/>
          <p:cNvSpPr/>
          <p:nvPr/>
        </p:nvSpPr>
        <p:spPr>
          <a:xfrm>
            <a:off x="762000" y="6400800"/>
            <a:ext cx="10668000" cy="12700"/>
          </a:xfrm>
          <a:prstGeom prst="rect">
            <a:avLst/>
          </a:prstGeom>
          <a:solidFill>
            <a:srgbClr val="1D3A57"/>
          </a:solidFill>
          <a:ln>
            <a:noFill/>
          </a:ln>
        </p:spPr>
        <p:txBody>
          <a:bodyPr/>
          <a:lstStyle/>
          <a:p>
            <a:endParaRPr lang="es-CL"/>
          </a:p>
        </p:txBody>
      </p:sp>
      <p:sp>
        <p:nvSpPr>
          <p:cNvPr id="1009" name="sh1009"/>
          <p:cNvSpPr/>
          <p:nvPr/>
        </p:nvSpPr>
        <p:spPr>
          <a:xfrm>
            <a:off x="762000" y="6502400"/>
            <a:ext cx="7620000" cy="2032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9FB3C8"/>
                </a:solidFill>
              </a:rPr>
              <a:t>PROPUESTA DE TESIS · MAGÍSTER EN CIENCIA DE DATOS · PUC · 2026</a:t>
            </a:r>
          </a:p>
        </p:txBody>
      </p:sp>
      <p:sp>
        <p:nvSpPr>
          <p:cNvPr id="1010" name="sh1010"/>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2ED3E8"/>
                </a:solidFill>
              </a:rPr>
              <a:t>[ 21 ]</a:t>
            </a:r>
          </a:p>
        </p:txBody>
      </p:sp>
    </p:spTree>
    <p:extLst>
      <p:ext uri="{BB962C8B-B14F-4D97-AF65-F5344CB8AC3E}">
        <p14:creationId xmlns:p14="http://schemas.microsoft.com/office/powerpoint/2010/main" val="66090155"/>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BANCO DE PREGUNTAS</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700" b="1" spc="0" dirty="0">
                <a:solidFill>
                  <a:srgbClr val="12406E"/>
                </a:solidFill>
              </a:rPr>
              <a:t>El banco prueba límites locales, temporales y relacionales</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[ 22 ]</a:t>
            </a:r>
          </a:p>
        </p:txBody>
      </p:sp>
      <p:sp>
        <p:nvSpPr>
          <p:cNvPr id="1005" name="sh1005"/>
          <p:cNvSpPr/>
          <p:nvPr/>
        </p:nvSpPr>
        <p:spPr>
          <a:xfrm>
            <a:off x="762000" y="2133600"/>
            <a:ext cx="2942209" cy="279400"/>
          </a:xfrm>
          <a:prstGeom prst="rect">
            <a:avLst/>
          </a:prstGeom>
          <a:solidFill>
            <a:srgbClr val="12406E"/>
          </a:solidFill>
          <a:ln>
            <a:noFill/>
          </a:ln>
        </p:spPr>
        <p:txBody>
          <a:bodyPr wrap="square" lIns="0" tIns="0" rIns="0" bIns="0" anchor="ctr">
            <a:noAutofit/>
          </a:bodyPr>
          <a:lstStyle/>
          <a:p>
            <a:pPr algn="ctr">
              <a:lnSpc>
                <a:spcPct val="100000"/>
              </a:lnSpc>
              <a:buNone/>
            </a:pPr>
            <a:r>
              <a:rPr lang="es-CL" sz="1000" b="1" spc="120" dirty="0">
                <a:solidFill>
                  <a:srgbClr val="FFFFFF"/>
                </a:solidFill>
              </a:rPr>
              <a:t>LOCAL</a:t>
            </a:r>
          </a:p>
        </p:txBody>
      </p:sp>
      <p:sp>
        <p:nvSpPr>
          <p:cNvPr id="1006" name="sh1006"/>
          <p:cNvSpPr/>
          <p:nvPr/>
        </p:nvSpPr>
        <p:spPr>
          <a:xfrm>
            <a:off x="3852418" y="2133600"/>
            <a:ext cx="4487418" cy="279400"/>
          </a:xfrm>
          <a:prstGeom prst="rect">
            <a:avLst/>
          </a:prstGeom>
          <a:solidFill>
            <a:srgbClr val="1D5C9E"/>
          </a:solidFill>
          <a:ln>
            <a:noFill/>
          </a:ln>
        </p:spPr>
        <p:txBody>
          <a:bodyPr wrap="square" lIns="0" tIns="0" rIns="0" bIns="0" anchor="ctr">
            <a:noAutofit/>
          </a:bodyPr>
          <a:lstStyle/>
          <a:p>
            <a:pPr algn="ctr">
              <a:lnSpc>
                <a:spcPct val="100000"/>
              </a:lnSpc>
              <a:buNone/>
            </a:pPr>
            <a:r>
              <a:rPr lang="es-CL" sz="1000" b="1" spc="120" dirty="0">
                <a:solidFill>
                  <a:srgbClr val="FFFFFF"/>
                </a:solidFill>
              </a:rPr>
              <a:t>TEMPORAL</a:t>
            </a:r>
          </a:p>
        </p:txBody>
      </p:sp>
      <p:sp>
        <p:nvSpPr>
          <p:cNvPr id="1007" name="sh1007"/>
          <p:cNvSpPr/>
          <p:nvPr/>
        </p:nvSpPr>
        <p:spPr>
          <a:xfrm>
            <a:off x="8488045" y="2133600"/>
            <a:ext cx="1397000" cy="279400"/>
          </a:xfrm>
          <a:prstGeom prst="rect">
            <a:avLst/>
          </a:prstGeom>
          <a:solidFill>
            <a:srgbClr val="2A86B8"/>
          </a:solidFill>
          <a:ln>
            <a:noFill/>
          </a:ln>
        </p:spPr>
        <p:txBody>
          <a:bodyPr wrap="square" lIns="0" tIns="0" rIns="0" bIns="0" anchor="ctr">
            <a:noAutofit/>
          </a:bodyPr>
          <a:lstStyle/>
          <a:p>
            <a:pPr algn="ctr">
              <a:lnSpc>
                <a:spcPct val="100000"/>
              </a:lnSpc>
              <a:buNone/>
            </a:pPr>
            <a:r>
              <a:rPr lang="es-CL" sz="1000" b="1" spc="120" dirty="0">
                <a:solidFill>
                  <a:srgbClr val="FFFFFF"/>
                </a:solidFill>
              </a:rPr>
              <a:t>RELACIONAL</a:t>
            </a:r>
          </a:p>
        </p:txBody>
      </p:sp>
      <p:sp>
        <p:nvSpPr>
          <p:cNvPr id="1008" name="sh1008"/>
          <p:cNvSpPr/>
          <p:nvPr/>
        </p:nvSpPr>
        <p:spPr>
          <a:xfrm>
            <a:off x="10033254" y="2133600"/>
            <a:ext cx="1397000" cy="279400"/>
          </a:xfrm>
          <a:prstGeom prst="rect">
            <a:avLst/>
          </a:prstGeom>
          <a:solidFill>
            <a:srgbClr val="0A6D82"/>
          </a:solidFill>
          <a:ln>
            <a:noFill/>
          </a:ln>
        </p:spPr>
        <p:txBody>
          <a:bodyPr wrap="square" lIns="0" tIns="0" rIns="0" bIns="0" anchor="ctr">
            <a:noAutofit/>
          </a:bodyPr>
          <a:lstStyle/>
          <a:p>
            <a:pPr algn="ctr">
              <a:lnSpc>
                <a:spcPct val="100000"/>
              </a:lnSpc>
              <a:buNone/>
            </a:pPr>
            <a:r>
              <a:rPr lang="es-CL" sz="1000" b="1" spc="120" dirty="0">
                <a:solidFill>
                  <a:srgbClr val="FFFFFF"/>
                </a:solidFill>
              </a:rPr>
              <a:t>ABSTENCIÓN</a:t>
            </a:r>
          </a:p>
        </p:txBody>
      </p:sp>
      <p:sp>
        <p:nvSpPr>
          <p:cNvPr id="1009" name="sh1009"/>
          <p:cNvSpPr/>
          <p:nvPr/>
        </p:nvSpPr>
        <p:spPr>
          <a:xfrm>
            <a:off x="762000" y="2514600"/>
            <a:ext cx="1397000" cy="1422400"/>
          </a:xfrm>
          <a:prstGeom prst="rect">
            <a:avLst/>
          </a:prstGeom>
          <a:solidFill>
            <a:srgbClr val="F7FAFC"/>
          </a:solidFill>
          <a:ln w="12700">
            <a:solidFill>
              <a:srgbClr val="C6D4E2"/>
            </a:solidFill>
          </a:ln>
        </p:spPr>
        <p:txBody>
          <a:bodyPr/>
          <a:lstStyle/>
          <a:p>
            <a:endParaRPr lang="es-CL"/>
          </a:p>
        </p:txBody>
      </p:sp>
      <p:sp>
        <p:nvSpPr>
          <p:cNvPr id="1010" name="sh1010"/>
          <p:cNvSpPr/>
          <p:nvPr/>
        </p:nvSpPr>
        <p:spPr>
          <a:xfrm>
            <a:off x="774700" y="2514600"/>
            <a:ext cx="1397000" cy="31750"/>
          </a:xfrm>
          <a:prstGeom prst="rect">
            <a:avLst/>
          </a:prstGeom>
          <a:solidFill>
            <a:srgbClr val="12406E"/>
          </a:solidFill>
          <a:ln>
            <a:noFill/>
          </a:ln>
        </p:spPr>
        <p:txBody>
          <a:bodyPr/>
          <a:lstStyle/>
          <a:p>
            <a:endParaRPr lang="es-CL"/>
          </a:p>
        </p:txBody>
      </p:sp>
      <p:sp>
        <p:nvSpPr>
          <p:cNvPr id="1011" name="sh1011"/>
          <p:cNvSpPr/>
          <p:nvPr/>
        </p:nvSpPr>
        <p:spPr>
          <a:xfrm>
            <a:off x="876300" y="2667000"/>
            <a:ext cx="1168400" cy="254000"/>
          </a:xfrm>
          <a:prstGeom prst="rect">
            <a:avLst/>
          </a:prstGeom>
          <a:noFill/>
          <a:ln>
            <a:noFill/>
          </a:ln>
        </p:spPr>
        <p:txBody>
          <a:bodyPr wrap="square" lIns="0" tIns="0" rIns="0" bIns="0" anchor="t">
            <a:noAutofit/>
          </a:bodyPr>
          <a:lstStyle/>
          <a:p>
            <a:pPr algn="l">
              <a:lnSpc>
                <a:spcPct val="100000"/>
              </a:lnSpc>
              <a:buNone/>
            </a:pPr>
            <a:r>
              <a:rPr lang="es-CL" sz="1600" b="1" spc="0" dirty="0">
                <a:solidFill>
                  <a:srgbClr val="12406E"/>
                </a:solidFill>
              </a:rPr>
              <a:t>Q1</a:t>
            </a:r>
          </a:p>
        </p:txBody>
      </p:sp>
      <p:sp>
        <p:nvSpPr>
          <p:cNvPr id="1012" name="sh1012"/>
          <p:cNvSpPr/>
          <p:nvPr/>
        </p:nvSpPr>
        <p:spPr>
          <a:xfrm>
            <a:off x="876300" y="2971800"/>
            <a:ext cx="1168400" cy="533400"/>
          </a:xfrm>
          <a:prstGeom prst="rect">
            <a:avLst/>
          </a:prstGeom>
          <a:noFill/>
          <a:ln>
            <a:noFill/>
          </a:ln>
        </p:spPr>
        <p:txBody>
          <a:bodyPr wrap="square" lIns="0" tIns="0" rIns="0" bIns="0" anchor="t">
            <a:noAutofit/>
          </a:bodyPr>
          <a:lstStyle/>
          <a:p>
            <a:pPr algn="l">
              <a:lnSpc>
                <a:spcPct val="115000"/>
              </a:lnSpc>
              <a:buNone/>
            </a:pPr>
            <a:r>
              <a:rPr lang="es-CL" sz="1150" b="1" spc="0" dirty="0">
                <a:solidFill>
                  <a:srgbClr val="0A1524"/>
                </a:solidFill>
              </a:rPr>
              <a:t>Decisión puntual</a:t>
            </a:r>
          </a:p>
        </p:txBody>
      </p:sp>
      <p:sp>
        <p:nvSpPr>
          <p:cNvPr id="1013" name="sh1013"/>
          <p:cNvSpPr/>
          <p:nvPr/>
        </p:nvSpPr>
        <p:spPr>
          <a:xfrm>
            <a:off x="876300" y="3556000"/>
            <a:ext cx="1168400" cy="3048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¿Qué se decidió?</a:t>
            </a:r>
          </a:p>
        </p:txBody>
      </p:sp>
      <p:sp>
        <p:nvSpPr>
          <p:cNvPr id="1014" name="sh1014"/>
          <p:cNvSpPr/>
          <p:nvPr/>
        </p:nvSpPr>
        <p:spPr>
          <a:xfrm>
            <a:off x="2307209" y="2514600"/>
            <a:ext cx="1397000" cy="1422400"/>
          </a:xfrm>
          <a:prstGeom prst="rect">
            <a:avLst/>
          </a:prstGeom>
          <a:solidFill>
            <a:srgbClr val="F7FAFC"/>
          </a:solidFill>
          <a:ln w="12700">
            <a:solidFill>
              <a:srgbClr val="C6D4E2"/>
            </a:solidFill>
          </a:ln>
        </p:spPr>
        <p:txBody>
          <a:bodyPr/>
          <a:lstStyle/>
          <a:p>
            <a:endParaRPr lang="es-CL"/>
          </a:p>
        </p:txBody>
      </p:sp>
      <p:sp>
        <p:nvSpPr>
          <p:cNvPr id="1015" name="sh1015"/>
          <p:cNvSpPr/>
          <p:nvPr/>
        </p:nvSpPr>
        <p:spPr>
          <a:xfrm>
            <a:off x="2319909" y="2514600"/>
            <a:ext cx="1397000" cy="31750"/>
          </a:xfrm>
          <a:prstGeom prst="rect">
            <a:avLst/>
          </a:prstGeom>
          <a:solidFill>
            <a:srgbClr val="12406E"/>
          </a:solidFill>
          <a:ln>
            <a:noFill/>
          </a:ln>
        </p:spPr>
        <p:txBody>
          <a:bodyPr/>
          <a:lstStyle/>
          <a:p>
            <a:endParaRPr lang="es-CL"/>
          </a:p>
        </p:txBody>
      </p:sp>
      <p:sp>
        <p:nvSpPr>
          <p:cNvPr id="1016" name="sh1016"/>
          <p:cNvSpPr/>
          <p:nvPr/>
        </p:nvSpPr>
        <p:spPr>
          <a:xfrm>
            <a:off x="2421509" y="2667000"/>
            <a:ext cx="1168400" cy="254000"/>
          </a:xfrm>
          <a:prstGeom prst="rect">
            <a:avLst/>
          </a:prstGeom>
          <a:noFill/>
          <a:ln>
            <a:noFill/>
          </a:ln>
        </p:spPr>
        <p:txBody>
          <a:bodyPr wrap="square" lIns="0" tIns="0" rIns="0" bIns="0" anchor="t">
            <a:noAutofit/>
          </a:bodyPr>
          <a:lstStyle/>
          <a:p>
            <a:pPr algn="l">
              <a:lnSpc>
                <a:spcPct val="100000"/>
              </a:lnSpc>
              <a:buNone/>
            </a:pPr>
            <a:r>
              <a:rPr lang="es-CL" sz="1600" b="1" spc="0" dirty="0">
                <a:solidFill>
                  <a:srgbClr val="12406E"/>
                </a:solidFill>
              </a:rPr>
              <a:t>Q2</a:t>
            </a:r>
          </a:p>
        </p:txBody>
      </p:sp>
      <p:sp>
        <p:nvSpPr>
          <p:cNvPr id="1017" name="sh1017"/>
          <p:cNvSpPr/>
          <p:nvPr/>
        </p:nvSpPr>
        <p:spPr>
          <a:xfrm>
            <a:off x="2421509" y="2971800"/>
            <a:ext cx="1168400" cy="533400"/>
          </a:xfrm>
          <a:prstGeom prst="rect">
            <a:avLst/>
          </a:prstGeom>
          <a:noFill/>
          <a:ln>
            <a:noFill/>
          </a:ln>
        </p:spPr>
        <p:txBody>
          <a:bodyPr wrap="square" lIns="0" tIns="0" rIns="0" bIns="0" anchor="t">
            <a:noAutofit/>
          </a:bodyPr>
          <a:lstStyle/>
          <a:p>
            <a:pPr algn="l">
              <a:lnSpc>
                <a:spcPct val="115000"/>
              </a:lnSpc>
              <a:buNone/>
            </a:pPr>
            <a:r>
              <a:rPr lang="es-CL" sz="1150" b="1" spc="0" dirty="0">
                <a:solidFill>
                  <a:srgbClr val="0A1524"/>
                </a:solidFill>
              </a:rPr>
              <a:t>Evidencia y procedencia</a:t>
            </a:r>
          </a:p>
        </p:txBody>
      </p:sp>
      <p:sp>
        <p:nvSpPr>
          <p:cNvPr id="1018" name="sh1018"/>
          <p:cNvSpPr/>
          <p:nvPr/>
        </p:nvSpPr>
        <p:spPr>
          <a:xfrm>
            <a:off x="2421509" y="3556000"/>
            <a:ext cx="1168400" cy="3048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¿En qué se basa?</a:t>
            </a:r>
          </a:p>
        </p:txBody>
      </p:sp>
      <p:sp>
        <p:nvSpPr>
          <p:cNvPr id="1019" name="sh1019"/>
          <p:cNvSpPr/>
          <p:nvPr/>
        </p:nvSpPr>
        <p:spPr>
          <a:xfrm>
            <a:off x="3852418" y="2514600"/>
            <a:ext cx="1397000" cy="1422400"/>
          </a:xfrm>
          <a:prstGeom prst="rect">
            <a:avLst/>
          </a:prstGeom>
          <a:solidFill>
            <a:srgbClr val="F7FAFC"/>
          </a:solidFill>
          <a:ln w="12700">
            <a:solidFill>
              <a:srgbClr val="C6D4E2"/>
            </a:solidFill>
          </a:ln>
        </p:spPr>
        <p:txBody>
          <a:bodyPr/>
          <a:lstStyle/>
          <a:p>
            <a:endParaRPr lang="es-CL"/>
          </a:p>
        </p:txBody>
      </p:sp>
      <p:sp>
        <p:nvSpPr>
          <p:cNvPr id="1020" name="sh1020"/>
          <p:cNvSpPr/>
          <p:nvPr/>
        </p:nvSpPr>
        <p:spPr>
          <a:xfrm>
            <a:off x="3865118" y="2514600"/>
            <a:ext cx="1397000" cy="31750"/>
          </a:xfrm>
          <a:prstGeom prst="rect">
            <a:avLst/>
          </a:prstGeom>
          <a:solidFill>
            <a:srgbClr val="1D5C9E"/>
          </a:solidFill>
          <a:ln>
            <a:noFill/>
          </a:ln>
        </p:spPr>
        <p:txBody>
          <a:bodyPr/>
          <a:lstStyle/>
          <a:p>
            <a:endParaRPr lang="es-CL"/>
          </a:p>
        </p:txBody>
      </p:sp>
      <p:sp>
        <p:nvSpPr>
          <p:cNvPr id="1021" name="sh1021"/>
          <p:cNvSpPr/>
          <p:nvPr/>
        </p:nvSpPr>
        <p:spPr>
          <a:xfrm>
            <a:off x="3966718" y="2667000"/>
            <a:ext cx="1168400" cy="254000"/>
          </a:xfrm>
          <a:prstGeom prst="rect">
            <a:avLst/>
          </a:prstGeom>
          <a:noFill/>
          <a:ln>
            <a:noFill/>
          </a:ln>
        </p:spPr>
        <p:txBody>
          <a:bodyPr wrap="square" lIns="0" tIns="0" rIns="0" bIns="0" anchor="t">
            <a:noAutofit/>
          </a:bodyPr>
          <a:lstStyle/>
          <a:p>
            <a:pPr algn="l">
              <a:lnSpc>
                <a:spcPct val="100000"/>
              </a:lnSpc>
              <a:buNone/>
            </a:pPr>
            <a:r>
              <a:rPr lang="es-CL" sz="1600" b="1" spc="0" dirty="0">
                <a:solidFill>
                  <a:srgbClr val="1D5C9E"/>
                </a:solidFill>
              </a:rPr>
              <a:t>Q3</a:t>
            </a:r>
          </a:p>
        </p:txBody>
      </p:sp>
      <p:sp>
        <p:nvSpPr>
          <p:cNvPr id="1022" name="sh1022"/>
          <p:cNvSpPr/>
          <p:nvPr/>
        </p:nvSpPr>
        <p:spPr>
          <a:xfrm>
            <a:off x="3966718" y="2971800"/>
            <a:ext cx="1168400" cy="533400"/>
          </a:xfrm>
          <a:prstGeom prst="rect">
            <a:avLst/>
          </a:prstGeom>
          <a:noFill/>
          <a:ln>
            <a:noFill/>
          </a:ln>
        </p:spPr>
        <p:txBody>
          <a:bodyPr wrap="square" lIns="0" tIns="0" rIns="0" bIns="0" anchor="t">
            <a:noAutofit/>
          </a:bodyPr>
          <a:lstStyle/>
          <a:p>
            <a:pPr algn="l">
              <a:lnSpc>
                <a:spcPct val="115000"/>
              </a:lnSpc>
              <a:buNone/>
            </a:pPr>
            <a:r>
              <a:rPr lang="es-CL" sz="1150" b="1" spc="0" dirty="0">
                <a:solidFill>
                  <a:srgbClr val="0A1524"/>
                </a:solidFill>
              </a:rPr>
              <a:t>Estado vigente</a:t>
            </a:r>
          </a:p>
        </p:txBody>
      </p:sp>
      <p:sp>
        <p:nvSpPr>
          <p:cNvPr id="1023" name="sh1023"/>
          <p:cNvSpPr/>
          <p:nvPr/>
        </p:nvSpPr>
        <p:spPr>
          <a:xfrm>
            <a:off x="3966718" y="3556000"/>
            <a:ext cx="1168400" cy="3048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¿Sigue vigente?</a:t>
            </a:r>
          </a:p>
        </p:txBody>
      </p:sp>
      <p:sp>
        <p:nvSpPr>
          <p:cNvPr id="1024" name="sh1024"/>
          <p:cNvSpPr/>
          <p:nvPr/>
        </p:nvSpPr>
        <p:spPr>
          <a:xfrm>
            <a:off x="5397627" y="2514600"/>
            <a:ext cx="1397000" cy="1422400"/>
          </a:xfrm>
          <a:prstGeom prst="rect">
            <a:avLst/>
          </a:prstGeom>
          <a:solidFill>
            <a:srgbClr val="F7FAFC"/>
          </a:solidFill>
          <a:ln w="12700">
            <a:solidFill>
              <a:srgbClr val="C6D4E2"/>
            </a:solidFill>
          </a:ln>
        </p:spPr>
        <p:txBody>
          <a:bodyPr/>
          <a:lstStyle/>
          <a:p>
            <a:endParaRPr lang="es-CL"/>
          </a:p>
        </p:txBody>
      </p:sp>
      <p:sp>
        <p:nvSpPr>
          <p:cNvPr id="1025" name="sh1025"/>
          <p:cNvSpPr/>
          <p:nvPr/>
        </p:nvSpPr>
        <p:spPr>
          <a:xfrm>
            <a:off x="5410327" y="2514600"/>
            <a:ext cx="1397000" cy="31750"/>
          </a:xfrm>
          <a:prstGeom prst="rect">
            <a:avLst/>
          </a:prstGeom>
          <a:solidFill>
            <a:srgbClr val="1D5C9E"/>
          </a:solidFill>
          <a:ln>
            <a:noFill/>
          </a:ln>
        </p:spPr>
        <p:txBody>
          <a:bodyPr/>
          <a:lstStyle/>
          <a:p>
            <a:endParaRPr lang="es-CL"/>
          </a:p>
        </p:txBody>
      </p:sp>
      <p:sp>
        <p:nvSpPr>
          <p:cNvPr id="1026" name="sh1026"/>
          <p:cNvSpPr/>
          <p:nvPr/>
        </p:nvSpPr>
        <p:spPr>
          <a:xfrm>
            <a:off x="5511927" y="2667000"/>
            <a:ext cx="1168400" cy="254000"/>
          </a:xfrm>
          <a:prstGeom prst="rect">
            <a:avLst/>
          </a:prstGeom>
          <a:noFill/>
          <a:ln>
            <a:noFill/>
          </a:ln>
        </p:spPr>
        <p:txBody>
          <a:bodyPr wrap="square" lIns="0" tIns="0" rIns="0" bIns="0" anchor="t">
            <a:noAutofit/>
          </a:bodyPr>
          <a:lstStyle/>
          <a:p>
            <a:pPr algn="l">
              <a:lnSpc>
                <a:spcPct val="100000"/>
              </a:lnSpc>
              <a:buNone/>
            </a:pPr>
            <a:r>
              <a:rPr lang="es-CL" sz="1600" b="1" spc="0" dirty="0">
                <a:solidFill>
                  <a:srgbClr val="1D5C9E"/>
                </a:solidFill>
              </a:rPr>
              <a:t>Q4</a:t>
            </a:r>
          </a:p>
        </p:txBody>
      </p:sp>
      <p:sp>
        <p:nvSpPr>
          <p:cNvPr id="1027" name="sh1027"/>
          <p:cNvSpPr/>
          <p:nvPr/>
        </p:nvSpPr>
        <p:spPr>
          <a:xfrm>
            <a:off x="5511927" y="2971800"/>
            <a:ext cx="1168400" cy="533400"/>
          </a:xfrm>
          <a:prstGeom prst="rect">
            <a:avLst/>
          </a:prstGeom>
          <a:noFill/>
          <a:ln>
            <a:noFill/>
          </a:ln>
        </p:spPr>
        <p:txBody>
          <a:bodyPr wrap="square" lIns="0" tIns="0" rIns="0" bIns="0" anchor="t">
            <a:noAutofit/>
          </a:bodyPr>
          <a:lstStyle/>
          <a:p>
            <a:pPr algn="l">
              <a:lnSpc>
                <a:spcPct val="115000"/>
              </a:lnSpc>
              <a:buNone/>
            </a:pPr>
            <a:r>
              <a:rPr lang="es-CL" sz="1150" b="1" spc="0" dirty="0">
                <a:solidFill>
                  <a:srgbClr val="0A1524"/>
                </a:solidFill>
              </a:rPr>
              <a:t>Evolución</a:t>
            </a:r>
          </a:p>
        </p:txBody>
      </p:sp>
      <p:sp>
        <p:nvSpPr>
          <p:cNvPr id="1028" name="sh1028"/>
          <p:cNvSpPr/>
          <p:nvPr/>
        </p:nvSpPr>
        <p:spPr>
          <a:xfrm>
            <a:off x="5511927" y="3556000"/>
            <a:ext cx="1168400" cy="3048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¿Cómo cambió?</a:t>
            </a:r>
          </a:p>
        </p:txBody>
      </p:sp>
      <p:sp>
        <p:nvSpPr>
          <p:cNvPr id="1029" name="sh1029"/>
          <p:cNvSpPr/>
          <p:nvPr/>
        </p:nvSpPr>
        <p:spPr>
          <a:xfrm>
            <a:off x="6942836" y="2514600"/>
            <a:ext cx="1397000" cy="1422400"/>
          </a:xfrm>
          <a:prstGeom prst="rect">
            <a:avLst/>
          </a:prstGeom>
          <a:solidFill>
            <a:srgbClr val="F7FAFC"/>
          </a:solidFill>
          <a:ln w="12700">
            <a:solidFill>
              <a:srgbClr val="C6D4E2"/>
            </a:solidFill>
          </a:ln>
        </p:spPr>
        <p:txBody>
          <a:bodyPr/>
          <a:lstStyle/>
          <a:p>
            <a:endParaRPr lang="es-CL"/>
          </a:p>
        </p:txBody>
      </p:sp>
      <p:sp>
        <p:nvSpPr>
          <p:cNvPr id="1030" name="sh1030"/>
          <p:cNvSpPr/>
          <p:nvPr/>
        </p:nvSpPr>
        <p:spPr>
          <a:xfrm>
            <a:off x="6955536" y="2514600"/>
            <a:ext cx="1397000" cy="31750"/>
          </a:xfrm>
          <a:prstGeom prst="rect">
            <a:avLst/>
          </a:prstGeom>
          <a:solidFill>
            <a:srgbClr val="1D5C9E"/>
          </a:solidFill>
          <a:ln>
            <a:noFill/>
          </a:ln>
        </p:spPr>
        <p:txBody>
          <a:bodyPr/>
          <a:lstStyle/>
          <a:p>
            <a:endParaRPr lang="es-CL"/>
          </a:p>
        </p:txBody>
      </p:sp>
      <p:sp>
        <p:nvSpPr>
          <p:cNvPr id="1031" name="sh1031"/>
          <p:cNvSpPr/>
          <p:nvPr/>
        </p:nvSpPr>
        <p:spPr>
          <a:xfrm>
            <a:off x="7057136" y="2667000"/>
            <a:ext cx="1168400" cy="254000"/>
          </a:xfrm>
          <a:prstGeom prst="rect">
            <a:avLst/>
          </a:prstGeom>
          <a:noFill/>
          <a:ln>
            <a:noFill/>
          </a:ln>
        </p:spPr>
        <p:txBody>
          <a:bodyPr wrap="square" lIns="0" tIns="0" rIns="0" bIns="0" anchor="t">
            <a:noAutofit/>
          </a:bodyPr>
          <a:lstStyle/>
          <a:p>
            <a:pPr algn="l">
              <a:lnSpc>
                <a:spcPct val="100000"/>
              </a:lnSpc>
              <a:buNone/>
            </a:pPr>
            <a:r>
              <a:rPr lang="es-CL" sz="1600" b="1" spc="0" dirty="0">
                <a:solidFill>
                  <a:srgbClr val="1D5C9E"/>
                </a:solidFill>
              </a:rPr>
              <a:t>Q5</a:t>
            </a:r>
          </a:p>
        </p:txBody>
      </p:sp>
      <p:sp>
        <p:nvSpPr>
          <p:cNvPr id="1032" name="sh1032"/>
          <p:cNvSpPr/>
          <p:nvPr/>
        </p:nvSpPr>
        <p:spPr>
          <a:xfrm>
            <a:off x="7057136" y="2971800"/>
            <a:ext cx="1168400" cy="533400"/>
          </a:xfrm>
          <a:prstGeom prst="rect">
            <a:avLst/>
          </a:prstGeom>
          <a:noFill/>
          <a:ln>
            <a:noFill/>
          </a:ln>
        </p:spPr>
        <p:txBody>
          <a:bodyPr wrap="square" lIns="0" tIns="0" rIns="0" bIns="0" anchor="t">
            <a:noAutofit/>
          </a:bodyPr>
          <a:lstStyle/>
          <a:p>
            <a:pPr algn="l">
              <a:lnSpc>
                <a:spcPct val="115000"/>
              </a:lnSpc>
              <a:buNone/>
            </a:pPr>
            <a:r>
              <a:rPr lang="es-CL" sz="1150" b="1" spc="0" dirty="0">
                <a:solidFill>
                  <a:srgbClr val="0A1524"/>
                </a:solidFill>
              </a:rPr>
              <a:t>Reemplazo o revisión</a:t>
            </a:r>
          </a:p>
        </p:txBody>
      </p:sp>
      <p:sp>
        <p:nvSpPr>
          <p:cNvPr id="1033" name="sh1033"/>
          <p:cNvSpPr/>
          <p:nvPr/>
        </p:nvSpPr>
        <p:spPr>
          <a:xfrm>
            <a:off x="7057136" y="3556000"/>
            <a:ext cx="1168400" cy="3048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¿Qué la sustituyó?</a:t>
            </a:r>
          </a:p>
        </p:txBody>
      </p:sp>
      <p:sp>
        <p:nvSpPr>
          <p:cNvPr id="1034" name="sh1034"/>
          <p:cNvSpPr/>
          <p:nvPr/>
        </p:nvSpPr>
        <p:spPr>
          <a:xfrm>
            <a:off x="8488045" y="2514600"/>
            <a:ext cx="1397000" cy="1422400"/>
          </a:xfrm>
          <a:prstGeom prst="rect">
            <a:avLst/>
          </a:prstGeom>
          <a:solidFill>
            <a:srgbClr val="F7FAFC"/>
          </a:solidFill>
          <a:ln w="12700">
            <a:solidFill>
              <a:srgbClr val="C6D4E2"/>
            </a:solidFill>
          </a:ln>
        </p:spPr>
        <p:txBody>
          <a:bodyPr/>
          <a:lstStyle/>
          <a:p>
            <a:endParaRPr lang="es-CL"/>
          </a:p>
        </p:txBody>
      </p:sp>
      <p:sp>
        <p:nvSpPr>
          <p:cNvPr id="1035" name="sh1035"/>
          <p:cNvSpPr/>
          <p:nvPr/>
        </p:nvSpPr>
        <p:spPr>
          <a:xfrm>
            <a:off x="8500745" y="2514600"/>
            <a:ext cx="1397000" cy="31750"/>
          </a:xfrm>
          <a:prstGeom prst="rect">
            <a:avLst/>
          </a:prstGeom>
          <a:solidFill>
            <a:srgbClr val="2A86B8"/>
          </a:solidFill>
          <a:ln>
            <a:noFill/>
          </a:ln>
        </p:spPr>
        <p:txBody>
          <a:bodyPr/>
          <a:lstStyle/>
          <a:p>
            <a:endParaRPr lang="es-CL"/>
          </a:p>
        </p:txBody>
      </p:sp>
      <p:sp>
        <p:nvSpPr>
          <p:cNvPr id="1036" name="sh1036"/>
          <p:cNvSpPr/>
          <p:nvPr/>
        </p:nvSpPr>
        <p:spPr>
          <a:xfrm>
            <a:off x="8602345" y="2667000"/>
            <a:ext cx="1168400" cy="254000"/>
          </a:xfrm>
          <a:prstGeom prst="rect">
            <a:avLst/>
          </a:prstGeom>
          <a:noFill/>
          <a:ln>
            <a:noFill/>
          </a:ln>
        </p:spPr>
        <p:txBody>
          <a:bodyPr wrap="square" lIns="0" tIns="0" rIns="0" bIns="0" anchor="t">
            <a:noAutofit/>
          </a:bodyPr>
          <a:lstStyle/>
          <a:p>
            <a:pPr algn="l">
              <a:lnSpc>
                <a:spcPct val="100000"/>
              </a:lnSpc>
              <a:buNone/>
            </a:pPr>
            <a:r>
              <a:rPr lang="es-CL" sz="1600" b="1" spc="0" dirty="0">
                <a:solidFill>
                  <a:srgbClr val="2A86B8"/>
                </a:solidFill>
              </a:rPr>
              <a:t>Q6</a:t>
            </a:r>
          </a:p>
        </p:txBody>
      </p:sp>
      <p:sp>
        <p:nvSpPr>
          <p:cNvPr id="1037" name="sh1037"/>
          <p:cNvSpPr/>
          <p:nvPr/>
        </p:nvSpPr>
        <p:spPr>
          <a:xfrm>
            <a:off x="8602345" y="2971800"/>
            <a:ext cx="1168400" cy="533400"/>
          </a:xfrm>
          <a:prstGeom prst="rect">
            <a:avLst/>
          </a:prstGeom>
          <a:noFill/>
          <a:ln>
            <a:noFill/>
          </a:ln>
        </p:spPr>
        <p:txBody>
          <a:bodyPr wrap="square" lIns="0" tIns="0" rIns="0" bIns="0" anchor="t">
            <a:noAutofit/>
          </a:bodyPr>
          <a:lstStyle/>
          <a:p>
            <a:pPr algn="l">
              <a:lnSpc>
                <a:spcPct val="115000"/>
              </a:lnSpc>
              <a:buNone/>
            </a:pPr>
            <a:r>
              <a:rPr lang="es-CL" sz="1150" b="1" spc="0" dirty="0">
                <a:solidFill>
                  <a:srgbClr val="0A1524"/>
                </a:solidFill>
              </a:rPr>
              <a:t>Comparación y relaciones</a:t>
            </a:r>
          </a:p>
        </p:txBody>
      </p:sp>
      <p:sp>
        <p:nvSpPr>
          <p:cNvPr id="1038" name="sh1038"/>
          <p:cNvSpPr/>
          <p:nvPr/>
        </p:nvSpPr>
        <p:spPr>
          <a:xfrm>
            <a:off x="8602345" y="3556000"/>
            <a:ext cx="1168400" cy="3048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¿Cómo se relacionan?</a:t>
            </a:r>
          </a:p>
        </p:txBody>
      </p:sp>
      <p:sp>
        <p:nvSpPr>
          <p:cNvPr id="1039" name="sh1039"/>
          <p:cNvSpPr/>
          <p:nvPr/>
        </p:nvSpPr>
        <p:spPr>
          <a:xfrm>
            <a:off x="10033254" y="2514600"/>
            <a:ext cx="1397000" cy="1422400"/>
          </a:xfrm>
          <a:prstGeom prst="rect">
            <a:avLst/>
          </a:prstGeom>
          <a:solidFill>
            <a:srgbClr val="F7FAFC"/>
          </a:solidFill>
          <a:ln w="12700">
            <a:solidFill>
              <a:srgbClr val="C6D4E2"/>
            </a:solidFill>
          </a:ln>
        </p:spPr>
        <p:txBody>
          <a:bodyPr/>
          <a:lstStyle/>
          <a:p>
            <a:endParaRPr lang="es-CL"/>
          </a:p>
        </p:txBody>
      </p:sp>
      <p:sp>
        <p:nvSpPr>
          <p:cNvPr id="1040" name="sh1040"/>
          <p:cNvSpPr/>
          <p:nvPr/>
        </p:nvSpPr>
        <p:spPr>
          <a:xfrm>
            <a:off x="10045954" y="2514600"/>
            <a:ext cx="1397000" cy="31750"/>
          </a:xfrm>
          <a:prstGeom prst="rect">
            <a:avLst/>
          </a:prstGeom>
          <a:solidFill>
            <a:srgbClr val="0A6D82"/>
          </a:solidFill>
          <a:ln>
            <a:noFill/>
          </a:ln>
        </p:spPr>
        <p:txBody>
          <a:bodyPr/>
          <a:lstStyle/>
          <a:p>
            <a:endParaRPr lang="es-CL"/>
          </a:p>
        </p:txBody>
      </p:sp>
      <p:sp>
        <p:nvSpPr>
          <p:cNvPr id="1041" name="sh1041"/>
          <p:cNvSpPr/>
          <p:nvPr/>
        </p:nvSpPr>
        <p:spPr>
          <a:xfrm>
            <a:off x="10147554" y="2667000"/>
            <a:ext cx="1168400" cy="254000"/>
          </a:xfrm>
          <a:prstGeom prst="rect">
            <a:avLst/>
          </a:prstGeom>
          <a:noFill/>
          <a:ln>
            <a:noFill/>
          </a:ln>
        </p:spPr>
        <p:txBody>
          <a:bodyPr wrap="square" lIns="0" tIns="0" rIns="0" bIns="0" anchor="t">
            <a:noAutofit/>
          </a:bodyPr>
          <a:lstStyle/>
          <a:p>
            <a:pPr algn="l">
              <a:lnSpc>
                <a:spcPct val="100000"/>
              </a:lnSpc>
              <a:buNone/>
            </a:pPr>
            <a:r>
              <a:rPr lang="es-CL" sz="1600" b="1" spc="0" dirty="0">
                <a:solidFill>
                  <a:srgbClr val="0A6D82"/>
                </a:solidFill>
              </a:rPr>
              <a:t>Q7</a:t>
            </a:r>
          </a:p>
        </p:txBody>
      </p:sp>
      <p:sp>
        <p:nvSpPr>
          <p:cNvPr id="1042" name="sh1042"/>
          <p:cNvSpPr/>
          <p:nvPr/>
        </p:nvSpPr>
        <p:spPr>
          <a:xfrm>
            <a:off x="10147554" y="2971800"/>
            <a:ext cx="1168400" cy="533400"/>
          </a:xfrm>
          <a:prstGeom prst="rect">
            <a:avLst/>
          </a:prstGeom>
          <a:noFill/>
          <a:ln>
            <a:noFill/>
          </a:ln>
        </p:spPr>
        <p:txBody>
          <a:bodyPr wrap="square" lIns="0" tIns="0" rIns="0" bIns="0" anchor="t">
            <a:noAutofit/>
          </a:bodyPr>
          <a:lstStyle/>
          <a:p>
            <a:pPr algn="l">
              <a:lnSpc>
                <a:spcPct val="115000"/>
              </a:lnSpc>
              <a:buNone/>
            </a:pPr>
            <a:r>
              <a:rPr lang="es-CL" sz="1150" b="1" spc="0" dirty="0">
                <a:solidFill>
                  <a:srgbClr val="0A1524"/>
                </a:solidFill>
              </a:rPr>
              <a:t>No respondible</a:t>
            </a:r>
          </a:p>
        </p:txBody>
      </p:sp>
      <p:sp>
        <p:nvSpPr>
          <p:cNvPr id="1043" name="sh1043"/>
          <p:cNvSpPr/>
          <p:nvPr/>
        </p:nvSpPr>
        <p:spPr>
          <a:xfrm>
            <a:off x="10147554" y="3556000"/>
            <a:ext cx="1168400" cy="3048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¿Debe abstenerse?</a:t>
            </a:r>
          </a:p>
        </p:txBody>
      </p:sp>
      <p:sp>
        <p:nvSpPr>
          <p:cNvPr id="1044" name="sh1044"/>
          <p:cNvSpPr/>
          <p:nvPr/>
        </p:nvSpPr>
        <p:spPr>
          <a:xfrm>
            <a:off x="762000" y="4343400"/>
            <a:ext cx="10668000" cy="0"/>
          </a:xfrm>
          <a:prstGeom prst="line">
            <a:avLst/>
          </a:prstGeom>
          <a:noFill/>
          <a:ln w="15875">
            <a:solidFill>
              <a:srgbClr val="9FB3C8"/>
            </a:solidFill>
            <a:tailEnd type="triangle" w="med" len="med"/>
          </a:ln>
        </p:spPr>
        <p:txBody>
          <a:bodyPr/>
          <a:lstStyle/>
          <a:p>
            <a:endParaRPr lang="es-CL"/>
          </a:p>
        </p:txBody>
      </p:sp>
      <p:sp>
        <p:nvSpPr>
          <p:cNvPr id="1045" name="sh1045"/>
          <p:cNvSpPr/>
          <p:nvPr/>
        </p:nvSpPr>
        <p:spPr>
          <a:xfrm>
            <a:off x="762000" y="4089400"/>
            <a:ext cx="2794000" cy="177800"/>
          </a:xfrm>
          <a:prstGeom prst="rect">
            <a:avLst/>
          </a:prstGeom>
          <a:noFill/>
          <a:ln>
            <a:noFill/>
          </a:ln>
        </p:spPr>
        <p:txBody>
          <a:bodyPr wrap="square" lIns="0" tIns="0" rIns="0" bIns="0" anchor="ctr">
            <a:noAutofit/>
          </a:bodyPr>
          <a:lstStyle/>
          <a:p>
            <a:pPr algn="l">
              <a:lnSpc>
                <a:spcPct val="100000"/>
              </a:lnSpc>
              <a:buNone/>
            </a:pPr>
            <a:r>
              <a:rPr lang="es-CL" sz="1050" b="1" spc="100" dirty="0">
                <a:solidFill>
                  <a:srgbClr val="12406E"/>
                </a:solidFill>
              </a:rPr>
              <a:t>LOCAL · una reunión</a:t>
            </a:r>
          </a:p>
        </p:txBody>
      </p:sp>
      <p:sp>
        <p:nvSpPr>
          <p:cNvPr id="1046" name="sh1046"/>
          <p:cNvSpPr/>
          <p:nvPr/>
        </p:nvSpPr>
        <p:spPr>
          <a:xfrm>
            <a:off x="4699000" y="4089400"/>
            <a:ext cx="2794000" cy="177800"/>
          </a:xfrm>
          <a:prstGeom prst="rect">
            <a:avLst/>
          </a:prstGeom>
          <a:noFill/>
          <a:ln>
            <a:noFill/>
          </a:ln>
        </p:spPr>
        <p:txBody>
          <a:bodyPr wrap="square" lIns="0" tIns="0" rIns="0" bIns="0" anchor="ctr">
            <a:noAutofit/>
          </a:bodyPr>
          <a:lstStyle/>
          <a:p>
            <a:pPr algn="ctr">
              <a:lnSpc>
                <a:spcPct val="100000"/>
              </a:lnSpc>
              <a:buNone/>
            </a:pPr>
            <a:r>
              <a:rPr lang="es-CL" sz="1050" b="1" spc="100" dirty="0">
                <a:solidFill>
                  <a:srgbClr val="12406E"/>
                </a:solidFill>
              </a:rPr>
              <a:t>LONGITUDINAL · múltiples reuniones</a:t>
            </a:r>
          </a:p>
        </p:txBody>
      </p:sp>
      <p:sp>
        <p:nvSpPr>
          <p:cNvPr id="1047" name="sh1047"/>
          <p:cNvSpPr/>
          <p:nvPr/>
        </p:nvSpPr>
        <p:spPr>
          <a:xfrm>
            <a:off x="8636000" y="4089400"/>
            <a:ext cx="2794000" cy="177800"/>
          </a:xfrm>
          <a:prstGeom prst="rect">
            <a:avLst/>
          </a:prstGeom>
          <a:noFill/>
          <a:ln>
            <a:noFill/>
          </a:ln>
        </p:spPr>
        <p:txBody>
          <a:bodyPr wrap="square" lIns="0" tIns="0" rIns="0" bIns="0" anchor="ctr">
            <a:noAutofit/>
          </a:bodyPr>
          <a:lstStyle/>
          <a:p>
            <a:pPr algn="r">
              <a:lnSpc>
                <a:spcPct val="100000"/>
              </a:lnSpc>
              <a:buNone/>
            </a:pPr>
            <a:r>
              <a:rPr lang="es-CL" sz="1050" b="1" spc="100" dirty="0">
                <a:solidFill>
                  <a:srgbClr val="12406E"/>
                </a:solidFill>
              </a:rPr>
              <a:t>MULTIDECISIÓN · varias decisiones</a:t>
            </a:r>
          </a:p>
        </p:txBody>
      </p:sp>
      <p:sp>
        <p:nvSpPr>
          <p:cNvPr id="1051" name="sh1051"/>
          <p:cNvSpPr/>
          <p:nvPr/>
        </p:nvSpPr>
        <p:spPr>
          <a:xfrm>
            <a:off x="762000" y="4470400"/>
            <a:ext cx="10668000" cy="177800"/>
          </a:xfrm>
          <a:prstGeom prst="rect">
            <a:avLst/>
          </a:prstGeom>
          <a:noFill/>
          <a:ln>
            <a:noFill/>
          </a:ln>
        </p:spPr>
        <p:txBody>
          <a:bodyPr wrap="square" lIns="0" tIns="0" rIns="0" bIns="0" anchor="ctr">
            <a:noAutofit/>
          </a:bodyPr>
          <a:lstStyle/>
          <a:p>
            <a:pPr algn="ctr">
              <a:lnSpc>
                <a:spcPct val="100000"/>
              </a:lnSpc>
              <a:buNone/>
            </a:pPr>
            <a:r>
              <a:rPr lang="es-CL" sz="950" b="1" spc="140" dirty="0">
                <a:solidFill>
                  <a:srgbClr val="9FB3C8"/>
                </a:solidFill>
              </a:rPr>
              <a:t>EJE 2 · COMPLEJIDAD LONGITUDINAL · CADA INSTANCIA SE ETIQUETA POR PROFUNDIDAD, DECISIONES Y EVENTOS</a:t>
            </a:r>
          </a:p>
        </p:txBody>
      </p:sp>
      <p:sp>
        <p:nvSpPr>
          <p:cNvPr id="1052" name="sh1052"/>
          <p:cNvSpPr/>
          <p:nvPr/>
        </p:nvSpPr>
        <p:spPr>
          <a:xfrm>
            <a:off x="762000" y="5257800"/>
            <a:ext cx="38100" cy="787400"/>
          </a:xfrm>
          <a:prstGeom prst="rect">
            <a:avLst/>
          </a:prstGeom>
          <a:solidFill>
            <a:srgbClr val="2ED3E8"/>
          </a:solidFill>
          <a:ln>
            <a:noFill/>
          </a:ln>
        </p:spPr>
        <p:txBody>
          <a:bodyPr/>
          <a:lstStyle/>
          <a:p>
            <a:endParaRPr lang="es-CL"/>
          </a:p>
        </p:txBody>
      </p:sp>
      <p:sp>
        <p:nvSpPr>
          <p:cNvPr id="1053" name="sh1053"/>
          <p:cNvSpPr/>
          <p:nvPr/>
        </p:nvSpPr>
        <p:spPr>
          <a:xfrm>
            <a:off x="990600" y="5257800"/>
            <a:ext cx="10414000" cy="787400"/>
          </a:xfrm>
          <a:prstGeom prst="rect">
            <a:avLst/>
          </a:prstGeom>
          <a:noFill/>
          <a:ln>
            <a:noFill/>
          </a:ln>
        </p:spPr>
        <p:txBody>
          <a:bodyPr wrap="square" lIns="0" tIns="0" rIns="0" bIns="0" anchor="ctr">
            <a:noAutofit/>
          </a:bodyPr>
          <a:lstStyle/>
          <a:p>
            <a:pPr algn="l">
              <a:lnSpc>
                <a:spcPct val="125000"/>
              </a:lnSpc>
              <a:buNone/>
            </a:pPr>
            <a:r>
              <a:rPr lang="es-CL" sz="1450" b="1" spc="0" dirty="0">
                <a:solidFill>
                  <a:srgbClr val="12406E"/>
                </a:solidFill>
              </a:rPr>
              <a:t>El análisis por tipo y complejidad identifica condiciones de frontera: dónde cambia el desempeño relativo entre C1 y C2.</a:t>
            </a:r>
          </a:p>
          <a:p>
            <a:pPr algn="l">
              <a:lnSpc>
                <a:spcPct val="125000"/>
              </a:lnSpc>
              <a:buNone/>
            </a:pPr>
            <a:r>
              <a:rPr lang="es-CL" sz="1450" b="1" spc="0" dirty="0">
                <a:solidFill>
                  <a:srgbClr val="12406E"/>
                </a:solidFill>
              </a:rPr>
              <a:t>Cada instancia se etiqueta por tipo, alcance, profundidad N, reuniones con evidencia, eventos, decisiones y respondibilidad; el banco se construye antes de observar los resultados comparativos y queda documentado antes del análisis final.</a:t>
            </a:r>
          </a:p>
        </p:txBody>
      </p:sp>
      <p:sp>
        <p:nvSpPr>
          <p:cNvPr id="1054" name="sh1054"/>
          <p:cNvSpPr/>
          <p:nvPr/>
        </p:nvSpPr>
        <p:spPr>
          <a:xfrm>
            <a:off x="762000" y="6172200"/>
            <a:ext cx="106680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Q7 evalúa abstención: responder “no hay información suficiente” es un resultado correcto</a:t>
            </a:r>
          </a:p>
        </p:txBody>
      </p:sp>
      <p:sp>
        <p:nvSpPr>
          <p:cNvPr id="1700" name="eje1700"/>
          <p:cNvSpPr/>
          <p:nvPr/>
        </p:nvSpPr>
        <p:spPr>
          <a:xfrm>
            <a:off x="762000" y="1828800"/>
            <a:ext cx="5080000" cy="177800"/>
          </a:xfrm>
          <a:prstGeom prst="rect">
            <a:avLst/>
          </a:prstGeom>
          <a:noFill/>
          <a:ln>
            <a:noFill/>
          </a:ln>
        </p:spPr>
        <p:txBody>
          <a:bodyPr wrap="square" lIns="0" tIns="0" rIns="0" bIns="0" anchor="ctr">
            <a:noAutofit/>
          </a:bodyPr>
          <a:lstStyle/>
          <a:p>
            <a:pPr algn="l">
              <a:buNone/>
            </a:pPr>
            <a:r>
              <a:rPr lang="es-CL" sz="1000" b="1" spc="140" dirty="0">
                <a:solidFill>
                  <a:srgbClr val="5A7290"/>
                </a:solidFill>
              </a:rPr>
              <a:t>EJE 1 · TIPO DE PREGUNTA</a:t>
            </a:r>
          </a:p>
        </p:txBody>
      </p:sp>
      <p:sp>
        <p:nvSpPr>
          <p:cNvPr id="1701" name="eje1701"/>
          <p:cNvSpPr/>
          <p:nvPr/>
        </p:nvSpPr>
        <p:spPr>
          <a:xfrm>
            <a:off x="6350000" y="1828800"/>
            <a:ext cx="5080000" cy="177800"/>
          </a:xfrm>
          <a:prstGeom prst="rect">
            <a:avLst/>
          </a:prstGeom>
          <a:noFill/>
          <a:ln>
            <a:noFill/>
          </a:ln>
        </p:spPr>
        <p:txBody>
          <a:bodyPr wrap="square" lIns="0" tIns="0" rIns="0" bIns="0" anchor="ctr">
            <a:noAutofit/>
          </a:bodyPr>
          <a:lstStyle/>
          <a:p>
            <a:pPr algn="r">
              <a:buNone/>
            </a:pPr>
            <a:r>
              <a:rPr lang="es-CL" sz="1050" b="0" spc="0" dirty="0">
                <a:solidFill>
                  <a:srgbClr val="4A5F78"/>
                </a:solidFill>
              </a:rPr>
              <a:t>Tipo · alcance · profundidad N · decisiones · eventos · respondibilidad</a:t>
            </a:r>
          </a:p>
        </p:txBody>
      </p:sp>
      <p:sp>
        <p:nvSpPr>
          <p:cNvPr id="1980" name="pregunta20"/>
          <p:cNvSpPr/>
          <p:nvPr/>
        </p:nvSpPr>
        <p:spPr>
          <a:xfrm>
            <a:off x="762000" y="4724400"/>
            <a:ext cx="10668000" cy="203200"/>
          </a:xfrm>
          <a:prstGeom prst="rect">
            <a:avLst/>
          </a:prstGeom>
          <a:noFill/>
          <a:ln>
            <a:noFill/>
          </a:ln>
        </p:spPr>
        <p:txBody>
          <a:bodyPr wrap="square" lIns="0" tIns="0" rIns="0" bIns="0" anchor="ctr">
            <a:noAutofit/>
          </a:bodyPr>
          <a:lstStyle/>
          <a:p>
            <a:pPr algn="l">
              <a:buNone/>
            </a:pPr>
            <a:r>
              <a:rPr lang="es-CL" sz="1050" dirty="0">
                <a:solidFill>
                  <a:srgbClr val="4A5F78"/>
                </a:solidFill>
              </a:rPr>
              <a:t>Pregunta de valor: ¿cómo cambia la tasa de errores de vigencia entre C1 y C2 cuando las decisiones evolucionan entre reuniones?</a:t>
            </a:r>
          </a:p>
        </p:txBody>
      </p:sp>
    </p:spTree>
    <p:extLst>
      <p:ext uri="{BB962C8B-B14F-4D97-AF65-F5344CB8AC3E}">
        <p14:creationId xmlns:p14="http://schemas.microsoft.com/office/powerpoint/2010/main" val="4182460426"/>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762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ALCANCE LONGITUDINAL · PROFUNDIDAD HISTÓRICA N</a:t>
            </a:r>
          </a:p>
        </p:txBody>
      </p:sp>
      <p:sp>
        <p:nvSpPr>
          <p:cNvPr id="1002" name="sh1002"/>
          <p:cNvSpPr/>
          <p:nvPr/>
        </p:nvSpPr>
        <p:spPr>
          <a:xfrm>
            <a:off x="762000" y="863600"/>
            <a:ext cx="10160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Una reunión y N reuniones son dificultades distintas</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[ 23 ]</a:t>
            </a:r>
          </a:p>
        </p:txBody>
      </p:sp>
      <p:sp>
        <p:nvSpPr>
          <p:cNvPr id="1005" name="sh1005"/>
          <p:cNvSpPr/>
          <p:nvPr/>
        </p:nvSpPr>
        <p:spPr>
          <a:xfrm>
            <a:off x="762000" y="1905000"/>
            <a:ext cx="3429000" cy="38100"/>
          </a:xfrm>
          <a:prstGeom prst="rect">
            <a:avLst/>
          </a:prstGeom>
          <a:solidFill>
            <a:srgbClr val="5A7290"/>
          </a:solidFill>
          <a:ln>
            <a:noFill/>
          </a:ln>
        </p:spPr>
        <p:txBody>
          <a:bodyPr/>
          <a:lstStyle/>
          <a:p>
            <a:endParaRPr lang="es-CL"/>
          </a:p>
        </p:txBody>
      </p:sp>
      <p:sp>
        <p:nvSpPr>
          <p:cNvPr id="1006" name="sh1006"/>
          <p:cNvSpPr/>
          <p:nvPr/>
        </p:nvSpPr>
        <p:spPr>
          <a:xfrm>
            <a:off x="762000" y="2032000"/>
            <a:ext cx="34290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5A7290"/>
                </a:solidFill>
              </a:rPr>
              <a:t>ALCANCE 01</a:t>
            </a:r>
          </a:p>
        </p:txBody>
      </p:sp>
      <p:sp>
        <p:nvSpPr>
          <p:cNvPr id="1007" name="sh1007"/>
          <p:cNvSpPr/>
          <p:nvPr/>
        </p:nvSpPr>
        <p:spPr>
          <a:xfrm>
            <a:off x="762000" y="2260600"/>
            <a:ext cx="3175000" cy="558800"/>
          </a:xfrm>
          <a:prstGeom prst="rect">
            <a:avLst/>
          </a:prstGeom>
          <a:noFill/>
          <a:ln>
            <a:noFill/>
          </a:ln>
        </p:spPr>
        <p:txBody>
          <a:bodyPr wrap="square" lIns="0" tIns="0" rIns="0" bIns="0" anchor="t">
            <a:noAutofit/>
          </a:bodyPr>
          <a:lstStyle/>
          <a:p>
            <a:pPr algn="l">
              <a:lnSpc>
                <a:spcPct val="110000"/>
              </a:lnSpc>
              <a:buNone/>
            </a:pPr>
            <a:r>
              <a:rPr lang="es-CL" sz="1500" b="1" spc="0" dirty="0">
                <a:solidFill>
                  <a:srgbClr val="0A1524"/>
                </a:solidFill>
              </a:rPr>
              <a:t>Local · evidencia en una reunión</a:t>
            </a:r>
          </a:p>
        </p:txBody>
      </p:sp>
      <p:sp>
        <p:nvSpPr>
          <p:cNvPr id="1008" name="sh1008"/>
          <p:cNvSpPr/>
          <p:nvPr/>
        </p:nvSpPr>
        <p:spPr>
          <a:xfrm>
            <a:off x="762000" y="2921000"/>
            <a:ext cx="1651000" cy="330200"/>
          </a:xfrm>
          <a:prstGeom prst="rect">
            <a:avLst/>
          </a:prstGeom>
          <a:solidFill>
            <a:srgbClr val="F1F5F9"/>
          </a:solidFill>
          <a:ln>
            <a:noFill/>
          </a:ln>
        </p:spPr>
        <p:txBody>
          <a:bodyPr wrap="square" lIns="50800" tIns="50800" rIns="50800" bIns="50800" anchor="ctr">
            <a:noAutofit/>
          </a:bodyPr>
          <a:lstStyle/>
          <a:p>
            <a:pPr algn="ctr">
              <a:lnSpc>
                <a:spcPct val="100000"/>
              </a:lnSpc>
              <a:buNone/>
            </a:pPr>
            <a:r>
              <a:rPr lang="es-CL" sz="1000" b="0" spc="0" dirty="0">
                <a:solidFill>
                  <a:srgbClr val="12406E"/>
                </a:solidFill>
              </a:rPr>
              <a:t>UNA REUNIÓN</a:t>
            </a:r>
          </a:p>
        </p:txBody>
      </p:sp>
      <p:sp>
        <p:nvSpPr>
          <p:cNvPr id="1009" name="sh1009"/>
          <p:cNvSpPr/>
          <p:nvPr/>
        </p:nvSpPr>
        <p:spPr>
          <a:xfrm>
            <a:off x="2463800" y="3086100"/>
            <a:ext cx="203200" cy="0"/>
          </a:xfrm>
          <a:prstGeom prst="line">
            <a:avLst/>
          </a:prstGeom>
          <a:noFill/>
          <a:ln w="12700">
            <a:solidFill>
              <a:srgbClr val="9FB3C8"/>
            </a:solidFill>
            <a:tailEnd type="triangle" w="med" len="med"/>
          </a:ln>
        </p:spPr>
        <p:txBody>
          <a:bodyPr/>
          <a:lstStyle/>
          <a:p>
            <a:endParaRPr lang="es-CL"/>
          </a:p>
        </p:txBody>
      </p:sp>
      <p:sp>
        <p:nvSpPr>
          <p:cNvPr id="1010" name="sh1010"/>
          <p:cNvSpPr/>
          <p:nvPr/>
        </p:nvSpPr>
        <p:spPr>
          <a:xfrm>
            <a:off x="2717800" y="2921000"/>
            <a:ext cx="1473200" cy="330200"/>
          </a:xfrm>
          <a:prstGeom prst="rect">
            <a:avLst/>
          </a:prstGeom>
          <a:solidFill>
            <a:srgbClr val="5A7290"/>
          </a:solidFill>
          <a:ln>
            <a:noFill/>
          </a:ln>
        </p:spPr>
        <p:txBody>
          <a:bodyPr wrap="square" lIns="50800" tIns="50800" rIns="50800" bIns="50800" anchor="ctr">
            <a:noAutofit/>
          </a:bodyPr>
          <a:lstStyle/>
          <a:p>
            <a:pPr algn="ctr">
              <a:lnSpc>
                <a:spcPct val="95000"/>
              </a:lnSpc>
              <a:buNone/>
            </a:pPr>
            <a:r>
              <a:rPr lang="es-CL" sz="1000" b="1" spc="0" dirty="0">
                <a:solidFill>
                  <a:srgbClr val="FFFFFF"/>
                </a:solidFill>
              </a:rPr>
              <a:t>EVIDENCIA LOCAL</a:t>
            </a:r>
          </a:p>
        </p:txBody>
      </p:sp>
      <p:sp>
        <p:nvSpPr>
          <p:cNvPr id="1011" name="sh1011"/>
          <p:cNvSpPr/>
          <p:nvPr/>
        </p:nvSpPr>
        <p:spPr>
          <a:xfrm>
            <a:off x="762000" y="3378200"/>
            <a:ext cx="3276600" cy="762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La evidencia necesaria se encuentra dentro de una sola reunión: no exige reconstrucción histórica.</a:t>
            </a:r>
          </a:p>
        </p:txBody>
      </p:sp>
      <p:sp>
        <p:nvSpPr>
          <p:cNvPr id="1012" name="sh1012"/>
          <p:cNvSpPr/>
          <p:nvPr/>
        </p:nvSpPr>
        <p:spPr>
          <a:xfrm>
            <a:off x="4381500" y="1905000"/>
            <a:ext cx="3429000" cy="38100"/>
          </a:xfrm>
          <a:prstGeom prst="rect">
            <a:avLst/>
          </a:prstGeom>
          <a:solidFill>
            <a:srgbClr val="12684B"/>
          </a:solidFill>
          <a:ln>
            <a:noFill/>
          </a:ln>
        </p:spPr>
        <p:txBody>
          <a:bodyPr/>
          <a:lstStyle/>
          <a:p>
            <a:endParaRPr lang="es-CL"/>
          </a:p>
        </p:txBody>
      </p:sp>
      <p:sp>
        <p:nvSpPr>
          <p:cNvPr id="1013" name="sh1013"/>
          <p:cNvSpPr/>
          <p:nvPr/>
        </p:nvSpPr>
        <p:spPr>
          <a:xfrm>
            <a:off x="4381500" y="2032000"/>
            <a:ext cx="34290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1E8E6A"/>
                </a:solidFill>
              </a:rPr>
              <a:t>ALCANCE 02</a:t>
            </a:r>
          </a:p>
        </p:txBody>
      </p:sp>
      <p:sp>
        <p:nvSpPr>
          <p:cNvPr id="1014" name="sh1014"/>
          <p:cNvSpPr/>
          <p:nvPr/>
        </p:nvSpPr>
        <p:spPr>
          <a:xfrm>
            <a:off x="4381500" y="2260600"/>
            <a:ext cx="3175000" cy="558800"/>
          </a:xfrm>
          <a:prstGeom prst="rect">
            <a:avLst/>
          </a:prstGeom>
          <a:noFill/>
          <a:ln>
            <a:noFill/>
          </a:ln>
        </p:spPr>
        <p:txBody>
          <a:bodyPr wrap="square" lIns="0" tIns="0" rIns="0" bIns="0" anchor="t">
            <a:noAutofit/>
          </a:bodyPr>
          <a:lstStyle/>
          <a:p>
            <a:pPr algn="l">
              <a:lnSpc>
                <a:spcPct val="110000"/>
              </a:lnSpc>
              <a:buNone/>
            </a:pPr>
            <a:r>
              <a:rPr lang="es-CL" sz="1500" b="1" spc="0" dirty="0">
                <a:solidFill>
                  <a:srgbClr val="0A1524"/>
                </a:solidFill>
              </a:rPr>
              <a:t>Longitudinal · varias reuniones</a:t>
            </a:r>
          </a:p>
        </p:txBody>
      </p:sp>
      <p:sp>
        <p:nvSpPr>
          <p:cNvPr id="1015" name="sh1015"/>
          <p:cNvSpPr/>
          <p:nvPr/>
        </p:nvSpPr>
        <p:spPr>
          <a:xfrm>
            <a:off x="4381500" y="2921000"/>
            <a:ext cx="1651000" cy="330200"/>
          </a:xfrm>
          <a:prstGeom prst="rect">
            <a:avLst/>
          </a:prstGeom>
          <a:solidFill>
            <a:srgbClr val="F1F5F9"/>
          </a:solidFill>
          <a:ln>
            <a:noFill/>
          </a:ln>
        </p:spPr>
        <p:txBody>
          <a:bodyPr wrap="square" lIns="50800" tIns="50800" rIns="50800" bIns="50800" anchor="ctr">
            <a:noAutofit/>
          </a:bodyPr>
          <a:lstStyle/>
          <a:p>
            <a:pPr algn="ctr">
              <a:lnSpc>
                <a:spcPct val="100000"/>
              </a:lnSpc>
              <a:buNone/>
            </a:pPr>
            <a:r>
              <a:rPr lang="es-CL" sz="1000" b="0" spc="0" dirty="0">
                <a:solidFill>
                  <a:srgbClr val="12406E"/>
                </a:solidFill>
              </a:rPr>
              <a:t>N REUNIONES</a:t>
            </a:r>
          </a:p>
        </p:txBody>
      </p:sp>
      <p:sp>
        <p:nvSpPr>
          <p:cNvPr id="1016" name="sh1016"/>
          <p:cNvSpPr/>
          <p:nvPr/>
        </p:nvSpPr>
        <p:spPr>
          <a:xfrm>
            <a:off x="6083300" y="3086100"/>
            <a:ext cx="203200" cy="0"/>
          </a:xfrm>
          <a:prstGeom prst="line">
            <a:avLst/>
          </a:prstGeom>
          <a:noFill/>
          <a:ln w="12700">
            <a:solidFill>
              <a:srgbClr val="9FB3C8"/>
            </a:solidFill>
            <a:tailEnd type="triangle" w="med" len="med"/>
          </a:ln>
        </p:spPr>
        <p:txBody>
          <a:bodyPr/>
          <a:lstStyle/>
          <a:p>
            <a:endParaRPr lang="es-CL"/>
          </a:p>
        </p:txBody>
      </p:sp>
      <p:sp>
        <p:nvSpPr>
          <p:cNvPr id="1017" name="sh1017"/>
          <p:cNvSpPr/>
          <p:nvPr/>
        </p:nvSpPr>
        <p:spPr>
          <a:xfrm>
            <a:off x="6337300" y="2921000"/>
            <a:ext cx="1473200" cy="330200"/>
          </a:xfrm>
          <a:prstGeom prst="rect">
            <a:avLst/>
          </a:prstGeom>
          <a:solidFill>
            <a:srgbClr val="12684B"/>
          </a:solidFill>
          <a:ln>
            <a:noFill/>
          </a:ln>
        </p:spPr>
        <p:txBody>
          <a:bodyPr wrap="square" lIns="50800" tIns="50800" rIns="50800" bIns="50800" anchor="ctr">
            <a:noAutofit/>
          </a:bodyPr>
          <a:lstStyle/>
          <a:p>
            <a:pPr algn="ctr">
              <a:lnSpc>
                <a:spcPct val="95000"/>
              </a:lnSpc>
              <a:buNone/>
            </a:pPr>
            <a:r>
              <a:rPr lang="es-CL" sz="1000" b="1" spc="0" dirty="0">
                <a:solidFill>
                  <a:srgbClr val="FFFFFF"/>
                </a:solidFill>
              </a:rPr>
              <a:t>EVENTOS EN CADENA</a:t>
            </a:r>
          </a:p>
        </p:txBody>
      </p:sp>
      <p:sp>
        <p:nvSpPr>
          <p:cNvPr id="1018" name="sh1018"/>
          <p:cNvSpPr/>
          <p:nvPr/>
        </p:nvSpPr>
        <p:spPr>
          <a:xfrm>
            <a:off x="4381500" y="3378200"/>
            <a:ext cx="3276600" cy="762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La respuesta exige seguir una misma decisión a través de varias reuniones y sus eventos.</a:t>
            </a:r>
          </a:p>
        </p:txBody>
      </p:sp>
      <p:sp>
        <p:nvSpPr>
          <p:cNvPr id="1019" name="sh1019"/>
          <p:cNvSpPr/>
          <p:nvPr/>
        </p:nvSpPr>
        <p:spPr>
          <a:xfrm>
            <a:off x="8001000" y="1905000"/>
            <a:ext cx="3429000" cy="38100"/>
          </a:xfrm>
          <a:prstGeom prst="rect">
            <a:avLst/>
          </a:prstGeom>
          <a:solidFill>
            <a:srgbClr val="0A6D82"/>
          </a:solidFill>
          <a:ln>
            <a:noFill/>
          </a:ln>
        </p:spPr>
        <p:txBody>
          <a:bodyPr/>
          <a:lstStyle/>
          <a:p>
            <a:endParaRPr lang="es-CL"/>
          </a:p>
        </p:txBody>
      </p:sp>
      <p:sp>
        <p:nvSpPr>
          <p:cNvPr id="1020" name="sh1020"/>
          <p:cNvSpPr/>
          <p:nvPr/>
        </p:nvSpPr>
        <p:spPr>
          <a:xfrm>
            <a:off x="8001000" y="2032000"/>
            <a:ext cx="3429000" cy="165100"/>
          </a:xfrm>
          <a:prstGeom prst="rect">
            <a:avLst/>
          </a:prstGeom>
          <a:noFill/>
          <a:ln>
            <a:noFill/>
          </a:ln>
        </p:spPr>
        <p:txBody>
          <a:bodyPr wrap="square" lIns="0" tIns="0" rIns="0" bIns="0" anchor="ctr">
            <a:noAutofit/>
          </a:bodyPr>
          <a:lstStyle/>
          <a:p>
            <a:pPr algn="l">
              <a:lnSpc>
                <a:spcPct val="100000"/>
              </a:lnSpc>
              <a:buNone/>
            </a:pPr>
            <a:r>
              <a:rPr lang="es-CL" sz="950" b="1" spc="100" dirty="0">
                <a:solidFill>
                  <a:srgbClr val="0E9BB5"/>
                </a:solidFill>
              </a:rPr>
              <a:t>ALCANCE 03</a:t>
            </a:r>
          </a:p>
        </p:txBody>
      </p:sp>
      <p:sp>
        <p:nvSpPr>
          <p:cNvPr id="1021" name="sh1021"/>
          <p:cNvSpPr/>
          <p:nvPr/>
        </p:nvSpPr>
        <p:spPr>
          <a:xfrm>
            <a:off x="8001000" y="2260600"/>
            <a:ext cx="3175000" cy="558800"/>
          </a:xfrm>
          <a:prstGeom prst="rect">
            <a:avLst/>
          </a:prstGeom>
          <a:noFill/>
          <a:ln>
            <a:noFill/>
          </a:ln>
        </p:spPr>
        <p:txBody>
          <a:bodyPr wrap="square" lIns="0" tIns="0" rIns="0" bIns="0" anchor="t">
            <a:noAutofit/>
          </a:bodyPr>
          <a:lstStyle/>
          <a:p>
            <a:pPr algn="l">
              <a:lnSpc>
                <a:spcPct val="110000"/>
              </a:lnSpc>
              <a:buNone/>
            </a:pPr>
            <a:r>
              <a:rPr lang="es-CL" sz="1500" b="1" spc="0" dirty="0">
                <a:solidFill>
                  <a:srgbClr val="0A1524"/>
                </a:solidFill>
              </a:rPr>
              <a:t>Multidecisión · varias decisiones</a:t>
            </a:r>
          </a:p>
        </p:txBody>
      </p:sp>
      <p:sp>
        <p:nvSpPr>
          <p:cNvPr id="1022" name="sh1022"/>
          <p:cNvSpPr/>
          <p:nvPr/>
        </p:nvSpPr>
        <p:spPr>
          <a:xfrm>
            <a:off x="8001000" y="2921000"/>
            <a:ext cx="1651000" cy="330200"/>
          </a:xfrm>
          <a:prstGeom prst="rect">
            <a:avLst/>
          </a:prstGeom>
          <a:solidFill>
            <a:srgbClr val="F1F5F9"/>
          </a:solidFill>
          <a:ln>
            <a:noFill/>
          </a:ln>
        </p:spPr>
        <p:txBody>
          <a:bodyPr wrap="square" lIns="50800" tIns="50800" rIns="50800" bIns="50800" anchor="ctr">
            <a:noAutofit/>
          </a:bodyPr>
          <a:lstStyle/>
          <a:p>
            <a:pPr algn="ctr">
              <a:lnSpc>
                <a:spcPct val="100000"/>
              </a:lnSpc>
              <a:buNone/>
            </a:pPr>
            <a:r>
              <a:rPr lang="es-CL" sz="1000" b="0" spc="0" dirty="0">
                <a:solidFill>
                  <a:srgbClr val="12406E"/>
                </a:solidFill>
              </a:rPr>
              <a:t>VARIAS DECISIONES</a:t>
            </a:r>
          </a:p>
        </p:txBody>
      </p:sp>
      <p:sp>
        <p:nvSpPr>
          <p:cNvPr id="1023" name="sh1023"/>
          <p:cNvSpPr/>
          <p:nvPr/>
        </p:nvSpPr>
        <p:spPr>
          <a:xfrm>
            <a:off x="9702800" y="3086100"/>
            <a:ext cx="203200" cy="0"/>
          </a:xfrm>
          <a:prstGeom prst="line">
            <a:avLst/>
          </a:prstGeom>
          <a:noFill/>
          <a:ln w="12700">
            <a:solidFill>
              <a:srgbClr val="9FB3C8"/>
            </a:solidFill>
            <a:tailEnd type="triangle" w="med" len="med"/>
          </a:ln>
        </p:spPr>
        <p:txBody>
          <a:bodyPr/>
          <a:lstStyle/>
          <a:p>
            <a:endParaRPr lang="es-CL"/>
          </a:p>
        </p:txBody>
      </p:sp>
      <p:sp>
        <p:nvSpPr>
          <p:cNvPr id="1024" name="sh1024"/>
          <p:cNvSpPr/>
          <p:nvPr/>
        </p:nvSpPr>
        <p:spPr>
          <a:xfrm>
            <a:off x="9956800" y="2921000"/>
            <a:ext cx="1473200" cy="330200"/>
          </a:xfrm>
          <a:prstGeom prst="rect">
            <a:avLst/>
          </a:prstGeom>
          <a:solidFill>
            <a:srgbClr val="0A6D82"/>
          </a:solidFill>
          <a:ln>
            <a:noFill/>
          </a:ln>
        </p:spPr>
        <p:txBody>
          <a:bodyPr wrap="square" lIns="50800" tIns="50800" rIns="50800" bIns="50800" anchor="ctr">
            <a:noAutofit/>
          </a:bodyPr>
          <a:lstStyle/>
          <a:p>
            <a:pPr algn="ctr">
              <a:lnSpc>
                <a:spcPct val="95000"/>
              </a:lnSpc>
              <a:buNone/>
            </a:pPr>
            <a:r>
              <a:rPr lang="es-CL" sz="1000" b="1" spc="0" dirty="0">
                <a:solidFill>
                  <a:srgbClr val="FFFFFF"/>
                </a:solidFill>
              </a:rPr>
              <a:t>RELACIONES</a:t>
            </a:r>
          </a:p>
        </p:txBody>
      </p:sp>
      <p:sp>
        <p:nvSpPr>
          <p:cNvPr id="1025" name="sh1025"/>
          <p:cNvSpPr/>
          <p:nvPr/>
        </p:nvSpPr>
        <p:spPr>
          <a:xfrm>
            <a:off x="8001000" y="3378200"/>
            <a:ext cx="3276600" cy="7620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La respuesta exige integrar más de una decisión y sus relaciones, en una o varias reuniones.</a:t>
            </a:r>
          </a:p>
        </p:txBody>
      </p:sp>
      <p:sp>
        <p:nvSpPr>
          <p:cNvPr id="1026" name="sh1026"/>
          <p:cNvSpPr/>
          <p:nvPr/>
        </p:nvSpPr>
        <p:spPr>
          <a:xfrm>
            <a:off x="762000" y="4368800"/>
            <a:ext cx="10668000" cy="9525"/>
          </a:xfrm>
          <a:prstGeom prst="rect">
            <a:avLst/>
          </a:prstGeom>
          <a:solidFill>
            <a:srgbClr val="D8E2EC"/>
          </a:solidFill>
          <a:ln>
            <a:noFill/>
          </a:ln>
        </p:spPr>
        <p:txBody>
          <a:bodyPr/>
          <a:lstStyle/>
          <a:p>
            <a:endParaRPr lang="es-CL"/>
          </a:p>
        </p:txBody>
      </p:sp>
      <p:sp>
        <p:nvSpPr>
          <p:cNvPr id="1027" name="sh1027"/>
          <p:cNvSpPr/>
          <p:nvPr/>
        </p:nvSpPr>
        <p:spPr>
          <a:xfrm>
            <a:off x="762000" y="4521200"/>
            <a:ext cx="3276600" cy="2032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12406E"/>
                </a:solidFill>
              </a:rPr>
              <a:t>PROFUNDIDAD HISTÓRICA = N</a:t>
            </a:r>
          </a:p>
        </p:txBody>
      </p:sp>
      <p:sp>
        <p:nvSpPr>
          <p:cNvPr id="1028" name="sh1028"/>
          <p:cNvSpPr/>
          <p:nvPr/>
        </p:nvSpPr>
        <p:spPr>
          <a:xfrm>
            <a:off x="762000" y="4775200"/>
            <a:ext cx="3276600" cy="5842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N es la cantidad de reuniones disponibles en la ventana histórica común a ambas condiciones.</a:t>
            </a:r>
          </a:p>
        </p:txBody>
      </p:sp>
      <p:sp>
        <p:nvSpPr>
          <p:cNvPr id="1029" name="sh1029"/>
          <p:cNvSpPr/>
          <p:nvPr/>
        </p:nvSpPr>
        <p:spPr>
          <a:xfrm>
            <a:off x="4381500" y="4521200"/>
            <a:ext cx="3276600" cy="2032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12406E"/>
                </a:solidFill>
              </a:rPr>
              <a:t>REGLA A DEFINIR Y CONGELAR</a:t>
            </a:r>
          </a:p>
        </p:txBody>
      </p:sp>
      <p:sp>
        <p:nvSpPr>
          <p:cNvPr id="1030" name="sh1030"/>
          <p:cNvSpPr/>
          <p:nvPr/>
        </p:nvSpPr>
        <p:spPr>
          <a:xfrm>
            <a:off x="4381500" y="4775200"/>
            <a:ext cx="3276600" cy="5842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Ventana predefinida, serie completa o estratos de profundidad; las reuniones con evidencia relevante se registran como variable aparte.</a:t>
            </a:r>
          </a:p>
        </p:txBody>
      </p:sp>
      <p:sp>
        <p:nvSpPr>
          <p:cNvPr id="1031" name="sh1031"/>
          <p:cNvSpPr/>
          <p:nvPr/>
        </p:nvSpPr>
        <p:spPr>
          <a:xfrm>
            <a:off x="8001000" y="4521200"/>
            <a:ext cx="3276600" cy="2032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12406E"/>
                </a:solidFill>
              </a:rPr>
              <a:t>MISMO UNIVERSO PARA C1 Y C2</a:t>
            </a:r>
          </a:p>
        </p:txBody>
      </p:sp>
      <p:sp>
        <p:nvSpPr>
          <p:cNvPr id="1032" name="sh1032"/>
          <p:cNvSpPr/>
          <p:nvPr/>
        </p:nvSpPr>
        <p:spPr>
          <a:xfrm>
            <a:off x="8001000" y="4775200"/>
            <a:ext cx="3276600" cy="5842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4A5F78"/>
                </a:solidFill>
              </a:rPr>
              <a:t>Prefijo de historial R1…Rt idéntico en ambas condiciones; N se reporta como factor experimental.</a:t>
            </a:r>
          </a:p>
        </p:txBody>
      </p:sp>
      <p:sp>
        <p:nvSpPr>
          <p:cNvPr id="1033" name="sh1033"/>
          <p:cNvSpPr/>
          <p:nvPr/>
        </p:nvSpPr>
        <p:spPr>
          <a:xfrm>
            <a:off x="762000" y="5537200"/>
            <a:ext cx="38100" cy="533400"/>
          </a:xfrm>
          <a:prstGeom prst="rect">
            <a:avLst/>
          </a:prstGeom>
          <a:solidFill>
            <a:srgbClr val="2ED3E8"/>
          </a:solidFill>
          <a:ln>
            <a:noFill/>
          </a:ln>
        </p:spPr>
        <p:txBody>
          <a:bodyPr/>
          <a:lstStyle/>
          <a:p>
            <a:endParaRPr lang="es-CL"/>
          </a:p>
        </p:txBody>
      </p:sp>
      <p:sp>
        <p:nvSpPr>
          <p:cNvPr id="1034" name="sh1034"/>
          <p:cNvSpPr/>
          <p:nvPr/>
        </p:nvSpPr>
        <p:spPr>
          <a:xfrm>
            <a:off x="990600" y="5537200"/>
            <a:ext cx="8890000" cy="533400"/>
          </a:xfrm>
          <a:prstGeom prst="rect">
            <a:avLst/>
          </a:prstGeom>
          <a:noFill/>
          <a:ln>
            <a:noFill/>
          </a:ln>
        </p:spPr>
        <p:txBody>
          <a:bodyPr wrap="square" lIns="0" tIns="0" rIns="0" bIns="0" anchor="ctr">
            <a:noAutofit/>
          </a:bodyPr>
          <a:lstStyle/>
          <a:p>
            <a:pPr algn="l">
              <a:lnSpc>
                <a:spcPct val="100000"/>
              </a:lnSpc>
              <a:buNone/>
            </a:pPr>
            <a:r>
              <a:rPr lang="es-CL" sz="2000" b="1" spc="0" dirty="0">
                <a:solidFill>
                  <a:srgbClr val="12406E"/>
                </a:solidFill>
              </a:rPr>
              <a:t>La regla de N se preespecifica; su valor o niveles se determinan empíricamente y se congelan antes del Experimento B.</a:t>
            </a:r>
          </a:p>
        </p:txBody>
      </p:sp>
      <p:sp>
        <p:nvSpPr>
          <p:cNvPr id="1035" name="sh1035"/>
          <p:cNvSpPr/>
          <p:nvPr/>
        </p:nvSpPr>
        <p:spPr>
          <a:xfrm>
            <a:off x="762000" y="6172200"/>
            <a:ext cx="96520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4A5F78"/>
                </a:solidFill>
              </a:rPr>
              <a:t>La elección definitiva se documenta antes del Experimento B · el valor numérico de N se determina con el corpus, no por anticipado</a:t>
            </a:r>
          </a:p>
        </p:txBody>
      </p:sp>
    </p:spTree>
    <p:extLst>
      <p:ext uri="{BB962C8B-B14F-4D97-AF65-F5344CB8AC3E}">
        <p14:creationId xmlns:p14="http://schemas.microsoft.com/office/powerpoint/2010/main" val="298526099"/>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SISTEMA DE MÉTRICAS</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600" b="1" spc="0" dirty="0">
                <a:solidFill>
                  <a:srgbClr val="12406E"/>
                </a:solidFill>
              </a:rPr>
              <a:t>Las métricas técnicas no sustituyen la medición con usuarios</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[ 24 ]</a:t>
            </a:r>
          </a:p>
        </p:txBody>
      </p:sp>
      <p:sp>
        <p:nvSpPr>
          <p:cNvPr id="1005" name="sh1005"/>
          <p:cNvSpPr/>
          <p:nvPr/>
        </p:nvSpPr>
        <p:spPr>
          <a:xfrm>
            <a:off x="762000" y="1879600"/>
            <a:ext cx="5207000" cy="38100"/>
          </a:xfrm>
          <a:prstGeom prst="rect">
            <a:avLst/>
          </a:prstGeom>
          <a:solidFill>
            <a:srgbClr val="12406E"/>
          </a:solidFill>
          <a:ln>
            <a:noFill/>
          </a:ln>
        </p:spPr>
        <p:txBody>
          <a:bodyPr/>
          <a:lstStyle/>
          <a:p>
            <a:endParaRPr lang="es-CL"/>
          </a:p>
        </p:txBody>
      </p:sp>
      <p:sp>
        <p:nvSpPr>
          <p:cNvPr id="1006" name="sh1006"/>
          <p:cNvSpPr/>
          <p:nvPr/>
        </p:nvSpPr>
        <p:spPr>
          <a:xfrm>
            <a:off x="762000" y="2006600"/>
            <a:ext cx="3378200" cy="203200"/>
          </a:xfrm>
          <a:prstGeom prst="rect">
            <a:avLst/>
          </a:prstGeom>
          <a:noFill/>
          <a:ln>
            <a:noFill/>
          </a:ln>
        </p:spPr>
        <p:txBody>
          <a:bodyPr wrap="square" lIns="0" tIns="0" rIns="0" bIns="0" anchor="ctr">
            <a:noAutofit/>
          </a:bodyPr>
          <a:lstStyle/>
          <a:p>
            <a:pPr algn="l">
              <a:lnSpc>
                <a:spcPct val="100000"/>
              </a:lnSpc>
              <a:buNone/>
            </a:pPr>
            <a:r>
              <a:rPr lang="es-CL" sz="1250" b="1" spc="30" dirty="0">
                <a:solidFill>
                  <a:srgbClr val="12406E"/>
                </a:solidFill>
              </a:rPr>
              <a:t>CALIDAD DE EXTRACCIÓN</a:t>
            </a:r>
          </a:p>
        </p:txBody>
      </p:sp>
      <p:sp>
        <p:nvSpPr>
          <p:cNvPr id="1007" name="sh1007"/>
          <p:cNvSpPr/>
          <p:nvPr/>
        </p:nvSpPr>
        <p:spPr>
          <a:xfrm>
            <a:off x="4318000" y="2006600"/>
            <a:ext cx="1651000" cy="203200"/>
          </a:xfrm>
          <a:prstGeom prst="rect">
            <a:avLst/>
          </a:prstGeom>
          <a:noFill/>
          <a:ln>
            <a:noFill/>
          </a:ln>
        </p:spPr>
        <p:txBody>
          <a:bodyPr wrap="square" lIns="0" tIns="0" rIns="0" bIns="0" anchor="ctr">
            <a:noAutofit/>
          </a:bodyPr>
          <a:lstStyle/>
          <a:p>
            <a:pPr algn="r">
              <a:lnSpc>
                <a:spcPct val="100000"/>
              </a:lnSpc>
              <a:buNone/>
            </a:pPr>
            <a:r>
              <a:rPr lang="es-CL" sz="1000" b="0" spc="0" dirty="0">
                <a:solidFill>
                  <a:srgbClr val="9FB3C8"/>
                </a:solidFill>
              </a:rPr>
              <a:t>Experimento A</a:t>
            </a:r>
          </a:p>
        </p:txBody>
      </p:sp>
      <p:sp>
        <p:nvSpPr>
          <p:cNvPr id="1008" name="sh1008"/>
          <p:cNvSpPr/>
          <p:nvPr/>
        </p:nvSpPr>
        <p:spPr>
          <a:xfrm>
            <a:off x="762000" y="2286000"/>
            <a:ext cx="5207000" cy="609600"/>
          </a:xfrm>
          <a:prstGeom prst="rect">
            <a:avLst/>
          </a:prstGeom>
          <a:noFill/>
          <a:ln>
            <a:noFill/>
          </a:ln>
        </p:spPr>
        <p:txBody>
          <a:bodyPr wrap="square" lIns="0" tIns="0" rIns="0" bIns="0" anchor="t">
            <a:noAutofit/>
          </a:bodyPr>
          <a:lstStyle/>
          <a:p>
            <a:pPr algn="l">
              <a:lnSpc>
                <a:spcPct val="115000"/>
              </a:lnSpc>
              <a:buNone/>
            </a:pPr>
            <a:r>
              <a:rPr lang="es-CL" sz="1100" b="0" spc="0" dirty="0">
                <a:solidFill>
                  <a:srgbClr val="1E3A52"/>
                </a:solidFill>
              </a:rPr>
              <a:t>Precision · Recall · F1</a:t>
            </a:r>
          </a:p>
          <a:p>
            <a:pPr algn="l">
              <a:lnSpc>
                <a:spcPct val="115000"/>
              </a:lnSpc>
              <a:buNone/>
            </a:pPr>
            <a:r>
              <a:rPr lang="es-CL" sz="1100" b="0" spc="0" dirty="0">
                <a:solidFill>
                  <a:srgbClr val="1E3A52"/>
                </a:solidFill>
              </a:rPr>
              <a:t>Evidence matching · relation accuracy</a:t>
            </a:r>
          </a:p>
          <a:p>
            <a:pPr algn="l">
              <a:lnSpc>
                <a:spcPct val="115000"/>
              </a:lnSpc>
              <a:buNone/>
            </a:pPr>
            <a:r>
              <a:rPr lang="es-CL" sz="1100" b="0" spc="0" dirty="0">
                <a:solidFill>
                  <a:srgbClr val="1E3A52"/>
                </a:solidFill>
              </a:rPr>
              <a:t>State accuracy · temporal relation accuracy</a:t>
            </a:r>
          </a:p>
        </p:txBody>
      </p:sp>
      <p:sp>
        <p:nvSpPr>
          <p:cNvPr id="1009" name="sh1009"/>
          <p:cNvSpPr/>
          <p:nvPr/>
        </p:nvSpPr>
        <p:spPr>
          <a:xfrm>
            <a:off x="6223000" y="1879600"/>
            <a:ext cx="5207000" cy="38100"/>
          </a:xfrm>
          <a:prstGeom prst="rect">
            <a:avLst/>
          </a:prstGeom>
          <a:solidFill>
            <a:srgbClr val="1D5C9E"/>
          </a:solidFill>
          <a:ln>
            <a:noFill/>
          </a:ln>
        </p:spPr>
        <p:txBody>
          <a:bodyPr/>
          <a:lstStyle/>
          <a:p>
            <a:endParaRPr lang="es-CL"/>
          </a:p>
        </p:txBody>
      </p:sp>
      <p:sp>
        <p:nvSpPr>
          <p:cNvPr id="1010" name="sh1010"/>
          <p:cNvSpPr/>
          <p:nvPr/>
        </p:nvSpPr>
        <p:spPr>
          <a:xfrm>
            <a:off x="6223000" y="2006600"/>
            <a:ext cx="3378200" cy="203200"/>
          </a:xfrm>
          <a:prstGeom prst="rect">
            <a:avLst/>
          </a:prstGeom>
          <a:noFill/>
          <a:ln>
            <a:noFill/>
          </a:ln>
        </p:spPr>
        <p:txBody>
          <a:bodyPr wrap="square" lIns="0" tIns="0" rIns="0" bIns="0" anchor="ctr">
            <a:noAutofit/>
          </a:bodyPr>
          <a:lstStyle/>
          <a:p>
            <a:pPr algn="l">
              <a:lnSpc>
                <a:spcPct val="100000"/>
              </a:lnSpc>
              <a:buNone/>
            </a:pPr>
            <a:r>
              <a:rPr lang="es-CL" sz="1250" b="1" spc="30" dirty="0">
                <a:solidFill>
                  <a:srgbClr val="1D5C9E"/>
                </a:solidFill>
              </a:rPr>
              <a:t>CALIDAD DE RECUPERACIÓN Y RESPUESTA</a:t>
            </a:r>
          </a:p>
        </p:txBody>
      </p:sp>
      <p:sp>
        <p:nvSpPr>
          <p:cNvPr id="1011" name="sh1011"/>
          <p:cNvSpPr/>
          <p:nvPr/>
        </p:nvSpPr>
        <p:spPr>
          <a:xfrm>
            <a:off x="9779000" y="2006600"/>
            <a:ext cx="1651000" cy="203200"/>
          </a:xfrm>
          <a:prstGeom prst="rect">
            <a:avLst/>
          </a:prstGeom>
          <a:noFill/>
          <a:ln>
            <a:noFill/>
          </a:ln>
        </p:spPr>
        <p:txBody>
          <a:bodyPr wrap="square" lIns="0" tIns="0" rIns="0" bIns="0" anchor="ctr">
            <a:noAutofit/>
          </a:bodyPr>
          <a:lstStyle/>
          <a:p>
            <a:pPr algn="r">
              <a:lnSpc>
                <a:spcPct val="100000"/>
              </a:lnSpc>
              <a:buNone/>
            </a:pPr>
            <a:r>
              <a:rPr lang="es-CL" sz="1000" b="0" spc="0" dirty="0">
                <a:solidFill>
                  <a:srgbClr val="9FB3C8"/>
                </a:solidFill>
              </a:rPr>
              <a:t>Experimento B</a:t>
            </a:r>
          </a:p>
        </p:txBody>
      </p:sp>
      <p:sp>
        <p:nvSpPr>
          <p:cNvPr id="1012" name="sh1012"/>
          <p:cNvSpPr/>
          <p:nvPr/>
        </p:nvSpPr>
        <p:spPr>
          <a:xfrm>
            <a:off x="6223000" y="2286000"/>
            <a:ext cx="5207000" cy="609600"/>
          </a:xfrm>
          <a:prstGeom prst="rect">
            <a:avLst/>
          </a:prstGeom>
          <a:noFill/>
          <a:ln>
            <a:noFill/>
          </a:ln>
        </p:spPr>
        <p:txBody>
          <a:bodyPr wrap="square" lIns="0" tIns="0" rIns="0" bIns="0" anchor="t">
            <a:noAutofit/>
          </a:bodyPr>
          <a:lstStyle/>
          <a:p>
            <a:pPr algn="l">
              <a:lnSpc>
                <a:spcPct val="115000"/>
              </a:lnSpc>
              <a:buNone/>
            </a:pPr>
            <a:r>
              <a:rPr lang="es-CL" sz="1100" b="0" spc="0" dirty="0">
                <a:solidFill>
                  <a:srgbClr val="1E3A52"/>
                </a:solidFill>
              </a:rPr>
              <a:t>Precision@k · Recall@k · MRR · nDCG@k</a:t>
            </a:r>
          </a:p>
          <a:p>
            <a:pPr algn="l">
              <a:lnSpc>
                <a:spcPct val="115000"/>
              </a:lnSpc>
              <a:buNone/>
            </a:pPr>
            <a:r>
              <a:rPr lang="es-CL" sz="1100" b="0" spc="0" dirty="0">
                <a:solidFill>
                  <a:srgbClr val="1E3A52"/>
                </a:solidFill>
              </a:rPr>
              <a:t>Correctness · Completeness</a:t>
            </a:r>
          </a:p>
          <a:p>
            <a:pPr algn="l">
              <a:lnSpc>
                <a:spcPct val="115000"/>
              </a:lnSpc>
              <a:buNone/>
            </a:pPr>
            <a:r>
              <a:rPr lang="es-CL" sz="1100" b="0" spc="0" dirty="0">
                <a:solidFill>
                  <a:srgbClr val="1E3A52"/>
                </a:solidFill>
              </a:rPr>
              <a:t>Abstention Accuracy</a:t>
            </a:r>
          </a:p>
        </p:txBody>
      </p:sp>
      <p:sp>
        <p:nvSpPr>
          <p:cNvPr id="1013" name="sh1013"/>
          <p:cNvSpPr/>
          <p:nvPr/>
        </p:nvSpPr>
        <p:spPr>
          <a:xfrm>
            <a:off x="762000" y="3022600"/>
            <a:ext cx="5207000" cy="38100"/>
          </a:xfrm>
          <a:prstGeom prst="rect">
            <a:avLst/>
          </a:prstGeom>
          <a:solidFill>
            <a:srgbClr val="2A86B8"/>
          </a:solidFill>
          <a:ln>
            <a:noFill/>
          </a:ln>
        </p:spPr>
        <p:txBody>
          <a:bodyPr/>
          <a:lstStyle/>
          <a:p>
            <a:endParaRPr lang="es-CL"/>
          </a:p>
        </p:txBody>
      </p:sp>
      <p:sp>
        <p:nvSpPr>
          <p:cNvPr id="1014" name="sh1014"/>
          <p:cNvSpPr/>
          <p:nvPr/>
        </p:nvSpPr>
        <p:spPr>
          <a:xfrm>
            <a:off x="762000" y="3149600"/>
            <a:ext cx="3378200" cy="203200"/>
          </a:xfrm>
          <a:prstGeom prst="rect">
            <a:avLst/>
          </a:prstGeom>
          <a:noFill/>
          <a:ln>
            <a:noFill/>
          </a:ln>
        </p:spPr>
        <p:txBody>
          <a:bodyPr wrap="square" lIns="0" tIns="0" rIns="0" bIns="0" anchor="ctr">
            <a:noAutofit/>
          </a:bodyPr>
          <a:lstStyle/>
          <a:p>
            <a:pPr algn="l">
              <a:lnSpc>
                <a:spcPct val="100000"/>
              </a:lnSpc>
              <a:buNone/>
            </a:pPr>
            <a:r>
              <a:rPr lang="es-CL" sz="1250" b="1" spc="30" dirty="0">
                <a:solidFill>
                  <a:srgbClr val="2A86B8"/>
                </a:solidFill>
              </a:rPr>
              <a:t>TRAZABILIDAD Y TEMPORALIDAD</a:t>
            </a:r>
          </a:p>
        </p:txBody>
      </p:sp>
      <p:sp>
        <p:nvSpPr>
          <p:cNvPr id="1015" name="sh1015"/>
          <p:cNvSpPr/>
          <p:nvPr/>
        </p:nvSpPr>
        <p:spPr>
          <a:xfrm>
            <a:off x="4318000" y="3149600"/>
            <a:ext cx="1651000" cy="203200"/>
          </a:xfrm>
          <a:prstGeom prst="rect">
            <a:avLst/>
          </a:prstGeom>
          <a:noFill/>
          <a:ln>
            <a:noFill/>
          </a:ln>
        </p:spPr>
        <p:txBody>
          <a:bodyPr wrap="square" lIns="0" tIns="0" rIns="0" bIns="0" anchor="ctr">
            <a:noAutofit/>
          </a:bodyPr>
          <a:lstStyle/>
          <a:p>
            <a:pPr algn="r">
              <a:lnSpc>
                <a:spcPct val="100000"/>
              </a:lnSpc>
              <a:buNone/>
            </a:pPr>
            <a:r>
              <a:rPr lang="es-CL" sz="1000" b="0" spc="0" dirty="0">
                <a:solidFill>
                  <a:srgbClr val="9FB3C8"/>
                </a:solidFill>
              </a:rPr>
              <a:t>Experimentos A y B</a:t>
            </a:r>
          </a:p>
        </p:txBody>
      </p:sp>
      <p:sp>
        <p:nvSpPr>
          <p:cNvPr id="1016" name="sh1016"/>
          <p:cNvSpPr/>
          <p:nvPr/>
        </p:nvSpPr>
        <p:spPr>
          <a:xfrm>
            <a:off x="762000" y="3429000"/>
            <a:ext cx="5207000" cy="609600"/>
          </a:xfrm>
          <a:prstGeom prst="rect">
            <a:avLst/>
          </a:prstGeom>
          <a:noFill/>
          <a:ln>
            <a:noFill/>
          </a:ln>
        </p:spPr>
        <p:txBody>
          <a:bodyPr wrap="square" lIns="0" tIns="0" rIns="0" bIns="0" anchor="t">
            <a:noAutofit/>
          </a:bodyPr>
          <a:lstStyle/>
          <a:p>
            <a:pPr algn="l">
              <a:lnSpc>
                <a:spcPct val="115000"/>
              </a:lnSpc>
              <a:buNone/>
            </a:pPr>
            <a:r>
              <a:rPr lang="es-CL" sz="1100" b="0" spc="0" dirty="0">
                <a:solidFill>
                  <a:srgbClr val="1E3A52"/>
                </a:solidFill>
              </a:rPr>
              <a:t>Evidence Support Rate · Provenance Correctness</a:t>
            </a:r>
          </a:p>
          <a:p>
            <a:pPr algn="l">
              <a:lnSpc>
                <a:spcPct val="115000"/>
              </a:lnSpc>
              <a:buNone/>
            </a:pPr>
            <a:r>
              <a:rPr lang="es-CL" sz="1100" b="0" spc="0" dirty="0">
                <a:solidFill>
                  <a:srgbClr val="1E3A52"/>
                </a:solidFill>
              </a:rPr>
              <a:t>Provenance Completeness · Current State Accuracy</a:t>
            </a:r>
          </a:p>
          <a:p>
            <a:pPr algn="l">
              <a:lnSpc>
                <a:spcPct val="115000"/>
              </a:lnSpc>
              <a:buNone/>
            </a:pPr>
            <a:r>
              <a:rPr lang="es-CL" sz="1100" b="0" spc="0" dirty="0">
                <a:solidFill>
                  <a:srgbClr val="1E3A52"/>
                </a:solidFill>
              </a:rPr>
              <a:t>Temporal Correctness · SDER · DLA</a:t>
            </a:r>
          </a:p>
        </p:txBody>
      </p:sp>
      <p:sp>
        <p:nvSpPr>
          <p:cNvPr id="1017" name="sh1017"/>
          <p:cNvSpPr/>
          <p:nvPr/>
        </p:nvSpPr>
        <p:spPr>
          <a:xfrm>
            <a:off x="6223000" y="3022600"/>
            <a:ext cx="5207000" cy="38100"/>
          </a:xfrm>
          <a:prstGeom prst="rect">
            <a:avLst/>
          </a:prstGeom>
          <a:solidFill>
            <a:srgbClr val="0A6D82"/>
          </a:solidFill>
          <a:ln>
            <a:noFill/>
          </a:ln>
        </p:spPr>
        <p:txBody>
          <a:bodyPr/>
          <a:lstStyle/>
          <a:p>
            <a:endParaRPr lang="es-CL"/>
          </a:p>
        </p:txBody>
      </p:sp>
      <p:sp>
        <p:nvSpPr>
          <p:cNvPr id="1018" name="sh1018"/>
          <p:cNvSpPr/>
          <p:nvPr/>
        </p:nvSpPr>
        <p:spPr>
          <a:xfrm>
            <a:off x="6223000" y="3149600"/>
            <a:ext cx="3378200" cy="203200"/>
          </a:xfrm>
          <a:prstGeom prst="rect">
            <a:avLst/>
          </a:prstGeom>
          <a:noFill/>
          <a:ln>
            <a:noFill/>
          </a:ln>
        </p:spPr>
        <p:txBody>
          <a:bodyPr wrap="square" lIns="0" tIns="0" rIns="0" bIns="0" anchor="ctr">
            <a:noAutofit/>
          </a:bodyPr>
          <a:lstStyle/>
          <a:p>
            <a:pPr algn="l">
              <a:lnSpc>
                <a:spcPct val="100000"/>
              </a:lnSpc>
              <a:buNone/>
            </a:pPr>
            <a:r>
              <a:rPr lang="es-CL" sz="1250" b="1" spc="30" dirty="0">
                <a:solidFill>
                  <a:srgbClr val="0A6D82"/>
                </a:solidFill>
              </a:rPr>
              <a:t>EFICIENCIA TÉCNICA</a:t>
            </a:r>
          </a:p>
        </p:txBody>
      </p:sp>
      <p:sp>
        <p:nvSpPr>
          <p:cNvPr id="1019" name="sh1019"/>
          <p:cNvSpPr/>
          <p:nvPr/>
        </p:nvSpPr>
        <p:spPr>
          <a:xfrm>
            <a:off x="9779000" y="3149600"/>
            <a:ext cx="1651000" cy="203200"/>
          </a:xfrm>
          <a:prstGeom prst="rect">
            <a:avLst/>
          </a:prstGeom>
          <a:noFill/>
          <a:ln>
            <a:noFill/>
          </a:ln>
        </p:spPr>
        <p:txBody>
          <a:bodyPr wrap="square" lIns="0" tIns="0" rIns="0" bIns="0" anchor="ctr">
            <a:noAutofit/>
          </a:bodyPr>
          <a:lstStyle/>
          <a:p>
            <a:pPr algn="r">
              <a:lnSpc>
                <a:spcPct val="100000"/>
              </a:lnSpc>
              <a:buNone/>
            </a:pPr>
            <a:r>
              <a:rPr lang="es-CL" sz="1000" b="0" spc="0" dirty="0">
                <a:solidFill>
                  <a:srgbClr val="9FB3C8"/>
                </a:solidFill>
              </a:rPr>
              <a:t>Costo técnico</a:t>
            </a:r>
          </a:p>
        </p:txBody>
      </p:sp>
      <p:sp>
        <p:nvSpPr>
          <p:cNvPr id="1020" name="sh1020"/>
          <p:cNvSpPr/>
          <p:nvPr/>
        </p:nvSpPr>
        <p:spPr>
          <a:xfrm>
            <a:off x="6223000" y="3429000"/>
            <a:ext cx="5207000" cy="609600"/>
          </a:xfrm>
          <a:prstGeom prst="rect">
            <a:avLst/>
          </a:prstGeom>
          <a:noFill/>
          <a:ln>
            <a:noFill/>
          </a:ln>
        </p:spPr>
        <p:txBody>
          <a:bodyPr wrap="square" lIns="0" tIns="0" rIns="0" bIns="0" anchor="t">
            <a:noAutofit/>
          </a:bodyPr>
          <a:lstStyle/>
          <a:p>
            <a:pPr algn="l">
              <a:lnSpc>
                <a:spcPct val="115000"/>
              </a:lnSpc>
              <a:buNone/>
            </a:pPr>
            <a:r>
              <a:rPr lang="es-CL" sz="1100" b="0" spc="0" dirty="0">
                <a:solidFill>
                  <a:srgbClr val="1E3A52"/>
                </a:solidFill>
              </a:rPr>
              <a:t>Latencia · tokens · RAM / VRAM</a:t>
            </a:r>
          </a:p>
          <a:p>
            <a:pPr algn="l">
              <a:lnSpc>
                <a:spcPct val="115000"/>
              </a:lnSpc>
              <a:buNone/>
            </a:pPr>
            <a:r>
              <a:rPr lang="es-CL" sz="1100" b="0" spc="0" dirty="0">
                <a:solidFill>
                  <a:srgbClr val="1E3A52"/>
                </a:solidFill>
              </a:rPr>
              <a:t>Costo de inferencia · costo de construcción de C2</a:t>
            </a:r>
          </a:p>
        </p:txBody>
      </p:sp>
      <p:sp>
        <p:nvSpPr>
          <p:cNvPr id="1021" name="sh1021"/>
          <p:cNvSpPr/>
          <p:nvPr/>
        </p:nvSpPr>
        <p:spPr>
          <a:xfrm>
            <a:off x="762000" y="4267200"/>
            <a:ext cx="10668000" cy="685800"/>
          </a:xfrm>
          <a:prstGeom prst="rect">
            <a:avLst/>
          </a:prstGeom>
          <a:solidFill>
            <a:srgbClr val="EAF3F7"/>
          </a:solidFill>
          <a:ln>
            <a:noFill/>
          </a:ln>
        </p:spPr>
        <p:txBody>
          <a:bodyPr/>
          <a:lstStyle/>
          <a:p>
            <a:endParaRPr lang="es-CL"/>
          </a:p>
        </p:txBody>
      </p:sp>
      <p:sp>
        <p:nvSpPr>
          <p:cNvPr id="1022" name="sh1022"/>
          <p:cNvSpPr/>
          <p:nvPr/>
        </p:nvSpPr>
        <p:spPr>
          <a:xfrm>
            <a:off x="762000" y="4267200"/>
            <a:ext cx="38100" cy="685800"/>
          </a:xfrm>
          <a:prstGeom prst="rect">
            <a:avLst/>
          </a:prstGeom>
          <a:solidFill>
            <a:srgbClr val="2ED3E8"/>
          </a:solidFill>
          <a:ln>
            <a:noFill/>
          </a:ln>
        </p:spPr>
        <p:txBody>
          <a:bodyPr/>
          <a:lstStyle/>
          <a:p>
            <a:endParaRPr lang="es-CL"/>
          </a:p>
        </p:txBody>
      </p:sp>
      <p:sp>
        <p:nvSpPr>
          <p:cNvPr id="1023" name="sh1023"/>
          <p:cNvSpPr/>
          <p:nvPr/>
        </p:nvSpPr>
        <p:spPr>
          <a:xfrm>
            <a:off x="990600" y="4368800"/>
            <a:ext cx="6350000" cy="177800"/>
          </a:xfrm>
          <a:prstGeom prst="rect">
            <a:avLst/>
          </a:prstGeom>
          <a:noFill/>
          <a:ln>
            <a:noFill/>
          </a:ln>
        </p:spPr>
        <p:txBody>
          <a:bodyPr wrap="square" lIns="0" tIns="0" rIns="0" bIns="0" anchor="ctr">
            <a:noAutofit/>
          </a:bodyPr>
          <a:lstStyle/>
          <a:p>
            <a:pPr algn="l">
              <a:lnSpc>
                <a:spcPct val="100000"/>
              </a:lnSpc>
              <a:buNone/>
            </a:pPr>
            <a:r>
              <a:rPr lang="es-CL" sz="1050" b="1" spc="100" dirty="0">
                <a:solidFill>
                  <a:srgbClr val="0A6D82"/>
                </a:solidFill>
              </a:rPr>
              <a:t>EXTENSIÓN CON USUARIOS</a:t>
            </a:r>
          </a:p>
        </p:txBody>
      </p:sp>
      <p:sp>
        <p:nvSpPr>
          <p:cNvPr id="1024" name="sh1024"/>
          <p:cNvSpPr/>
          <p:nvPr/>
        </p:nvSpPr>
        <p:spPr>
          <a:xfrm>
            <a:off x="7620000" y="4368800"/>
            <a:ext cx="3632200" cy="177800"/>
          </a:xfrm>
          <a:prstGeom prst="rect">
            <a:avLst/>
          </a:prstGeom>
          <a:noFill/>
          <a:ln>
            <a:noFill/>
          </a:ln>
        </p:spPr>
        <p:txBody>
          <a:bodyPr wrap="square" lIns="0" tIns="0" rIns="0" bIns="0" anchor="ctr">
            <a:noAutofit/>
          </a:bodyPr>
          <a:lstStyle/>
          <a:p>
            <a:pPr algn="r">
              <a:lnSpc>
                <a:spcPct val="100000"/>
              </a:lnSpc>
              <a:buNone/>
            </a:pPr>
            <a:r>
              <a:rPr lang="es-CL" sz="1000" b="0" spc="0" dirty="0">
                <a:solidFill>
                  <a:srgbClr val="5A7290"/>
                </a:solidFill>
              </a:rPr>
              <a:t>requieren instrumentación de tareas</a:t>
            </a:r>
          </a:p>
        </p:txBody>
      </p:sp>
      <p:sp>
        <p:nvSpPr>
          <p:cNvPr id="1025" name="sh1025"/>
          <p:cNvSpPr/>
          <p:nvPr/>
        </p:nvSpPr>
        <p:spPr>
          <a:xfrm>
            <a:off x="990600" y="4597400"/>
            <a:ext cx="10261600" cy="228600"/>
          </a:xfrm>
          <a:prstGeom prst="rect">
            <a:avLst/>
          </a:prstGeom>
          <a:noFill/>
          <a:ln>
            <a:noFill/>
          </a:ln>
        </p:spPr>
        <p:txBody>
          <a:bodyPr wrap="square" lIns="0" tIns="0" rIns="0" bIns="0" anchor="ctr">
            <a:noAutofit/>
          </a:bodyPr>
          <a:lstStyle/>
          <a:p>
            <a:pPr algn="l">
              <a:lnSpc>
                <a:spcPct val="100000"/>
              </a:lnSpc>
              <a:buNone/>
            </a:pPr>
            <a:r>
              <a:rPr lang="es-CL" sz="1200" b="1" spc="0" dirty="0">
                <a:solidFill>
                  <a:srgbClr val="1E3A52"/>
                </a:solidFill>
              </a:rPr>
              <a:t>Time-to-Answer · Time-to-Evidence · Fuentes inspeccionadas · Consultas · Exactitud de tarea</a:t>
            </a:r>
          </a:p>
        </p:txBody>
      </p:sp>
      <p:sp>
        <p:nvSpPr>
          <p:cNvPr id="1026" name="sh1026"/>
          <p:cNvSpPr/>
          <p:nvPr/>
        </p:nvSpPr>
        <p:spPr>
          <a:xfrm>
            <a:off x="762000" y="5029200"/>
            <a:ext cx="10668000" cy="165100"/>
          </a:xfrm>
          <a:prstGeom prst="rect">
            <a:avLst/>
          </a:prstGeom>
          <a:noFill/>
          <a:ln>
            <a:noFill/>
          </a:ln>
        </p:spPr>
        <p:txBody>
          <a:bodyPr wrap="square" lIns="0" tIns="0" rIns="0" bIns="0" anchor="ctr">
            <a:noAutofit/>
          </a:bodyPr>
          <a:lstStyle/>
          <a:p>
            <a:pPr algn="l">
              <a:lnSpc>
                <a:spcPct val="100000"/>
              </a:lnSpc>
              <a:buNone/>
            </a:pPr>
            <a:r>
              <a:rPr lang="es-CL" sz="1000" b="1" spc="100" dirty="0">
                <a:solidFill>
                  <a:srgbClr val="5A7290"/>
                </a:solidFill>
              </a:rPr>
              <a:t>INDICADOR   →   INTERPRETACIÓN   →   VALOR POTENCIAL</a:t>
            </a:r>
          </a:p>
        </p:txBody>
      </p:sp>
      <p:sp>
        <p:nvSpPr>
          <p:cNvPr id="1030" name="sh1030"/>
          <p:cNvSpPr/>
          <p:nvPr/>
        </p:nvSpPr>
        <p:spPr>
          <a:xfrm>
            <a:off x="762000" y="5207000"/>
            <a:ext cx="2540000" cy="203200"/>
          </a:xfrm>
          <a:prstGeom prst="rect">
            <a:avLst/>
          </a:prstGeom>
          <a:noFill/>
          <a:ln>
            <a:noFill/>
          </a:ln>
        </p:spPr>
        <p:txBody>
          <a:bodyPr wrap="square" lIns="0" tIns="0" rIns="0" bIns="0" anchor="ctr">
            <a:noAutofit/>
          </a:bodyPr>
          <a:lstStyle/>
          <a:p>
            <a:pPr algn="l">
              <a:lnSpc>
                <a:spcPct val="100000"/>
              </a:lnSpc>
              <a:buNone/>
            </a:pPr>
            <a:r>
              <a:rPr lang="es-CL" sz="1250" b="1" spc="0" dirty="0">
                <a:solidFill>
                  <a:srgbClr val="0A6D82"/>
                </a:solidFill>
              </a:rPr>
              <a:t>TTA ↓</a:t>
            </a:r>
          </a:p>
        </p:txBody>
      </p:sp>
      <p:sp>
        <p:nvSpPr>
          <p:cNvPr id="1031" name="sh1031"/>
          <p:cNvSpPr/>
          <p:nvPr/>
        </p:nvSpPr>
        <p:spPr>
          <a:xfrm>
            <a:off x="762000" y="5435600"/>
            <a:ext cx="2540000" cy="4064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Menor tiempo observado para completar la tarea (requiere usuarios)</a:t>
            </a:r>
          </a:p>
        </p:txBody>
      </p:sp>
      <p:sp>
        <p:nvSpPr>
          <p:cNvPr id="1032" name="sh1032"/>
          <p:cNvSpPr/>
          <p:nvPr/>
        </p:nvSpPr>
        <p:spPr>
          <a:xfrm>
            <a:off x="762000" y="5816600"/>
            <a:ext cx="2540000" cy="330200"/>
          </a:xfrm>
          <a:prstGeom prst="rect">
            <a:avLst/>
          </a:prstGeom>
          <a:noFill/>
          <a:ln>
            <a:noFill/>
          </a:ln>
        </p:spPr>
        <p:txBody>
          <a:bodyPr wrap="square" lIns="0" tIns="0" rIns="0" bIns="0" anchor="t">
            <a:noAutofit/>
          </a:bodyPr>
          <a:lstStyle/>
          <a:p>
            <a:pPr algn="l">
              <a:lnSpc>
                <a:spcPct val="110000"/>
              </a:lnSpc>
              <a:buNone/>
            </a:pPr>
            <a:r>
              <a:rPr lang="es-CL" sz="1100" b="1" spc="0" dirty="0">
                <a:solidFill>
                  <a:srgbClr val="0A6D82"/>
                </a:solidFill>
              </a:rPr>
              <a:t>Productividad potencial</a:t>
            </a:r>
          </a:p>
        </p:txBody>
      </p:sp>
      <p:sp>
        <p:nvSpPr>
          <p:cNvPr id="1033" name="sh1033"/>
          <p:cNvSpPr/>
          <p:nvPr/>
        </p:nvSpPr>
        <p:spPr>
          <a:xfrm>
            <a:off x="3429000" y="5207000"/>
            <a:ext cx="2540000" cy="203200"/>
          </a:xfrm>
          <a:prstGeom prst="rect">
            <a:avLst/>
          </a:prstGeom>
          <a:noFill/>
          <a:ln>
            <a:noFill/>
          </a:ln>
        </p:spPr>
        <p:txBody>
          <a:bodyPr wrap="square" lIns="0" tIns="0" rIns="0" bIns="0" anchor="ctr">
            <a:noAutofit/>
          </a:bodyPr>
          <a:lstStyle/>
          <a:p>
            <a:pPr algn="l">
              <a:lnSpc>
                <a:spcPct val="100000"/>
              </a:lnSpc>
              <a:buNone/>
            </a:pPr>
            <a:r>
              <a:rPr lang="es-CL" sz="1250" b="1" spc="0" dirty="0">
                <a:solidFill>
                  <a:srgbClr val="0A6D82"/>
                </a:solidFill>
              </a:rPr>
              <a:t>TTE ↓</a:t>
            </a:r>
          </a:p>
        </p:txBody>
      </p:sp>
      <p:sp>
        <p:nvSpPr>
          <p:cNvPr id="1034" name="sh1034"/>
          <p:cNvSpPr/>
          <p:nvPr/>
        </p:nvSpPr>
        <p:spPr>
          <a:xfrm>
            <a:off x="3429000" y="5435600"/>
            <a:ext cx="2540000" cy="4064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Menor tiempo observado para verificar evidencia (requiere usuarios)</a:t>
            </a:r>
          </a:p>
        </p:txBody>
      </p:sp>
      <p:sp>
        <p:nvSpPr>
          <p:cNvPr id="1035" name="sh1035"/>
          <p:cNvSpPr/>
          <p:nvPr/>
        </p:nvSpPr>
        <p:spPr>
          <a:xfrm>
            <a:off x="3429000" y="5816600"/>
            <a:ext cx="2540000" cy="330200"/>
          </a:xfrm>
          <a:prstGeom prst="rect">
            <a:avLst/>
          </a:prstGeom>
          <a:noFill/>
          <a:ln>
            <a:noFill/>
          </a:ln>
        </p:spPr>
        <p:txBody>
          <a:bodyPr wrap="square" lIns="0" tIns="0" rIns="0" bIns="0" anchor="t">
            <a:noAutofit/>
          </a:bodyPr>
          <a:lstStyle/>
          <a:p>
            <a:pPr algn="l">
              <a:lnSpc>
                <a:spcPct val="110000"/>
              </a:lnSpc>
              <a:buNone/>
            </a:pPr>
            <a:r>
              <a:rPr lang="es-CL" sz="1100" b="1" spc="0" dirty="0">
                <a:solidFill>
                  <a:srgbClr val="0A6D82"/>
                </a:solidFill>
              </a:rPr>
              <a:t>Eficiencia de verificación potencial</a:t>
            </a:r>
          </a:p>
        </p:txBody>
      </p:sp>
      <p:sp>
        <p:nvSpPr>
          <p:cNvPr id="1036" name="sh1036"/>
          <p:cNvSpPr/>
          <p:nvPr/>
        </p:nvSpPr>
        <p:spPr>
          <a:xfrm>
            <a:off x="6096000" y="5207000"/>
            <a:ext cx="2540000" cy="203200"/>
          </a:xfrm>
          <a:prstGeom prst="rect">
            <a:avLst/>
          </a:prstGeom>
          <a:noFill/>
          <a:ln>
            <a:noFill/>
          </a:ln>
        </p:spPr>
        <p:txBody>
          <a:bodyPr wrap="square" lIns="0" tIns="0" rIns="0" bIns="0" anchor="ctr">
            <a:noAutofit/>
          </a:bodyPr>
          <a:lstStyle/>
          <a:p>
            <a:pPr algn="l">
              <a:lnSpc>
                <a:spcPct val="100000"/>
              </a:lnSpc>
              <a:buNone/>
            </a:pPr>
            <a:r>
              <a:rPr lang="es-CL" sz="1250" b="1" spc="0" dirty="0">
                <a:solidFill>
                  <a:srgbClr val="12406E"/>
                </a:solidFill>
              </a:rPr>
              <a:t>SDER ↓</a:t>
            </a:r>
          </a:p>
        </p:txBody>
      </p:sp>
      <p:sp>
        <p:nvSpPr>
          <p:cNvPr id="1037" name="sh1037"/>
          <p:cNvSpPr/>
          <p:nvPr/>
        </p:nvSpPr>
        <p:spPr>
          <a:xfrm>
            <a:off x="6096000" y="5435600"/>
            <a:ext cx="2540000" cy="4064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Stale Decision Error Rate · menos respuestas con decisiones obsoletas</a:t>
            </a:r>
          </a:p>
        </p:txBody>
      </p:sp>
      <p:sp>
        <p:nvSpPr>
          <p:cNvPr id="1038" name="sh1038"/>
          <p:cNvSpPr/>
          <p:nvPr/>
        </p:nvSpPr>
        <p:spPr>
          <a:xfrm>
            <a:off x="6096000" y="5816600"/>
            <a:ext cx="2540000" cy="330200"/>
          </a:xfrm>
          <a:prstGeom prst="rect">
            <a:avLst/>
          </a:prstGeom>
          <a:noFill/>
          <a:ln>
            <a:noFill/>
          </a:ln>
        </p:spPr>
        <p:txBody>
          <a:bodyPr wrap="square" lIns="0" tIns="0" rIns="0" bIns="0" anchor="t">
            <a:noAutofit/>
          </a:bodyPr>
          <a:lstStyle/>
          <a:p>
            <a:pPr algn="l">
              <a:lnSpc>
                <a:spcPct val="110000"/>
              </a:lnSpc>
              <a:buNone/>
            </a:pPr>
            <a:r>
              <a:rPr lang="es-CL" sz="1100" b="1" spc="0" dirty="0">
                <a:solidFill>
                  <a:srgbClr val="12406E"/>
                </a:solidFill>
              </a:rPr>
              <a:t>Menor riesgo potencial</a:t>
            </a:r>
          </a:p>
        </p:txBody>
      </p:sp>
      <p:sp>
        <p:nvSpPr>
          <p:cNvPr id="1039" name="sh1039"/>
          <p:cNvSpPr/>
          <p:nvPr/>
        </p:nvSpPr>
        <p:spPr>
          <a:xfrm>
            <a:off x="8763000" y="5207000"/>
            <a:ext cx="2540000" cy="203200"/>
          </a:xfrm>
          <a:prstGeom prst="rect">
            <a:avLst/>
          </a:prstGeom>
          <a:noFill/>
          <a:ln>
            <a:noFill/>
          </a:ln>
        </p:spPr>
        <p:txBody>
          <a:bodyPr wrap="square" lIns="0" tIns="0" rIns="0" bIns="0" anchor="ctr">
            <a:noAutofit/>
          </a:bodyPr>
          <a:lstStyle/>
          <a:p>
            <a:pPr algn="l">
              <a:lnSpc>
                <a:spcPct val="100000"/>
              </a:lnSpc>
              <a:buNone/>
            </a:pPr>
            <a:r>
              <a:rPr lang="es-CL" sz="1250" b="1" spc="0" dirty="0">
                <a:solidFill>
                  <a:srgbClr val="12406E"/>
                </a:solidFill>
              </a:rPr>
              <a:t>CPCT ↓</a:t>
            </a:r>
          </a:p>
        </p:txBody>
      </p:sp>
      <p:sp>
        <p:nvSpPr>
          <p:cNvPr id="1040" name="sh1040"/>
          <p:cNvSpPr/>
          <p:nvPr/>
        </p:nvSpPr>
        <p:spPr>
          <a:xfrm>
            <a:off x="8763000" y="5435600"/>
            <a:ext cx="2540000" cy="406400"/>
          </a:xfrm>
          <a:prstGeom prst="rect">
            <a:avLst/>
          </a:prstGeom>
          <a:noFill/>
          <a:ln>
            <a:noFill/>
          </a:ln>
        </p:spPr>
        <p:txBody>
          <a:bodyPr wrap="square" lIns="0" tIns="0" rIns="0" bIns="0" anchor="t">
            <a:noAutofit/>
          </a:bodyPr>
          <a:lstStyle/>
          <a:p>
            <a:pPr algn="l">
              <a:lnSpc>
                <a:spcPct val="115000"/>
              </a:lnSpc>
              <a:buNone/>
            </a:pPr>
            <a:r>
              <a:rPr lang="es-CL" sz="1000" b="0" spc="0" dirty="0">
                <a:solidFill>
                  <a:srgbClr val="5A7290"/>
                </a:solidFill>
              </a:rPr>
              <a:t>Menor costo observado por tarea correcta (requiere costos reales)</a:t>
            </a:r>
          </a:p>
        </p:txBody>
      </p:sp>
      <p:sp>
        <p:nvSpPr>
          <p:cNvPr id="1041" name="sh1041"/>
          <p:cNvSpPr/>
          <p:nvPr/>
        </p:nvSpPr>
        <p:spPr>
          <a:xfrm>
            <a:off x="8763000" y="5816600"/>
            <a:ext cx="2540000" cy="330200"/>
          </a:xfrm>
          <a:prstGeom prst="rect">
            <a:avLst/>
          </a:prstGeom>
          <a:noFill/>
          <a:ln>
            <a:noFill/>
          </a:ln>
        </p:spPr>
        <p:txBody>
          <a:bodyPr wrap="square" lIns="0" tIns="0" rIns="0" bIns="0" anchor="t">
            <a:noAutofit/>
          </a:bodyPr>
          <a:lstStyle/>
          <a:p>
            <a:pPr algn="l">
              <a:lnSpc>
                <a:spcPct val="110000"/>
              </a:lnSpc>
              <a:buNone/>
            </a:pPr>
            <a:r>
              <a:rPr lang="es-CL" sz="1100" b="1" spc="0" dirty="0">
                <a:solidFill>
                  <a:srgbClr val="12406E"/>
                </a:solidFill>
              </a:rPr>
              <a:t>Eficiencia económica potencial</a:t>
            </a:r>
          </a:p>
        </p:txBody>
      </p:sp>
      <p:sp>
        <p:nvSpPr>
          <p:cNvPr id="1042" name="sh1042"/>
          <p:cNvSpPr/>
          <p:nvPr/>
        </p:nvSpPr>
        <p:spPr>
          <a:xfrm>
            <a:off x="990600" y="6172200"/>
            <a:ext cx="10439400" cy="203200"/>
          </a:xfrm>
          <a:prstGeom prst="rect">
            <a:avLst/>
          </a:prstGeom>
          <a:noFill/>
          <a:ln>
            <a:noFill/>
          </a:ln>
        </p:spPr>
        <p:txBody>
          <a:bodyPr wrap="square" lIns="0" tIns="0" rIns="0" bIns="0" anchor="ctr">
            <a:noAutofit/>
          </a:bodyPr>
          <a:lstStyle/>
          <a:p>
            <a:pPr algn="l">
              <a:lnSpc>
                <a:spcPct val="100000"/>
              </a:lnSpc>
              <a:buNone/>
            </a:pPr>
            <a:r>
              <a:rPr lang="es-CL" sz="1150" b="1" spc="60" dirty="0">
                <a:solidFill>
                  <a:srgbClr val="12406E"/>
                </a:solidFill>
              </a:rPr>
              <a:t>LATENCIA ≠ TTA · latencia = sistema; TTA / TTE = tarea humana, no se infieren de la latencia.</a:t>
            </a:r>
          </a:p>
        </p:txBody>
      </p:sp>
      <p:sp>
        <p:nvSpPr>
          <p:cNvPr id="1998" name="barLat"/>
          <p:cNvSpPr/>
          <p:nvPr/>
        </p:nvSpPr>
        <p:spPr>
          <a:xfrm>
            <a:off x="762000" y="6172200"/>
            <a:ext cx="38100" cy="203200"/>
          </a:xfrm>
          <a:prstGeom prst="rect">
            <a:avLst/>
          </a:prstGeom>
          <a:solidFill>
            <a:srgbClr val="2ED3E8"/>
          </a:solidFill>
          <a:ln>
            <a:noFill/>
          </a:ln>
        </p:spPr>
        <p:txBody>
          <a:bodyPr/>
          <a:lstStyle/>
          <a:p>
            <a:endParaRPr lang="es-CL"/>
          </a:p>
        </p:txBody>
      </p:sp>
      <p:sp>
        <p:nvSpPr>
          <p:cNvPr id="1999" name="territorioA"/>
          <p:cNvSpPr/>
          <p:nvPr/>
        </p:nvSpPr>
        <p:spPr>
          <a:xfrm>
            <a:off x="762000" y="1676400"/>
            <a:ext cx="6350000" cy="165100"/>
          </a:xfrm>
          <a:prstGeom prst="rect">
            <a:avLst/>
          </a:prstGeom>
          <a:noFill/>
          <a:ln>
            <a:noFill/>
          </a:ln>
        </p:spPr>
        <p:txBody>
          <a:bodyPr wrap="square" lIns="0" tIns="0" rIns="0" bIns="0" anchor="ctr">
            <a:noAutofit/>
          </a:bodyPr>
          <a:lstStyle/>
          <a:p>
            <a:pPr algn="l">
              <a:buNone/>
            </a:pPr>
            <a:r>
              <a:rPr lang="es-CL" sz="950" b="1" spc="100" dirty="0">
                <a:solidFill>
                  <a:srgbClr val="5A7290"/>
                </a:solidFill>
              </a:rPr>
              <a:t>ALCANCE DE LA TESIS</a:t>
            </a:r>
          </a:p>
        </p:txBody>
      </p:sp>
    </p:spTree>
    <p:extLst>
      <p:ext uri="{BB962C8B-B14F-4D97-AF65-F5344CB8AC3E}">
        <p14:creationId xmlns:p14="http://schemas.microsoft.com/office/powerpoint/2010/main" val="191031784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INSTRUMENTACIÓN NECESARIA</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No basta con guardar la respuesta final</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[ 25 ]</a:t>
            </a:r>
          </a:p>
        </p:txBody>
      </p:sp>
      <p:sp>
        <p:nvSpPr>
          <p:cNvPr id="1058" name="sh1058"/>
          <p:cNvSpPr/>
          <p:nvPr/>
        </p:nvSpPr>
        <p:spPr>
          <a:xfrm>
            <a:off x="762000" y="5715000"/>
            <a:ext cx="38100" cy="406400"/>
          </a:xfrm>
          <a:prstGeom prst="rect">
            <a:avLst/>
          </a:prstGeom>
          <a:solidFill>
            <a:srgbClr val="2ED3E8"/>
          </a:solidFill>
          <a:ln>
            <a:noFill/>
          </a:ln>
        </p:spPr>
        <p:txBody>
          <a:bodyPr/>
          <a:lstStyle/>
          <a:p>
            <a:endParaRPr lang="es-CL"/>
          </a:p>
        </p:txBody>
      </p:sp>
      <p:sp>
        <p:nvSpPr>
          <p:cNvPr id="1059" name="sh1059"/>
          <p:cNvSpPr/>
          <p:nvPr/>
        </p:nvSpPr>
        <p:spPr>
          <a:xfrm>
            <a:off x="990600" y="5740400"/>
            <a:ext cx="10414000" cy="660400"/>
          </a:xfrm>
          <a:prstGeom prst="rect">
            <a:avLst/>
          </a:prstGeom>
          <a:noFill/>
          <a:ln>
            <a:noFill/>
          </a:ln>
        </p:spPr>
        <p:txBody>
          <a:bodyPr wrap="square" lIns="0" tIns="0" rIns="0" bIns="0" anchor="ctr">
            <a:noAutofit/>
          </a:bodyPr>
          <a:lstStyle/>
          <a:p>
            <a:pPr algn="l">
              <a:lnSpc>
                <a:spcPct val="125000"/>
              </a:lnSpc>
              <a:buNone/>
            </a:pPr>
            <a:r>
              <a:rPr lang="es-CL" sz="1450" b="1" spc="0" dirty="0">
                <a:solidFill>
                  <a:srgbClr val="12406E"/>
                </a:solidFill>
              </a:rPr>
              <a:t>El bloque de usuarios es una extensión opcional, no parte obligatoria del Experimento B.</a:t>
            </a:r>
          </a:p>
        </p:txBody>
      </p:sp>
      <p:sp>
        <p:nvSpPr>
          <p:cNvPr id="2" name="CuadroTexto 1">
            <a:extLst>
              <a:ext uri="{FF2B5EF4-FFF2-40B4-BE49-F238E27FC236}">
                <a16:creationId xmlns:a16="http://schemas.microsoft.com/office/drawing/2014/main" id="{8FBF7EA1-4610-E848-9C9B-E74544AE5D15}"/>
              </a:ext>
            </a:extLst>
          </p:cNvPr>
          <p:cNvSpPr txBox="1"/>
          <p:nvPr/>
        </p:nvSpPr>
        <p:spPr>
          <a:xfrm>
            <a:off x="762000" y="1905000"/>
            <a:ext cx="5080000" cy="203200"/>
          </a:xfrm>
          <a:prstGeom prst="rect">
            <a:avLst/>
          </a:prstGeom>
          <a:noFill/>
        </p:spPr>
        <p:txBody>
          <a:bodyPr vertOverflow="overflow" vert="horz" wrap="square" rtlCol="0" anchor="t">
            <a:spAutoFit/>
          </a:bodyPr>
          <a:lstStyle/>
          <a:p>
            <a:pPr algn="l"/>
            <a:r>
              <a:rPr lang="es-CL" sz="1100" b="1">
                <a:solidFill>
                  <a:srgbClr val="1D5C9E"/>
                </a:solidFill>
                <a:latin typeface="Segoe UI Semibold"/>
                <a:cs typeface="Segoe UI Semibold"/>
              </a:rPr>
              <a:t>REGISTRAR POR EJECUCIÓN</a:t>
            </a:r>
          </a:p>
        </p:txBody>
      </p:sp>
      <p:sp>
        <p:nvSpPr>
          <p:cNvPr id="3" name="CuadroTexto 2">
            <a:extLst>
              <a:ext uri="{FF2B5EF4-FFF2-40B4-BE49-F238E27FC236}">
                <a16:creationId xmlns:a16="http://schemas.microsoft.com/office/drawing/2014/main" id="{60B48AEE-E21D-8A49-BDE7-5B9C8BD05349}"/>
              </a:ext>
            </a:extLst>
          </p:cNvPr>
          <p:cNvSpPr txBox="1"/>
          <p:nvPr/>
        </p:nvSpPr>
        <p:spPr>
          <a:xfrm>
            <a:off x="762000" y="2209800"/>
            <a:ext cx="3302000" cy="1524000"/>
          </a:xfrm>
          <a:prstGeom prst="rect">
            <a:avLst/>
          </a:prstGeom>
          <a:noFill/>
        </p:spPr>
        <p:txBody>
          <a:bodyPr vertOverflow="overflow" vert="horz" wrap="square" rtlCol="0" anchor="t">
            <a:spAutoFit/>
          </a:bodyPr>
          <a:lstStyle/>
          <a:p>
            <a:pPr algn="l"/>
            <a:r>
              <a:rPr lang="es-CL" sz="1400">
                <a:solidFill>
                  <a:srgbClr val="0A1524"/>
                </a:solidFill>
                <a:latin typeface="Segoe UI"/>
                <a:cs typeface="Segoe UI"/>
              </a:rPr>
              <a:t>condition
question_id
question_type
sources_required
retrieved_items</a:t>
            </a:r>
          </a:p>
        </p:txBody>
      </p:sp>
      <p:sp>
        <p:nvSpPr>
          <p:cNvPr id="4" name="CuadroTexto 3">
            <a:extLst>
              <a:ext uri="{FF2B5EF4-FFF2-40B4-BE49-F238E27FC236}">
                <a16:creationId xmlns:a16="http://schemas.microsoft.com/office/drawing/2014/main" id="{A5DC2DBE-D53D-1548-A9EE-2C493972B736}"/>
              </a:ext>
            </a:extLst>
          </p:cNvPr>
          <p:cNvSpPr txBox="1"/>
          <p:nvPr/>
        </p:nvSpPr>
        <p:spPr>
          <a:xfrm>
            <a:off x="4191000" y="2209800"/>
            <a:ext cx="3302000" cy="1524000"/>
          </a:xfrm>
          <a:prstGeom prst="rect">
            <a:avLst/>
          </a:prstGeom>
          <a:noFill/>
        </p:spPr>
        <p:txBody>
          <a:bodyPr vertOverflow="overflow" vert="horz" wrap="square" rtlCol="0" anchor="t">
            <a:spAutoFit/>
          </a:bodyPr>
          <a:lstStyle/>
          <a:p>
            <a:pPr algn="l"/>
            <a:r>
              <a:rPr lang="es-CL" sz="1400">
                <a:solidFill>
                  <a:srgbClr val="0A1524"/>
                </a:solidFill>
                <a:latin typeface="Segoe UI"/>
                <a:cs typeface="Segoe UI"/>
              </a:rPr>
              <a:t>timestamps
evidence references
answer
correctness
temporal correctness</a:t>
            </a:r>
          </a:p>
        </p:txBody>
      </p:sp>
      <p:sp>
        <p:nvSpPr>
          <p:cNvPr id="5" name="CuadroTexto 4">
            <a:extLst>
              <a:ext uri="{FF2B5EF4-FFF2-40B4-BE49-F238E27FC236}">
                <a16:creationId xmlns:a16="http://schemas.microsoft.com/office/drawing/2014/main" id="{0EDFB205-4517-5547-B1B2-26CAC03C8A78}"/>
              </a:ext>
            </a:extLst>
          </p:cNvPr>
          <p:cNvSpPr txBox="1"/>
          <p:nvPr/>
        </p:nvSpPr>
        <p:spPr>
          <a:xfrm>
            <a:off x="7620000" y="2209800"/>
            <a:ext cx="3810000" cy="1524000"/>
          </a:xfrm>
          <a:prstGeom prst="rect">
            <a:avLst/>
          </a:prstGeom>
          <a:noFill/>
        </p:spPr>
        <p:txBody>
          <a:bodyPr vertOverflow="overflow" vert="horz" wrap="square" rtlCol="0" anchor="t">
            <a:spAutoFit/>
          </a:bodyPr>
          <a:lstStyle/>
          <a:p>
            <a:pPr algn="l"/>
            <a:r>
              <a:rPr lang="es-CL" sz="1400">
                <a:solidFill>
                  <a:srgbClr val="0A1524"/>
                </a:solidFill>
                <a:latin typeface="Segoe UI"/>
                <a:cs typeface="Segoe UI"/>
              </a:rPr>
              <a:t>tokens
compute latency
extraction amortization
system cost</a:t>
            </a:r>
          </a:p>
        </p:txBody>
      </p:sp>
      <p:sp>
        <p:nvSpPr>
          <p:cNvPr id="6" name="CuadroTexto 5">
            <a:extLst>
              <a:ext uri="{FF2B5EF4-FFF2-40B4-BE49-F238E27FC236}">
                <a16:creationId xmlns:a16="http://schemas.microsoft.com/office/drawing/2014/main" id="{6BAD01C5-A889-6D4C-AB25-5B73EF8DE942}"/>
              </a:ext>
            </a:extLst>
          </p:cNvPr>
          <p:cNvSpPr txBox="1"/>
          <p:nvPr/>
        </p:nvSpPr>
        <p:spPr>
          <a:xfrm>
            <a:off x="762000" y="3937000"/>
            <a:ext cx="6350000" cy="203200"/>
          </a:xfrm>
          <a:prstGeom prst="rect">
            <a:avLst/>
          </a:prstGeom>
          <a:noFill/>
        </p:spPr>
        <p:txBody>
          <a:bodyPr vertOverflow="overflow" vert="horz" wrap="square" rtlCol="0" anchor="t">
            <a:spAutoFit/>
          </a:bodyPr>
          <a:lstStyle/>
          <a:p>
            <a:pPr algn="l"/>
            <a:r>
              <a:rPr lang="es-CL" sz="1100" b="1">
                <a:solidFill>
                  <a:srgbClr val="1D5C9E"/>
                </a:solidFill>
                <a:latin typeface="Segoe UI Semibold"/>
                <a:cs typeface="Segoe UI Semibold"/>
              </a:rPr>
              <a:t>EXTENSIÓN CON USUARIOS · REGISTRO ADICIONAL</a:t>
            </a:r>
          </a:p>
        </p:txBody>
      </p:sp>
      <p:sp>
        <p:nvSpPr>
          <p:cNvPr id="7" name="CuadroTexto 6">
            <a:extLst>
              <a:ext uri="{FF2B5EF4-FFF2-40B4-BE49-F238E27FC236}">
                <a16:creationId xmlns:a16="http://schemas.microsoft.com/office/drawing/2014/main" id="{1C6F469D-FE3A-7146-88C3-66F7FACE80C5}"/>
              </a:ext>
            </a:extLst>
          </p:cNvPr>
          <p:cNvSpPr txBox="1"/>
          <p:nvPr/>
        </p:nvSpPr>
        <p:spPr>
          <a:xfrm>
            <a:off x="762000" y="4241800"/>
            <a:ext cx="3302000" cy="1270000"/>
          </a:xfrm>
          <a:prstGeom prst="rect">
            <a:avLst/>
          </a:prstGeom>
          <a:noFill/>
        </p:spPr>
        <p:txBody>
          <a:bodyPr vertOverflow="overflow" vert="horz" wrap="square" rtlCol="0" anchor="t">
            <a:spAutoFit/>
          </a:bodyPr>
          <a:lstStyle/>
          <a:p>
            <a:pPr algn="l"/>
            <a:r>
              <a:rPr lang="es-CL" sz="1400">
                <a:solidFill>
                  <a:srgbClr val="0A1524"/>
                </a:solidFill>
                <a:latin typeface="Segoe UI"/>
                <a:cs typeface="Segoe UI"/>
              </a:rPr>
              <a:t>participant_id anonimizado
inicio y fin de tarea
queries
fuentes abiertas</a:t>
            </a:r>
          </a:p>
        </p:txBody>
      </p:sp>
      <p:sp>
        <p:nvSpPr>
          <p:cNvPr id="8" name="CuadroTexto 7">
            <a:extLst>
              <a:ext uri="{FF2B5EF4-FFF2-40B4-BE49-F238E27FC236}">
                <a16:creationId xmlns:a16="http://schemas.microsoft.com/office/drawing/2014/main" id="{891AA188-EF5F-A040-B309-A9D53AF6C647}"/>
              </a:ext>
            </a:extLst>
          </p:cNvPr>
          <p:cNvSpPr txBox="1"/>
          <p:nvPr/>
        </p:nvSpPr>
        <p:spPr>
          <a:xfrm>
            <a:off x="4191000" y="4241800"/>
            <a:ext cx="3302000" cy="1270000"/>
          </a:xfrm>
          <a:prstGeom prst="rect">
            <a:avLst/>
          </a:prstGeom>
          <a:noFill/>
        </p:spPr>
        <p:txBody>
          <a:bodyPr vertOverflow="overflow" vert="horz" wrap="square" rtlCol="0" anchor="t">
            <a:spAutoFit/>
          </a:bodyPr>
          <a:lstStyle/>
          <a:p>
            <a:pPr algn="l"/>
            <a:r>
              <a:rPr lang="es-CL" sz="1400">
                <a:solidFill>
                  <a:srgbClr val="0A1524"/>
                </a:solidFill>
                <a:latin typeface="Segoe UI"/>
                <a:cs typeface="Segoe UI"/>
              </a:rPr>
              <a:t>evidencia abierta
aclaraciones o ayuda
task score</a:t>
            </a:r>
          </a:p>
        </p:txBody>
      </p:sp>
    </p:spTree>
    <p:extLst>
      <p:ext uri="{BB962C8B-B14F-4D97-AF65-F5344CB8AC3E}">
        <p14:creationId xmlns:p14="http://schemas.microsoft.com/office/powerpoint/2010/main" val="405429354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ANÁLISIS ESTADÍSTICO</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La inferencia usa diferencias pareadas C2 − C1</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[ 26 ]</a:t>
            </a:r>
          </a:p>
        </p:txBody>
      </p:sp>
      <p:sp>
        <p:nvSpPr>
          <p:cNvPr id="1005" name="sh1005"/>
          <p:cNvSpPr/>
          <p:nvPr/>
        </p:nvSpPr>
        <p:spPr>
          <a:xfrm>
            <a:off x="762000" y="1803400"/>
            <a:ext cx="10668000" cy="254000"/>
          </a:xfrm>
          <a:prstGeom prst="rect">
            <a:avLst/>
          </a:prstGeom>
          <a:solidFill>
            <a:srgbClr val="EAF1F8"/>
          </a:solidFill>
          <a:ln>
            <a:noFill/>
          </a:ln>
        </p:spPr>
        <p:txBody>
          <a:bodyPr wrap="square" lIns="0" tIns="0" rIns="0" bIns="0" anchor="ctr">
            <a:noAutofit/>
          </a:bodyPr>
          <a:lstStyle/>
          <a:p>
            <a:pPr algn="ctr">
              <a:lnSpc>
                <a:spcPct val="100000"/>
              </a:lnSpc>
              <a:buNone/>
            </a:pPr>
            <a:r>
              <a:rPr lang="es-CL" sz="1000" b="1" spc="100" dirty="0">
                <a:solidFill>
                  <a:srgbClr val="12406E"/>
                </a:solidFill>
              </a:rPr>
              <a:t>UNIDAD PRIMARIA DE COMPARACIÓN · INSTANCIA PREGUNTA–CASO EVALUADA EN AMBAS CONDICIONES</a:t>
            </a:r>
          </a:p>
        </p:txBody>
      </p:sp>
      <p:sp>
        <p:nvSpPr>
          <p:cNvPr id="1006" name="sh1006"/>
          <p:cNvSpPr/>
          <p:nvPr/>
        </p:nvSpPr>
        <p:spPr>
          <a:xfrm>
            <a:off x="3810000" y="2235200"/>
            <a:ext cx="4572000" cy="787400"/>
          </a:xfrm>
          <a:prstGeom prst="rect">
            <a:avLst/>
          </a:prstGeom>
          <a:solidFill>
            <a:srgbClr val="EAF3F7"/>
          </a:solidFill>
          <a:ln>
            <a:noFill/>
          </a:ln>
        </p:spPr>
        <p:txBody>
          <a:bodyPr/>
          <a:lstStyle/>
          <a:p>
            <a:endParaRPr lang="es-CL"/>
          </a:p>
        </p:txBody>
      </p:sp>
      <p:sp>
        <p:nvSpPr>
          <p:cNvPr id="1007" name="sh1007"/>
          <p:cNvSpPr/>
          <p:nvPr/>
        </p:nvSpPr>
        <p:spPr>
          <a:xfrm>
            <a:off x="3810000" y="2235200"/>
            <a:ext cx="38100" cy="787400"/>
          </a:xfrm>
          <a:prstGeom prst="rect">
            <a:avLst/>
          </a:prstGeom>
          <a:solidFill>
            <a:srgbClr val="2ED3E8"/>
          </a:solidFill>
          <a:ln>
            <a:noFill/>
          </a:ln>
        </p:spPr>
        <p:txBody>
          <a:bodyPr/>
          <a:lstStyle/>
          <a:p>
            <a:endParaRPr lang="es-CL"/>
          </a:p>
        </p:txBody>
      </p:sp>
      <p:sp>
        <p:nvSpPr>
          <p:cNvPr id="1008" name="sh1008"/>
          <p:cNvSpPr/>
          <p:nvPr/>
        </p:nvSpPr>
        <p:spPr>
          <a:xfrm>
            <a:off x="4038600" y="2336800"/>
            <a:ext cx="4191000" cy="431800"/>
          </a:xfrm>
          <a:prstGeom prst="rect">
            <a:avLst/>
          </a:prstGeom>
          <a:noFill/>
          <a:ln>
            <a:noFill/>
          </a:ln>
        </p:spPr>
        <p:txBody>
          <a:bodyPr wrap="square" lIns="0" tIns="0" rIns="0" bIns="0" anchor="ctr">
            <a:noAutofit/>
          </a:bodyPr>
          <a:lstStyle/>
          <a:p>
            <a:pPr algn="ctr">
              <a:lnSpc>
                <a:spcPct val="100000"/>
              </a:lnSpc>
              <a:buNone/>
            </a:pPr>
            <a:r>
              <a:rPr lang="es-CL" sz="3000" b="1" spc="0" dirty="0">
                <a:solidFill>
                  <a:srgbClr val="12406E"/>
                </a:solidFill>
              </a:rPr>
              <a:t>Δi  =  C2  −  C1</a:t>
            </a:r>
          </a:p>
        </p:txBody>
      </p:sp>
      <p:sp>
        <p:nvSpPr>
          <p:cNvPr id="1009" name="sh1009"/>
          <p:cNvSpPr/>
          <p:nvPr/>
        </p:nvSpPr>
        <p:spPr>
          <a:xfrm>
            <a:off x="4038600" y="2768600"/>
            <a:ext cx="4191000" cy="177800"/>
          </a:xfrm>
          <a:prstGeom prst="rect">
            <a:avLst/>
          </a:prstGeom>
          <a:noFill/>
          <a:ln>
            <a:noFill/>
          </a:ln>
        </p:spPr>
        <p:txBody>
          <a:bodyPr wrap="square" lIns="0" tIns="0" rIns="0" bIns="0" anchor="ctr">
            <a:noAutofit/>
          </a:bodyPr>
          <a:lstStyle/>
          <a:p>
            <a:pPr algn="ctr">
              <a:lnSpc>
                <a:spcPct val="100000"/>
              </a:lnSpc>
              <a:buNone/>
            </a:pPr>
            <a:r>
              <a:rPr lang="es-CL" sz="1050" b="0" spc="0" dirty="0">
                <a:solidFill>
                  <a:srgbClr val="4A5F78"/>
                </a:solidFill>
              </a:rPr>
              <a:t>Δi = Métrica(C2i) − Métrica(C1i) por instancia</a:t>
            </a:r>
          </a:p>
        </p:txBody>
      </p:sp>
      <p:sp>
        <p:nvSpPr>
          <p:cNvPr id="1010" name="sh1010"/>
          <p:cNvSpPr/>
          <p:nvPr/>
        </p:nvSpPr>
        <p:spPr>
          <a:xfrm>
            <a:off x="762000" y="3276600"/>
            <a:ext cx="1930400" cy="812800"/>
          </a:xfrm>
          <a:prstGeom prst="rect">
            <a:avLst/>
          </a:prstGeom>
          <a:solidFill>
            <a:srgbClr val="F7FAFC"/>
          </a:solidFill>
          <a:ln w="12700">
            <a:solidFill>
              <a:srgbClr val="C6D4E2"/>
            </a:solidFill>
          </a:ln>
        </p:spPr>
        <p:txBody>
          <a:bodyPr/>
          <a:lstStyle/>
          <a:p>
            <a:endParaRPr lang="es-CL"/>
          </a:p>
        </p:txBody>
      </p:sp>
      <p:sp>
        <p:nvSpPr>
          <p:cNvPr id="1011" name="sh1011"/>
          <p:cNvSpPr/>
          <p:nvPr/>
        </p:nvSpPr>
        <p:spPr>
          <a:xfrm>
            <a:off x="863600" y="3429000"/>
            <a:ext cx="1727200" cy="381000"/>
          </a:xfrm>
          <a:prstGeom prst="rect">
            <a:avLst/>
          </a:prstGeom>
          <a:noFill/>
          <a:ln>
            <a:noFill/>
          </a:ln>
        </p:spPr>
        <p:txBody>
          <a:bodyPr wrap="square" lIns="0" tIns="0" rIns="0" bIns="0" anchor="ctr">
            <a:noAutofit/>
          </a:bodyPr>
          <a:lstStyle/>
          <a:p>
            <a:pPr algn="ctr">
              <a:lnSpc>
                <a:spcPct val="110000"/>
              </a:lnSpc>
              <a:buNone/>
            </a:pPr>
            <a:r>
              <a:rPr lang="es-CL" sz="1150" b="1" spc="0" dirty="0">
                <a:solidFill>
                  <a:srgbClr val="0A1524"/>
                </a:solidFill>
              </a:rPr>
              <a:t>INSTANCIA i</a:t>
            </a:r>
          </a:p>
        </p:txBody>
      </p:sp>
      <p:sp>
        <p:nvSpPr>
          <p:cNvPr id="1012" name="sh1012"/>
          <p:cNvSpPr/>
          <p:nvPr/>
        </p:nvSpPr>
        <p:spPr>
          <a:xfrm>
            <a:off x="863600" y="3810000"/>
            <a:ext cx="17272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5A7290"/>
                </a:solidFill>
              </a:rPr>
              <a:t>pregunta–caso</a:t>
            </a:r>
          </a:p>
        </p:txBody>
      </p:sp>
      <p:sp>
        <p:nvSpPr>
          <p:cNvPr id="1013" name="sh1013"/>
          <p:cNvSpPr/>
          <p:nvPr/>
        </p:nvSpPr>
        <p:spPr>
          <a:xfrm>
            <a:off x="2705100" y="3683000"/>
            <a:ext cx="215900" cy="0"/>
          </a:xfrm>
          <a:prstGeom prst="line">
            <a:avLst/>
          </a:prstGeom>
          <a:noFill/>
          <a:ln w="15875">
            <a:solidFill>
              <a:srgbClr val="9FB3C8"/>
            </a:solidFill>
            <a:tailEnd type="triangle" w="sm" len="sm"/>
          </a:ln>
        </p:spPr>
        <p:txBody>
          <a:bodyPr/>
          <a:lstStyle/>
          <a:p>
            <a:endParaRPr lang="es-CL"/>
          </a:p>
        </p:txBody>
      </p:sp>
      <p:sp>
        <p:nvSpPr>
          <p:cNvPr id="1014" name="sh1014"/>
          <p:cNvSpPr/>
          <p:nvPr/>
        </p:nvSpPr>
        <p:spPr>
          <a:xfrm>
            <a:off x="2946400" y="3276600"/>
            <a:ext cx="1930400" cy="812800"/>
          </a:xfrm>
          <a:prstGeom prst="rect">
            <a:avLst/>
          </a:prstGeom>
          <a:solidFill>
            <a:srgbClr val="F7FAFC"/>
          </a:solidFill>
          <a:ln w="12700">
            <a:solidFill>
              <a:srgbClr val="C6D4E2"/>
            </a:solidFill>
          </a:ln>
        </p:spPr>
        <p:txBody>
          <a:bodyPr/>
          <a:lstStyle/>
          <a:p>
            <a:endParaRPr lang="es-CL"/>
          </a:p>
        </p:txBody>
      </p:sp>
      <p:sp>
        <p:nvSpPr>
          <p:cNvPr id="1015" name="sh1015"/>
          <p:cNvSpPr/>
          <p:nvPr/>
        </p:nvSpPr>
        <p:spPr>
          <a:xfrm>
            <a:off x="3048000" y="3429000"/>
            <a:ext cx="1727200" cy="381000"/>
          </a:xfrm>
          <a:prstGeom prst="rect">
            <a:avLst/>
          </a:prstGeom>
          <a:noFill/>
          <a:ln>
            <a:noFill/>
          </a:ln>
        </p:spPr>
        <p:txBody>
          <a:bodyPr wrap="square" lIns="0" tIns="0" rIns="0" bIns="0" anchor="ctr">
            <a:noAutofit/>
          </a:bodyPr>
          <a:lstStyle/>
          <a:p>
            <a:pPr algn="ctr">
              <a:lnSpc>
                <a:spcPct val="110000"/>
              </a:lnSpc>
              <a:buNone/>
            </a:pPr>
            <a:r>
              <a:rPr lang="es-CL" sz="1150" b="1" spc="0" dirty="0">
                <a:solidFill>
                  <a:srgbClr val="0A1524"/>
                </a:solidFill>
              </a:rPr>
              <a:t>C1  |  C2</a:t>
            </a:r>
          </a:p>
        </p:txBody>
      </p:sp>
      <p:sp>
        <p:nvSpPr>
          <p:cNvPr id="1016" name="sh1016"/>
          <p:cNvSpPr/>
          <p:nvPr/>
        </p:nvSpPr>
        <p:spPr>
          <a:xfrm>
            <a:off x="3048000" y="3810000"/>
            <a:ext cx="17272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5A7290"/>
                </a:solidFill>
              </a:rPr>
              <a:t>dos respuestas</a:t>
            </a:r>
          </a:p>
        </p:txBody>
      </p:sp>
      <p:sp>
        <p:nvSpPr>
          <p:cNvPr id="1017" name="sh1017"/>
          <p:cNvSpPr/>
          <p:nvPr/>
        </p:nvSpPr>
        <p:spPr>
          <a:xfrm>
            <a:off x="4889500" y="3683000"/>
            <a:ext cx="215900" cy="0"/>
          </a:xfrm>
          <a:prstGeom prst="line">
            <a:avLst/>
          </a:prstGeom>
          <a:noFill/>
          <a:ln w="15875">
            <a:solidFill>
              <a:srgbClr val="9FB3C8"/>
            </a:solidFill>
            <a:tailEnd type="triangle" w="sm" len="sm"/>
          </a:ln>
        </p:spPr>
        <p:txBody>
          <a:bodyPr/>
          <a:lstStyle/>
          <a:p>
            <a:endParaRPr lang="es-CL"/>
          </a:p>
        </p:txBody>
      </p:sp>
      <p:sp>
        <p:nvSpPr>
          <p:cNvPr id="1018" name="sh1018"/>
          <p:cNvSpPr/>
          <p:nvPr/>
        </p:nvSpPr>
        <p:spPr>
          <a:xfrm>
            <a:off x="5130800" y="3276600"/>
            <a:ext cx="1930400" cy="812800"/>
          </a:xfrm>
          <a:prstGeom prst="rect">
            <a:avLst/>
          </a:prstGeom>
          <a:solidFill>
            <a:srgbClr val="F7FAFC"/>
          </a:solidFill>
          <a:ln w="12700">
            <a:solidFill>
              <a:srgbClr val="C6D4E2"/>
            </a:solidFill>
          </a:ln>
        </p:spPr>
        <p:txBody>
          <a:bodyPr/>
          <a:lstStyle/>
          <a:p>
            <a:endParaRPr lang="es-CL"/>
          </a:p>
        </p:txBody>
      </p:sp>
      <p:sp>
        <p:nvSpPr>
          <p:cNvPr id="1019" name="sh1019"/>
          <p:cNvSpPr/>
          <p:nvPr/>
        </p:nvSpPr>
        <p:spPr>
          <a:xfrm>
            <a:off x="5232400" y="3429000"/>
            <a:ext cx="1727200" cy="381000"/>
          </a:xfrm>
          <a:prstGeom prst="rect">
            <a:avLst/>
          </a:prstGeom>
          <a:noFill/>
          <a:ln>
            <a:noFill/>
          </a:ln>
        </p:spPr>
        <p:txBody>
          <a:bodyPr wrap="square" lIns="0" tIns="0" rIns="0" bIns="0" anchor="ctr">
            <a:noAutofit/>
          </a:bodyPr>
          <a:lstStyle/>
          <a:p>
            <a:pPr algn="ctr">
              <a:lnSpc>
                <a:spcPct val="110000"/>
              </a:lnSpc>
              <a:buNone/>
            </a:pPr>
            <a:r>
              <a:rPr lang="es-CL" sz="1150" b="1" spc="0" dirty="0">
                <a:solidFill>
                  <a:srgbClr val="0A1524"/>
                </a:solidFill>
              </a:rPr>
              <a:t>Δi = C2 − C1</a:t>
            </a:r>
          </a:p>
        </p:txBody>
      </p:sp>
      <p:sp>
        <p:nvSpPr>
          <p:cNvPr id="1020" name="sh1020"/>
          <p:cNvSpPr/>
          <p:nvPr/>
        </p:nvSpPr>
        <p:spPr>
          <a:xfrm>
            <a:off x="5232400" y="3810000"/>
            <a:ext cx="17272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5A7290"/>
                </a:solidFill>
              </a:rPr>
              <a:t>diferencia pareada</a:t>
            </a:r>
          </a:p>
        </p:txBody>
      </p:sp>
      <p:sp>
        <p:nvSpPr>
          <p:cNvPr id="1021" name="sh1021"/>
          <p:cNvSpPr/>
          <p:nvPr/>
        </p:nvSpPr>
        <p:spPr>
          <a:xfrm>
            <a:off x="7073900" y="3683000"/>
            <a:ext cx="215900" cy="0"/>
          </a:xfrm>
          <a:prstGeom prst="line">
            <a:avLst/>
          </a:prstGeom>
          <a:noFill/>
          <a:ln w="15875">
            <a:solidFill>
              <a:srgbClr val="9FB3C8"/>
            </a:solidFill>
            <a:tailEnd type="triangle" w="sm" len="sm"/>
          </a:ln>
        </p:spPr>
        <p:txBody>
          <a:bodyPr/>
          <a:lstStyle/>
          <a:p>
            <a:endParaRPr lang="es-CL"/>
          </a:p>
        </p:txBody>
      </p:sp>
      <p:sp>
        <p:nvSpPr>
          <p:cNvPr id="1022" name="sh1022"/>
          <p:cNvSpPr/>
          <p:nvPr/>
        </p:nvSpPr>
        <p:spPr>
          <a:xfrm>
            <a:off x="7315200" y="3276600"/>
            <a:ext cx="1930400" cy="812800"/>
          </a:xfrm>
          <a:prstGeom prst="rect">
            <a:avLst/>
          </a:prstGeom>
          <a:solidFill>
            <a:srgbClr val="F7FAFC"/>
          </a:solidFill>
          <a:ln w="12700">
            <a:solidFill>
              <a:srgbClr val="C6D4E2"/>
            </a:solidFill>
          </a:ln>
        </p:spPr>
        <p:txBody>
          <a:bodyPr/>
          <a:lstStyle/>
          <a:p>
            <a:endParaRPr lang="es-CL"/>
          </a:p>
        </p:txBody>
      </p:sp>
      <p:sp>
        <p:nvSpPr>
          <p:cNvPr id="1023" name="sh1023"/>
          <p:cNvSpPr/>
          <p:nvPr/>
        </p:nvSpPr>
        <p:spPr>
          <a:xfrm>
            <a:off x="7416800" y="3429000"/>
            <a:ext cx="1727200" cy="381000"/>
          </a:xfrm>
          <a:prstGeom prst="rect">
            <a:avLst/>
          </a:prstGeom>
          <a:noFill/>
          <a:ln>
            <a:noFill/>
          </a:ln>
        </p:spPr>
        <p:txBody>
          <a:bodyPr wrap="square" lIns="0" tIns="0" rIns="0" bIns="0" anchor="ctr">
            <a:noAutofit/>
          </a:bodyPr>
          <a:lstStyle/>
          <a:p>
            <a:pPr algn="ctr">
              <a:lnSpc>
                <a:spcPct val="110000"/>
              </a:lnSpc>
              <a:buNone/>
            </a:pPr>
            <a:r>
              <a:rPr lang="es-CL" sz="1150" b="1" spc="0" dirty="0">
                <a:solidFill>
                  <a:srgbClr val="0A1524"/>
                </a:solidFill>
              </a:rPr>
              <a:t>DISTRIBUCIÓN</a:t>
            </a:r>
          </a:p>
        </p:txBody>
      </p:sp>
      <p:sp>
        <p:nvSpPr>
          <p:cNvPr id="1024" name="sh1024"/>
          <p:cNvSpPr/>
          <p:nvPr/>
        </p:nvSpPr>
        <p:spPr>
          <a:xfrm>
            <a:off x="7416800" y="3810000"/>
            <a:ext cx="17272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5A7290"/>
                </a:solidFill>
              </a:rPr>
              <a:t>de las diferencias</a:t>
            </a:r>
          </a:p>
        </p:txBody>
      </p:sp>
      <p:sp>
        <p:nvSpPr>
          <p:cNvPr id="1025" name="sh1025"/>
          <p:cNvSpPr/>
          <p:nvPr/>
        </p:nvSpPr>
        <p:spPr>
          <a:xfrm>
            <a:off x="9258300" y="3683000"/>
            <a:ext cx="215900" cy="0"/>
          </a:xfrm>
          <a:prstGeom prst="line">
            <a:avLst/>
          </a:prstGeom>
          <a:noFill/>
          <a:ln w="15875">
            <a:solidFill>
              <a:srgbClr val="9FB3C8"/>
            </a:solidFill>
            <a:tailEnd type="triangle" w="sm" len="sm"/>
          </a:ln>
        </p:spPr>
        <p:txBody>
          <a:bodyPr/>
          <a:lstStyle/>
          <a:p>
            <a:endParaRPr lang="es-CL"/>
          </a:p>
        </p:txBody>
      </p:sp>
      <p:sp>
        <p:nvSpPr>
          <p:cNvPr id="1026" name="sh1026"/>
          <p:cNvSpPr/>
          <p:nvPr/>
        </p:nvSpPr>
        <p:spPr>
          <a:xfrm>
            <a:off x="9499600" y="3276600"/>
            <a:ext cx="1930400" cy="812800"/>
          </a:xfrm>
          <a:prstGeom prst="rect">
            <a:avLst/>
          </a:prstGeom>
          <a:solidFill>
            <a:srgbClr val="12406E"/>
          </a:solidFill>
          <a:ln w="12700">
            <a:solidFill>
              <a:srgbClr val="12406E"/>
            </a:solidFill>
          </a:ln>
        </p:spPr>
        <p:txBody>
          <a:bodyPr/>
          <a:lstStyle/>
          <a:p>
            <a:endParaRPr lang="es-CL"/>
          </a:p>
        </p:txBody>
      </p:sp>
      <p:sp>
        <p:nvSpPr>
          <p:cNvPr id="1027" name="sh1027"/>
          <p:cNvSpPr/>
          <p:nvPr/>
        </p:nvSpPr>
        <p:spPr>
          <a:xfrm>
            <a:off x="9601200" y="3429000"/>
            <a:ext cx="1727200" cy="381000"/>
          </a:xfrm>
          <a:prstGeom prst="rect">
            <a:avLst/>
          </a:prstGeom>
          <a:noFill/>
          <a:ln>
            <a:noFill/>
          </a:ln>
        </p:spPr>
        <p:txBody>
          <a:bodyPr wrap="square" lIns="0" tIns="0" rIns="0" bIns="0" anchor="ctr">
            <a:noAutofit/>
          </a:bodyPr>
          <a:lstStyle/>
          <a:p>
            <a:pPr algn="ctr">
              <a:lnSpc>
                <a:spcPct val="110000"/>
              </a:lnSpc>
              <a:buNone/>
            </a:pPr>
            <a:r>
              <a:rPr lang="es-CL" sz="1150" b="1" spc="0" dirty="0">
                <a:solidFill>
                  <a:srgbClr val="FFFFFF"/>
                </a:solidFill>
              </a:rPr>
              <a:t>IC + TAMAÑO DE EFECTO</a:t>
            </a:r>
          </a:p>
        </p:txBody>
      </p:sp>
      <p:sp>
        <p:nvSpPr>
          <p:cNvPr id="1028" name="sh1028"/>
          <p:cNvSpPr/>
          <p:nvPr/>
        </p:nvSpPr>
        <p:spPr>
          <a:xfrm>
            <a:off x="9601200" y="3810000"/>
            <a:ext cx="1727200" cy="177800"/>
          </a:xfrm>
          <a:prstGeom prst="rect">
            <a:avLst/>
          </a:prstGeom>
          <a:noFill/>
          <a:ln>
            <a:noFill/>
          </a:ln>
        </p:spPr>
        <p:txBody>
          <a:bodyPr wrap="square" lIns="0" tIns="0" rIns="0" bIns="0" anchor="ctr">
            <a:noAutofit/>
          </a:bodyPr>
          <a:lstStyle/>
          <a:p>
            <a:pPr algn="ctr">
              <a:lnSpc>
                <a:spcPct val="100000"/>
              </a:lnSpc>
              <a:buNone/>
            </a:pPr>
            <a:r>
              <a:rPr lang="es-CL" sz="1000" b="0" spc="0" dirty="0">
                <a:solidFill>
                  <a:srgbClr val="9FB3C8"/>
                </a:solidFill>
              </a:rPr>
              <a:t>magnitud e incertidumbre</a:t>
            </a:r>
          </a:p>
        </p:txBody>
      </p:sp>
      <p:sp>
        <p:nvSpPr>
          <p:cNvPr id="1029" name="sh1029"/>
          <p:cNvSpPr/>
          <p:nvPr/>
        </p:nvSpPr>
        <p:spPr>
          <a:xfrm>
            <a:off x="762000" y="4368800"/>
            <a:ext cx="5207000" cy="38100"/>
          </a:xfrm>
          <a:prstGeom prst="rect">
            <a:avLst/>
          </a:prstGeom>
          <a:solidFill>
            <a:srgbClr val="1D5C9E"/>
          </a:solidFill>
          <a:ln>
            <a:noFill/>
          </a:ln>
        </p:spPr>
        <p:txBody>
          <a:bodyPr/>
          <a:lstStyle/>
          <a:p>
            <a:endParaRPr lang="es-CL"/>
          </a:p>
        </p:txBody>
      </p:sp>
      <p:sp>
        <p:nvSpPr>
          <p:cNvPr id="1030" name="sh1030"/>
          <p:cNvSpPr/>
          <p:nvPr/>
        </p:nvSpPr>
        <p:spPr>
          <a:xfrm>
            <a:off x="762000" y="4521200"/>
            <a:ext cx="5207000" cy="1905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1D5C9E"/>
                </a:solidFill>
              </a:rPr>
              <a:t>AGRUPACIÓN POR SERIE</a:t>
            </a:r>
          </a:p>
        </p:txBody>
      </p:sp>
      <p:sp>
        <p:nvSpPr>
          <p:cNvPr id="1031" name="sh1031"/>
          <p:cNvSpPr/>
          <p:nvPr/>
        </p:nvSpPr>
        <p:spPr>
          <a:xfrm>
            <a:off x="762000" y="4800600"/>
            <a:ext cx="5207000" cy="9398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Las preguntas de una misma serie comparten contexto: el análisis considera la serie —y cuando corresponda, la decisión— como estructura de agrupación mediante bootstrap agrupado, modelos de efectos mixtos u otro procedimiento preespecificado compatible con el tamaño muestral.</a:t>
            </a:r>
          </a:p>
        </p:txBody>
      </p:sp>
      <p:sp>
        <p:nvSpPr>
          <p:cNvPr id="1032" name="sh1032"/>
          <p:cNvSpPr/>
          <p:nvPr/>
        </p:nvSpPr>
        <p:spPr>
          <a:xfrm>
            <a:off x="6223000" y="4368800"/>
            <a:ext cx="5207000" cy="38100"/>
          </a:xfrm>
          <a:prstGeom prst="rect">
            <a:avLst/>
          </a:prstGeom>
          <a:solidFill>
            <a:srgbClr val="0A6D82"/>
          </a:solidFill>
          <a:ln>
            <a:noFill/>
          </a:ln>
        </p:spPr>
        <p:txBody>
          <a:bodyPr/>
          <a:lstStyle/>
          <a:p>
            <a:endParaRPr lang="es-CL"/>
          </a:p>
        </p:txBody>
      </p:sp>
      <p:sp>
        <p:nvSpPr>
          <p:cNvPr id="1033" name="sh1033"/>
          <p:cNvSpPr/>
          <p:nvPr/>
        </p:nvSpPr>
        <p:spPr>
          <a:xfrm>
            <a:off x="6223000" y="4521200"/>
            <a:ext cx="5207000" cy="1905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0A6D82"/>
                </a:solidFill>
              </a:rPr>
              <a:t>REGLAS DE INTERPRETACIÓN</a:t>
            </a:r>
          </a:p>
        </p:txBody>
      </p:sp>
      <p:sp>
        <p:nvSpPr>
          <p:cNvPr id="1034" name="sh1034"/>
          <p:cNvSpPr/>
          <p:nvPr/>
        </p:nvSpPr>
        <p:spPr>
          <a:xfrm>
            <a:off x="6223000" y="4800600"/>
            <a:ext cx="5207000" cy="9398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Diferencia absoluta y relativa, intervalo de confianza y tamaño de efecto, con estratos por tipo de pregunta, reuniones necesarias, decisiones relacionadas, profundidad temporal, tamaño de evidencia y dificultad.</a:t>
            </a:r>
          </a:p>
          <a:p>
            <a:pPr algn="l">
              <a:lnSpc>
                <a:spcPct val="130000"/>
              </a:lnSpc>
              <a:buNone/>
            </a:pPr>
            <a:r>
              <a:rPr lang="es-CL" sz="1150" b="0" spc="0" dirty="0">
                <a:solidFill>
                  <a:srgbClr val="1E3A52"/>
                </a:solidFill>
              </a:rPr>
              <a:t>Incluye heterogeneidad y, si se estudian niveles de N, análisis de sensibilidad a la profundidad histórica.</a:t>
            </a:r>
          </a:p>
        </p:txBody>
      </p:sp>
      <p:sp>
        <p:nvSpPr>
          <p:cNvPr id="1035" name="sh1035"/>
          <p:cNvSpPr/>
          <p:nvPr/>
        </p:nvSpPr>
        <p:spPr>
          <a:xfrm>
            <a:off x="762000" y="5918200"/>
            <a:ext cx="38100" cy="381000"/>
          </a:xfrm>
          <a:prstGeom prst="rect">
            <a:avLst/>
          </a:prstGeom>
          <a:solidFill>
            <a:srgbClr val="2ED3E8"/>
          </a:solidFill>
          <a:ln>
            <a:noFill/>
          </a:ln>
        </p:spPr>
        <p:txBody>
          <a:bodyPr/>
          <a:lstStyle/>
          <a:p>
            <a:endParaRPr lang="es-CL"/>
          </a:p>
        </p:txBody>
      </p:sp>
      <p:sp>
        <p:nvSpPr>
          <p:cNvPr id="1036" name="sh1036"/>
          <p:cNvSpPr/>
          <p:nvPr/>
        </p:nvSpPr>
        <p:spPr>
          <a:xfrm>
            <a:off x="990600" y="5943600"/>
            <a:ext cx="10414000" cy="330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12406E"/>
                </a:solidFill>
              </a:rPr>
              <a:t>Experimento A se analiza por separado: el contraste principal de B es C2 − C1.</a:t>
            </a:r>
          </a:p>
        </p:txBody>
      </p:sp>
    </p:spTree>
    <p:extLst>
      <p:ext uri="{BB962C8B-B14F-4D97-AF65-F5344CB8AC3E}">
        <p14:creationId xmlns:p14="http://schemas.microsoft.com/office/powerpoint/2010/main" val="421146088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RAG COMO BASELINE, NO COMO ANTAGONISTA</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800" b="1" spc="0" dirty="0">
                <a:solidFill>
                  <a:srgbClr val="12406E"/>
                </a:solidFill>
              </a:rPr>
              <a:t>Ventajas diferentes según el tipo de consulta</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[ 27 ]</a:t>
            </a:r>
          </a:p>
        </p:txBody>
      </p:sp>
      <p:sp>
        <p:nvSpPr>
          <p:cNvPr id="1005" name="sh1005"/>
          <p:cNvSpPr/>
          <p:nvPr/>
        </p:nvSpPr>
        <p:spPr>
          <a:xfrm>
            <a:off x="4826000" y="1854200"/>
            <a:ext cx="2540000" cy="533400"/>
          </a:xfrm>
          <a:prstGeom prst="rect">
            <a:avLst/>
          </a:prstGeom>
          <a:solidFill>
            <a:srgbClr val="12406E"/>
          </a:solidFill>
          <a:ln>
            <a:noFill/>
          </a:ln>
        </p:spPr>
        <p:txBody>
          <a:bodyPr wrap="square" lIns="0" tIns="0" rIns="0" bIns="0" anchor="ctr">
            <a:noAutofit/>
          </a:bodyPr>
          <a:lstStyle/>
          <a:p>
            <a:pPr algn="ctr">
              <a:lnSpc>
                <a:spcPct val="100000"/>
              </a:lnSpc>
              <a:buNone/>
            </a:pPr>
            <a:r>
              <a:rPr lang="es-CL" sz="1250" b="1" spc="0" dirty="0">
                <a:solidFill>
                  <a:srgbClr val="FFFFFF"/>
                </a:solidFill>
              </a:rPr>
              <a:t>CONDICIÓN DE REFERENCIA</a:t>
            </a:r>
          </a:p>
        </p:txBody>
      </p:sp>
      <p:sp>
        <p:nvSpPr>
          <p:cNvPr id="1006" name="sh1006"/>
          <p:cNvSpPr/>
          <p:nvPr/>
        </p:nvSpPr>
        <p:spPr>
          <a:xfrm>
            <a:off x="6096000" y="2387600"/>
            <a:ext cx="0" cy="203200"/>
          </a:xfrm>
          <a:prstGeom prst="line">
            <a:avLst/>
          </a:prstGeom>
          <a:noFill/>
          <a:ln w="12700">
            <a:solidFill>
              <a:srgbClr val="9FB3C8"/>
            </a:solidFill>
          </a:ln>
        </p:spPr>
        <p:txBody>
          <a:bodyPr/>
          <a:lstStyle/>
          <a:p>
            <a:endParaRPr lang="es-CL"/>
          </a:p>
        </p:txBody>
      </p:sp>
      <p:sp>
        <p:nvSpPr>
          <p:cNvPr id="1007" name="sh1007"/>
          <p:cNvSpPr/>
          <p:nvPr/>
        </p:nvSpPr>
        <p:spPr>
          <a:xfrm>
            <a:off x="4826000" y="2616200"/>
            <a:ext cx="2540000" cy="177800"/>
          </a:xfrm>
          <a:prstGeom prst="rect">
            <a:avLst/>
          </a:prstGeom>
          <a:noFill/>
          <a:ln>
            <a:noFill/>
          </a:ln>
        </p:spPr>
        <p:txBody>
          <a:bodyPr wrap="square" lIns="0" tIns="0" rIns="0" bIns="0" anchor="ctr">
            <a:noAutofit/>
          </a:bodyPr>
          <a:lstStyle/>
          <a:p>
            <a:pPr algn="ctr">
              <a:lnSpc>
                <a:spcPct val="100000"/>
              </a:lnSpc>
              <a:buNone/>
            </a:pPr>
            <a:r>
              <a:rPr lang="es-CL" sz="1000" b="1" spc="100" dirty="0">
                <a:solidFill>
                  <a:srgbClr val="5A7290"/>
                </a:solidFill>
              </a:rPr>
              <a:t>el desempeño puede depender del tipo de consulta</a:t>
            </a:r>
          </a:p>
        </p:txBody>
      </p:sp>
      <p:sp>
        <p:nvSpPr>
          <p:cNvPr id="1008" name="sh1008"/>
          <p:cNvSpPr/>
          <p:nvPr/>
        </p:nvSpPr>
        <p:spPr>
          <a:xfrm>
            <a:off x="6096000" y="2794000"/>
            <a:ext cx="0" cy="127000"/>
          </a:xfrm>
          <a:prstGeom prst="line">
            <a:avLst/>
          </a:prstGeom>
          <a:noFill/>
          <a:ln w="12700">
            <a:solidFill>
              <a:srgbClr val="9FB3C8"/>
            </a:solidFill>
          </a:ln>
        </p:spPr>
        <p:txBody>
          <a:bodyPr/>
          <a:lstStyle/>
          <a:p>
            <a:endParaRPr lang="es-CL"/>
          </a:p>
        </p:txBody>
      </p:sp>
      <p:sp>
        <p:nvSpPr>
          <p:cNvPr id="1009" name="sh1009"/>
          <p:cNvSpPr/>
          <p:nvPr/>
        </p:nvSpPr>
        <p:spPr>
          <a:xfrm>
            <a:off x="1727200" y="2921000"/>
            <a:ext cx="8737600" cy="0"/>
          </a:xfrm>
          <a:prstGeom prst="line">
            <a:avLst/>
          </a:prstGeom>
          <a:noFill/>
          <a:ln w="12700">
            <a:solidFill>
              <a:srgbClr val="9FB3C8"/>
            </a:solidFill>
          </a:ln>
        </p:spPr>
        <p:txBody>
          <a:bodyPr/>
          <a:lstStyle/>
          <a:p>
            <a:endParaRPr lang="es-CL"/>
          </a:p>
        </p:txBody>
      </p:sp>
      <p:sp>
        <p:nvSpPr>
          <p:cNvPr id="1010" name="sh1010"/>
          <p:cNvSpPr/>
          <p:nvPr/>
        </p:nvSpPr>
        <p:spPr>
          <a:xfrm>
            <a:off x="1727200" y="2921000"/>
            <a:ext cx="0" cy="177800"/>
          </a:xfrm>
          <a:prstGeom prst="line">
            <a:avLst/>
          </a:prstGeom>
          <a:noFill/>
          <a:ln w="12700">
            <a:solidFill>
              <a:srgbClr val="9FB3C8"/>
            </a:solidFill>
            <a:tailEnd type="triangle" w="sm" len="sm"/>
          </a:ln>
        </p:spPr>
        <p:txBody>
          <a:bodyPr/>
          <a:lstStyle/>
          <a:p>
            <a:endParaRPr lang="es-CL"/>
          </a:p>
        </p:txBody>
      </p:sp>
      <p:sp>
        <p:nvSpPr>
          <p:cNvPr id="1011" name="sh1011"/>
          <p:cNvSpPr/>
          <p:nvPr/>
        </p:nvSpPr>
        <p:spPr>
          <a:xfrm>
            <a:off x="762000" y="3149600"/>
            <a:ext cx="1930400" cy="1295400"/>
          </a:xfrm>
          <a:prstGeom prst="rect">
            <a:avLst/>
          </a:prstGeom>
          <a:solidFill>
            <a:srgbClr val="F7FAFC"/>
          </a:solidFill>
          <a:ln w="19050">
            <a:solidFill>
              <a:srgbClr val="0A6D82"/>
            </a:solidFill>
          </a:ln>
        </p:spPr>
        <p:txBody>
          <a:bodyPr/>
          <a:lstStyle/>
          <a:p>
            <a:endParaRPr lang="es-CL"/>
          </a:p>
        </p:txBody>
      </p:sp>
      <p:sp>
        <p:nvSpPr>
          <p:cNvPr id="1012" name="sh1012"/>
          <p:cNvSpPr/>
          <p:nvPr/>
        </p:nvSpPr>
        <p:spPr>
          <a:xfrm>
            <a:off x="774700" y="3149600"/>
            <a:ext cx="1930400" cy="31750"/>
          </a:xfrm>
          <a:prstGeom prst="rect">
            <a:avLst/>
          </a:prstGeom>
          <a:solidFill>
            <a:srgbClr val="1D5C9E"/>
          </a:solidFill>
          <a:ln>
            <a:noFill/>
          </a:ln>
        </p:spPr>
        <p:txBody>
          <a:bodyPr/>
          <a:lstStyle/>
          <a:p>
            <a:endParaRPr lang="es-CL"/>
          </a:p>
        </p:txBody>
      </p:sp>
      <p:sp>
        <p:nvSpPr>
          <p:cNvPr id="1013" name="sh1013"/>
          <p:cNvSpPr/>
          <p:nvPr/>
        </p:nvSpPr>
        <p:spPr>
          <a:xfrm>
            <a:off x="889000" y="3276600"/>
            <a:ext cx="1676400" cy="381000"/>
          </a:xfrm>
          <a:prstGeom prst="rect">
            <a:avLst/>
          </a:prstGeom>
          <a:noFill/>
          <a:ln>
            <a:noFill/>
          </a:ln>
        </p:spPr>
        <p:txBody>
          <a:bodyPr wrap="square" lIns="0" tIns="0" rIns="0" bIns="0" anchor="t">
            <a:noAutofit/>
          </a:bodyPr>
          <a:lstStyle/>
          <a:p>
            <a:pPr algn="l">
              <a:lnSpc>
                <a:spcPct val="110000"/>
              </a:lnSpc>
              <a:buNone/>
            </a:pPr>
            <a:r>
              <a:rPr lang="es-CL" sz="1200" b="1" spc="0" dirty="0">
                <a:solidFill>
                  <a:srgbClr val="0A1524"/>
                </a:solidFill>
              </a:rPr>
              <a:t>LOCAL / FACTUAL</a:t>
            </a:r>
          </a:p>
        </p:txBody>
      </p:sp>
      <p:sp>
        <p:nvSpPr>
          <p:cNvPr id="1014" name="sh1014"/>
          <p:cNvSpPr/>
          <p:nvPr/>
        </p:nvSpPr>
        <p:spPr>
          <a:xfrm>
            <a:off x="889000" y="3683000"/>
            <a:ext cx="1676400" cy="508000"/>
          </a:xfrm>
          <a:prstGeom prst="rect">
            <a:avLst/>
          </a:prstGeom>
          <a:noFill/>
          <a:ln>
            <a:noFill/>
          </a:ln>
        </p:spPr>
        <p:txBody>
          <a:bodyPr wrap="square" lIns="0" tIns="0" rIns="0" bIns="0" anchor="t">
            <a:noAutofit/>
          </a:bodyPr>
          <a:lstStyle/>
          <a:p>
            <a:pPr algn="l">
              <a:lnSpc>
                <a:spcPct val="120000"/>
              </a:lnSpc>
              <a:buNone/>
            </a:pPr>
            <a:r>
              <a:rPr lang="es-CL" sz="1050" b="0" spc="0" dirty="0">
                <a:solidFill>
                  <a:srgbClr val="4A5F78"/>
                </a:solidFill>
              </a:rPr>
              <a:t>El retrieval documental puede ser favorable.</a:t>
            </a:r>
          </a:p>
        </p:txBody>
      </p:sp>
      <p:sp>
        <p:nvSpPr>
          <p:cNvPr id="1015" name="sh1015"/>
          <p:cNvSpPr/>
          <p:nvPr/>
        </p:nvSpPr>
        <p:spPr>
          <a:xfrm>
            <a:off x="889000" y="4191000"/>
            <a:ext cx="1676400" cy="177800"/>
          </a:xfrm>
          <a:prstGeom prst="rect">
            <a:avLst/>
          </a:prstGeom>
          <a:noFill/>
          <a:ln>
            <a:noFill/>
          </a:ln>
        </p:spPr>
        <p:txBody>
          <a:bodyPr wrap="square" lIns="0" tIns="0" rIns="0" bIns="0" anchor="ctr">
            <a:noAutofit/>
          </a:bodyPr>
          <a:lstStyle/>
          <a:p>
            <a:pPr algn="l">
              <a:lnSpc>
                <a:spcPct val="100000"/>
              </a:lnSpc>
              <a:buNone/>
            </a:pPr>
            <a:r>
              <a:rPr lang="es-CL" sz="950" b="1" spc="60" dirty="0">
                <a:solidFill>
                  <a:srgbClr val="1D5C9E"/>
                </a:solidFill>
              </a:rPr>
              <a:t>HIPÓTESIS</a:t>
            </a:r>
          </a:p>
        </p:txBody>
      </p:sp>
      <p:sp>
        <p:nvSpPr>
          <p:cNvPr id="1016" name="sh1016"/>
          <p:cNvSpPr/>
          <p:nvPr/>
        </p:nvSpPr>
        <p:spPr>
          <a:xfrm>
            <a:off x="3911600" y="2921000"/>
            <a:ext cx="0" cy="177800"/>
          </a:xfrm>
          <a:prstGeom prst="line">
            <a:avLst/>
          </a:prstGeom>
          <a:noFill/>
          <a:ln w="12700">
            <a:solidFill>
              <a:srgbClr val="9FB3C8"/>
            </a:solidFill>
            <a:tailEnd type="triangle" w="sm" len="sm"/>
          </a:ln>
        </p:spPr>
        <p:txBody>
          <a:bodyPr/>
          <a:lstStyle/>
          <a:p>
            <a:endParaRPr lang="es-CL"/>
          </a:p>
        </p:txBody>
      </p:sp>
      <p:sp>
        <p:nvSpPr>
          <p:cNvPr id="1017" name="sh1017"/>
          <p:cNvSpPr/>
          <p:nvPr/>
        </p:nvSpPr>
        <p:spPr>
          <a:xfrm>
            <a:off x="2946400" y="3149600"/>
            <a:ext cx="1930400" cy="1295400"/>
          </a:xfrm>
          <a:prstGeom prst="rect">
            <a:avLst/>
          </a:prstGeom>
          <a:solidFill>
            <a:srgbClr val="F7FAFC"/>
          </a:solidFill>
          <a:ln w="19050">
            <a:solidFill>
              <a:srgbClr val="0A6D82"/>
            </a:solidFill>
          </a:ln>
        </p:spPr>
        <p:txBody>
          <a:bodyPr/>
          <a:lstStyle/>
          <a:p>
            <a:endParaRPr lang="es-CL"/>
          </a:p>
        </p:txBody>
      </p:sp>
      <p:sp>
        <p:nvSpPr>
          <p:cNvPr id="1018" name="sh1018"/>
          <p:cNvSpPr/>
          <p:nvPr/>
        </p:nvSpPr>
        <p:spPr>
          <a:xfrm>
            <a:off x="2959100" y="3149600"/>
            <a:ext cx="1930400" cy="31750"/>
          </a:xfrm>
          <a:prstGeom prst="rect">
            <a:avLst/>
          </a:prstGeom>
          <a:solidFill>
            <a:srgbClr val="1D5C9E"/>
          </a:solidFill>
          <a:ln>
            <a:noFill/>
          </a:ln>
        </p:spPr>
        <p:txBody>
          <a:bodyPr/>
          <a:lstStyle/>
          <a:p>
            <a:endParaRPr lang="es-CL"/>
          </a:p>
        </p:txBody>
      </p:sp>
      <p:sp>
        <p:nvSpPr>
          <p:cNvPr id="1019" name="sh1019"/>
          <p:cNvSpPr/>
          <p:nvPr/>
        </p:nvSpPr>
        <p:spPr>
          <a:xfrm>
            <a:off x="3073400" y="3276600"/>
            <a:ext cx="1676400" cy="381000"/>
          </a:xfrm>
          <a:prstGeom prst="rect">
            <a:avLst/>
          </a:prstGeom>
          <a:noFill/>
          <a:ln>
            <a:noFill/>
          </a:ln>
        </p:spPr>
        <p:txBody>
          <a:bodyPr wrap="square" lIns="0" tIns="0" rIns="0" bIns="0" anchor="t">
            <a:noAutofit/>
          </a:bodyPr>
          <a:lstStyle/>
          <a:p>
            <a:pPr algn="l">
              <a:lnSpc>
                <a:spcPct val="110000"/>
              </a:lnSpc>
              <a:buNone/>
            </a:pPr>
            <a:r>
              <a:rPr lang="es-CL" sz="1200" b="1" spc="0" dirty="0">
                <a:solidFill>
                  <a:srgbClr val="0A1524"/>
                </a:solidFill>
              </a:rPr>
              <a:t>VIGENCIA</a:t>
            </a:r>
          </a:p>
        </p:txBody>
      </p:sp>
      <p:sp>
        <p:nvSpPr>
          <p:cNvPr id="1020" name="sh1020"/>
          <p:cNvSpPr/>
          <p:nvPr/>
        </p:nvSpPr>
        <p:spPr>
          <a:xfrm>
            <a:off x="3073400" y="3683000"/>
            <a:ext cx="1676400" cy="508000"/>
          </a:xfrm>
          <a:prstGeom prst="rect">
            <a:avLst/>
          </a:prstGeom>
          <a:noFill/>
          <a:ln>
            <a:noFill/>
          </a:ln>
        </p:spPr>
        <p:txBody>
          <a:bodyPr wrap="square" lIns="0" tIns="0" rIns="0" bIns="0" anchor="t">
            <a:noAutofit/>
          </a:bodyPr>
          <a:lstStyle/>
          <a:p>
            <a:pPr algn="l">
              <a:lnSpc>
                <a:spcPct val="120000"/>
              </a:lnSpc>
              <a:buNone/>
            </a:pPr>
            <a:r>
              <a:rPr lang="es-CL" sz="1050" b="0" spc="0" dirty="0">
                <a:solidFill>
                  <a:srgbClr val="4A5F78"/>
                </a:solidFill>
              </a:rPr>
              <a:t>La estructura temporal puede ser favorable.</a:t>
            </a:r>
          </a:p>
        </p:txBody>
      </p:sp>
      <p:sp>
        <p:nvSpPr>
          <p:cNvPr id="1021" name="sh1021"/>
          <p:cNvSpPr/>
          <p:nvPr/>
        </p:nvSpPr>
        <p:spPr>
          <a:xfrm>
            <a:off x="3073400" y="4191000"/>
            <a:ext cx="1676400" cy="177800"/>
          </a:xfrm>
          <a:prstGeom prst="rect">
            <a:avLst/>
          </a:prstGeom>
          <a:noFill/>
          <a:ln>
            <a:noFill/>
          </a:ln>
        </p:spPr>
        <p:txBody>
          <a:bodyPr wrap="square" lIns="0" tIns="0" rIns="0" bIns="0" anchor="ctr">
            <a:noAutofit/>
          </a:bodyPr>
          <a:lstStyle/>
          <a:p>
            <a:pPr algn="l">
              <a:lnSpc>
                <a:spcPct val="100000"/>
              </a:lnSpc>
              <a:buNone/>
            </a:pPr>
            <a:r>
              <a:rPr lang="es-CL" sz="950" b="1" spc="60" dirty="0">
                <a:solidFill>
                  <a:srgbClr val="1D5C9E"/>
                </a:solidFill>
              </a:rPr>
              <a:t>HIPÓTESIS</a:t>
            </a:r>
          </a:p>
        </p:txBody>
      </p:sp>
      <p:sp>
        <p:nvSpPr>
          <p:cNvPr id="1022" name="sh1022"/>
          <p:cNvSpPr/>
          <p:nvPr/>
        </p:nvSpPr>
        <p:spPr>
          <a:xfrm>
            <a:off x="6096000" y="2921000"/>
            <a:ext cx="0" cy="177800"/>
          </a:xfrm>
          <a:prstGeom prst="line">
            <a:avLst/>
          </a:prstGeom>
          <a:noFill/>
          <a:ln w="12700">
            <a:solidFill>
              <a:srgbClr val="9FB3C8"/>
            </a:solidFill>
            <a:tailEnd type="triangle" w="sm" len="sm"/>
          </a:ln>
        </p:spPr>
        <p:txBody>
          <a:bodyPr/>
          <a:lstStyle/>
          <a:p>
            <a:endParaRPr lang="es-CL"/>
          </a:p>
        </p:txBody>
      </p:sp>
      <p:sp>
        <p:nvSpPr>
          <p:cNvPr id="1023" name="sh1023"/>
          <p:cNvSpPr/>
          <p:nvPr/>
        </p:nvSpPr>
        <p:spPr>
          <a:xfrm>
            <a:off x="5130800" y="3149600"/>
            <a:ext cx="1930400" cy="1295400"/>
          </a:xfrm>
          <a:prstGeom prst="rect">
            <a:avLst/>
          </a:prstGeom>
          <a:solidFill>
            <a:srgbClr val="F7FAFC"/>
          </a:solidFill>
          <a:ln w="12700">
            <a:solidFill>
              <a:srgbClr val="C6D4E2"/>
            </a:solidFill>
          </a:ln>
        </p:spPr>
        <p:txBody>
          <a:bodyPr/>
          <a:lstStyle/>
          <a:p>
            <a:endParaRPr lang="es-CL"/>
          </a:p>
        </p:txBody>
      </p:sp>
      <p:sp>
        <p:nvSpPr>
          <p:cNvPr id="1024" name="sh1024"/>
          <p:cNvSpPr/>
          <p:nvPr/>
        </p:nvSpPr>
        <p:spPr>
          <a:xfrm>
            <a:off x="5143500" y="3149600"/>
            <a:ext cx="1930400" cy="31750"/>
          </a:xfrm>
          <a:prstGeom prst="rect">
            <a:avLst/>
          </a:prstGeom>
          <a:solidFill>
            <a:srgbClr val="12406E"/>
          </a:solidFill>
          <a:ln>
            <a:noFill/>
          </a:ln>
        </p:spPr>
        <p:txBody>
          <a:bodyPr/>
          <a:lstStyle/>
          <a:p>
            <a:endParaRPr lang="es-CL"/>
          </a:p>
        </p:txBody>
      </p:sp>
      <p:sp>
        <p:nvSpPr>
          <p:cNvPr id="1025" name="sh1025"/>
          <p:cNvSpPr/>
          <p:nvPr/>
        </p:nvSpPr>
        <p:spPr>
          <a:xfrm>
            <a:off x="5257800" y="3276600"/>
            <a:ext cx="1676400" cy="381000"/>
          </a:xfrm>
          <a:prstGeom prst="rect">
            <a:avLst/>
          </a:prstGeom>
          <a:noFill/>
          <a:ln>
            <a:noFill/>
          </a:ln>
        </p:spPr>
        <p:txBody>
          <a:bodyPr wrap="square" lIns="0" tIns="0" rIns="0" bIns="0" anchor="t">
            <a:noAutofit/>
          </a:bodyPr>
          <a:lstStyle/>
          <a:p>
            <a:pPr algn="l">
              <a:lnSpc>
                <a:spcPct val="110000"/>
              </a:lnSpc>
              <a:buNone/>
            </a:pPr>
            <a:r>
              <a:rPr lang="es-CL" sz="1200" b="1" spc="0" dirty="0">
                <a:solidFill>
                  <a:srgbClr val="0A1524"/>
                </a:solidFill>
              </a:rPr>
              <a:t>LONGITUDINAL</a:t>
            </a:r>
          </a:p>
        </p:txBody>
      </p:sp>
      <p:sp>
        <p:nvSpPr>
          <p:cNvPr id="1026" name="sh1026"/>
          <p:cNvSpPr/>
          <p:nvPr/>
        </p:nvSpPr>
        <p:spPr>
          <a:xfrm>
            <a:off x="5257800" y="3683000"/>
            <a:ext cx="1676400" cy="508000"/>
          </a:xfrm>
          <a:prstGeom prst="rect">
            <a:avLst/>
          </a:prstGeom>
          <a:noFill/>
          <a:ln>
            <a:noFill/>
          </a:ln>
        </p:spPr>
        <p:txBody>
          <a:bodyPr wrap="square" lIns="0" tIns="0" rIns="0" bIns="0" anchor="t">
            <a:noAutofit/>
          </a:bodyPr>
          <a:lstStyle/>
          <a:p>
            <a:pPr algn="l">
              <a:lnSpc>
                <a:spcPct val="120000"/>
              </a:lnSpc>
              <a:buNone/>
            </a:pPr>
            <a:r>
              <a:rPr lang="es-CL" sz="1050" b="0" spc="0" dirty="0">
                <a:solidFill>
                  <a:srgbClr val="4A5F78"/>
                </a:solidFill>
              </a:rPr>
              <a:t>Las relaciones estructuradas pueden ser favorables.</a:t>
            </a:r>
          </a:p>
        </p:txBody>
      </p:sp>
      <p:sp>
        <p:nvSpPr>
          <p:cNvPr id="1027" name="sh1027"/>
          <p:cNvSpPr/>
          <p:nvPr/>
        </p:nvSpPr>
        <p:spPr>
          <a:xfrm>
            <a:off x="5257800" y="4191000"/>
            <a:ext cx="1676400" cy="177800"/>
          </a:xfrm>
          <a:prstGeom prst="rect">
            <a:avLst/>
          </a:prstGeom>
          <a:noFill/>
          <a:ln>
            <a:noFill/>
          </a:ln>
        </p:spPr>
        <p:txBody>
          <a:bodyPr wrap="square" lIns="0" tIns="0" rIns="0" bIns="0" anchor="ctr">
            <a:noAutofit/>
          </a:bodyPr>
          <a:lstStyle/>
          <a:p>
            <a:pPr algn="l">
              <a:lnSpc>
                <a:spcPct val="100000"/>
              </a:lnSpc>
              <a:buNone/>
            </a:pPr>
            <a:r>
              <a:rPr lang="es-CL" sz="950" b="1" spc="60" dirty="0">
                <a:solidFill>
                  <a:srgbClr val="12406E"/>
                </a:solidFill>
              </a:rPr>
              <a:t>HIPÓTESIS</a:t>
            </a:r>
          </a:p>
        </p:txBody>
      </p:sp>
      <p:sp>
        <p:nvSpPr>
          <p:cNvPr id="1028" name="sh1028"/>
          <p:cNvSpPr/>
          <p:nvPr/>
        </p:nvSpPr>
        <p:spPr>
          <a:xfrm>
            <a:off x="8280400" y="2921000"/>
            <a:ext cx="0" cy="177800"/>
          </a:xfrm>
          <a:prstGeom prst="line">
            <a:avLst/>
          </a:prstGeom>
          <a:noFill/>
          <a:ln w="12700">
            <a:solidFill>
              <a:srgbClr val="9FB3C8"/>
            </a:solidFill>
            <a:tailEnd type="triangle" w="sm" len="sm"/>
          </a:ln>
        </p:spPr>
        <p:txBody>
          <a:bodyPr/>
          <a:lstStyle/>
          <a:p>
            <a:endParaRPr lang="es-CL"/>
          </a:p>
        </p:txBody>
      </p:sp>
      <p:sp>
        <p:nvSpPr>
          <p:cNvPr id="1029" name="sh1029"/>
          <p:cNvSpPr/>
          <p:nvPr/>
        </p:nvSpPr>
        <p:spPr>
          <a:xfrm>
            <a:off x="7315200" y="3149600"/>
            <a:ext cx="1930400" cy="1295400"/>
          </a:xfrm>
          <a:prstGeom prst="rect">
            <a:avLst/>
          </a:prstGeom>
          <a:solidFill>
            <a:srgbClr val="F7FAFC"/>
          </a:solidFill>
          <a:ln w="12700">
            <a:solidFill>
              <a:srgbClr val="C6D4E2"/>
            </a:solidFill>
          </a:ln>
        </p:spPr>
        <p:txBody>
          <a:bodyPr/>
          <a:lstStyle/>
          <a:p>
            <a:endParaRPr lang="es-CL"/>
          </a:p>
        </p:txBody>
      </p:sp>
      <p:sp>
        <p:nvSpPr>
          <p:cNvPr id="1030" name="sh1030"/>
          <p:cNvSpPr/>
          <p:nvPr/>
        </p:nvSpPr>
        <p:spPr>
          <a:xfrm>
            <a:off x="7327900" y="3149600"/>
            <a:ext cx="1930400" cy="31750"/>
          </a:xfrm>
          <a:prstGeom prst="rect">
            <a:avLst/>
          </a:prstGeom>
          <a:solidFill>
            <a:srgbClr val="12406E"/>
          </a:solidFill>
          <a:ln>
            <a:noFill/>
          </a:ln>
        </p:spPr>
        <p:txBody>
          <a:bodyPr/>
          <a:lstStyle/>
          <a:p>
            <a:endParaRPr lang="es-CL"/>
          </a:p>
        </p:txBody>
      </p:sp>
      <p:sp>
        <p:nvSpPr>
          <p:cNvPr id="1031" name="sh1031"/>
          <p:cNvSpPr/>
          <p:nvPr/>
        </p:nvSpPr>
        <p:spPr>
          <a:xfrm>
            <a:off x="7442200" y="3276600"/>
            <a:ext cx="1676400" cy="381000"/>
          </a:xfrm>
          <a:prstGeom prst="rect">
            <a:avLst/>
          </a:prstGeom>
          <a:noFill/>
          <a:ln>
            <a:noFill/>
          </a:ln>
        </p:spPr>
        <p:txBody>
          <a:bodyPr wrap="square" lIns="0" tIns="0" rIns="0" bIns="0" anchor="t">
            <a:noAutofit/>
          </a:bodyPr>
          <a:lstStyle/>
          <a:p>
            <a:pPr algn="l">
              <a:lnSpc>
                <a:spcPct val="110000"/>
              </a:lnSpc>
              <a:buNone/>
            </a:pPr>
            <a:r>
              <a:rPr lang="es-CL" sz="1200" b="1" spc="0" dirty="0">
                <a:solidFill>
                  <a:srgbClr val="0A1524"/>
                </a:solidFill>
              </a:rPr>
              <a:t>AGREGADA</a:t>
            </a:r>
          </a:p>
        </p:txBody>
      </p:sp>
      <p:sp>
        <p:nvSpPr>
          <p:cNvPr id="1032" name="sh1032"/>
          <p:cNvSpPr/>
          <p:nvPr/>
        </p:nvSpPr>
        <p:spPr>
          <a:xfrm>
            <a:off x="7442200" y="3683000"/>
            <a:ext cx="1676400" cy="508000"/>
          </a:xfrm>
          <a:prstGeom prst="rect">
            <a:avLst/>
          </a:prstGeom>
          <a:noFill/>
          <a:ln>
            <a:noFill/>
          </a:ln>
        </p:spPr>
        <p:txBody>
          <a:bodyPr wrap="square" lIns="0" tIns="0" rIns="0" bIns="0" anchor="t">
            <a:noAutofit/>
          </a:bodyPr>
          <a:lstStyle/>
          <a:p>
            <a:pPr algn="l">
              <a:lnSpc>
                <a:spcPct val="120000"/>
              </a:lnSpc>
              <a:buNone/>
            </a:pPr>
            <a:r>
              <a:rPr lang="es-CL" sz="1050" b="0" spc="0" dirty="0">
                <a:solidFill>
                  <a:srgbClr val="4A5F78"/>
                </a:solidFill>
              </a:rPr>
              <a:t>Los objetos estructurados pueden ser favorables.</a:t>
            </a:r>
          </a:p>
        </p:txBody>
      </p:sp>
      <p:sp>
        <p:nvSpPr>
          <p:cNvPr id="1033" name="sh1033"/>
          <p:cNvSpPr/>
          <p:nvPr/>
        </p:nvSpPr>
        <p:spPr>
          <a:xfrm>
            <a:off x="7442200" y="4191000"/>
            <a:ext cx="1676400" cy="177800"/>
          </a:xfrm>
          <a:prstGeom prst="rect">
            <a:avLst/>
          </a:prstGeom>
          <a:noFill/>
          <a:ln>
            <a:noFill/>
          </a:ln>
        </p:spPr>
        <p:txBody>
          <a:bodyPr wrap="square" lIns="0" tIns="0" rIns="0" bIns="0" anchor="ctr">
            <a:noAutofit/>
          </a:bodyPr>
          <a:lstStyle/>
          <a:p>
            <a:pPr algn="l">
              <a:lnSpc>
                <a:spcPct val="100000"/>
              </a:lnSpc>
              <a:buNone/>
            </a:pPr>
            <a:r>
              <a:rPr lang="es-CL" sz="950" b="1" spc="60" dirty="0">
                <a:solidFill>
                  <a:srgbClr val="12406E"/>
                </a:solidFill>
              </a:rPr>
              <a:t>HIPÓTESIS</a:t>
            </a:r>
          </a:p>
        </p:txBody>
      </p:sp>
      <p:sp>
        <p:nvSpPr>
          <p:cNvPr id="1034" name="sh1034"/>
          <p:cNvSpPr/>
          <p:nvPr/>
        </p:nvSpPr>
        <p:spPr>
          <a:xfrm>
            <a:off x="10464800" y="2921000"/>
            <a:ext cx="0" cy="177800"/>
          </a:xfrm>
          <a:prstGeom prst="line">
            <a:avLst/>
          </a:prstGeom>
          <a:noFill/>
          <a:ln w="12700">
            <a:solidFill>
              <a:srgbClr val="9FB3C8"/>
            </a:solidFill>
            <a:tailEnd type="triangle" w="sm" len="sm"/>
          </a:ln>
        </p:spPr>
        <p:txBody>
          <a:bodyPr/>
          <a:lstStyle/>
          <a:p>
            <a:endParaRPr lang="es-CL"/>
          </a:p>
        </p:txBody>
      </p:sp>
      <p:sp>
        <p:nvSpPr>
          <p:cNvPr id="1035" name="sh1035"/>
          <p:cNvSpPr/>
          <p:nvPr/>
        </p:nvSpPr>
        <p:spPr>
          <a:xfrm>
            <a:off x="9499600" y="3149600"/>
            <a:ext cx="1930400" cy="1295400"/>
          </a:xfrm>
          <a:prstGeom prst="rect">
            <a:avLst/>
          </a:prstGeom>
          <a:solidFill>
            <a:srgbClr val="F7FAFC"/>
          </a:solidFill>
          <a:ln w="12700">
            <a:solidFill>
              <a:srgbClr val="C6D4E2"/>
            </a:solidFill>
          </a:ln>
        </p:spPr>
        <p:txBody>
          <a:bodyPr/>
          <a:lstStyle/>
          <a:p>
            <a:endParaRPr lang="es-CL"/>
          </a:p>
        </p:txBody>
      </p:sp>
      <p:sp>
        <p:nvSpPr>
          <p:cNvPr id="1036" name="sh1036"/>
          <p:cNvSpPr/>
          <p:nvPr/>
        </p:nvSpPr>
        <p:spPr>
          <a:xfrm>
            <a:off x="9512300" y="3149600"/>
            <a:ext cx="1930400" cy="31750"/>
          </a:xfrm>
          <a:prstGeom prst="rect">
            <a:avLst/>
          </a:prstGeom>
          <a:solidFill>
            <a:srgbClr val="12406E"/>
          </a:solidFill>
          <a:ln>
            <a:noFill/>
          </a:ln>
        </p:spPr>
        <p:txBody>
          <a:bodyPr/>
          <a:lstStyle/>
          <a:p>
            <a:endParaRPr lang="es-CL"/>
          </a:p>
        </p:txBody>
      </p:sp>
      <p:sp>
        <p:nvSpPr>
          <p:cNvPr id="1037" name="sh1037"/>
          <p:cNvSpPr/>
          <p:nvPr/>
        </p:nvSpPr>
        <p:spPr>
          <a:xfrm>
            <a:off x="9626600" y="3276600"/>
            <a:ext cx="1676400" cy="381000"/>
          </a:xfrm>
          <a:prstGeom prst="rect">
            <a:avLst/>
          </a:prstGeom>
          <a:noFill/>
          <a:ln>
            <a:noFill/>
          </a:ln>
        </p:spPr>
        <p:txBody>
          <a:bodyPr wrap="square" lIns="0" tIns="0" rIns="0" bIns="0" anchor="t">
            <a:noAutofit/>
          </a:bodyPr>
          <a:lstStyle/>
          <a:p>
            <a:pPr algn="l">
              <a:lnSpc>
                <a:spcPct val="110000"/>
              </a:lnSpc>
              <a:buNone/>
            </a:pPr>
            <a:r>
              <a:rPr lang="es-CL" sz="1200" b="1" spc="0" dirty="0">
                <a:solidFill>
                  <a:srgbClr val="0A1524"/>
                </a:solidFill>
              </a:rPr>
              <a:t>MATIZ TEXTUAL</a:t>
            </a:r>
          </a:p>
        </p:txBody>
      </p:sp>
      <p:sp>
        <p:nvSpPr>
          <p:cNvPr id="1038" name="sh1038"/>
          <p:cNvSpPr/>
          <p:nvPr/>
        </p:nvSpPr>
        <p:spPr>
          <a:xfrm>
            <a:off x="9626600" y="3683000"/>
            <a:ext cx="1676400" cy="508000"/>
          </a:xfrm>
          <a:prstGeom prst="rect">
            <a:avLst/>
          </a:prstGeom>
          <a:noFill/>
          <a:ln>
            <a:noFill/>
          </a:ln>
        </p:spPr>
        <p:txBody>
          <a:bodyPr wrap="square" lIns="0" tIns="0" rIns="0" bIns="0" anchor="t">
            <a:noAutofit/>
          </a:bodyPr>
          <a:lstStyle/>
          <a:p>
            <a:pPr algn="l">
              <a:lnSpc>
                <a:spcPct val="120000"/>
              </a:lnSpc>
              <a:buNone/>
            </a:pPr>
            <a:r>
              <a:rPr lang="es-CL" sz="1050" b="0" spc="0" dirty="0">
                <a:solidFill>
                  <a:srgbClr val="4A5F78"/>
                </a:solidFill>
              </a:rPr>
              <a:t>El documento original puede ser favorable.</a:t>
            </a:r>
          </a:p>
        </p:txBody>
      </p:sp>
      <p:sp>
        <p:nvSpPr>
          <p:cNvPr id="1039" name="sh1039"/>
          <p:cNvSpPr/>
          <p:nvPr/>
        </p:nvSpPr>
        <p:spPr>
          <a:xfrm>
            <a:off x="9626600" y="4191000"/>
            <a:ext cx="1676400" cy="177800"/>
          </a:xfrm>
          <a:prstGeom prst="rect">
            <a:avLst/>
          </a:prstGeom>
          <a:noFill/>
          <a:ln>
            <a:noFill/>
          </a:ln>
        </p:spPr>
        <p:txBody>
          <a:bodyPr wrap="square" lIns="0" tIns="0" rIns="0" bIns="0" anchor="ctr">
            <a:noAutofit/>
          </a:bodyPr>
          <a:lstStyle/>
          <a:p>
            <a:pPr algn="l">
              <a:lnSpc>
                <a:spcPct val="100000"/>
              </a:lnSpc>
              <a:buNone/>
            </a:pPr>
            <a:r>
              <a:rPr lang="es-CL" sz="950" b="1" spc="60" dirty="0">
                <a:solidFill>
                  <a:srgbClr val="12406E"/>
                </a:solidFill>
              </a:rPr>
              <a:t>HIPÓTESIS</a:t>
            </a:r>
          </a:p>
        </p:txBody>
      </p:sp>
      <p:sp>
        <p:nvSpPr>
          <p:cNvPr id="1040" name="sh1040"/>
          <p:cNvSpPr/>
          <p:nvPr/>
        </p:nvSpPr>
        <p:spPr>
          <a:xfrm>
            <a:off x="762000" y="4724400"/>
            <a:ext cx="5207000" cy="38100"/>
          </a:xfrm>
          <a:prstGeom prst="rect">
            <a:avLst/>
          </a:prstGeom>
          <a:solidFill>
            <a:srgbClr val="1D5C9E"/>
          </a:solidFill>
          <a:ln>
            <a:noFill/>
          </a:ln>
        </p:spPr>
        <p:txBody>
          <a:bodyPr/>
          <a:lstStyle/>
          <a:p>
            <a:endParaRPr lang="es-CL"/>
          </a:p>
        </p:txBody>
      </p:sp>
      <p:sp>
        <p:nvSpPr>
          <p:cNvPr id="1041" name="sh1041"/>
          <p:cNvSpPr/>
          <p:nvPr/>
        </p:nvSpPr>
        <p:spPr>
          <a:xfrm>
            <a:off x="762000" y="4876800"/>
            <a:ext cx="5207000" cy="1905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1D5C9E"/>
                </a:solidFill>
              </a:rPr>
              <a:t>QUÉ NO SE PLANTEA</a:t>
            </a:r>
          </a:p>
        </p:txBody>
      </p:sp>
      <p:sp>
        <p:nvSpPr>
          <p:cNvPr id="1042" name="sh1042"/>
          <p:cNvSpPr/>
          <p:nvPr/>
        </p:nvSpPr>
        <p:spPr>
          <a:xfrm>
            <a:off x="762000" y="5130800"/>
            <a:ext cx="5207000" cy="7112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No se plantea que la estructura sea superior a RAG: ambas representaciones pueden presentar ventajas diferentes según el tipo de consulta.</a:t>
            </a:r>
          </a:p>
        </p:txBody>
      </p:sp>
      <p:sp>
        <p:nvSpPr>
          <p:cNvPr id="1043" name="sh1043"/>
          <p:cNvSpPr/>
          <p:nvPr/>
        </p:nvSpPr>
        <p:spPr>
          <a:xfrm>
            <a:off x="6223000" y="4724400"/>
            <a:ext cx="5207000" cy="38100"/>
          </a:xfrm>
          <a:prstGeom prst="rect">
            <a:avLst/>
          </a:prstGeom>
          <a:solidFill>
            <a:srgbClr val="5A7290"/>
          </a:solidFill>
          <a:ln>
            <a:noFill/>
          </a:ln>
        </p:spPr>
        <p:txBody>
          <a:bodyPr/>
          <a:lstStyle/>
          <a:p>
            <a:endParaRPr lang="es-CL"/>
          </a:p>
        </p:txBody>
      </p:sp>
      <p:sp>
        <p:nvSpPr>
          <p:cNvPr id="1044" name="sh1044"/>
          <p:cNvSpPr/>
          <p:nvPr/>
        </p:nvSpPr>
        <p:spPr>
          <a:xfrm>
            <a:off x="6223000" y="4876800"/>
            <a:ext cx="5207000" cy="190500"/>
          </a:xfrm>
          <a:prstGeom prst="rect">
            <a:avLst/>
          </a:prstGeom>
          <a:noFill/>
          <a:ln>
            <a:noFill/>
          </a:ln>
        </p:spPr>
        <p:txBody>
          <a:bodyPr wrap="square" lIns="0" tIns="0" rIns="0" bIns="0" anchor="ctr">
            <a:noAutofit/>
          </a:bodyPr>
          <a:lstStyle/>
          <a:p>
            <a:pPr algn="l">
              <a:lnSpc>
                <a:spcPct val="100000"/>
              </a:lnSpc>
              <a:buNone/>
            </a:pPr>
            <a:r>
              <a:rPr lang="es-CL" sz="1100" b="1" spc="60" dirty="0">
                <a:solidFill>
                  <a:srgbClr val="5A7290"/>
                </a:solidFill>
              </a:rPr>
              <a:t>QUÉ PODRÍA APORTAR</a:t>
            </a:r>
          </a:p>
        </p:txBody>
      </p:sp>
      <p:sp>
        <p:nvSpPr>
          <p:cNvPr id="1045" name="sh1045"/>
          <p:cNvSpPr/>
          <p:nvPr/>
        </p:nvSpPr>
        <p:spPr>
          <a:xfrm>
            <a:off x="6223000" y="5130800"/>
            <a:ext cx="5207000" cy="7112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Un resultado dependiente de la tarea puede identificar condiciones de frontera y orientar una solución híbrida.</a:t>
            </a:r>
          </a:p>
        </p:txBody>
      </p:sp>
      <p:sp>
        <p:nvSpPr>
          <p:cNvPr id="1046" name="sh1046"/>
          <p:cNvSpPr/>
          <p:nvPr/>
        </p:nvSpPr>
        <p:spPr>
          <a:xfrm>
            <a:off x="762000" y="5969000"/>
            <a:ext cx="38100" cy="381000"/>
          </a:xfrm>
          <a:prstGeom prst="rect">
            <a:avLst/>
          </a:prstGeom>
          <a:solidFill>
            <a:srgbClr val="2ED3E8"/>
          </a:solidFill>
          <a:ln>
            <a:noFill/>
          </a:ln>
        </p:spPr>
        <p:txBody>
          <a:bodyPr/>
          <a:lstStyle/>
          <a:p>
            <a:endParaRPr lang="es-CL"/>
          </a:p>
        </p:txBody>
      </p:sp>
      <p:sp>
        <p:nvSpPr>
          <p:cNvPr id="1047" name="sh1047"/>
          <p:cNvSpPr/>
          <p:nvPr/>
        </p:nvSpPr>
        <p:spPr>
          <a:xfrm>
            <a:off x="990600" y="5994400"/>
            <a:ext cx="10414000" cy="3302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12406E"/>
                </a:solidFill>
              </a:rPr>
              <a:t>RAG es la condición de referencia, no un antagonista que deba perder.</a:t>
            </a:r>
          </a:p>
        </p:txBody>
      </p:sp>
    </p:spTree>
    <p:extLst>
      <p:ext uri="{BB962C8B-B14F-4D97-AF65-F5344CB8AC3E}">
        <p14:creationId xmlns:p14="http://schemas.microsoft.com/office/powerpoint/2010/main" val="1545638062"/>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QUÉ QUEDA RESPONDIDO Y QUÉ DEBE CERRARSE EMPÍRICAMENTE</a:t>
            </a:r>
          </a:p>
        </p:txBody>
      </p:sp>
      <p:sp>
        <p:nvSpPr>
          <p:cNvPr id="1002" name="sh1002"/>
          <p:cNvSpPr/>
          <p:nvPr/>
        </p:nvSpPr>
        <p:spPr>
          <a:xfrm>
            <a:off x="762000" y="838200"/>
            <a:ext cx="10414000" cy="685800"/>
          </a:xfrm>
          <a:prstGeom prst="rect">
            <a:avLst/>
          </a:prstGeom>
          <a:noFill/>
          <a:ln>
            <a:noFill/>
          </a:ln>
        </p:spPr>
        <p:txBody>
          <a:bodyPr wrap="square" lIns="0" tIns="0" rIns="0" bIns="0" anchor="t">
            <a:noAutofit/>
          </a:bodyPr>
          <a:lstStyle/>
          <a:p>
            <a:pPr algn="l">
              <a:lnSpc>
                <a:spcPct val="100000"/>
              </a:lnSpc>
              <a:buNone/>
            </a:pPr>
            <a:r>
              <a:rPr lang="es-CL" sz="2400" b="1" spc="0" dirty="0">
                <a:solidFill>
                  <a:srgbClr val="12406E"/>
                </a:solidFill>
              </a:rPr>
              <a:t>El diseño operacionaliza el feedback; hay parámetros abiertos</a:t>
            </a:r>
          </a:p>
        </p:txBody>
      </p:sp>
      <p:sp>
        <p:nvSpPr>
          <p:cNvPr id="1003" name="sh1003"/>
          <p:cNvSpPr/>
          <p:nvPr/>
        </p:nvSpPr>
        <p:spPr>
          <a:xfrm>
            <a:off x="762000" y="17018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[ 28 ]</a:t>
            </a:r>
          </a:p>
        </p:txBody>
      </p:sp>
      <p:sp>
        <p:nvSpPr>
          <p:cNvPr id="1005" name="sh1005"/>
          <p:cNvSpPr/>
          <p:nvPr/>
        </p:nvSpPr>
        <p:spPr>
          <a:xfrm>
            <a:off x="762000" y="1905000"/>
            <a:ext cx="10668000" cy="9525"/>
          </a:xfrm>
          <a:prstGeom prst="rect">
            <a:avLst/>
          </a:prstGeom>
          <a:solidFill>
            <a:srgbClr val="12406E"/>
          </a:solidFill>
          <a:ln>
            <a:noFill/>
          </a:ln>
        </p:spPr>
        <p:txBody>
          <a:bodyPr/>
          <a:lstStyle/>
          <a:p>
            <a:endParaRPr lang="es-CL"/>
          </a:p>
        </p:txBody>
      </p:sp>
      <p:sp>
        <p:nvSpPr>
          <p:cNvPr id="1006" name="sh1006"/>
          <p:cNvSpPr/>
          <p:nvPr/>
        </p:nvSpPr>
        <p:spPr>
          <a:xfrm>
            <a:off x="762000" y="2006600"/>
            <a:ext cx="1778000" cy="177800"/>
          </a:xfrm>
          <a:prstGeom prst="rect">
            <a:avLst/>
          </a:prstGeom>
          <a:noFill/>
          <a:ln>
            <a:noFill/>
          </a:ln>
        </p:spPr>
        <p:txBody>
          <a:bodyPr wrap="square" lIns="0" tIns="0" rIns="0" bIns="0" anchor="ctr">
            <a:noAutofit/>
          </a:bodyPr>
          <a:lstStyle/>
          <a:p>
            <a:pPr algn="l">
              <a:lnSpc>
                <a:spcPct val="100000"/>
              </a:lnSpc>
              <a:buNone/>
            </a:pPr>
            <a:r>
              <a:rPr lang="es-CL" sz="1000" b="1" spc="120" dirty="0">
                <a:solidFill>
                  <a:srgbClr val="5A7290"/>
                </a:solidFill>
              </a:rPr>
              <a:t>ASPECTO</a:t>
            </a:r>
          </a:p>
        </p:txBody>
      </p:sp>
      <p:sp>
        <p:nvSpPr>
          <p:cNvPr id="1007" name="sh1007"/>
          <p:cNvSpPr/>
          <p:nvPr/>
        </p:nvSpPr>
        <p:spPr>
          <a:xfrm>
            <a:off x="2717800" y="2006600"/>
            <a:ext cx="4191000" cy="177800"/>
          </a:xfrm>
          <a:prstGeom prst="rect">
            <a:avLst/>
          </a:prstGeom>
          <a:noFill/>
          <a:ln>
            <a:noFill/>
          </a:ln>
        </p:spPr>
        <p:txBody>
          <a:bodyPr wrap="square" lIns="0" tIns="0" rIns="0" bIns="0" anchor="ctr">
            <a:noAutofit/>
          </a:bodyPr>
          <a:lstStyle/>
          <a:p>
            <a:pPr algn="l">
              <a:lnSpc>
                <a:spcPct val="100000"/>
              </a:lnSpc>
              <a:buNone/>
            </a:pPr>
            <a:r>
              <a:rPr lang="es-CL" sz="1000" b="1" spc="120" dirty="0">
                <a:solidFill>
                  <a:srgbClr val="5A7290"/>
                </a:solidFill>
              </a:rPr>
              <a:t>OPERACIONALIZADO</a:t>
            </a:r>
          </a:p>
        </p:txBody>
      </p:sp>
      <p:sp>
        <p:nvSpPr>
          <p:cNvPr id="1008" name="sh1008"/>
          <p:cNvSpPr/>
          <p:nvPr/>
        </p:nvSpPr>
        <p:spPr>
          <a:xfrm>
            <a:off x="7112000" y="2006600"/>
            <a:ext cx="4318000" cy="177800"/>
          </a:xfrm>
          <a:prstGeom prst="rect">
            <a:avLst/>
          </a:prstGeom>
          <a:noFill/>
          <a:ln>
            <a:noFill/>
          </a:ln>
        </p:spPr>
        <p:txBody>
          <a:bodyPr wrap="square" lIns="0" tIns="0" rIns="0" bIns="0" anchor="ctr">
            <a:noAutofit/>
          </a:bodyPr>
          <a:lstStyle/>
          <a:p>
            <a:pPr algn="l">
              <a:lnSpc>
                <a:spcPct val="100000"/>
              </a:lnSpc>
              <a:buNone/>
            </a:pPr>
            <a:r>
              <a:rPr lang="es-CL" sz="1000" b="1" spc="120" dirty="0">
                <a:solidFill>
                  <a:srgbClr val="5A7290"/>
                </a:solidFill>
              </a:rPr>
              <a:t>SE DETERMINA EMPÍRICAMENTE</a:t>
            </a:r>
          </a:p>
        </p:txBody>
      </p:sp>
      <p:sp>
        <p:nvSpPr>
          <p:cNvPr id="1009" name="sh1009"/>
          <p:cNvSpPr/>
          <p:nvPr/>
        </p:nvSpPr>
        <p:spPr>
          <a:xfrm>
            <a:off x="762000" y="2286000"/>
            <a:ext cx="1752600" cy="2286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1D5C9E"/>
                </a:solidFill>
              </a:rPr>
              <a:t>MÉTRICAS</a:t>
            </a:r>
          </a:p>
        </p:txBody>
      </p:sp>
      <p:sp>
        <p:nvSpPr>
          <p:cNvPr id="1010" name="sh1010"/>
          <p:cNvSpPr/>
          <p:nvPr/>
        </p:nvSpPr>
        <p:spPr>
          <a:xfrm>
            <a:off x="2717800" y="2286000"/>
            <a:ext cx="41910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Matriz explícita para calidad, trazabilidad, temporalidad y eficiencia.</a:t>
            </a:r>
          </a:p>
        </p:txBody>
      </p:sp>
      <p:sp>
        <p:nvSpPr>
          <p:cNvPr id="1011" name="sh1011"/>
          <p:cNvSpPr/>
          <p:nvPr/>
        </p:nvSpPr>
        <p:spPr>
          <a:xfrm>
            <a:off x="7112000" y="2286000"/>
            <a:ext cx="43180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Los umbrales de calidad no se fijan arbitrariamente.</a:t>
            </a:r>
          </a:p>
        </p:txBody>
      </p:sp>
      <p:sp>
        <p:nvSpPr>
          <p:cNvPr id="1012" name="sh1012"/>
          <p:cNvSpPr/>
          <p:nvPr/>
        </p:nvSpPr>
        <p:spPr>
          <a:xfrm>
            <a:off x="762000" y="3022600"/>
            <a:ext cx="10668000" cy="9525"/>
          </a:xfrm>
          <a:prstGeom prst="rect">
            <a:avLst/>
          </a:prstGeom>
          <a:solidFill>
            <a:srgbClr val="E3EAF2"/>
          </a:solidFill>
          <a:ln>
            <a:noFill/>
          </a:ln>
        </p:spPr>
        <p:txBody>
          <a:bodyPr/>
          <a:lstStyle/>
          <a:p>
            <a:endParaRPr lang="es-CL"/>
          </a:p>
        </p:txBody>
      </p:sp>
      <p:sp>
        <p:nvSpPr>
          <p:cNvPr id="1013" name="sh1013"/>
          <p:cNvSpPr/>
          <p:nvPr/>
        </p:nvSpPr>
        <p:spPr>
          <a:xfrm>
            <a:off x="762000" y="3098800"/>
            <a:ext cx="10668000" cy="838200"/>
          </a:xfrm>
          <a:prstGeom prst="rect">
            <a:avLst/>
          </a:prstGeom>
          <a:solidFill>
            <a:srgbClr val="EAF3F7"/>
          </a:solidFill>
          <a:ln>
            <a:noFill/>
          </a:ln>
        </p:spPr>
        <p:txBody>
          <a:bodyPr/>
          <a:lstStyle/>
          <a:p>
            <a:endParaRPr lang="es-CL"/>
          </a:p>
        </p:txBody>
      </p:sp>
      <p:sp>
        <p:nvSpPr>
          <p:cNvPr id="1014" name="sh1014"/>
          <p:cNvSpPr/>
          <p:nvPr/>
        </p:nvSpPr>
        <p:spPr>
          <a:xfrm>
            <a:off x="762000" y="3098800"/>
            <a:ext cx="38100" cy="838200"/>
          </a:xfrm>
          <a:prstGeom prst="rect">
            <a:avLst/>
          </a:prstGeom>
          <a:solidFill>
            <a:srgbClr val="2ED3E8"/>
          </a:solidFill>
          <a:ln>
            <a:noFill/>
          </a:ln>
        </p:spPr>
        <p:txBody>
          <a:bodyPr/>
          <a:lstStyle/>
          <a:p>
            <a:endParaRPr lang="es-CL"/>
          </a:p>
        </p:txBody>
      </p:sp>
      <p:sp>
        <p:nvSpPr>
          <p:cNvPr id="1015" name="sh1015"/>
          <p:cNvSpPr/>
          <p:nvPr/>
        </p:nvSpPr>
        <p:spPr>
          <a:xfrm>
            <a:off x="939800" y="3175000"/>
            <a:ext cx="1752600" cy="2286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12406E"/>
                </a:solidFill>
              </a:rPr>
              <a:t>UNIDAD</a:t>
            </a:r>
          </a:p>
        </p:txBody>
      </p:sp>
      <p:sp>
        <p:nvSpPr>
          <p:cNvPr id="1017" name="sh1017"/>
          <p:cNvSpPr/>
          <p:nvPr/>
        </p:nvSpPr>
        <p:spPr>
          <a:xfrm>
            <a:off x="2717800" y="3175000"/>
            <a:ext cx="41910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Decisión y evento, unidad recuperada e instancia pregunta–caso como unidad de comparación.</a:t>
            </a:r>
          </a:p>
        </p:txBody>
      </p:sp>
      <p:sp>
        <p:nvSpPr>
          <p:cNvPr id="1018" name="sh1018"/>
          <p:cNvSpPr/>
          <p:nvPr/>
        </p:nvSpPr>
        <p:spPr>
          <a:xfrm>
            <a:off x="7112000" y="3175000"/>
            <a:ext cx="43180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El tamaño muestral depende de la disponibilidad de casos y de un análisis de potencia cuando corresponda.</a:t>
            </a:r>
          </a:p>
        </p:txBody>
      </p:sp>
      <p:sp>
        <p:nvSpPr>
          <p:cNvPr id="1019" name="sh1019"/>
          <p:cNvSpPr/>
          <p:nvPr/>
        </p:nvSpPr>
        <p:spPr>
          <a:xfrm>
            <a:off x="762000" y="3911600"/>
            <a:ext cx="10668000" cy="9525"/>
          </a:xfrm>
          <a:prstGeom prst="rect">
            <a:avLst/>
          </a:prstGeom>
          <a:solidFill>
            <a:srgbClr val="E3EAF2"/>
          </a:solidFill>
          <a:ln>
            <a:noFill/>
          </a:ln>
        </p:spPr>
        <p:txBody>
          <a:bodyPr/>
          <a:lstStyle/>
          <a:p>
            <a:endParaRPr lang="es-CL"/>
          </a:p>
        </p:txBody>
      </p:sp>
      <p:sp>
        <p:nvSpPr>
          <p:cNvPr id="1020" name="sh1020"/>
          <p:cNvSpPr/>
          <p:nvPr/>
        </p:nvSpPr>
        <p:spPr>
          <a:xfrm>
            <a:off x="762000" y="4064000"/>
            <a:ext cx="1752600" cy="228600"/>
          </a:xfrm>
          <a:prstGeom prst="rect">
            <a:avLst/>
          </a:prstGeom>
          <a:noFill/>
          <a:ln>
            <a:noFill/>
          </a:ln>
        </p:spPr>
        <p:txBody>
          <a:bodyPr wrap="square" lIns="0" tIns="0" rIns="0" bIns="0" anchor="ctr">
            <a:noAutofit/>
          </a:bodyPr>
          <a:lstStyle/>
          <a:p>
            <a:pPr algn="l">
              <a:lnSpc>
                <a:spcPct val="100000"/>
              </a:lnSpc>
              <a:buNone/>
            </a:pPr>
            <a:r>
              <a:rPr lang="es-CL" sz="1250" b="1" spc="40" dirty="0">
                <a:solidFill>
                  <a:srgbClr val="1D5C9E"/>
                </a:solidFill>
              </a:rPr>
              <a:t>DECISIONES</a:t>
            </a:r>
          </a:p>
        </p:txBody>
      </p:sp>
      <p:sp>
        <p:nvSpPr>
          <p:cNvPr id="1021" name="sh1021"/>
          <p:cNvSpPr/>
          <p:nvPr/>
        </p:nvSpPr>
        <p:spPr>
          <a:xfrm>
            <a:off x="2717800" y="4064000"/>
            <a:ext cx="41910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Identidad estable y eventos temporales, sin forzar cierres por reunión; alcance local, longitudinal y multidecisión.</a:t>
            </a:r>
          </a:p>
        </p:txBody>
      </p:sp>
      <p:sp>
        <p:nvSpPr>
          <p:cNvPr id="1022" name="sh1022"/>
          <p:cNvSpPr/>
          <p:nvPr/>
        </p:nvSpPr>
        <p:spPr>
          <a:xfrm>
            <a:off x="7112000" y="4064000"/>
            <a:ext cx="43180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Los casos ambiguos se conservan como tales cuando la evidencia no permite resolverlos.</a:t>
            </a:r>
          </a:p>
        </p:txBody>
      </p:sp>
      <p:sp>
        <p:nvSpPr>
          <p:cNvPr id="1023" name="sh1023"/>
          <p:cNvSpPr/>
          <p:nvPr/>
        </p:nvSpPr>
        <p:spPr>
          <a:xfrm>
            <a:off x="762000" y="4800600"/>
            <a:ext cx="10668000" cy="9525"/>
          </a:xfrm>
          <a:prstGeom prst="rect">
            <a:avLst/>
          </a:prstGeom>
          <a:solidFill>
            <a:srgbClr val="E3EAF2"/>
          </a:solidFill>
          <a:ln>
            <a:noFill/>
          </a:ln>
        </p:spPr>
        <p:txBody>
          <a:bodyPr/>
          <a:lstStyle/>
          <a:p>
            <a:endParaRPr lang="es-CL"/>
          </a:p>
        </p:txBody>
      </p:sp>
      <p:sp>
        <p:nvSpPr>
          <p:cNvPr id="1024" name="sh1024"/>
          <p:cNvSpPr/>
          <p:nvPr/>
        </p:nvSpPr>
        <p:spPr>
          <a:xfrm>
            <a:off x="762000" y="4953000"/>
            <a:ext cx="1778000" cy="457200"/>
          </a:xfrm>
          <a:prstGeom prst="rect">
            <a:avLst/>
          </a:prstGeom>
          <a:noFill/>
          <a:ln>
            <a:noFill/>
          </a:ln>
        </p:spPr>
        <p:txBody>
          <a:bodyPr wrap="square" lIns="0" tIns="0" rIns="0" bIns="0" anchor="ctr">
            <a:noAutofit/>
          </a:bodyPr>
          <a:lstStyle/>
          <a:p>
            <a:pPr algn="l">
              <a:lnSpc>
                <a:spcPct val="100000"/>
              </a:lnSpc>
              <a:buNone/>
            </a:pPr>
            <a:r>
              <a:rPr lang="es-CL" sz="1250" b="1" spc="0" dirty="0">
                <a:solidFill>
                  <a:srgbClr val="1D5C9E"/>
                </a:solidFill>
              </a:rPr>
              <a:t>HISTORIAL</a:t>
            </a:r>
          </a:p>
        </p:txBody>
      </p:sp>
      <p:sp>
        <p:nvSpPr>
          <p:cNvPr id="1025" name="sh1025"/>
          <p:cNvSpPr/>
          <p:nvPr/>
        </p:nvSpPr>
        <p:spPr>
          <a:xfrm>
            <a:off x="2717800" y="4953000"/>
            <a:ext cx="41910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Ventana N o niveles de N comunes a C1 y C2.</a:t>
            </a:r>
          </a:p>
        </p:txBody>
      </p:sp>
      <p:sp>
        <p:nvSpPr>
          <p:cNvPr id="1026" name="sh1026"/>
          <p:cNvSpPr/>
          <p:nvPr/>
        </p:nvSpPr>
        <p:spPr>
          <a:xfrm>
            <a:off x="7112000" y="4953000"/>
            <a:ext cx="43180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N se determina mediante características del corpus y/o un piloto independiente; el tamaño muestral, mediante disponibilidad de casos, piloto y análisis de potencia cuando corresponda.</a:t>
            </a:r>
          </a:p>
        </p:txBody>
      </p:sp>
      <p:sp>
        <p:nvSpPr>
          <p:cNvPr id="1027" name="sh1027"/>
          <p:cNvSpPr/>
          <p:nvPr/>
        </p:nvSpPr>
        <p:spPr>
          <a:xfrm>
            <a:off x="762000" y="5689600"/>
            <a:ext cx="10668000" cy="9525"/>
          </a:xfrm>
          <a:prstGeom prst="rect">
            <a:avLst/>
          </a:prstGeom>
          <a:solidFill>
            <a:srgbClr val="E3EAF2"/>
          </a:solidFill>
          <a:ln>
            <a:noFill/>
          </a:ln>
        </p:spPr>
        <p:txBody>
          <a:bodyPr/>
          <a:lstStyle/>
          <a:p>
            <a:endParaRPr lang="es-CL"/>
          </a:p>
        </p:txBody>
      </p:sp>
      <p:sp>
        <p:nvSpPr>
          <p:cNvPr id="1028" name="sh1028"/>
          <p:cNvSpPr/>
          <p:nvPr/>
        </p:nvSpPr>
        <p:spPr>
          <a:xfrm>
            <a:off x="762000" y="5943600"/>
            <a:ext cx="38100" cy="406400"/>
          </a:xfrm>
          <a:prstGeom prst="rect">
            <a:avLst/>
          </a:prstGeom>
          <a:solidFill>
            <a:srgbClr val="2ED3E8"/>
          </a:solidFill>
          <a:ln>
            <a:noFill/>
          </a:ln>
        </p:spPr>
        <p:txBody>
          <a:bodyPr/>
          <a:lstStyle/>
          <a:p>
            <a:endParaRPr lang="es-CL"/>
          </a:p>
        </p:txBody>
      </p:sp>
      <p:sp>
        <p:nvSpPr>
          <p:cNvPr id="1029" name="sh1029"/>
          <p:cNvSpPr/>
          <p:nvPr/>
        </p:nvSpPr>
        <p:spPr>
          <a:xfrm>
            <a:off x="990600" y="5969000"/>
            <a:ext cx="10414000" cy="3556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12406E"/>
                </a:solidFill>
              </a:rPr>
              <a:t>Estos parámetros se documentan antes de la evaluación final.</a:t>
            </a:r>
          </a:p>
        </p:txBody>
      </p:sp>
    </p:spTree>
    <p:extLst>
      <p:ext uri="{BB962C8B-B14F-4D97-AF65-F5344CB8AC3E}">
        <p14:creationId xmlns:p14="http://schemas.microsoft.com/office/powerpoint/2010/main" val="1731552589"/>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CRITERIOS DE VALOR POR DIMENSIÓN</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700" b="1" spc="0" dirty="0">
                <a:solidFill>
                  <a:srgbClr val="12406E"/>
                </a:solidFill>
              </a:rPr>
              <a:t>Cuándo existiría evidencia de valor</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[ 29 ]</a:t>
            </a:r>
          </a:p>
        </p:txBody>
      </p:sp>
      <p:sp>
        <p:nvSpPr>
          <p:cNvPr id="1005" name="sh1005"/>
          <p:cNvSpPr/>
          <p:nvPr/>
        </p:nvSpPr>
        <p:spPr>
          <a:xfrm>
            <a:off x="762000" y="1930400"/>
            <a:ext cx="5207000" cy="38100"/>
          </a:xfrm>
          <a:prstGeom prst="rect">
            <a:avLst/>
          </a:prstGeom>
          <a:solidFill>
            <a:srgbClr val="12406E"/>
          </a:solidFill>
          <a:ln>
            <a:noFill/>
          </a:ln>
        </p:spPr>
        <p:txBody>
          <a:bodyPr/>
          <a:lstStyle/>
          <a:p>
            <a:endParaRPr lang="es-CL"/>
          </a:p>
        </p:txBody>
      </p:sp>
      <p:sp>
        <p:nvSpPr>
          <p:cNvPr id="1006" name="sh1006"/>
          <p:cNvSpPr/>
          <p:nvPr/>
        </p:nvSpPr>
        <p:spPr>
          <a:xfrm>
            <a:off x="762000" y="2082800"/>
            <a:ext cx="5207000" cy="254000"/>
          </a:xfrm>
          <a:prstGeom prst="rect">
            <a:avLst/>
          </a:prstGeom>
          <a:noFill/>
          <a:ln>
            <a:noFill/>
          </a:ln>
        </p:spPr>
        <p:txBody>
          <a:bodyPr wrap="square" lIns="0" tIns="0" rIns="0" bIns="0" anchor="ctr">
            <a:noAutofit/>
          </a:bodyPr>
          <a:lstStyle/>
          <a:p>
            <a:pPr algn="l">
              <a:lnSpc>
                <a:spcPct val="100000"/>
              </a:lnSpc>
              <a:buNone/>
            </a:pPr>
            <a:r>
              <a:rPr lang="es-CL" sz="1600" b="1" spc="20" dirty="0">
                <a:solidFill>
                  <a:srgbClr val="12406E"/>
                </a:solidFill>
              </a:rPr>
              <a:t>TAREA · CONTINUIDAD · RIESGO</a:t>
            </a:r>
          </a:p>
        </p:txBody>
      </p:sp>
      <p:sp>
        <p:nvSpPr>
          <p:cNvPr id="1007" name="sh1007"/>
          <p:cNvSpPr/>
          <p:nvPr/>
        </p:nvSpPr>
        <p:spPr>
          <a:xfrm>
            <a:off x="762000" y="2387600"/>
            <a:ext cx="5207000" cy="203200"/>
          </a:xfrm>
          <a:prstGeom prst="rect">
            <a:avLst/>
          </a:prstGeom>
          <a:noFill/>
          <a:ln>
            <a:noFill/>
          </a:ln>
        </p:spPr>
        <p:txBody>
          <a:bodyPr wrap="square" lIns="0" tIns="0" rIns="0" bIns="0" anchor="ctr">
            <a:noAutofit/>
          </a:bodyPr>
          <a:lstStyle/>
          <a:p>
            <a:pPr algn="l">
              <a:lnSpc>
                <a:spcPct val="100000"/>
              </a:lnSpc>
              <a:buNone/>
            </a:pPr>
            <a:r>
              <a:rPr lang="es-CL" sz="1100" b="0" spc="0" dirty="0">
                <a:solidFill>
                  <a:srgbClr val="5A7290"/>
                </a:solidFill>
              </a:rPr>
              <a:t>Evidencia que apoyaría una hipótesis de valor:</a:t>
            </a:r>
          </a:p>
        </p:txBody>
      </p:sp>
      <p:sp>
        <p:nvSpPr>
          <p:cNvPr id="1008" name="sh1008"/>
          <p:cNvSpPr/>
          <p:nvPr/>
        </p:nvSpPr>
        <p:spPr>
          <a:xfrm>
            <a:off x="762000" y="2743200"/>
            <a:ext cx="5207000" cy="2844800"/>
          </a:xfrm>
          <a:prstGeom prst="rect">
            <a:avLst/>
          </a:prstGeom>
          <a:noFill/>
          <a:ln>
            <a:noFill/>
          </a:ln>
        </p:spPr>
        <p:txBody>
          <a:bodyPr wrap="square" lIns="0" tIns="0" rIns="0" bIns="0" anchor="t">
            <a:noAutofit/>
          </a:bodyPr>
          <a:lstStyle/>
          <a:p>
            <a:pPr marL="152400" indent="-152400" algn="l">
              <a:lnSpc>
                <a:spcPct val="115000"/>
              </a:lnSpc>
              <a:buClr>
                <a:srgbClr val="12406E"/>
              </a:buClr>
              <a:buFont typeface="Segoe UI"/>
              <a:buChar char="–"/>
            </a:pPr>
            <a:r>
              <a:rPr lang="es-CL" sz="1300" b="1" spc="0" dirty="0">
                <a:solidFill>
                  <a:srgbClr val="1D5C9E"/>
                </a:solidFill>
              </a:rPr>
              <a:t>PRODUCTIVIDAD</a:t>
            </a:r>
          </a:p>
          <a:p>
            <a:pPr marL="152400" indent="-152400" algn="l">
              <a:lnSpc>
                <a:spcPct val="115000"/>
              </a:lnSpc>
              <a:buClr>
                <a:srgbClr val="12406E"/>
              </a:buClr>
              <a:buFont typeface="Segoe UI"/>
              <a:buChar char="–"/>
            </a:pPr>
            <a:r>
              <a:rPr lang="es-CL" sz="1300" b="0" spc="0" dirty="0">
                <a:solidFill>
                  <a:srgbClr val="0A1524"/>
                </a:solidFill>
              </a:rPr>
              <a:t>C2 mantiene una calidad aceptable respecto de C1</a:t>
            </a:r>
          </a:p>
          <a:p>
            <a:pPr marL="152400" indent="-152400" algn="l">
              <a:lnSpc>
                <a:spcPct val="115000"/>
              </a:lnSpc>
              <a:buClr>
                <a:srgbClr val="12406E"/>
              </a:buClr>
              <a:buFont typeface="Segoe UI"/>
              <a:buChar char="–"/>
            </a:pPr>
            <a:r>
              <a:rPr lang="es-CL" sz="1300" b="0" spc="0" dirty="0">
                <a:solidFill>
                  <a:srgbClr val="0A1524"/>
                </a:solidFill>
              </a:rPr>
              <a:t>Reduce tiempo o pasos</a:t>
            </a:r>
          </a:p>
          <a:p>
            <a:pPr marL="152400" indent="-152400" algn="l">
              <a:lnSpc>
                <a:spcPct val="115000"/>
              </a:lnSpc>
              <a:buClr>
                <a:srgbClr val="12406E"/>
              </a:buClr>
              <a:buFont typeface="Segoe UI"/>
              <a:buChar char="–"/>
            </a:pPr>
            <a:r>
              <a:rPr lang="es-CL" sz="1300" b="0" spc="0" dirty="0">
                <a:solidFill>
                  <a:srgbClr val="0A1524"/>
                </a:solidFill>
              </a:rPr>
              <a:t>La magnitud observada tiene relevancia práctica</a:t>
            </a:r>
          </a:p>
          <a:p>
            <a:pPr marL="152400" indent="-152400" algn="l">
              <a:lnSpc>
                <a:spcPct val="115000"/>
              </a:lnSpc>
              <a:buClr>
                <a:srgbClr val="12406E"/>
              </a:buClr>
              <a:buFont typeface="Segoe UI"/>
              <a:buChar char="–"/>
            </a:pPr>
            <a:r>
              <a:rPr lang="es-CL" sz="1300" b="1" spc="0" dirty="0">
                <a:solidFill>
                  <a:srgbClr val="1D5C9E"/>
                </a:solidFill>
              </a:rPr>
              <a:t>CONTINUIDAD</a:t>
            </a:r>
          </a:p>
          <a:p>
            <a:pPr marL="152400" indent="-152400" algn="l">
              <a:lnSpc>
                <a:spcPct val="115000"/>
              </a:lnSpc>
              <a:buClr>
                <a:srgbClr val="12406E"/>
              </a:buClr>
              <a:buFont typeface="Segoe UI"/>
              <a:buChar char="–"/>
            </a:pPr>
            <a:r>
              <a:rPr lang="es-CL" sz="1300" b="0" spc="0" dirty="0">
                <a:solidFill>
                  <a:srgbClr val="0A1524"/>
                </a:solidFill>
              </a:rPr>
              <a:t>Usuarios nuevos reconstruyen conocimiento con igual o mayor exactitud</a:t>
            </a:r>
          </a:p>
          <a:p>
            <a:pPr marL="152400" indent="-152400" algn="l">
              <a:lnSpc>
                <a:spcPct val="115000"/>
              </a:lnSpc>
              <a:buClr>
                <a:srgbClr val="12406E"/>
              </a:buClr>
              <a:buFont typeface="Segoe UI"/>
              <a:buChar char="–"/>
            </a:pPr>
            <a:r>
              <a:rPr lang="es-CL" sz="1300" b="0" spc="0" dirty="0">
                <a:solidFill>
                  <a:srgbClr val="0A1524"/>
                </a:solidFill>
              </a:rPr>
              <a:t>Disminuyen el tiempo y las aclaraciones necesarias</a:t>
            </a:r>
          </a:p>
          <a:p>
            <a:pPr marL="152400" indent="-152400" algn="l">
              <a:lnSpc>
                <a:spcPct val="115000"/>
              </a:lnSpc>
              <a:buClr>
                <a:srgbClr val="12406E"/>
              </a:buClr>
              <a:buFont typeface="Segoe UI"/>
              <a:buChar char="–"/>
            </a:pPr>
            <a:r>
              <a:rPr lang="es-CL" sz="1300" b="1" spc="0" dirty="0">
                <a:solidFill>
                  <a:srgbClr val="1D5C9E"/>
                </a:solidFill>
              </a:rPr>
              <a:t>CALIDAD Y RIESGO</a:t>
            </a:r>
          </a:p>
          <a:p>
            <a:pPr marL="152400" indent="-152400" algn="l">
              <a:lnSpc>
                <a:spcPct val="115000"/>
              </a:lnSpc>
              <a:buClr>
                <a:srgbClr val="12406E"/>
              </a:buClr>
              <a:buFont typeface="Segoe UI"/>
              <a:buChar char="–"/>
            </a:pPr>
            <a:r>
              <a:rPr lang="es-CL" sz="1300" b="0" spc="0" dirty="0">
                <a:solidFill>
                  <a:srgbClr val="0A1524"/>
                </a:solidFill>
              </a:rPr>
              <a:t>Disminuyen los errores temporales o de evidencia</a:t>
            </a:r>
          </a:p>
          <a:p>
            <a:pPr marL="152400" indent="-152400" algn="l">
              <a:lnSpc>
                <a:spcPct val="115000"/>
              </a:lnSpc>
              <a:buClr>
                <a:srgbClr val="12406E"/>
              </a:buClr>
              <a:buFont typeface="Segoe UI"/>
              <a:buChar char="–"/>
            </a:pPr>
            <a:r>
              <a:rPr lang="es-CL" sz="1300" b="0" spc="0" dirty="0">
                <a:solidFill>
                  <a:srgbClr val="0A1524"/>
                </a:solidFill>
              </a:rPr>
              <a:t>El costo de los errores evitados supera el costo incremental</a:t>
            </a:r>
          </a:p>
        </p:txBody>
      </p:sp>
      <p:sp>
        <p:nvSpPr>
          <p:cNvPr id="1009" name="sh1009"/>
          <p:cNvSpPr/>
          <p:nvPr/>
        </p:nvSpPr>
        <p:spPr>
          <a:xfrm>
            <a:off x="6223000" y="1930400"/>
            <a:ext cx="5207000" cy="38100"/>
          </a:xfrm>
          <a:prstGeom prst="rect">
            <a:avLst/>
          </a:prstGeom>
          <a:solidFill>
            <a:srgbClr val="0A6D82"/>
          </a:solidFill>
          <a:ln>
            <a:noFill/>
          </a:ln>
        </p:spPr>
        <p:txBody>
          <a:bodyPr/>
          <a:lstStyle/>
          <a:p>
            <a:endParaRPr lang="es-CL"/>
          </a:p>
        </p:txBody>
      </p:sp>
      <p:sp>
        <p:nvSpPr>
          <p:cNvPr id="1010" name="sh1010"/>
          <p:cNvSpPr/>
          <p:nvPr/>
        </p:nvSpPr>
        <p:spPr>
          <a:xfrm>
            <a:off x="6223000" y="2082800"/>
            <a:ext cx="5207000" cy="254000"/>
          </a:xfrm>
          <a:prstGeom prst="rect">
            <a:avLst/>
          </a:prstGeom>
          <a:noFill/>
          <a:ln>
            <a:noFill/>
          </a:ln>
        </p:spPr>
        <p:txBody>
          <a:bodyPr wrap="square" lIns="0" tIns="0" rIns="0" bIns="0" anchor="ctr">
            <a:noAutofit/>
          </a:bodyPr>
          <a:lstStyle/>
          <a:p>
            <a:pPr algn="l">
              <a:lnSpc>
                <a:spcPct val="100000"/>
              </a:lnSpc>
              <a:buNone/>
            </a:pPr>
            <a:r>
              <a:rPr lang="es-CL" sz="1600" b="1" spc="20" dirty="0">
                <a:solidFill>
                  <a:srgbClr val="0A6D82"/>
                </a:solidFill>
              </a:rPr>
              <a:t>TRAZABILIDAD · ECONOMÍA</a:t>
            </a:r>
          </a:p>
        </p:txBody>
      </p:sp>
      <p:sp>
        <p:nvSpPr>
          <p:cNvPr id="1011" name="sh1011"/>
          <p:cNvSpPr/>
          <p:nvPr/>
        </p:nvSpPr>
        <p:spPr>
          <a:xfrm>
            <a:off x="6223000" y="2387600"/>
            <a:ext cx="5207000" cy="203200"/>
          </a:xfrm>
          <a:prstGeom prst="rect">
            <a:avLst/>
          </a:prstGeom>
          <a:noFill/>
          <a:ln>
            <a:noFill/>
          </a:ln>
        </p:spPr>
        <p:txBody>
          <a:bodyPr wrap="square" lIns="0" tIns="0" rIns="0" bIns="0" anchor="ctr">
            <a:noAutofit/>
          </a:bodyPr>
          <a:lstStyle/>
          <a:p>
            <a:pPr algn="l">
              <a:lnSpc>
                <a:spcPct val="100000"/>
              </a:lnSpc>
              <a:buNone/>
            </a:pPr>
            <a:r>
              <a:rPr lang="es-CL" sz="1100" b="0" spc="0" dirty="0">
                <a:solidFill>
                  <a:srgbClr val="5A7290"/>
                </a:solidFill>
              </a:rPr>
              <a:t>Evidencia que apoyaría una hipótesis de valor:</a:t>
            </a:r>
          </a:p>
        </p:txBody>
      </p:sp>
      <p:sp>
        <p:nvSpPr>
          <p:cNvPr id="1012" name="sh1012"/>
          <p:cNvSpPr/>
          <p:nvPr/>
        </p:nvSpPr>
        <p:spPr>
          <a:xfrm>
            <a:off x="6223000" y="2743200"/>
            <a:ext cx="5207000" cy="2844800"/>
          </a:xfrm>
          <a:prstGeom prst="rect">
            <a:avLst/>
          </a:prstGeom>
          <a:noFill/>
          <a:ln>
            <a:noFill/>
          </a:ln>
        </p:spPr>
        <p:txBody>
          <a:bodyPr wrap="square" lIns="0" tIns="0" rIns="0" bIns="0" anchor="t">
            <a:noAutofit/>
          </a:bodyPr>
          <a:lstStyle/>
          <a:p>
            <a:pPr marL="152400" indent="-152400" algn="l">
              <a:lnSpc>
                <a:spcPct val="115000"/>
              </a:lnSpc>
              <a:buClr>
                <a:srgbClr val="0A6D82"/>
              </a:buClr>
              <a:buFont typeface="Segoe UI"/>
              <a:buChar char="–"/>
            </a:pPr>
            <a:r>
              <a:rPr lang="es-CL" sz="1300" b="1" spc="0" dirty="0">
                <a:solidFill>
                  <a:srgbClr val="1D5C9E"/>
                </a:solidFill>
              </a:rPr>
              <a:t>GOVERNANCE Y TRAZABILIDAD</a:t>
            </a:r>
          </a:p>
          <a:p>
            <a:pPr marL="152400" indent="-152400" algn="l">
              <a:lnSpc>
                <a:spcPct val="115000"/>
              </a:lnSpc>
              <a:buClr>
                <a:srgbClr val="0A6D82"/>
              </a:buClr>
              <a:buFont typeface="Segoe UI"/>
              <a:buChar char="–"/>
            </a:pPr>
            <a:r>
              <a:rPr lang="es-CL" sz="1300" b="0" spc="0" dirty="0">
                <a:solidFill>
                  <a:srgbClr val="0A1524"/>
                </a:solidFill>
              </a:rPr>
              <a:t>Aumenta el soporte correcto de afirmaciones</a:t>
            </a:r>
          </a:p>
          <a:p>
            <a:pPr marL="152400" indent="-152400" algn="l">
              <a:lnSpc>
                <a:spcPct val="115000"/>
              </a:lnSpc>
              <a:buClr>
                <a:srgbClr val="0A6D82"/>
              </a:buClr>
              <a:buFont typeface="Segoe UI"/>
              <a:buChar char="–"/>
            </a:pPr>
            <a:r>
              <a:rPr lang="es-CL" sz="1300" b="0" spc="0" dirty="0">
                <a:solidFill>
                  <a:srgbClr val="0A1524"/>
                </a:solidFill>
              </a:rPr>
              <a:t>Disminuye el tiempo de verificación</a:t>
            </a:r>
          </a:p>
          <a:p>
            <a:pPr marL="152400" indent="-152400" algn="l">
              <a:lnSpc>
                <a:spcPct val="115000"/>
              </a:lnSpc>
              <a:buClr>
                <a:srgbClr val="0A6D82"/>
              </a:buClr>
              <a:buFont typeface="Segoe UI"/>
              <a:buChar char="–"/>
            </a:pPr>
            <a:r>
              <a:rPr lang="es-CL" sz="1300" b="0" spc="0" dirty="0">
                <a:solidFill>
                  <a:srgbClr val="0A1524"/>
                </a:solidFill>
              </a:rPr>
              <a:t>Provenance es correcto, no sólo está presente</a:t>
            </a:r>
          </a:p>
          <a:p>
            <a:pPr marL="152400" indent="-152400" algn="l">
              <a:lnSpc>
                <a:spcPct val="115000"/>
              </a:lnSpc>
              <a:buClr>
                <a:srgbClr val="0A6D82"/>
              </a:buClr>
              <a:buFont typeface="Segoe UI"/>
              <a:buChar char="–"/>
            </a:pPr>
            <a:r>
              <a:rPr lang="es-CL" sz="1300" b="1" spc="0" dirty="0">
                <a:solidFill>
                  <a:srgbClr val="1D5C9E"/>
                </a:solidFill>
              </a:rPr>
              <a:t>ECONOMÍA</a:t>
            </a:r>
          </a:p>
          <a:p>
            <a:pPr marL="152400" indent="-152400" algn="l">
              <a:lnSpc>
                <a:spcPct val="115000"/>
              </a:lnSpc>
              <a:buClr>
                <a:srgbClr val="0A6D82"/>
              </a:buClr>
              <a:buFont typeface="Segoe UI"/>
              <a:buChar char="–"/>
            </a:pPr>
            <a:r>
              <a:rPr lang="es-CL" sz="1300" b="0" spc="0" dirty="0">
                <a:solidFill>
                  <a:srgbClr val="0A1524"/>
                </a:solidFill>
              </a:rPr>
              <a:t>Los beneficios observados superan los costos incrementales en un workload representativo</a:t>
            </a:r>
          </a:p>
          <a:p>
            <a:pPr marL="152400" indent="-152400" algn="l">
              <a:lnSpc>
                <a:spcPct val="115000"/>
              </a:lnSpc>
              <a:buClr>
                <a:srgbClr val="0A6D82"/>
              </a:buClr>
              <a:buFont typeface="Segoe UI"/>
              <a:buChar char="–"/>
            </a:pPr>
            <a:r>
              <a:rPr lang="es-CL" sz="1300" b="0" spc="0" dirty="0">
                <a:solidFill>
                  <a:srgbClr val="0A1524"/>
                </a:solidFill>
              </a:rPr>
              <a:t>Requiere costos y volumen reales</a:t>
            </a:r>
          </a:p>
        </p:txBody>
      </p:sp>
      <p:sp>
        <p:nvSpPr>
          <p:cNvPr id="1013" name="sh1013"/>
          <p:cNvSpPr/>
          <p:nvPr/>
        </p:nvSpPr>
        <p:spPr>
          <a:xfrm>
            <a:off x="5969000" y="1930400"/>
            <a:ext cx="9525" cy="3683000"/>
          </a:xfrm>
          <a:prstGeom prst="rect">
            <a:avLst/>
          </a:prstGeom>
          <a:solidFill>
            <a:srgbClr val="E3EAF2"/>
          </a:solidFill>
          <a:ln>
            <a:noFill/>
          </a:ln>
        </p:spPr>
        <p:txBody>
          <a:bodyPr/>
          <a:lstStyle/>
          <a:p>
            <a:endParaRPr lang="es-CL"/>
          </a:p>
        </p:txBody>
      </p:sp>
      <p:sp>
        <p:nvSpPr>
          <p:cNvPr id="1014" name="sh1014"/>
          <p:cNvSpPr/>
          <p:nvPr/>
        </p:nvSpPr>
        <p:spPr>
          <a:xfrm>
            <a:off x="762000" y="5740400"/>
            <a:ext cx="38100" cy="584200"/>
          </a:xfrm>
          <a:prstGeom prst="rect">
            <a:avLst/>
          </a:prstGeom>
          <a:solidFill>
            <a:srgbClr val="2ED3E8"/>
          </a:solidFill>
          <a:ln>
            <a:noFill/>
          </a:ln>
        </p:spPr>
        <p:txBody>
          <a:bodyPr/>
          <a:lstStyle/>
          <a:p>
            <a:endParaRPr lang="es-CL"/>
          </a:p>
        </p:txBody>
      </p:sp>
      <p:sp>
        <p:nvSpPr>
          <p:cNvPr id="1015" name="sh1015"/>
          <p:cNvSpPr/>
          <p:nvPr/>
        </p:nvSpPr>
        <p:spPr>
          <a:xfrm>
            <a:off x="990600" y="5740400"/>
            <a:ext cx="10414000" cy="584200"/>
          </a:xfrm>
          <a:prstGeom prst="rect">
            <a:avLst/>
          </a:prstGeom>
          <a:noFill/>
          <a:ln>
            <a:noFill/>
          </a:ln>
        </p:spPr>
        <p:txBody>
          <a:bodyPr wrap="square" lIns="0" tIns="0" rIns="0" bIns="0" anchor="ctr">
            <a:noAutofit/>
          </a:bodyPr>
          <a:lstStyle/>
          <a:p>
            <a:pPr algn="l">
              <a:lnSpc>
                <a:spcPct val="125000"/>
              </a:lnSpc>
              <a:buNone/>
            </a:pPr>
            <a:r>
              <a:rPr lang="es-CL" sz="1400" b="1" spc="0" dirty="0">
                <a:solidFill>
                  <a:srgbClr val="12406E"/>
                </a:solidFill>
              </a:rPr>
              <a:t>Los criterios que requieren usuarios, costos o procesos reales pertenecen a etapas posteriores de validación.</a:t>
            </a:r>
          </a:p>
        </p:txBody>
      </p:sp>
    </p:spTree>
    <p:extLst>
      <p:ext uri="{BB962C8B-B14F-4D97-AF65-F5344CB8AC3E}">
        <p14:creationId xmlns:p14="http://schemas.microsoft.com/office/powerpoint/2010/main" val="1355889632"/>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PROCEDIMIENTO EXPERIMENTAL</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700" b="1" spc="0" dirty="0">
                <a:solidFill>
                  <a:srgbClr val="12406E"/>
                </a:solidFill>
              </a:rPr>
              <a:t>El procedimiento separa construcción, evaluación e inferencia</a:t>
            </a:r>
          </a:p>
        </p:txBody>
      </p:sp>
      <p:sp>
        <p:nvSpPr>
          <p:cNvPr id="1003" name="sh1003"/>
          <p:cNvSpPr/>
          <p:nvPr/>
        </p:nvSpPr>
        <p:spPr>
          <a:xfrm>
            <a:off x="762000" y="1524000"/>
            <a:ext cx="1524000" cy="19050"/>
          </a:xfrm>
          <a:prstGeom prst="rect">
            <a:avLst/>
          </a:prstGeom>
          <a:solidFill>
            <a:srgbClr val="2ED3E8"/>
          </a:solidFill>
          <a:ln>
            <a:noFill/>
          </a:ln>
        </p:spPr>
        <p:txBody>
          <a:bodyPr wrap="square" lIns="0" tIns="0" rIns="0" bIns="0" anchor="t">
            <a:noAutofit/>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[ 30 ]</a:t>
            </a:r>
          </a:p>
        </p:txBody>
      </p:sp>
      <p:sp>
        <p:nvSpPr>
          <p:cNvPr id="1005" name="sh1005"/>
          <p:cNvSpPr/>
          <p:nvPr/>
        </p:nvSpPr>
        <p:spPr>
          <a:xfrm>
            <a:off x="762000" y="1879600"/>
            <a:ext cx="10668000" cy="177800"/>
          </a:xfrm>
          <a:prstGeom prst="rect">
            <a:avLst/>
          </a:prstGeom>
          <a:noFill/>
          <a:ln>
            <a:noFill/>
          </a:ln>
        </p:spPr>
        <p:txBody>
          <a:bodyPr wrap="square" lIns="0" tIns="0" rIns="0" bIns="0" anchor="ctr">
            <a:noAutofit/>
          </a:bodyPr>
          <a:lstStyle/>
          <a:p>
            <a:pPr algn="l">
              <a:lnSpc>
                <a:spcPct val="100000"/>
              </a:lnSpc>
              <a:buNone/>
            </a:pPr>
            <a:r>
              <a:rPr lang="es-CL" sz="1000" b="1" spc="120" dirty="0">
                <a:solidFill>
                  <a:srgbClr val="1D5C9E"/>
                </a:solidFill>
              </a:rPr>
              <a:t>TIMELINE A · CONSTRUCCIÓN DE LA REPRESENTACIÓN</a:t>
            </a:r>
          </a:p>
        </p:txBody>
      </p:sp>
      <p:sp>
        <p:nvSpPr>
          <p:cNvPr id="1006" name="sh1006"/>
          <p:cNvSpPr/>
          <p:nvPr/>
        </p:nvSpPr>
        <p:spPr>
          <a:xfrm>
            <a:off x="762000" y="2159000"/>
            <a:ext cx="109474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07" name="sh1007"/>
          <p:cNvSpPr/>
          <p:nvPr/>
        </p:nvSpPr>
        <p:spPr>
          <a:xfrm>
            <a:off x="762000" y="2159000"/>
            <a:ext cx="1094740" cy="31750"/>
          </a:xfrm>
          <a:prstGeom prst="rect">
            <a:avLst/>
          </a:prstGeom>
          <a:solidFill>
            <a:srgbClr val="1D5C9E"/>
          </a:solidFill>
          <a:ln>
            <a:noFill/>
          </a:ln>
        </p:spPr>
        <p:txBody>
          <a:bodyPr wrap="square" lIns="0" tIns="0" rIns="0" bIns="0" anchor="t">
            <a:noAutofit/>
          </a:bodyPr>
          <a:lstStyle/>
          <a:p>
            <a:endParaRPr lang="es-CL"/>
          </a:p>
        </p:txBody>
      </p:sp>
      <p:sp>
        <p:nvSpPr>
          <p:cNvPr id="1008" name="sh1008"/>
          <p:cNvSpPr/>
          <p:nvPr/>
        </p:nvSpPr>
        <p:spPr>
          <a:xfrm>
            <a:off x="838200" y="2286000"/>
            <a:ext cx="94234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D5C9E"/>
                </a:solidFill>
              </a:rPr>
              <a:t>01</a:t>
            </a:r>
          </a:p>
        </p:txBody>
      </p:sp>
      <p:sp>
        <p:nvSpPr>
          <p:cNvPr id="1009" name="sh1009"/>
          <p:cNvSpPr/>
          <p:nvPr/>
        </p:nvSpPr>
        <p:spPr>
          <a:xfrm>
            <a:off x="838200" y="2514600"/>
            <a:ext cx="94234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DEFINICIÓN</a:t>
            </a:r>
          </a:p>
        </p:txBody>
      </p:sp>
      <p:sp>
        <p:nvSpPr>
          <p:cNvPr id="1010" name="sh1010"/>
          <p:cNvSpPr/>
          <p:nvPr/>
        </p:nvSpPr>
        <p:spPr>
          <a:xfrm>
            <a:off x="1869440" y="26543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11" name="sh1011"/>
          <p:cNvSpPr/>
          <p:nvPr/>
        </p:nvSpPr>
        <p:spPr>
          <a:xfrm>
            <a:off x="1958340" y="2159000"/>
            <a:ext cx="109474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12" name="sh1012"/>
          <p:cNvSpPr/>
          <p:nvPr/>
        </p:nvSpPr>
        <p:spPr>
          <a:xfrm>
            <a:off x="1958340" y="2159000"/>
            <a:ext cx="1094740" cy="31750"/>
          </a:xfrm>
          <a:prstGeom prst="rect">
            <a:avLst/>
          </a:prstGeom>
          <a:solidFill>
            <a:srgbClr val="1D5C9E"/>
          </a:solidFill>
          <a:ln>
            <a:noFill/>
          </a:ln>
        </p:spPr>
        <p:txBody>
          <a:bodyPr wrap="square" lIns="0" tIns="0" rIns="0" bIns="0" anchor="t">
            <a:noAutofit/>
          </a:bodyPr>
          <a:lstStyle/>
          <a:p>
            <a:endParaRPr lang="es-CL"/>
          </a:p>
        </p:txBody>
      </p:sp>
      <p:sp>
        <p:nvSpPr>
          <p:cNvPr id="1013" name="sh1013"/>
          <p:cNvSpPr/>
          <p:nvPr/>
        </p:nvSpPr>
        <p:spPr>
          <a:xfrm>
            <a:off x="2034540" y="2286000"/>
            <a:ext cx="94234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D5C9E"/>
                </a:solidFill>
              </a:rPr>
              <a:t>02</a:t>
            </a:r>
          </a:p>
        </p:txBody>
      </p:sp>
      <p:sp>
        <p:nvSpPr>
          <p:cNvPr id="1014" name="sh1014"/>
          <p:cNvSpPr/>
          <p:nvPr/>
        </p:nvSpPr>
        <p:spPr>
          <a:xfrm>
            <a:off x="2034540" y="2514600"/>
            <a:ext cx="94234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IDENTIDAD Y EVOLUCIÓN</a:t>
            </a:r>
          </a:p>
        </p:txBody>
      </p:sp>
      <p:sp>
        <p:nvSpPr>
          <p:cNvPr id="1015" name="sh1015"/>
          <p:cNvSpPr/>
          <p:nvPr/>
        </p:nvSpPr>
        <p:spPr>
          <a:xfrm>
            <a:off x="3065780" y="26543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16" name="sh1016"/>
          <p:cNvSpPr/>
          <p:nvPr/>
        </p:nvSpPr>
        <p:spPr>
          <a:xfrm>
            <a:off x="3154680" y="2159000"/>
            <a:ext cx="109474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17" name="sh1017"/>
          <p:cNvSpPr/>
          <p:nvPr/>
        </p:nvSpPr>
        <p:spPr>
          <a:xfrm>
            <a:off x="3154680" y="2159000"/>
            <a:ext cx="1094740" cy="31750"/>
          </a:xfrm>
          <a:prstGeom prst="rect">
            <a:avLst/>
          </a:prstGeom>
          <a:solidFill>
            <a:srgbClr val="1D5C9E"/>
          </a:solidFill>
          <a:ln>
            <a:noFill/>
          </a:ln>
        </p:spPr>
        <p:txBody>
          <a:bodyPr wrap="square" lIns="0" tIns="0" rIns="0" bIns="0" anchor="t">
            <a:noAutofit/>
          </a:bodyPr>
          <a:lstStyle/>
          <a:p>
            <a:endParaRPr lang="es-CL"/>
          </a:p>
        </p:txBody>
      </p:sp>
      <p:sp>
        <p:nvSpPr>
          <p:cNvPr id="1018" name="sh1018"/>
          <p:cNvSpPr/>
          <p:nvPr/>
        </p:nvSpPr>
        <p:spPr>
          <a:xfrm>
            <a:off x="3230880" y="2286000"/>
            <a:ext cx="94234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D5C9E"/>
                </a:solidFill>
              </a:rPr>
              <a:t>03</a:t>
            </a:r>
          </a:p>
        </p:txBody>
      </p:sp>
      <p:sp>
        <p:nvSpPr>
          <p:cNvPr id="1019" name="sh1019"/>
          <p:cNvSpPr/>
          <p:nvPr/>
        </p:nvSpPr>
        <p:spPr>
          <a:xfrm>
            <a:off x="3230880" y="2514600"/>
            <a:ext cx="94234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MANUAL DE ANOTACIÓN</a:t>
            </a:r>
          </a:p>
        </p:txBody>
      </p:sp>
      <p:sp>
        <p:nvSpPr>
          <p:cNvPr id="1020" name="sh1020"/>
          <p:cNvSpPr/>
          <p:nvPr/>
        </p:nvSpPr>
        <p:spPr>
          <a:xfrm>
            <a:off x="4262120" y="26543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21" name="sh1021"/>
          <p:cNvSpPr/>
          <p:nvPr/>
        </p:nvSpPr>
        <p:spPr>
          <a:xfrm>
            <a:off x="4351020" y="2159000"/>
            <a:ext cx="109474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22" name="sh1022"/>
          <p:cNvSpPr/>
          <p:nvPr/>
        </p:nvSpPr>
        <p:spPr>
          <a:xfrm>
            <a:off x="4351020" y="2159000"/>
            <a:ext cx="1094740" cy="31750"/>
          </a:xfrm>
          <a:prstGeom prst="rect">
            <a:avLst/>
          </a:prstGeom>
          <a:solidFill>
            <a:srgbClr val="1D5C9E"/>
          </a:solidFill>
          <a:ln>
            <a:noFill/>
          </a:ln>
        </p:spPr>
        <p:txBody>
          <a:bodyPr wrap="square" lIns="0" tIns="0" rIns="0" bIns="0" anchor="t">
            <a:noAutofit/>
          </a:bodyPr>
          <a:lstStyle/>
          <a:p>
            <a:endParaRPr lang="es-CL"/>
          </a:p>
        </p:txBody>
      </p:sp>
      <p:sp>
        <p:nvSpPr>
          <p:cNvPr id="1023" name="sh1023"/>
          <p:cNvSpPr/>
          <p:nvPr/>
        </p:nvSpPr>
        <p:spPr>
          <a:xfrm>
            <a:off x="4427220" y="2286000"/>
            <a:ext cx="94234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D5C9E"/>
                </a:solidFill>
              </a:rPr>
              <a:t>04</a:t>
            </a:r>
          </a:p>
        </p:txBody>
      </p:sp>
      <p:sp>
        <p:nvSpPr>
          <p:cNvPr id="1024" name="sh1024"/>
          <p:cNvSpPr/>
          <p:nvPr/>
        </p:nvSpPr>
        <p:spPr>
          <a:xfrm>
            <a:off x="4427220" y="2514600"/>
            <a:ext cx="94234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CORPUS + PARTICIÓN</a:t>
            </a:r>
          </a:p>
        </p:txBody>
      </p:sp>
      <p:sp>
        <p:nvSpPr>
          <p:cNvPr id="1025" name="sh1025"/>
          <p:cNvSpPr/>
          <p:nvPr/>
        </p:nvSpPr>
        <p:spPr>
          <a:xfrm>
            <a:off x="5458460" y="26543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26" name="sh1026"/>
          <p:cNvSpPr/>
          <p:nvPr/>
        </p:nvSpPr>
        <p:spPr>
          <a:xfrm>
            <a:off x="5547360" y="2159000"/>
            <a:ext cx="109474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27" name="sh1027"/>
          <p:cNvSpPr/>
          <p:nvPr/>
        </p:nvSpPr>
        <p:spPr>
          <a:xfrm>
            <a:off x="5547360" y="2159000"/>
            <a:ext cx="1094740" cy="31750"/>
          </a:xfrm>
          <a:prstGeom prst="rect">
            <a:avLst/>
          </a:prstGeom>
          <a:solidFill>
            <a:srgbClr val="1D5C9E"/>
          </a:solidFill>
          <a:ln>
            <a:noFill/>
          </a:ln>
        </p:spPr>
        <p:txBody>
          <a:bodyPr wrap="square" lIns="0" tIns="0" rIns="0" bIns="0" anchor="t">
            <a:noAutofit/>
          </a:bodyPr>
          <a:lstStyle/>
          <a:p>
            <a:endParaRPr lang="es-CL"/>
          </a:p>
        </p:txBody>
      </p:sp>
      <p:sp>
        <p:nvSpPr>
          <p:cNvPr id="1028" name="sh1028"/>
          <p:cNvSpPr/>
          <p:nvPr/>
        </p:nvSpPr>
        <p:spPr>
          <a:xfrm>
            <a:off x="5623560" y="2286000"/>
            <a:ext cx="94234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D5C9E"/>
                </a:solidFill>
              </a:rPr>
              <a:t>05</a:t>
            </a:r>
          </a:p>
        </p:txBody>
      </p:sp>
      <p:sp>
        <p:nvSpPr>
          <p:cNvPr id="1029" name="sh1029"/>
          <p:cNvSpPr/>
          <p:nvPr/>
        </p:nvSpPr>
        <p:spPr>
          <a:xfrm>
            <a:off x="5623560" y="2514600"/>
            <a:ext cx="94234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GROUND TRUTH</a:t>
            </a:r>
          </a:p>
        </p:txBody>
      </p:sp>
      <p:sp>
        <p:nvSpPr>
          <p:cNvPr id="1030" name="sh1030"/>
          <p:cNvSpPr/>
          <p:nvPr/>
        </p:nvSpPr>
        <p:spPr>
          <a:xfrm>
            <a:off x="6654800" y="26543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31" name="sh1031"/>
          <p:cNvSpPr/>
          <p:nvPr/>
        </p:nvSpPr>
        <p:spPr>
          <a:xfrm>
            <a:off x="6743700" y="2159000"/>
            <a:ext cx="109474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34" name="sh1034"/>
          <p:cNvSpPr/>
          <p:nvPr/>
        </p:nvSpPr>
        <p:spPr>
          <a:xfrm>
            <a:off x="6819900" y="2286000"/>
            <a:ext cx="94234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D5C9E"/>
                </a:solidFill>
              </a:rPr>
              <a:t>06</a:t>
            </a:r>
          </a:p>
        </p:txBody>
      </p:sp>
      <p:sp>
        <p:nvSpPr>
          <p:cNvPr id="1035" name="sh1035"/>
          <p:cNvSpPr/>
          <p:nvPr/>
        </p:nvSpPr>
        <p:spPr>
          <a:xfrm>
            <a:off x="6819900" y="2514600"/>
            <a:ext cx="942340" cy="5080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REGLA DE N</a:t>
            </a:r>
          </a:p>
        </p:txBody>
      </p:sp>
      <p:sp>
        <p:nvSpPr>
          <p:cNvPr id="1036" name="sh1036"/>
          <p:cNvSpPr/>
          <p:nvPr/>
        </p:nvSpPr>
        <p:spPr>
          <a:xfrm>
            <a:off x="7851140" y="26543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37" name="sh1037"/>
          <p:cNvSpPr/>
          <p:nvPr/>
        </p:nvSpPr>
        <p:spPr>
          <a:xfrm>
            <a:off x="7940040" y="2159000"/>
            <a:ext cx="109474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38" name="sh1038"/>
          <p:cNvSpPr/>
          <p:nvPr/>
        </p:nvSpPr>
        <p:spPr>
          <a:xfrm>
            <a:off x="7940040" y="2159000"/>
            <a:ext cx="1094740" cy="31750"/>
          </a:xfrm>
          <a:prstGeom prst="rect">
            <a:avLst/>
          </a:prstGeom>
          <a:solidFill>
            <a:srgbClr val="1D5C9E"/>
          </a:solidFill>
          <a:ln>
            <a:noFill/>
          </a:ln>
        </p:spPr>
        <p:txBody>
          <a:bodyPr wrap="square" lIns="0" tIns="0" rIns="0" bIns="0" anchor="t">
            <a:noAutofit/>
          </a:bodyPr>
          <a:lstStyle/>
          <a:p>
            <a:endParaRPr lang="es-CL"/>
          </a:p>
        </p:txBody>
      </p:sp>
      <p:sp>
        <p:nvSpPr>
          <p:cNvPr id="1039" name="sh1039"/>
          <p:cNvSpPr/>
          <p:nvPr/>
        </p:nvSpPr>
        <p:spPr>
          <a:xfrm>
            <a:off x="8016240" y="2286000"/>
            <a:ext cx="94234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D5C9E"/>
                </a:solidFill>
              </a:rPr>
              <a:t>07</a:t>
            </a:r>
          </a:p>
        </p:txBody>
      </p:sp>
      <p:sp>
        <p:nvSpPr>
          <p:cNvPr id="1040" name="sh1040"/>
          <p:cNvSpPr/>
          <p:nvPr/>
        </p:nvSpPr>
        <p:spPr>
          <a:xfrm>
            <a:off x="8016240" y="2514600"/>
            <a:ext cx="94234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BANCO Q1–Q7 + ESTRATOS</a:t>
            </a:r>
          </a:p>
        </p:txBody>
      </p:sp>
      <p:sp>
        <p:nvSpPr>
          <p:cNvPr id="1041" name="sh1041"/>
          <p:cNvSpPr/>
          <p:nvPr/>
        </p:nvSpPr>
        <p:spPr>
          <a:xfrm>
            <a:off x="9047480" y="26543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42" name="sh1042"/>
          <p:cNvSpPr/>
          <p:nvPr/>
        </p:nvSpPr>
        <p:spPr>
          <a:xfrm>
            <a:off x="9136380" y="2159000"/>
            <a:ext cx="109474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43" name="sh1043"/>
          <p:cNvSpPr/>
          <p:nvPr/>
        </p:nvSpPr>
        <p:spPr>
          <a:xfrm>
            <a:off x="9136380" y="2159000"/>
            <a:ext cx="1094740" cy="31750"/>
          </a:xfrm>
          <a:prstGeom prst="rect">
            <a:avLst/>
          </a:prstGeom>
          <a:solidFill>
            <a:srgbClr val="1D5C9E"/>
          </a:solidFill>
          <a:ln>
            <a:noFill/>
          </a:ln>
        </p:spPr>
        <p:txBody>
          <a:bodyPr wrap="square" lIns="0" tIns="0" rIns="0" bIns="0" anchor="t">
            <a:noAutofit/>
          </a:bodyPr>
          <a:lstStyle/>
          <a:p>
            <a:endParaRPr lang="es-CL"/>
          </a:p>
        </p:txBody>
      </p:sp>
      <p:sp>
        <p:nvSpPr>
          <p:cNvPr id="1044" name="sh1044"/>
          <p:cNvSpPr/>
          <p:nvPr/>
        </p:nvSpPr>
        <p:spPr>
          <a:xfrm>
            <a:off x="9212580" y="2286000"/>
            <a:ext cx="94234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D5C9E"/>
                </a:solidFill>
              </a:rPr>
              <a:t>08</a:t>
            </a:r>
          </a:p>
        </p:txBody>
      </p:sp>
      <p:sp>
        <p:nvSpPr>
          <p:cNvPr id="1045" name="sh1045"/>
          <p:cNvSpPr/>
          <p:nvPr/>
        </p:nvSpPr>
        <p:spPr>
          <a:xfrm>
            <a:off x="9212580" y="2514600"/>
            <a:ext cx="94234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EXPERIMENTO A</a:t>
            </a:r>
          </a:p>
        </p:txBody>
      </p:sp>
      <p:sp>
        <p:nvSpPr>
          <p:cNvPr id="1046" name="sh1046"/>
          <p:cNvSpPr/>
          <p:nvPr/>
        </p:nvSpPr>
        <p:spPr>
          <a:xfrm>
            <a:off x="10243820" y="26543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47" name="sh1047"/>
          <p:cNvSpPr/>
          <p:nvPr/>
        </p:nvSpPr>
        <p:spPr>
          <a:xfrm>
            <a:off x="10332720" y="2159000"/>
            <a:ext cx="109474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48" name="sh1048"/>
          <p:cNvSpPr/>
          <p:nvPr/>
        </p:nvSpPr>
        <p:spPr>
          <a:xfrm>
            <a:off x="10332720" y="2159000"/>
            <a:ext cx="1094740" cy="31750"/>
          </a:xfrm>
          <a:prstGeom prst="rect">
            <a:avLst/>
          </a:prstGeom>
          <a:solidFill>
            <a:srgbClr val="1D5C9E"/>
          </a:solidFill>
          <a:ln>
            <a:noFill/>
          </a:ln>
        </p:spPr>
        <p:txBody>
          <a:bodyPr wrap="square" lIns="0" tIns="0" rIns="0" bIns="0" anchor="t">
            <a:noAutofit/>
          </a:bodyPr>
          <a:lstStyle/>
          <a:p>
            <a:endParaRPr lang="es-CL"/>
          </a:p>
        </p:txBody>
      </p:sp>
      <p:sp>
        <p:nvSpPr>
          <p:cNvPr id="1049" name="sh1049"/>
          <p:cNvSpPr/>
          <p:nvPr/>
        </p:nvSpPr>
        <p:spPr>
          <a:xfrm>
            <a:off x="10408920" y="2286000"/>
            <a:ext cx="94234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D5C9E"/>
                </a:solidFill>
              </a:rPr>
              <a:t>09</a:t>
            </a:r>
          </a:p>
        </p:txBody>
      </p:sp>
      <p:sp>
        <p:nvSpPr>
          <p:cNvPr id="1050" name="sh1050"/>
          <p:cNvSpPr/>
          <p:nvPr/>
        </p:nvSpPr>
        <p:spPr>
          <a:xfrm>
            <a:off x="10408920" y="2514600"/>
            <a:ext cx="94234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SELECCIÓN DEL EXTRACTOR</a:t>
            </a:r>
          </a:p>
        </p:txBody>
      </p:sp>
      <p:sp>
        <p:nvSpPr>
          <p:cNvPr id="1051" name="sh1051"/>
          <p:cNvSpPr/>
          <p:nvPr/>
        </p:nvSpPr>
        <p:spPr>
          <a:xfrm>
            <a:off x="762000" y="3378200"/>
            <a:ext cx="10668000" cy="177800"/>
          </a:xfrm>
          <a:prstGeom prst="rect">
            <a:avLst/>
          </a:prstGeom>
          <a:noFill/>
          <a:ln>
            <a:noFill/>
          </a:ln>
        </p:spPr>
        <p:txBody>
          <a:bodyPr wrap="square" lIns="0" tIns="0" rIns="0" bIns="0" anchor="ctr">
            <a:noAutofit/>
          </a:bodyPr>
          <a:lstStyle/>
          <a:p>
            <a:pPr algn="l">
              <a:lnSpc>
                <a:spcPct val="100000"/>
              </a:lnSpc>
              <a:buNone/>
            </a:pPr>
            <a:r>
              <a:rPr lang="es-CL" sz="1000" b="1" spc="120" dirty="0">
                <a:solidFill>
                  <a:srgbClr val="12406E"/>
                </a:solidFill>
              </a:rPr>
              <a:t>TIMELINE B · COMPARACIÓN Y EVALUACIÓN</a:t>
            </a:r>
          </a:p>
        </p:txBody>
      </p:sp>
      <p:sp>
        <p:nvSpPr>
          <p:cNvPr id="1052" name="sh1052"/>
          <p:cNvSpPr/>
          <p:nvPr/>
        </p:nvSpPr>
        <p:spPr>
          <a:xfrm>
            <a:off x="762000" y="3657600"/>
            <a:ext cx="124460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53" name="sh1053"/>
          <p:cNvSpPr/>
          <p:nvPr/>
        </p:nvSpPr>
        <p:spPr>
          <a:xfrm>
            <a:off x="762000" y="3657600"/>
            <a:ext cx="1244600" cy="31750"/>
          </a:xfrm>
          <a:prstGeom prst="rect">
            <a:avLst/>
          </a:prstGeom>
          <a:solidFill>
            <a:srgbClr val="12406E"/>
          </a:solidFill>
          <a:ln>
            <a:noFill/>
          </a:ln>
        </p:spPr>
        <p:txBody>
          <a:bodyPr wrap="square" lIns="0" tIns="0" rIns="0" bIns="0" anchor="t">
            <a:noAutofit/>
          </a:bodyPr>
          <a:lstStyle/>
          <a:p>
            <a:endParaRPr lang="es-CL"/>
          </a:p>
        </p:txBody>
      </p:sp>
      <p:sp>
        <p:nvSpPr>
          <p:cNvPr id="1054" name="sh1054"/>
          <p:cNvSpPr/>
          <p:nvPr/>
        </p:nvSpPr>
        <p:spPr>
          <a:xfrm>
            <a:off x="838200" y="3784600"/>
            <a:ext cx="109220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2406E"/>
                </a:solidFill>
              </a:rPr>
              <a:t>10</a:t>
            </a:r>
          </a:p>
        </p:txBody>
      </p:sp>
      <p:sp>
        <p:nvSpPr>
          <p:cNvPr id="1055" name="sh1055"/>
          <p:cNvSpPr/>
          <p:nvPr/>
        </p:nvSpPr>
        <p:spPr>
          <a:xfrm>
            <a:off x="838200" y="4013200"/>
            <a:ext cx="109220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CONGELAR EXTRACTOR</a:t>
            </a:r>
          </a:p>
        </p:txBody>
      </p:sp>
      <p:sp>
        <p:nvSpPr>
          <p:cNvPr id="1056" name="sh1056"/>
          <p:cNvSpPr/>
          <p:nvPr/>
        </p:nvSpPr>
        <p:spPr>
          <a:xfrm>
            <a:off x="2019300" y="41529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57" name="sh1057"/>
          <p:cNvSpPr/>
          <p:nvPr/>
        </p:nvSpPr>
        <p:spPr>
          <a:xfrm>
            <a:off x="2108200" y="3657600"/>
            <a:ext cx="124460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58" name="sh1058"/>
          <p:cNvSpPr/>
          <p:nvPr/>
        </p:nvSpPr>
        <p:spPr>
          <a:xfrm>
            <a:off x="2108200" y="3657600"/>
            <a:ext cx="1244600" cy="31750"/>
          </a:xfrm>
          <a:prstGeom prst="rect">
            <a:avLst/>
          </a:prstGeom>
          <a:solidFill>
            <a:srgbClr val="12406E"/>
          </a:solidFill>
          <a:ln>
            <a:noFill/>
          </a:ln>
        </p:spPr>
        <p:txBody>
          <a:bodyPr wrap="square" lIns="0" tIns="0" rIns="0" bIns="0" anchor="t">
            <a:noAutofit/>
          </a:bodyPr>
          <a:lstStyle/>
          <a:p>
            <a:endParaRPr lang="es-CL"/>
          </a:p>
        </p:txBody>
      </p:sp>
      <p:sp>
        <p:nvSpPr>
          <p:cNvPr id="1059" name="sh1059"/>
          <p:cNvSpPr/>
          <p:nvPr/>
        </p:nvSpPr>
        <p:spPr>
          <a:xfrm>
            <a:off x="2184400" y="3784600"/>
            <a:ext cx="109220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2406E"/>
                </a:solidFill>
              </a:rPr>
              <a:t>11</a:t>
            </a:r>
          </a:p>
        </p:txBody>
      </p:sp>
      <p:sp>
        <p:nvSpPr>
          <p:cNvPr id="1060" name="sh1060"/>
          <p:cNvSpPr/>
          <p:nvPr/>
        </p:nvSpPr>
        <p:spPr>
          <a:xfrm>
            <a:off x="2184400" y="4013200"/>
            <a:ext cx="109220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CONSTRUIR C2</a:t>
            </a:r>
          </a:p>
        </p:txBody>
      </p:sp>
      <p:sp>
        <p:nvSpPr>
          <p:cNvPr id="1061" name="sh1061"/>
          <p:cNvSpPr/>
          <p:nvPr/>
        </p:nvSpPr>
        <p:spPr>
          <a:xfrm>
            <a:off x="3365500" y="41529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62" name="sh1062"/>
          <p:cNvSpPr/>
          <p:nvPr/>
        </p:nvSpPr>
        <p:spPr>
          <a:xfrm>
            <a:off x="3454400" y="3657600"/>
            <a:ext cx="124460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63" name="sh1063"/>
          <p:cNvSpPr/>
          <p:nvPr/>
        </p:nvSpPr>
        <p:spPr>
          <a:xfrm>
            <a:off x="3454400" y="3657600"/>
            <a:ext cx="1244600" cy="31750"/>
          </a:xfrm>
          <a:prstGeom prst="rect">
            <a:avLst/>
          </a:prstGeom>
          <a:solidFill>
            <a:srgbClr val="12406E"/>
          </a:solidFill>
          <a:ln>
            <a:noFill/>
          </a:ln>
        </p:spPr>
        <p:txBody>
          <a:bodyPr wrap="square" lIns="0" tIns="0" rIns="0" bIns="0" anchor="t">
            <a:noAutofit/>
          </a:bodyPr>
          <a:lstStyle/>
          <a:p>
            <a:endParaRPr lang="es-CL"/>
          </a:p>
        </p:txBody>
      </p:sp>
      <p:sp>
        <p:nvSpPr>
          <p:cNvPr id="1064" name="sh1064"/>
          <p:cNvSpPr/>
          <p:nvPr/>
        </p:nvSpPr>
        <p:spPr>
          <a:xfrm>
            <a:off x="3530600" y="3784600"/>
            <a:ext cx="109220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2406E"/>
                </a:solidFill>
              </a:rPr>
              <a:t>12</a:t>
            </a:r>
          </a:p>
        </p:txBody>
      </p:sp>
      <p:sp>
        <p:nvSpPr>
          <p:cNvPr id="1065" name="sh1065"/>
          <p:cNvSpPr/>
          <p:nvPr/>
        </p:nvSpPr>
        <p:spPr>
          <a:xfrm>
            <a:off x="3530600" y="4013200"/>
            <a:ext cx="109220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CONFIGURAR C1</a:t>
            </a:r>
          </a:p>
        </p:txBody>
      </p:sp>
      <p:sp>
        <p:nvSpPr>
          <p:cNvPr id="1066" name="sh1066"/>
          <p:cNvSpPr/>
          <p:nvPr/>
        </p:nvSpPr>
        <p:spPr>
          <a:xfrm>
            <a:off x="4711700" y="41529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67" name="sh1067"/>
          <p:cNvSpPr/>
          <p:nvPr/>
        </p:nvSpPr>
        <p:spPr>
          <a:xfrm>
            <a:off x="4800600" y="3657600"/>
            <a:ext cx="1244600" cy="990600"/>
          </a:xfrm>
          <a:prstGeom prst="rect">
            <a:avLst/>
          </a:prstGeom>
          <a:solidFill>
            <a:srgbClr val="12406E"/>
          </a:solidFill>
          <a:ln>
            <a:noFill/>
          </a:ln>
        </p:spPr>
        <p:txBody>
          <a:bodyPr wrap="square" lIns="0" tIns="0" rIns="0" bIns="0" anchor="t">
            <a:noAutofit/>
          </a:bodyPr>
          <a:lstStyle/>
          <a:p>
            <a:endParaRPr lang="es-CL"/>
          </a:p>
        </p:txBody>
      </p:sp>
      <p:sp>
        <p:nvSpPr>
          <p:cNvPr id="1070" name="sh1070"/>
          <p:cNvSpPr/>
          <p:nvPr/>
        </p:nvSpPr>
        <p:spPr>
          <a:xfrm>
            <a:off x="4876800" y="3784600"/>
            <a:ext cx="109220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2ED3E8"/>
                </a:solidFill>
              </a:rPr>
              <a:t>13</a:t>
            </a:r>
          </a:p>
        </p:txBody>
      </p:sp>
      <p:sp>
        <p:nvSpPr>
          <p:cNvPr id="1071" name="sh1071"/>
          <p:cNvSpPr/>
          <p:nvPr/>
        </p:nvSpPr>
        <p:spPr>
          <a:xfrm>
            <a:off x="4876800" y="4013200"/>
            <a:ext cx="1092200" cy="5080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FFFFFF"/>
                </a:solidFill>
              </a:rPr>
              <a:t>CONFIGURACIÓN B</a:t>
            </a:r>
          </a:p>
        </p:txBody>
      </p:sp>
      <p:sp>
        <p:nvSpPr>
          <p:cNvPr id="1072" name="sh1072"/>
          <p:cNvSpPr/>
          <p:nvPr/>
        </p:nvSpPr>
        <p:spPr>
          <a:xfrm>
            <a:off x="6057900" y="41529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73" name="sh1073"/>
          <p:cNvSpPr/>
          <p:nvPr/>
        </p:nvSpPr>
        <p:spPr>
          <a:xfrm>
            <a:off x="6146800" y="3657600"/>
            <a:ext cx="124460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74" name="sh1074"/>
          <p:cNvSpPr/>
          <p:nvPr/>
        </p:nvSpPr>
        <p:spPr>
          <a:xfrm>
            <a:off x="6146800" y="3657600"/>
            <a:ext cx="1244600" cy="31750"/>
          </a:xfrm>
          <a:prstGeom prst="rect">
            <a:avLst/>
          </a:prstGeom>
          <a:solidFill>
            <a:srgbClr val="12406E"/>
          </a:solidFill>
          <a:ln>
            <a:noFill/>
          </a:ln>
        </p:spPr>
        <p:txBody>
          <a:bodyPr wrap="square" lIns="0" tIns="0" rIns="0" bIns="0" anchor="t">
            <a:noAutofit/>
          </a:bodyPr>
          <a:lstStyle/>
          <a:p>
            <a:endParaRPr lang="es-CL"/>
          </a:p>
        </p:txBody>
      </p:sp>
      <p:sp>
        <p:nvSpPr>
          <p:cNvPr id="1075" name="sh1075"/>
          <p:cNvSpPr/>
          <p:nvPr/>
        </p:nvSpPr>
        <p:spPr>
          <a:xfrm>
            <a:off x="6223000" y="3784600"/>
            <a:ext cx="109220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2406E"/>
                </a:solidFill>
              </a:rPr>
              <a:t>14</a:t>
            </a:r>
          </a:p>
        </p:txBody>
      </p:sp>
      <p:sp>
        <p:nvSpPr>
          <p:cNvPr id="1076" name="sh1076"/>
          <p:cNvSpPr/>
          <p:nvPr/>
        </p:nvSpPr>
        <p:spPr>
          <a:xfrm>
            <a:off x="6223000" y="4013200"/>
            <a:ext cx="109220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EXPERIMENTO B</a:t>
            </a:r>
          </a:p>
        </p:txBody>
      </p:sp>
      <p:sp>
        <p:nvSpPr>
          <p:cNvPr id="1077" name="sh1077"/>
          <p:cNvSpPr/>
          <p:nvPr/>
        </p:nvSpPr>
        <p:spPr>
          <a:xfrm>
            <a:off x="7404100" y="41529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78" name="sh1078"/>
          <p:cNvSpPr/>
          <p:nvPr/>
        </p:nvSpPr>
        <p:spPr>
          <a:xfrm>
            <a:off x="7493000" y="3657600"/>
            <a:ext cx="124460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79" name="sh1079"/>
          <p:cNvSpPr/>
          <p:nvPr/>
        </p:nvSpPr>
        <p:spPr>
          <a:xfrm>
            <a:off x="7493000" y="3657600"/>
            <a:ext cx="1244600" cy="31750"/>
          </a:xfrm>
          <a:prstGeom prst="rect">
            <a:avLst/>
          </a:prstGeom>
          <a:solidFill>
            <a:srgbClr val="12406E"/>
          </a:solidFill>
          <a:ln>
            <a:noFill/>
          </a:ln>
        </p:spPr>
        <p:txBody>
          <a:bodyPr wrap="square" lIns="0" tIns="0" rIns="0" bIns="0" anchor="t">
            <a:noAutofit/>
          </a:bodyPr>
          <a:lstStyle/>
          <a:p>
            <a:endParaRPr lang="es-CL"/>
          </a:p>
        </p:txBody>
      </p:sp>
      <p:sp>
        <p:nvSpPr>
          <p:cNvPr id="1080" name="sh1080"/>
          <p:cNvSpPr/>
          <p:nvPr/>
        </p:nvSpPr>
        <p:spPr>
          <a:xfrm>
            <a:off x="7569200" y="3784600"/>
            <a:ext cx="109220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2406E"/>
                </a:solidFill>
              </a:rPr>
              <a:t>15</a:t>
            </a:r>
          </a:p>
        </p:txBody>
      </p:sp>
      <p:sp>
        <p:nvSpPr>
          <p:cNvPr id="1081" name="sh1081"/>
          <p:cNvSpPr/>
          <p:nvPr/>
        </p:nvSpPr>
        <p:spPr>
          <a:xfrm>
            <a:off x="7569200" y="4013200"/>
            <a:ext cx="109220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MEDICIÓN</a:t>
            </a:r>
          </a:p>
        </p:txBody>
      </p:sp>
      <p:sp>
        <p:nvSpPr>
          <p:cNvPr id="1082" name="sh1082"/>
          <p:cNvSpPr/>
          <p:nvPr/>
        </p:nvSpPr>
        <p:spPr>
          <a:xfrm>
            <a:off x="8750300" y="41529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83" name="sh1083"/>
          <p:cNvSpPr/>
          <p:nvPr/>
        </p:nvSpPr>
        <p:spPr>
          <a:xfrm>
            <a:off x="8839200" y="3657600"/>
            <a:ext cx="124460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84" name="sh1084"/>
          <p:cNvSpPr/>
          <p:nvPr/>
        </p:nvSpPr>
        <p:spPr>
          <a:xfrm>
            <a:off x="8839200" y="3657600"/>
            <a:ext cx="1244600" cy="31750"/>
          </a:xfrm>
          <a:prstGeom prst="rect">
            <a:avLst/>
          </a:prstGeom>
          <a:solidFill>
            <a:srgbClr val="12406E"/>
          </a:solidFill>
          <a:ln>
            <a:noFill/>
          </a:ln>
        </p:spPr>
        <p:txBody>
          <a:bodyPr wrap="square" lIns="0" tIns="0" rIns="0" bIns="0" anchor="t">
            <a:noAutofit/>
          </a:bodyPr>
          <a:lstStyle/>
          <a:p>
            <a:endParaRPr lang="es-CL"/>
          </a:p>
        </p:txBody>
      </p:sp>
      <p:sp>
        <p:nvSpPr>
          <p:cNvPr id="1085" name="sh1085"/>
          <p:cNvSpPr/>
          <p:nvPr/>
        </p:nvSpPr>
        <p:spPr>
          <a:xfrm>
            <a:off x="8915400" y="3784600"/>
            <a:ext cx="109220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2406E"/>
                </a:solidFill>
              </a:rPr>
              <a:t>16</a:t>
            </a:r>
          </a:p>
        </p:txBody>
      </p:sp>
      <p:sp>
        <p:nvSpPr>
          <p:cNvPr id="1086" name="sh1086"/>
          <p:cNvSpPr/>
          <p:nvPr/>
        </p:nvSpPr>
        <p:spPr>
          <a:xfrm>
            <a:off x="8915400" y="4013200"/>
            <a:ext cx="109220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ANÁLISIS ESTADÍSTICO</a:t>
            </a:r>
          </a:p>
        </p:txBody>
      </p:sp>
      <p:sp>
        <p:nvSpPr>
          <p:cNvPr id="1087" name="sh1087"/>
          <p:cNvSpPr/>
          <p:nvPr/>
        </p:nvSpPr>
        <p:spPr>
          <a:xfrm>
            <a:off x="10096500" y="4152900"/>
            <a:ext cx="76200" cy="0"/>
          </a:xfrm>
          <a:prstGeom prst="line">
            <a:avLst/>
          </a:prstGeom>
          <a:noFill/>
          <a:ln w="12700">
            <a:solidFill>
              <a:srgbClr val="9FB3C8"/>
            </a:solidFill>
            <a:tailEnd type="triangle" w="sm" len="sm"/>
          </a:ln>
        </p:spPr>
        <p:txBody>
          <a:bodyPr wrap="square" lIns="0" tIns="0" rIns="0" bIns="0" anchor="t">
            <a:noAutofit/>
          </a:bodyPr>
          <a:lstStyle/>
          <a:p>
            <a:endParaRPr lang="es-CL"/>
          </a:p>
        </p:txBody>
      </p:sp>
      <p:sp>
        <p:nvSpPr>
          <p:cNvPr id="1088" name="sh1088"/>
          <p:cNvSpPr/>
          <p:nvPr/>
        </p:nvSpPr>
        <p:spPr>
          <a:xfrm>
            <a:off x="10185400" y="3657600"/>
            <a:ext cx="1244600" cy="9906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89" name="sh1089"/>
          <p:cNvSpPr/>
          <p:nvPr/>
        </p:nvSpPr>
        <p:spPr>
          <a:xfrm>
            <a:off x="10185400" y="3657600"/>
            <a:ext cx="1244600" cy="31750"/>
          </a:xfrm>
          <a:prstGeom prst="rect">
            <a:avLst/>
          </a:prstGeom>
          <a:solidFill>
            <a:srgbClr val="12406E"/>
          </a:solidFill>
          <a:ln>
            <a:noFill/>
          </a:ln>
        </p:spPr>
        <p:txBody>
          <a:bodyPr wrap="square" lIns="0" tIns="0" rIns="0" bIns="0" anchor="t">
            <a:noAutofit/>
          </a:bodyPr>
          <a:lstStyle/>
          <a:p>
            <a:endParaRPr lang="es-CL"/>
          </a:p>
        </p:txBody>
      </p:sp>
      <p:sp>
        <p:nvSpPr>
          <p:cNvPr id="1090" name="sh1090"/>
          <p:cNvSpPr/>
          <p:nvPr/>
        </p:nvSpPr>
        <p:spPr>
          <a:xfrm>
            <a:off x="10261600" y="3784600"/>
            <a:ext cx="1092200" cy="165100"/>
          </a:xfrm>
          <a:prstGeom prst="rect">
            <a:avLst/>
          </a:prstGeom>
          <a:noFill/>
          <a:ln>
            <a:noFill/>
          </a:ln>
        </p:spPr>
        <p:txBody>
          <a:bodyPr wrap="square" lIns="0" tIns="0" rIns="0" bIns="0" anchor="t">
            <a:noAutofit/>
          </a:bodyPr>
          <a:lstStyle/>
          <a:p>
            <a:pPr algn="l">
              <a:lnSpc>
                <a:spcPct val="100000"/>
              </a:lnSpc>
              <a:buNone/>
            </a:pPr>
            <a:r>
              <a:rPr lang="es-CL" sz="1000" b="1" spc="0" dirty="0">
                <a:solidFill>
                  <a:srgbClr val="12406E"/>
                </a:solidFill>
              </a:rPr>
              <a:t>17</a:t>
            </a:r>
          </a:p>
        </p:txBody>
      </p:sp>
      <p:sp>
        <p:nvSpPr>
          <p:cNvPr id="1091" name="sh1091"/>
          <p:cNvSpPr/>
          <p:nvPr/>
        </p:nvSpPr>
        <p:spPr>
          <a:xfrm>
            <a:off x="10261600" y="4013200"/>
            <a:ext cx="1092200" cy="533400"/>
          </a:xfrm>
          <a:prstGeom prst="rect">
            <a:avLst/>
          </a:prstGeom>
          <a:noFill/>
          <a:ln>
            <a:noFill/>
          </a:ln>
        </p:spPr>
        <p:txBody>
          <a:bodyPr wrap="square" lIns="0" tIns="0" rIns="0" bIns="0" anchor="t">
            <a:noAutofit/>
          </a:bodyPr>
          <a:lstStyle/>
          <a:p>
            <a:pPr algn="l">
              <a:lnSpc>
                <a:spcPct val="110000"/>
              </a:lnSpc>
              <a:buNone/>
            </a:pPr>
            <a:r>
              <a:rPr lang="es-CL" sz="1000" b="1" spc="0" dirty="0">
                <a:solidFill>
                  <a:srgbClr val="0A1524"/>
                </a:solidFill>
              </a:rPr>
              <a:t>INTERPRETACIÓN + SÍNTESIS</a:t>
            </a:r>
          </a:p>
        </p:txBody>
      </p:sp>
      <p:sp>
        <p:nvSpPr>
          <p:cNvPr id="1092" name="sh1092"/>
          <p:cNvSpPr/>
          <p:nvPr/>
        </p:nvSpPr>
        <p:spPr>
          <a:xfrm>
            <a:off x="762000" y="4800600"/>
            <a:ext cx="5207000" cy="38100"/>
          </a:xfrm>
          <a:prstGeom prst="rect">
            <a:avLst/>
          </a:prstGeom>
          <a:solidFill>
            <a:srgbClr val="2ED3E8"/>
          </a:solidFill>
          <a:ln>
            <a:noFill/>
          </a:ln>
        </p:spPr>
        <p:txBody>
          <a:bodyPr wrap="square" lIns="0" tIns="0" rIns="0" bIns="0" anchor="t">
            <a:noAutofit/>
          </a:bodyPr>
          <a:lstStyle/>
          <a:p>
            <a:endParaRPr lang="es-CL"/>
          </a:p>
        </p:txBody>
      </p:sp>
      <p:sp>
        <p:nvSpPr>
          <p:cNvPr id="1093" name="sh1093"/>
          <p:cNvSpPr/>
          <p:nvPr/>
        </p:nvSpPr>
        <p:spPr>
          <a:xfrm>
            <a:off x="762000" y="4927600"/>
            <a:ext cx="5207000" cy="190500"/>
          </a:xfrm>
          <a:prstGeom prst="rect">
            <a:avLst/>
          </a:prstGeom>
          <a:noFill/>
          <a:ln>
            <a:noFill/>
          </a:ln>
        </p:spPr>
        <p:txBody>
          <a:bodyPr wrap="square" lIns="0" tIns="0" rIns="0" bIns="0" anchor="ctr">
            <a:noAutofit/>
          </a:bodyPr>
          <a:lstStyle/>
          <a:p>
            <a:pPr algn="l">
              <a:lnSpc>
                <a:spcPct val="100000"/>
              </a:lnSpc>
              <a:buNone/>
            </a:pPr>
            <a:r>
              <a:rPr lang="es-CL" sz="1150" b="1" spc="80" dirty="0">
                <a:solidFill>
                  <a:srgbClr val="12406E"/>
                </a:solidFill>
              </a:rPr>
              <a:t>09 · SELECCIÓN DEL EXTRACTOR</a:t>
            </a:r>
          </a:p>
        </p:txBody>
      </p:sp>
      <p:sp>
        <p:nvSpPr>
          <p:cNvPr id="1094" name="sh1094"/>
          <p:cNvSpPr/>
          <p:nvPr/>
        </p:nvSpPr>
        <p:spPr>
          <a:xfrm>
            <a:off x="762000" y="5156200"/>
            <a:ext cx="5207000" cy="838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1E3A52"/>
                </a:solidFill>
              </a:rPr>
              <a:t>El extractor se selecciona con criterios predefinidos en el Experimento A y luego se congela: modelo, versión, prompt y parámetros. C2 se construye exclusivamente con su salida automática.</a:t>
            </a:r>
          </a:p>
        </p:txBody>
      </p:sp>
      <p:sp>
        <p:nvSpPr>
          <p:cNvPr id="1095" name="sh1095"/>
          <p:cNvSpPr/>
          <p:nvPr/>
        </p:nvSpPr>
        <p:spPr>
          <a:xfrm>
            <a:off x="6223000" y="4800600"/>
            <a:ext cx="5207000" cy="38100"/>
          </a:xfrm>
          <a:prstGeom prst="rect">
            <a:avLst/>
          </a:prstGeom>
          <a:solidFill>
            <a:srgbClr val="2ED3E8"/>
          </a:solidFill>
          <a:ln>
            <a:noFill/>
          </a:ln>
        </p:spPr>
        <p:txBody>
          <a:bodyPr wrap="square" lIns="0" tIns="0" rIns="0" bIns="0" anchor="t">
            <a:noAutofit/>
          </a:bodyPr>
          <a:lstStyle/>
          <a:p>
            <a:endParaRPr lang="es-CL"/>
          </a:p>
        </p:txBody>
      </p:sp>
      <p:sp>
        <p:nvSpPr>
          <p:cNvPr id="1096" name="sh1096"/>
          <p:cNvSpPr/>
          <p:nvPr/>
        </p:nvSpPr>
        <p:spPr>
          <a:xfrm>
            <a:off x="6223000" y="4927600"/>
            <a:ext cx="5207000" cy="190500"/>
          </a:xfrm>
          <a:prstGeom prst="rect">
            <a:avLst/>
          </a:prstGeom>
          <a:noFill/>
          <a:ln>
            <a:noFill/>
          </a:ln>
        </p:spPr>
        <p:txBody>
          <a:bodyPr wrap="square" lIns="0" tIns="0" rIns="0" bIns="0" anchor="ctr">
            <a:noAutofit/>
          </a:bodyPr>
          <a:lstStyle/>
          <a:p>
            <a:pPr algn="l">
              <a:lnSpc>
                <a:spcPct val="100000"/>
              </a:lnSpc>
              <a:buNone/>
            </a:pPr>
            <a:r>
              <a:rPr lang="es-CL" sz="1150" b="1" spc="80" dirty="0">
                <a:solidFill>
                  <a:srgbClr val="12406E"/>
                </a:solidFill>
              </a:rPr>
              <a:t>13 · CONFIGURACIÓN DEL EXPERIMENTO B</a:t>
            </a:r>
          </a:p>
        </p:txBody>
      </p:sp>
      <p:sp>
        <p:nvSpPr>
          <p:cNvPr id="1097" name="sh1097"/>
          <p:cNvSpPr/>
          <p:nvPr/>
        </p:nvSpPr>
        <p:spPr>
          <a:xfrm>
            <a:off x="6223000" y="5156200"/>
            <a:ext cx="5207000" cy="838200"/>
          </a:xfrm>
          <a:prstGeom prst="rect">
            <a:avLst/>
          </a:prstGeom>
          <a:noFill/>
          <a:ln>
            <a:noFill/>
          </a:ln>
        </p:spPr>
        <p:txBody>
          <a:bodyPr wrap="square" lIns="0" tIns="0" rIns="0" bIns="0" anchor="t">
            <a:noAutofit/>
          </a:bodyPr>
          <a:lstStyle/>
          <a:p>
            <a:pPr algn="l">
              <a:lnSpc>
                <a:spcPct val="130000"/>
              </a:lnSpc>
              <a:buNone/>
            </a:pPr>
            <a:r>
              <a:rPr lang="es-CL" sz="1100" b="0" spc="0" dirty="0">
                <a:solidFill>
                  <a:srgbClr val="1E3A52"/>
                </a:solidFill>
              </a:rPr>
              <a:t>Quedan documentados el banco y sus estratos, N o sus niveles, los valores de k, las métricas y fórmulas, el extractor seleccionado, el generador y su prompt, el presupuesto de contexto, el procedimiento estadístico y los criterios de exclusión o tratamiento de casos ambiguos.</a:t>
            </a:r>
          </a:p>
        </p:txBody>
      </p:sp>
      <p:sp>
        <p:nvSpPr>
          <p:cNvPr id="1098" name="sh1098"/>
          <p:cNvSpPr/>
          <p:nvPr/>
        </p:nvSpPr>
        <p:spPr>
          <a:xfrm>
            <a:off x="762000" y="6070600"/>
            <a:ext cx="38100" cy="279400"/>
          </a:xfrm>
          <a:prstGeom prst="rect">
            <a:avLst/>
          </a:prstGeom>
          <a:solidFill>
            <a:srgbClr val="2ED3E8"/>
          </a:solidFill>
          <a:ln>
            <a:noFill/>
          </a:ln>
        </p:spPr>
        <p:txBody>
          <a:bodyPr wrap="square" lIns="0" tIns="0" rIns="0" bIns="0" anchor="t">
            <a:noAutofit/>
          </a:bodyPr>
          <a:lstStyle/>
          <a:p>
            <a:endParaRPr lang="es-CL"/>
          </a:p>
        </p:txBody>
      </p:sp>
      <p:sp>
        <p:nvSpPr>
          <p:cNvPr id="1099" name="sh1099"/>
          <p:cNvSpPr/>
          <p:nvPr/>
        </p:nvSpPr>
        <p:spPr>
          <a:xfrm>
            <a:off x="990600" y="6070600"/>
            <a:ext cx="10414000" cy="279400"/>
          </a:xfrm>
          <a:prstGeom prst="rect">
            <a:avLst/>
          </a:prstGeom>
          <a:noFill/>
          <a:ln>
            <a:noFill/>
          </a:ln>
        </p:spPr>
        <p:txBody>
          <a:bodyPr wrap="square" lIns="0" tIns="0" rIns="0" bIns="0" anchor="ctr">
            <a:noAutofit/>
          </a:bodyPr>
          <a:lstStyle/>
          <a:p>
            <a:pPr algn="l">
              <a:lnSpc>
                <a:spcPct val="100000"/>
              </a:lnSpc>
              <a:buNone/>
            </a:pPr>
            <a:r>
              <a:rPr lang="es-CL" sz="1250" b="1" spc="0" dirty="0">
                <a:solidFill>
                  <a:srgbClr val="12406E"/>
                </a:solidFill>
              </a:rPr>
              <a:t>Antes del análisis final, las decisiones metodológicas principales quedan documentadas y versionadas para reducir grados de libertad analíticos.</a:t>
            </a:r>
          </a:p>
        </p:txBody>
      </p:sp>
      <p:sp>
        <p:nvSpPr>
          <p:cNvPr id="1701" name="gateTop"/>
          <p:cNvSpPr/>
          <p:nvPr/>
        </p:nvSpPr>
        <p:spPr>
          <a:xfrm>
            <a:off x="4800600" y="3657600"/>
            <a:ext cx="1244600" cy="31750"/>
          </a:xfrm>
          <a:prstGeom prst="rect">
            <a:avLst/>
          </a:prstGeom>
          <a:solidFill>
            <a:srgbClr val="2ED3E8"/>
          </a:solidFill>
          <a:ln>
            <a:noFill/>
          </a:ln>
        </p:spPr>
        <p:txBody>
          <a:bodyPr/>
          <a:lstStyle/>
          <a:p>
            <a:endParaRPr lang="es-CL"/>
          </a:p>
        </p:txBody>
      </p:sp>
      <p:sp>
        <p:nvSpPr>
          <p:cNvPr id="1751" name="gateArrow"/>
          <p:cNvSpPr/>
          <p:nvPr/>
        </p:nvSpPr>
        <p:spPr>
          <a:xfrm>
            <a:off x="4711700" y="4152900"/>
            <a:ext cx="76200" cy="0"/>
          </a:xfrm>
          <a:prstGeom prst="line">
            <a:avLst/>
          </a:prstGeom>
          <a:ln w="12700">
            <a:solidFill>
              <a:srgbClr val="5A7290"/>
            </a:solidFill>
            <a:tailEnd type="triangle" w="sm" len="sm"/>
          </a:ln>
        </p:spPr>
        <p:txBody>
          <a:bodyPr/>
          <a:lstStyle/>
          <a:p>
            <a:endParaRPr lang="es-CL"/>
          </a:p>
        </p:txBody>
      </p:sp>
      <p:sp>
        <p:nvSpPr>
          <p:cNvPr id="2" name="accentTop06">
            <a:extLst>
              <a:ext uri="{FF2B5EF4-FFF2-40B4-BE49-F238E27FC236}">
                <a16:creationId xmlns:a16="http://schemas.microsoft.com/office/drawing/2014/main" id="{057497CA-6B60-1641-83E6-4934527803E1}"/>
              </a:ext>
            </a:extLst>
          </p:cNvPr>
          <p:cNvSpPr/>
          <p:nvPr/>
        </p:nvSpPr>
        <p:spPr>
          <a:xfrm>
            <a:off x="6743700" y="2152650"/>
            <a:ext cx="1094740" cy="38100"/>
          </a:xfrm>
          <a:prstGeom prst="rect">
            <a:avLst/>
          </a:prstGeom>
          <a:solidFill>
            <a:srgbClr val="1D5C9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L"/>
          </a:p>
        </p:txBody>
      </p:sp>
    </p:spTree>
    <p:extLst>
      <p:ext uri="{BB962C8B-B14F-4D97-AF65-F5344CB8AC3E}">
        <p14:creationId xmlns:p14="http://schemas.microsoft.com/office/powerpoint/2010/main" val="96575990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CRITERIOS DOCUMENTADOS Y VERSIONADOS</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400" b="1" spc="0" dirty="0">
                <a:solidFill>
                  <a:srgbClr val="12406E"/>
                </a:solidFill>
              </a:rPr>
              <a:t>Qué debe quedar fijado antes del análisis final</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[ 31 ]</a:t>
            </a:r>
          </a:p>
        </p:txBody>
      </p:sp>
      <p:sp>
        <p:nvSpPr>
          <p:cNvPr id="1005" name="sh1005"/>
          <p:cNvSpPr/>
          <p:nvPr/>
        </p:nvSpPr>
        <p:spPr>
          <a:xfrm>
            <a:off x="762000" y="1930400"/>
            <a:ext cx="3429000" cy="38100"/>
          </a:xfrm>
          <a:prstGeom prst="rect">
            <a:avLst/>
          </a:prstGeom>
          <a:solidFill>
            <a:srgbClr val="12406E"/>
          </a:solidFill>
          <a:ln>
            <a:noFill/>
          </a:ln>
        </p:spPr>
        <p:txBody>
          <a:bodyPr/>
          <a:lstStyle/>
          <a:p>
            <a:endParaRPr lang="es-CL"/>
          </a:p>
        </p:txBody>
      </p:sp>
      <p:sp>
        <p:nvSpPr>
          <p:cNvPr id="1006" name="sh1006"/>
          <p:cNvSpPr/>
          <p:nvPr/>
        </p:nvSpPr>
        <p:spPr>
          <a:xfrm>
            <a:off x="762000" y="2082800"/>
            <a:ext cx="3429000" cy="279400"/>
          </a:xfrm>
          <a:prstGeom prst="rect">
            <a:avLst/>
          </a:prstGeom>
          <a:noFill/>
          <a:ln>
            <a:noFill/>
          </a:ln>
        </p:spPr>
        <p:txBody>
          <a:bodyPr wrap="square" lIns="0" tIns="0" rIns="0" bIns="0" anchor="ctr">
            <a:noAutofit/>
          </a:bodyPr>
          <a:lstStyle/>
          <a:p>
            <a:pPr algn="l">
              <a:lnSpc>
                <a:spcPct val="100000"/>
              </a:lnSpc>
              <a:buNone/>
            </a:pPr>
            <a:r>
              <a:rPr lang="es-CL" sz="1700" b="1" spc="20" dirty="0">
                <a:solidFill>
                  <a:srgbClr val="12406E"/>
                </a:solidFill>
              </a:rPr>
              <a:t>DEFINICIÓN</a:t>
            </a:r>
          </a:p>
        </p:txBody>
      </p:sp>
      <p:sp>
        <p:nvSpPr>
          <p:cNvPr id="1007" name="sh1007"/>
          <p:cNvSpPr/>
          <p:nvPr/>
        </p:nvSpPr>
        <p:spPr>
          <a:xfrm>
            <a:off x="762000" y="2413000"/>
            <a:ext cx="34290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5A7290"/>
                </a:solidFill>
              </a:rPr>
              <a:t>¿Qué cuenta como decisión?</a:t>
            </a:r>
          </a:p>
        </p:txBody>
      </p:sp>
      <p:sp>
        <p:nvSpPr>
          <p:cNvPr id="1008" name="sh1008"/>
          <p:cNvSpPr/>
          <p:nvPr/>
        </p:nvSpPr>
        <p:spPr>
          <a:xfrm>
            <a:off x="762000" y="29972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DEFINICIÓN OPERACIONAL</a:t>
            </a:r>
          </a:p>
        </p:txBody>
      </p:sp>
      <p:sp>
        <p:nvSpPr>
          <p:cNvPr id="1009" name="sh1009"/>
          <p:cNvSpPr/>
          <p:nvPr/>
        </p:nvSpPr>
        <p:spPr>
          <a:xfrm>
            <a:off x="2476500" y="3429000"/>
            <a:ext cx="0" cy="127000"/>
          </a:xfrm>
          <a:prstGeom prst="line">
            <a:avLst/>
          </a:prstGeom>
          <a:noFill/>
          <a:ln w="15875">
            <a:solidFill>
              <a:srgbClr val="12406E"/>
            </a:solidFill>
            <a:tailEnd type="triangle" w="med" len="med"/>
          </a:ln>
        </p:spPr>
        <p:txBody>
          <a:bodyPr/>
          <a:lstStyle/>
          <a:p>
            <a:endParaRPr lang="es-CL"/>
          </a:p>
        </p:txBody>
      </p:sp>
      <p:sp>
        <p:nvSpPr>
          <p:cNvPr id="1010" name="sh1010"/>
          <p:cNvSpPr/>
          <p:nvPr/>
        </p:nvSpPr>
        <p:spPr>
          <a:xfrm>
            <a:off x="762000" y="35560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MANUAL DE ANOTACIÓN</a:t>
            </a:r>
          </a:p>
        </p:txBody>
      </p:sp>
      <p:sp>
        <p:nvSpPr>
          <p:cNvPr id="1011" name="sh1011"/>
          <p:cNvSpPr/>
          <p:nvPr/>
        </p:nvSpPr>
        <p:spPr>
          <a:xfrm>
            <a:off x="2476500" y="3987800"/>
            <a:ext cx="0" cy="127000"/>
          </a:xfrm>
          <a:prstGeom prst="line">
            <a:avLst/>
          </a:prstGeom>
          <a:noFill/>
          <a:ln w="15875">
            <a:solidFill>
              <a:srgbClr val="12406E"/>
            </a:solidFill>
            <a:tailEnd type="triangle" w="med" len="med"/>
          </a:ln>
        </p:spPr>
        <p:txBody>
          <a:bodyPr/>
          <a:lstStyle/>
          <a:p>
            <a:endParaRPr lang="es-CL"/>
          </a:p>
        </p:txBody>
      </p:sp>
      <p:sp>
        <p:nvSpPr>
          <p:cNvPr id="1012" name="sh1012"/>
          <p:cNvSpPr/>
          <p:nvPr/>
        </p:nvSpPr>
        <p:spPr>
          <a:xfrm>
            <a:off x="762000" y="41148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IDENTIDAD Y EVOLUCIÓN</a:t>
            </a:r>
          </a:p>
        </p:txBody>
      </p:sp>
      <p:sp>
        <p:nvSpPr>
          <p:cNvPr id="1013" name="sh1013"/>
          <p:cNvSpPr/>
          <p:nvPr/>
        </p:nvSpPr>
        <p:spPr>
          <a:xfrm>
            <a:off x="2476500" y="4546600"/>
            <a:ext cx="0" cy="127000"/>
          </a:xfrm>
          <a:prstGeom prst="line">
            <a:avLst/>
          </a:prstGeom>
          <a:noFill/>
          <a:ln w="15875">
            <a:solidFill>
              <a:srgbClr val="12406E"/>
            </a:solidFill>
            <a:tailEnd type="triangle" w="med" len="med"/>
          </a:ln>
        </p:spPr>
        <p:txBody>
          <a:bodyPr/>
          <a:lstStyle/>
          <a:p>
            <a:endParaRPr lang="es-CL"/>
          </a:p>
        </p:txBody>
      </p:sp>
      <p:sp>
        <p:nvSpPr>
          <p:cNvPr id="1014" name="sh1014"/>
          <p:cNvSpPr/>
          <p:nvPr/>
        </p:nvSpPr>
        <p:spPr>
          <a:xfrm>
            <a:off x="762000" y="4673600"/>
            <a:ext cx="3429000" cy="431800"/>
          </a:xfrm>
          <a:prstGeom prst="rect">
            <a:avLst/>
          </a:prstGeom>
          <a:solidFill>
            <a:srgbClr val="12406E"/>
          </a:solidFill>
          <a:ln>
            <a:noFill/>
          </a:ln>
        </p:spPr>
        <p:txBody>
          <a:bodyPr wrap="square" lIns="0" tIns="0" rIns="0" bIns="0" anchor="ctr">
            <a:noAutofit/>
          </a:bodyPr>
          <a:lstStyle/>
          <a:p>
            <a:pPr algn="ctr">
              <a:lnSpc>
                <a:spcPct val="100000"/>
              </a:lnSpc>
              <a:buNone/>
            </a:pPr>
            <a:r>
              <a:rPr lang="es-CL" sz="1300" b="1" spc="0" dirty="0">
                <a:solidFill>
                  <a:srgbClr val="FFFFFF"/>
                </a:solidFill>
              </a:rPr>
              <a:t>EXCLUSIONES Y CASOS AMBIGUOS</a:t>
            </a:r>
          </a:p>
        </p:txBody>
      </p:sp>
      <p:sp>
        <p:nvSpPr>
          <p:cNvPr id="1015" name="sh1015"/>
          <p:cNvSpPr/>
          <p:nvPr/>
        </p:nvSpPr>
        <p:spPr>
          <a:xfrm>
            <a:off x="762000" y="5511800"/>
            <a:ext cx="3429000" cy="304800"/>
          </a:xfrm>
          <a:prstGeom prst="rect">
            <a:avLst/>
          </a:prstGeom>
          <a:noFill/>
          <a:ln>
            <a:noFill/>
          </a:ln>
        </p:spPr>
        <p:txBody>
          <a:bodyPr wrap="square" lIns="0" tIns="0" rIns="0" bIns="0" anchor="t">
            <a:noAutofit/>
          </a:bodyPr>
          <a:lstStyle/>
          <a:p>
            <a:pPr algn="l">
              <a:lnSpc>
                <a:spcPct val="120000"/>
              </a:lnSpc>
              <a:buNone/>
            </a:pPr>
            <a:r>
              <a:rPr lang="es-CL" sz="1150" b="0" spc="0" dirty="0">
                <a:solidFill>
                  <a:srgbClr val="4A5F78"/>
                </a:solidFill>
              </a:rPr>
              <a:t>Manual de anotación congelado antes de construir el Ground Truth.</a:t>
            </a:r>
          </a:p>
        </p:txBody>
      </p:sp>
      <p:sp>
        <p:nvSpPr>
          <p:cNvPr id="1016" name="sh1016"/>
          <p:cNvSpPr/>
          <p:nvPr/>
        </p:nvSpPr>
        <p:spPr>
          <a:xfrm>
            <a:off x="4381500" y="1930400"/>
            <a:ext cx="3429000" cy="38100"/>
          </a:xfrm>
          <a:prstGeom prst="rect">
            <a:avLst/>
          </a:prstGeom>
          <a:solidFill>
            <a:srgbClr val="1D5C9E"/>
          </a:solidFill>
          <a:ln>
            <a:noFill/>
          </a:ln>
        </p:spPr>
        <p:txBody>
          <a:bodyPr/>
          <a:lstStyle/>
          <a:p>
            <a:endParaRPr lang="es-CL"/>
          </a:p>
        </p:txBody>
      </p:sp>
      <p:sp>
        <p:nvSpPr>
          <p:cNvPr id="1017" name="sh1017"/>
          <p:cNvSpPr/>
          <p:nvPr/>
        </p:nvSpPr>
        <p:spPr>
          <a:xfrm>
            <a:off x="4381500" y="2082800"/>
            <a:ext cx="3429000" cy="279400"/>
          </a:xfrm>
          <a:prstGeom prst="rect">
            <a:avLst/>
          </a:prstGeom>
          <a:noFill/>
          <a:ln>
            <a:noFill/>
          </a:ln>
        </p:spPr>
        <p:txBody>
          <a:bodyPr wrap="square" lIns="0" tIns="0" rIns="0" bIns="0" anchor="ctr">
            <a:noAutofit/>
          </a:bodyPr>
          <a:lstStyle/>
          <a:p>
            <a:pPr algn="l">
              <a:lnSpc>
                <a:spcPct val="100000"/>
              </a:lnSpc>
              <a:buNone/>
            </a:pPr>
            <a:r>
              <a:rPr lang="es-CL" sz="1700" b="1" spc="20" dirty="0">
                <a:solidFill>
                  <a:srgbClr val="1D5C9E"/>
                </a:solidFill>
              </a:rPr>
              <a:t>DATOS</a:t>
            </a:r>
          </a:p>
        </p:txBody>
      </p:sp>
      <p:sp>
        <p:nvSpPr>
          <p:cNvPr id="1018" name="sh1018"/>
          <p:cNvSpPr/>
          <p:nvPr/>
        </p:nvSpPr>
        <p:spPr>
          <a:xfrm>
            <a:off x="4381500" y="2413000"/>
            <a:ext cx="34290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5A7290"/>
                </a:solidFill>
              </a:rPr>
              <a:t>¿Sobre qué se mide?</a:t>
            </a:r>
          </a:p>
        </p:txBody>
      </p:sp>
      <p:sp>
        <p:nvSpPr>
          <p:cNvPr id="1019" name="sh1019"/>
          <p:cNvSpPr/>
          <p:nvPr/>
        </p:nvSpPr>
        <p:spPr>
          <a:xfrm>
            <a:off x="4381500" y="29972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PARTICIÓN DEL CORPUS</a:t>
            </a:r>
          </a:p>
        </p:txBody>
      </p:sp>
      <p:sp>
        <p:nvSpPr>
          <p:cNvPr id="1020" name="sh1020"/>
          <p:cNvSpPr/>
          <p:nvPr/>
        </p:nvSpPr>
        <p:spPr>
          <a:xfrm>
            <a:off x="6096000" y="3429000"/>
            <a:ext cx="0" cy="127000"/>
          </a:xfrm>
          <a:prstGeom prst="line">
            <a:avLst/>
          </a:prstGeom>
          <a:noFill/>
          <a:ln w="15875">
            <a:solidFill>
              <a:srgbClr val="1D5C9E"/>
            </a:solidFill>
            <a:tailEnd type="triangle" w="med" len="med"/>
          </a:ln>
        </p:spPr>
        <p:txBody>
          <a:bodyPr/>
          <a:lstStyle/>
          <a:p>
            <a:endParaRPr lang="es-CL"/>
          </a:p>
        </p:txBody>
      </p:sp>
      <p:sp>
        <p:nvSpPr>
          <p:cNvPr id="1021" name="sh1021"/>
          <p:cNvSpPr/>
          <p:nvPr/>
        </p:nvSpPr>
        <p:spPr>
          <a:xfrm>
            <a:off x="4381500" y="35560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GROUND TRUTH ADJUDICADO</a:t>
            </a:r>
          </a:p>
        </p:txBody>
      </p:sp>
      <p:sp>
        <p:nvSpPr>
          <p:cNvPr id="1022" name="sh1022"/>
          <p:cNvSpPr/>
          <p:nvPr/>
        </p:nvSpPr>
        <p:spPr>
          <a:xfrm>
            <a:off x="6096000" y="3987800"/>
            <a:ext cx="0" cy="127000"/>
          </a:xfrm>
          <a:prstGeom prst="line">
            <a:avLst/>
          </a:prstGeom>
          <a:noFill/>
          <a:ln w="15875">
            <a:solidFill>
              <a:srgbClr val="1D5C9E"/>
            </a:solidFill>
            <a:tailEnd type="triangle" w="med" len="med"/>
          </a:ln>
        </p:spPr>
        <p:txBody>
          <a:bodyPr/>
          <a:lstStyle/>
          <a:p>
            <a:endParaRPr lang="es-CL"/>
          </a:p>
        </p:txBody>
      </p:sp>
      <p:sp>
        <p:nvSpPr>
          <p:cNvPr id="1024" name="sh1024"/>
          <p:cNvSpPr/>
          <p:nvPr/>
        </p:nvSpPr>
        <p:spPr>
          <a:xfrm>
            <a:off x="6096000" y="4546600"/>
            <a:ext cx="0" cy="127000"/>
          </a:xfrm>
          <a:prstGeom prst="line">
            <a:avLst/>
          </a:prstGeom>
          <a:noFill/>
          <a:ln w="15875">
            <a:solidFill>
              <a:srgbClr val="1D5C9E"/>
            </a:solidFill>
            <a:tailEnd type="triangle" w="med" len="med"/>
          </a:ln>
        </p:spPr>
        <p:txBody>
          <a:bodyPr/>
          <a:lstStyle/>
          <a:p>
            <a:endParaRPr lang="es-CL"/>
          </a:p>
        </p:txBody>
      </p:sp>
      <p:sp>
        <p:nvSpPr>
          <p:cNvPr id="1025" name="sh1025"/>
          <p:cNvSpPr/>
          <p:nvPr/>
        </p:nvSpPr>
        <p:spPr>
          <a:xfrm>
            <a:off x="4381500" y="41148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BANCO Q1–Q7 Y ESTRATOS</a:t>
            </a:r>
          </a:p>
        </p:txBody>
      </p:sp>
      <p:sp>
        <p:nvSpPr>
          <p:cNvPr id="1027" name="sh1027"/>
          <p:cNvSpPr/>
          <p:nvPr/>
        </p:nvSpPr>
        <p:spPr>
          <a:xfrm>
            <a:off x="4381500" y="4673600"/>
            <a:ext cx="3429000" cy="431800"/>
          </a:xfrm>
          <a:prstGeom prst="rect">
            <a:avLst/>
          </a:prstGeom>
          <a:solidFill>
            <a:srgbClr val="1D5C9E"/>
          </a:solidFill>
          <a:ln>
            <a:noFill/>
          </a:ln>
        </p:spPr>
        <p:txBody>
          <a:bodyPr wrap="square" lIns="0" tIns="0" rIns="0" bIns="0" anchor="ctr">
            <a:noAutofit/>
          </a:bodyPr>
          <a:lstStyle/>
          <a:p>
            <a:pPr algn="ctr">
              <a:lnSpc>
                <a:spcPct val="100000"/>
              </a:lnSpc>
              <a:buNone/>
            </a:pPr>
            <a:r>
              <a:rPr lang="es-CL" sz="1300" b="1" spc="0" dirty="0">
                <a:solidFill>
                  <a:srgbClr val="FFFFFF"/>
                </a:solidFill>
              </a:rPr>
              <a:t>REGLA O NIVELES DE N</a:t>
            </a:r>
          </a:p>
        </p:txBody>
      </p:sp>
      <p:sp>
        <p:nvSpPr>
          <p:cNvPr id="1028" name="sh1028"/>
          <p:cNvSpPr/>
          <p:nvPr/>
        </p:nvSpPr>
        <p:spPr>
          <a:xfrm>
            <a:off x="4381500" y="5511800"/>
            <a:ext cx="3429000" cy="304800"/>
          </a:xfrm>
          <a:prstGeom prst="rect">
            <a:avLst/>
          </a:prstGeom>
          <a:noFill/>
          <a:ln>
            <a:noFill/>
          </a:ln>
        </p:spPr>
        <p:txBody>
          <a:bodyPr wrap="square" lIns="0" tIns="0" rIns="0" bIns="0" anchor="t">
            <a:noAutofit/>
          </a:bodyPr>
          <a:lstStyle/>
          <a:p>
            <a:pPr algn="l">
              <a:lnSpc>
                <a:spcPct val="120000"/>
              </a:lnSpc>
              <a:buNone/>
            </a:pPr>
            <a:r>
              <a:rPr lang="es-CL" sz="1150" b="0" spc="0" dirty="0">
                <a:solidFill>
                  <a:srgbClr val="4A5F78"/>
                </a:solidFill>
              </a:rPr>
              <a:t>N o sus niveles se congelan antes del Experimento B.</a:t>
            </a:r>
          </a:p>
        </p:txBody>
      </p:sp>
      <p:sp>
        <p:nvSpPr>
          <p:cNvPr id="1029" name="sh1029"/>
          <p:cNvSpPr/>
          <p:nvPr/>
        </p:nvSpPr>
        <p:spPr>
          <a:xfrm>
            <a:off x="8001000" y="1930400"/>
            <a:ext cx="3429000" cy="38100"/>
          </a:xfrm>
          <a:prstGeom prst="rect">
            <a:avLst/>
          </a:prstGeom>
          <a:solidFill>
            <a:srgbClr val="0A6D82"/>
          </a:solidFill>
          <a:ln>
            <a:noFill/>
          </a:ln>
        </p:spPr>
        <p:txBody>
          <a:bodyPr/>
          <a:lstStyle/>
          <a:p>
            <a:endParaRPr lang="es-CL"/>
          </a:p>
        </p:txBody>
      </p:sp>
      <p:sp>
        <p:nvSpPr>
          <p:cNvPr id="1030" name="sh1030"/>
          <p:cNvSpPr/>
          <p:nvPr/>
        </p:nvSpPr>
        <p:spPr>
          <a:xfrm>
            <a:off x="8001000" y="2082800"/>
            <a:ext cx="3429000" cy="279400"/>
          </a:xfrm>
          <a:prstGeom prst="rect">
            <a:avLst/>
          </a:prstGeom>
          <a:noFill/>
          <a:ln>
            <a:noFill/>
          </a:ln>
        </p:spPr>
        <p:txBody>
          <a:bodyPr wrap="square" lIns="0" tIns="0" rIns="0" bIns="0" anchor="ctr">
            <a:noAutofit/>
          </a:bodyPr>
          <a:lstStyle/>
          <a:p>
            <a:pPr algn="l">
              <a:lnSpc>
                <a:spcPct val="100000"/>
              </a:lnSpc>
              <a:buNone/>
            </a:pPr>
            <a:r>
              <a:rPr lang="es-CL" sz="1700" b="1" spc="20" dirty="0">
                <a:solidFill>
                  <a:srgbClr val="0A6D82"/>
                </a:solidFill>
              </a:rPr>
              <a:t>EXPERIMENTO</a:t>
            </a:r>
          </a:p>
        </p:txBody>
      </p:sp>
      <p:sp>
        <p:nvSpPr>
          <p:cNvPr id="1031" name="sh1031"/>
          <p:cNvSpPr/>
          <p:nvPr/>
        </p:nvSpPr>
        <p:spPr>
          <a:xfrm>
            <a:off x="8001000" y="2413000"/>
            <a:ext cx="3429000" cy="203200"/>
          </a:xfrm>
          <a:prstGeom prst="rect">
            <a:avLst/>
          </a:prstGeom>
          <a:noFill/>
          <a:ln>
            <a:noFill/>
          </a:ln>
        </p:spPr>
        <p:txBody>
          <a:bodyPr wrap="square" lIns="0" tIns="0" rIns="0" bIns="0" anchor="ctr">
            <a:noAutofit/>
          </a:bodyPr>
          <a:lstStyle/>
          <a:p>
            <a:pPr algn="l">
              <a:lnSpc>
                <a:spcPct val="100000"/>
              </a:lnSpc>
              <a:buNone/>
            </a:pPr>
            <a:r>
              <a:rPr lang="es-CL" sz="1150" b="0" spc="0" dirty="0">
                <a:solidFill>
                  <a:srgbClr val="5A7290"/>
                </a:solidFill>
              </a:rPr>
              <a:t>¿Con qué se compara?</a:t>
            </a:r>
          </a:p>
        </p:txBody>
      </p:sp>
      <p:sp>
        <p:nvSpPr>
          <p:cNvPr id="1032" name="sh1032"/>
          <p:cNvSpPr/>
          <p:nvPr/>
        </p:nvSpPr>
        <p:spPr>
          <a:xfrm>
            <a:off x="8001000" y="29972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MÉTRICAS Y FÓRMULAS</a:t>
            </a:r>
          </a:p>
        </p:txBody>
      </p:sp>
      <p:sp>
        <p:nvSpPr>
          <p:cNvPr id="1033" name="sh1033"/>
          <p:cNvSpPr/>
          <p:nvPr/>
        </p:nvSpPr>
        <p:spPr>
          <a:xfrm>
            <a:off x="9715500" y="3429000"/>
            <a:ext cx="0" cy="127000"/>
          </a:xfrm>
          <a:prstGeom prst="line">
            <a:avLst/>
          </a:prstGeom>
          <a:noFill/>
          <a:ln w="15875">
            <a:solidFill>
              <a:srgbClr val="0A6D82"/>
            </a:solidFill>
            <a:tailEnd type="triangle" w="med" len="med"/>
          </a:ln>
        </p:spPr>
        <p:txBody>
          <a:bodyPr/>
          <a:lstStyle/>
          <a:p>
            <a:endParaRPr lang="es-CL"/>
          </a:p>
        </p:txBody>
      </p:sp>
      <p:sp>
        <p:nvSpPr>
          <p:cNvPr id="1034" name="sh1034"/>
          <p:cNvSpPr/>
          <p:nvPr/>
        </p:nvSpPr>
        <p:spPr>
          <a:xfrm>
            <a:off x="8001000" y="35560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150" b="1" spc="0" dirty="0">
                <a:solidFill>
                  <a:srgbClr val="0A1524"/>
                </a:solidFill>
              </a:rPr>
              <a:t>VALORES DE k · PRESUPUESTO DE CONTEXTO</a:t>
            </a:r>
          </a:p>
        </p:txBody>
      </p:sp>
      <p:sp>
        <p:nvSpPr>
          <p:cNvPr id="1035" name="sh1035"/>
          <p:cNvSpPr/>
          <p:nvPr/>
        </p:nvSpPr>
        <p:spPr>
          <a:xfrm>
            <a:off x="9715500" y="3987800"/>
            <a:ext cx="0" cy="127000"/>
          </a:xfrm>
          <a:prstGeom prst="line">
            <a:avLst/>
          </a:prstGeom>
          <a:noFill/>
          <a:ln w="15875">
            <a:solidFill>
              <a:srgbClr val="0A6D82"/>
            </a:solidFill>
            <a:tailEnd type="triangle" w="med" len="med"/>
          </a:ln>
        </p:spPr>
        <p:txBody>
          <a:bodyPr/>
          <a:lstStyle/>
          <a:p>
            <a:endParaRPr lang="es-CL"/>
          </a:p>
        </p:txBody>
      </p:sp>
      <p:sp>
        <p:nvSpPr>
          <p:cNvPr id="1036" name="sh1036"/>
          <p:cNvSpPr/>
          <p:nvPr/>
        </p:nvSpPr>
        <p:spPr>
          <a:xfrm>
            <a:off x="8001000" y="4114800"/>
            <a:ext cx="3429000" cy="431800"/>
          </a:xfrm>
          <a:prstGeom prst="rect">
            <a:avLst/>
          </a:prstGeom>
          <a:solidFill>
            <a:srgbClr val="F7FAFC"/>
          </a:solidFill>
          <a:ln w="12700">
            <a:solidFill>
              <a:srgbClr val="C6D4E2"/>
            </a:solidFill>
          </a:ln>
        </p:spPr>
        <p:txBody>
          <a:bodyPr wrap="square" lIns="0" tIns="0" rIns="0" bIns="0" anchor="ctr">
            <a:noAutofit/>
          </a:bodyPr>
          <a:lstStyle/>
          <a:p>
            <a:pPr algn="ctr">
              <a:lnSpc>
                <a:spcPct val="100000"/>
              </a:lnSpc>
              <a:buNone/>
            </a:pPr>
            <a:r>
              <a:rPr lang="es-CL" sz="1300" b="1" spc="0" dirty="0">
                <a:solidFill>
                  <a:srgbClr val="0A1524"/>
                </a:solidFill>
              </a:rPr>
              <a:t>CRITERIO Y EXTRACTOR SELECCIONADO</a:t>
            </a:r>
          </a:p>
        </p:txBody>
      </p:sp>
      <p:sp>
        <p:nvSpPr>
          <p:cNvPr id="1037" name="sh1037"/>
          <p:cNvSpPr/>
          <p:nvPr/>
        </p:nvSpPr>
        <p:spPr>
          <a:xfrm>
            <a:off x="9715500" y="4546600"/>
            <a:ext cx="0" cy="127000"/>
          </a:xfrm>
          <a:prstGeom prst="line">
            <a:avLst/>
          </a:prstGeom>
          <a:noFill/>
          <a:ln w="15875">
            <a:solidFill>
              <a:srgbClr val="0A6D82"/>
            </a:solidFill>
            <a:tailEnd type="triangle" w="med" len="med"/>
          </a:ln>
        </p:spPr>
        <p:txBody>
          <a:bodyPr/>
          <a:lstStyle/>
          <a:p>
            <a:endParaRPr lang="es-CL"/>
          </a:p>
        </p:txBody>
      </p:sp>
      <p:sp>
        <p:nvSpPr>
          <p:cNvPr id="1038" name="sh1038"/>
          <p:cNvSpPr/>
          <p:nvPr/>
        </p:nvSpPr>
        <p:spPr>
          <a:xfrm>
            <a:off x="8001000" y="4673600"/>
            <a:ext cx="3429000" cy="431800"/>
          </a:xfrm>
          <a:prstGeom prst="rect">
            <a:avLst/>
          </a:prstGeom>
          <a:solidFill>
            <a:srgbClr val="0A6D82"/>
          </a:solidFill>
          <a:ln>
            <a:noFill/>
          </a:ln>
        </p:spPr>
        <p:txBody>
          <a:bodyPr wrap="square" lIns="0" tIns="0" rIns="0" bIns="0" anchor="ctr">
            <a:noAutofit/>
          </a:bodyPr>
          <a:lstStyle/>
          <a:p>
            <a:pPr algn="ctr">
              <a:lnSpc>
                <a:spcPct val="100000"/>
              </a:lnSpc>
              <a:buNone/>
            </a:pPr>
            <a:r>
              <a:rPr lang="es-CL" sz="1300" b="1" spc="0" dirty="0">
                <a:solidFill>
                  <a:srgbClr val="FFFFFF"/>
                </a:solidFill>
              </a:rPr>
              <a:t>GENERADOR · PROMPT · ESTADÍSTICA</a:t>
            </a:r>
          </a:p>
        </p:txBody>
      </p:sp>
      <p:sp>
        <p:nvSpPr>
          <p:cNvPr id="1039" name="sh1039"/>
          <p:cNvSpPr/>
          <p:nvPr/>
        </p:nvSpPr>
        <p:spPr>
          <a:xfrm>
            <a:off x="8001000" y="5511800"/>
            <a:ext cx="3429000" cy="304800"/>
          </a:xfrm>
          <a:prstGeom prst="rect">
            <a:avLst/>
          </a:prstGeom>
          <a:noFill/>
          <a:ln>
            <a:noFill/>
          </a:ln>
        </p:spPr>
        <p:txBody>
          <a:bodyPr wrap="square" lIns="0" tIns="0" rIns="0" bIns="0" anchor="t">
            <a:noAutofit/>
          </a:bodyPr>
          <a:lstStyle/>
          <a:p>
            <a:pPr algn="l">
              <a:lnSpc>
                <a:spcPct val="120000"/>
              </a:lnSpc>
              <a:buNone/>
            </a:pPr>
            <a:r>
              <a:rPr lang="es-CL" sz="1150" b="0" spc="0" dirty="0">
                <a:solidFill>
                  <a:srgbClr val="4A5F78"/>
                </a:solidFill>
              </a:rPr>
              <a:t>Extractor congelado antes de construir C2.</a:t>
            </a:r>
          </a:p>
        </p:txBody>
      </p:sp>
      <p:sp>
        <p:nvSpPr>
          <p:cNvPr id="1040" name="sh1040"/>
          <p:cNvSpPr/>
          <p:nvPr/>
        </p:nvSpPr>
        <p:spPr>
          <a:xfrm>
            <a:off x="762000" y="5867400"/>
            <a:ext cx="38100" cy="279400"/>
          </a:xfrm>
          <a:prstGeom prst="rect">
            <a:avLst/>
          </a:prstGeom>
          <a:solidFill>
            <a:srgbClr val="2ED3E8"/>
          </a:solidFill>
          <a:ln>
            <a:noFill/>
          </a:ln>
        </p:spPr>
        <p:txBody>
          <a:bodyPr/>
          <a:lstStyle/>
          <a:p>
            <a:endParaRPr lang="es-CL"/>
          </a:p>
        </p:txBody>
      </p:sp>
      <p:sp>
        <p:nvSpPr>
          <p:cNvPr id="1041" name="sh1041"/>
          <p:cNvSpPr/>
          <p:nvPr/>
        </p:nvSpPr>
        <p:spPr>
          <a:xfrm>
            <a:off x="990600" y="5867400"/>
            <a:ext cx="10414000" cy="279400"/>
          </a:xfrm>
          <a:prstGeom prst="rect">
            <a:avLst/>
          </a:prstGeom>
          <a:noFill/>
          <a:ln>
            <a:noFill/>
          </a:ln>
        </p:spPr>
        <p:txBody>
          <a:bodyPr wrap="square" lIns="0" tIns="0" rIns="0" bIns="0" anchor="ctr">
            <a:noAutofit/>
          </a:bodyPr>
          <a:lstStyle/>
          <a:p>
            <a:pPr algn="l">
              <a:lnSpc>
                <a:spcPct val="100000"/>
              </a:lnSpc>
              <a:buNone/>
            </a:pPr>
            <a:r>
              <a:rPr lang="es-CL" sz="1350" b="1" spc="0" dirty="0">
                <a:solidFill>
                  <a:srgbClr val="12406E"/>
                </a:solidFill>
              </a:rPr>
              <a:t>Las decisiones metodológicas principales se fijan antes de observar el contraste C2 − C1.</a:t>
            </a:r>
          </a:p>
        </p:txBody>
      </p:sp>
      <p:sp>
        <p:nvSpPr>
          <p:cNvPr id="1042" name="sh1042"/>
          <p:cNvSpPr/>
          <p:nvPr/>
        </p:nvSpPr>
        <p:spPr>
          <a:xfrm>
            <a:off x="762000" y="6197600"/>
            <a:ext cx="9652000" cy="152400"/>
          </a:xfrm>
          <a:prstGeom prst="rect">
            <a:avLst/>
          </a:prstGeom>
          <a:noFill/>
          <a:ln>
            <a:noFill/>
          </a:ln>
        </p:spPr>
        <p:txBody>
          <a:bodyPr wrap="square" lIns="0" tIns="0" rIns="0" bIns="0" anchor="ctr">
            <a:noAutofit/>
          </a:bodyPr>
          <a:lstStyle/>
          <a:p>
            <a:pPr algn="l">
              <a:lnSpc>
                <a:spcPct val="100000"/>
              </a:lnSpc>
              <a:buNone/>
            </a:pPr>
            <a:r>
              <a:rPr lang="es-CL" sz="1000" b="0" spc="0" dirty="0">
                <a:solidFill>
                  <a:srgbClr val="4A5F78"/>
                </a:solidFill>
              </a:rPr>
              <a:t>Registro versionado de decisiones metodológicas</a:t>
            </a:r>
          </a:p>
        </p:txBody>
      </p:sp>
    </p:spTree>
    <p:extLst>
      <p:ext uri="{BB962C8B-B14F-4D97-AF65-F5344CB8AC3E}">
        <p14:creationId xmlns:p14="http://schemas.microsoft.com/office/powerpoint/2010/main" val="1895515343"/>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CRITERIOS DE REFUTACIÓN</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600" b="1" spc="0" dirty="0">
                <a:solidFill>
                  <a:srgbClr val="12406E"/>
                </a:solidFill>
              </a:rPr>
              <a:t>¿Qué resultados indicarían que la capa estructurada no se justifica?</a:t>
            </a:r>
          </a:p>
        </p:txBody>
      </p:sp>
      <p:sp>
        <p:nvSpPr>
          <p:cNvPr id="1003" name="sh1003"/>
          <p:cNvSpPr/>
          <p:nvPr/>
        </p:nvSpPr>
        <p:spPr>
          <a:xfrm>
            <a:off x="762000" y="1524000"/>
            <a:ext cx="1524000" cy="19050"/>
          </a:xfrm>
          <a:prstGeom prst="rect">
            <a:avLst/>
          </a:prstGeom>
          <a:solidFill>
            <a:srgbClr val="2ED3E8"/>
          </a:solidFill>
          <a:ln>
            <a:noFill/>
          </a:ln>
        </p:spPr>
        <p:txBody>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[ 32 ]</a:t>
            </a:r>
          </a:p>
        </p:txBody>
      </p:sp>
      <p:sp>
        <p:nvSpPr>
          <p:cNvPr id="1046" name="sh1046"/>
          <p:cNvSpPr/>
          <p:nvPr/>
        </p:nvSpPr>
        <p:spPr>
          <a:xfrm>
            <a:off x="762000" y="6045200"/>
            <a:ext cx="10668000" cy="279400"/>
          </a:xfrm>
          <a:prstGeom prst="rect">
            <a:avLst/>
          </a:prstGeom>
          <a:noFill/>
          <a:ln>
            <a:noFill/>
          </a:ln>
        </p:spPr>
        <p:txBody>
          <a:bodyPr wrap="square" lIns="0" tIns="0" rIns="0" bIns="0" anchor="ctr">
            <a:noAutofit/>
          </a:bodyPr>
          <a:lstStyle/>
          <a:p>
            <a:pPr algn="l">
              <a:lnSpc>
                <a:spcPct val="100000"/>
              </a:lnSpc>
              <a:buNone/>
            </a:pPr>
            <a:r>
              <a:rPr lang="es-CL" sz="1300" b="1" spc="0" dirty="0">
                <a:solidFill>
                  <a:srgbClr val="0A1524"/>
                </a:solidFill>
              </a:rPr>
              <a:t>Un resultado negativo no invalida el proyecto completo: delimita dónde una capa estructurada no se justifica.</a:t>
            </a:r>
          </a:p>
        </p:txBody>
      </p:sp>
      <p:sp>
        <p:nvSpPr>
          <p:cNvPr id="2" name="CuadroTexto 1">
            <a:extLst>
              <a:ext uri="{FF2B5EF4-FFF2-40B4-BE49-F238E27FC236}">
                <a16:creationId xmlns:a16="http://schemas.microsoft.com/office/drawing/2014/main" id="{ED57EC50-9703-A548-A8C0-6D5F255E7212}"/>
              </a:ext>
            </a:extLst>
          </p:cNvPr>
          <p:cNvSpPr txBox="1"/>
          <p:nvPr/>
        </p:nvSpPr>
        <p:spPr>
          <a:xfrm>
            <a:off x="762000" y="1905000"/>
            <a:ext cx="7620000" cy="228600"/>
          </a:xfrm>
          <a:prstGeom prst="rect">
            <a:avLst/>
          </a:prstGeom>
          <a:noFill/>
        </p:spPr>
        <p:txBody>
          <a:bodyPr vertOverflow="overflow" vert="horz" wrap="square" rtlCol="0" anchor="t">
            <a:spAutoFit/>
          </a:bodyPr>
          <a:lstStyle/>
          <a:p>
            <a:pPr algn="l"/>
            <a:r>
              <a:rPr lang="es-CL" sz="1100" b="1">
                <a:solidFill>
                  <a:srgbClr val="1D5C9E"/>
                </a:solidFill>
                <a:latin typeface="Segoe UI Semibold"/>
                <a:cs typeface="Segoe UI Semibold"/>
              </a:rPr>
              <a:t>NO EXISTIRÍA EVIDENCIA SUFICIENTE DE VALOR SI…</a:t>
            </a:r>
          </a:p>
        </p:txBody>
      </p:sp>
      <p:sp>
        <p:nvSpPr>
          <p:cNvPr id="3" name="CuadroTexto 2">
            <a:extLst>
              <a:ext uri="{FF2B5EF4-FFF2-40B4-BE49-F238E27FC236}">
                <a16:creationId xmlns:a16="http://schemas.microsoft.com/office/drawing/2014/main" id="{F48F4C1E-687A-A340-B267-EC56E8BE6EE9}"/>
              </a:ext>
            </a:extLst>
          </p:cNvPr>
          <p:cNvSpPr txBox="1"/>
          <p:nvPr/>
        </p:nvSpPr>
        <p:spPr>
          <a:xfrm>
            <a:off x="762000" y="2362200"/>
            <a:ext cx="5461000" cy="2921000"/>
          </a:xfrm>
          <a:prstGeom prst="rect">
            <a:avLst/>
          </a:prstGeom>
          <a:noFill/>
        </p:spPr>
        <p:txBody>
          <a:bodyPr vertOverflow="overflow" vert="horz" wrap="square" rtlCol="0" anchor="t">
            <a:spAutoFit/>
          </a:bodyPr>
          <a:lstStyle/>
          <a:p>
            <a:pPr algn="l">
              <a:spcAft>
                <a:spcPts val="2800"/>
              </a:spcAft>
            </a:pPr>
            <a:r>
              <a:rPr lang="es-CL" sz="1500">
                <a:solidFill>
                  <a:srgbClr val="0A1524"/>
                </a:solidFill>
                <a:latin typeface="Segoe UI"/>
                <a:cs typeface="Segoe UI"/>
              </a:rPr>
              <a:t>—  C2 empeora la calidad de manera relevante
—  Los errores de extracción se propagan en mayor proporción
—  No se reduce el tiempo humano cuando llegue a medirse
—  Provenance existe pero es incorrecto
—  Freshness no mejora la vigencia</a:t>
            </a:r>
          </a:p>
        </p:txBody>
      </p:sp>
      <p:sp>
        <p:nvSpPr>
          <p:cNvPr id="4" name="CuadroTexto 3">
            <a:extLst>
              <a:ext uri="{FF2B5EF4-FFF2-40B4-BE49-F238E27FC236}">
                <a16:creationId xmlns:a16="http://schemas.microsoft.com/office/drawing/2014/main" id="{1B4B869D-3777-7B45-B087-D133B5F35C95}"/>
              </a:ext>
            </a:extLst>
          </p:cNvPr>
          <p:cNvSpPr txBox="1"/>
          <p:nvPr/>
        </p:nvSpPr>
        <p:spPr>
          <a:xfrm>
            <a:off x="6477000" y="2362200"/>
            <a:ext cx="4953000" cy="2921000"/>
          </a:xfrm>
          <a:prstGeom prst="rect">
            <a:avLst/>
          </a:prstGeom>
          <a:noFill/>
        </p:spPr>
        <p:txBody>
          <a:bodyPr vertOverflow="overflow" vert="horz" wrap="square" rtlCol="0" anchor="t">
            <a:spAutoFit/>
          </a:bodyPr>
          <a:lstStyle/>
          <a:p>
            <a:pPr algn="l">
              <a:spcAft>
                <a:spcPts val="2800"/>
              </a:spcAft>
            </a:pPr>
            <a:r>
              <a:rPr lang="es-CL" sz="1500">
                <a:solidFill>
                  <a:srgbClr val="0A1524"/>
                </a:solidFill>
                <a:latin typeface="Segoe UI"/>
                <a:cs typeface="Segoe UI"/>
              </a:rPr>
              <a:t>—  Las ventajas sólo aparecen en preguntas artificiales
—  El costo upfront no se amortiza
—  C1 resulta igual de efectivo y más barato
—  Los usuarios vuelven siempre al documento original</a:t>
            </a:r>
          </a:p>
        </p:txBody>
      </p:sp>
    </p:spTree>
    <p:extLst>
      <p:ext uri="{BB962C8B-B14F-4D97-AF65-F5344CB8AC3E}">
        <p14:creationId xmlns:p14="http://schemas.microsoft.com/office/powerpoint/2010/main" val="1058550529"/>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TRADUCCIÓN A VALOR ORGANIZACIONAL</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600" b="1" spc="0" dirty="0">
                <a:solidFill>
                  <a:srgbClr val="12406E"/>
                </a:solidFill>
              </a:rPr>
              <a:t>El valor organizacional requiere una cadena adicional de medición</a:t>
            </a:r>
          </a:p>
        </p:txBody>
      </p:sp>
      <p:sp>
        <p:nvSpPr>
          <p:cNvPr id="1003" name="sh1003"/>
          <p:cNvSpPr/>
          <p:nvPr/>
        </p:nvSpPr>
        <p:spPr>
          <a:xfrm>
            <a:off x="762000" y="1524000"/>
            <a:ext cx="1524000" cy="19050"/>
          </a:xfrm>
          <a:prstGeom prst="rect">
            <a:avLst/>
          </a:prstGeom>
          <a:solidFill>
            <a:srgbClr val="2ED3E8"/>
          </a:solidFill>
          <a:ln>
            <a:noFill/>
          </a:ln>
        </p:spPr>
        <p:txBody>
          <a:bodyPr wrap="square" lIns="0" tIns="0" rIns="0" bIns="0" anchor="t">
            <a:noAutofit/>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[ 33 ]</a:t>
            </a:r>
          </a:p>
        </p:txBody>
      </p:sp>
      <p:sp>
        <p:nvSpPr>
          <p:cNvPr id="1005" name="sh1005"/>
          <p:cNvSpPr/>
          <p:nvPr/>
        </p:nvSpPr>
        <p:spPr>
          <a:xfrm>
            <a:off x="762000" y="1905000"/>
            <a:ext cx="5969000" cy="8890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06" name="sh1006"/>
          <p:cNvSpPr/>
          <p:nvPr/>
        </p:nvSpPr>
        <p:spPr>
          <a:xfrm>
            <a:off x="762000" y="1905000"/>
            <a:ext cx="5969000" cy="889000"/>
          </a:xfrm>
          <a:prstGeom prst="rect">
            <a:avLst/>
          </a:prstGeom>
          <a:solidFill>
            <a:srgbClr val="1D5C9E"/>
          </a:solidFill>
          <a:ln>
            <a:noFill/>
          </a:ln>
        </p:spPr>
        <p:txBody>
          <a:bodyPr wrap="square" lIns="0" tIns="0" rIns="0" bIns="0" anchor="t">
            <a:noAutofit/>
          </a:bodyPr>
          <a:lstStyle/>
          <a:p>
            <a:endParaRPr lang="es-CL"/>
          </a:p>
        </p:txBody>
      </p:sp>
      <p:sp>
        <p:nvSpPr>
          <p:cNvPr id="1007" name="sh1007"/>
          <p:cNvSpPr/>
          <p:nvPr/>
        </p:nvSpPr>
        <p:spPr>
          <a:xfrm>
            <a:off x="965200" y="2032000"/>
            <a:ext cx="3556000" cy="177800"/>
          </a:xfrm>
          <a:prstGeom prst="rect">
            <a:avLst/>
          </a:prstGeom>
          <a:noFill/>
          <a:ln>
            <a:noFill/>
          </a:ln>
        </p:spPr>
        <p:txBody>
          <a:bodyPr wrap="square" lIns="0" tIns="0" rIns="0" bIns="0" anchor="ctr">
            <a:noAutofit/>
          </a:bodyPr>
          <a:lstStyle/>
          <a:p>
            <a:pPr algn="l">
              <a:lnSpc>
                <a:spcPct val="100000"/>
              </a:lnSpc>
              <a:buNone/>
            </a:pPr>
            <a:r>
              <a:rPr lang="es-CL" sz="1300" b="1" spc="60" dirty="0"/>
              <a:t>ÁMBITO · SISTEMA</a:t>
            </a:r>
          </a:p>
        </p:txBody>
      </p:sp>
      <p:sp>
        <p:nvSpPr>
          <p:cNvPr id="1008" name="sh1008"/>
          <p:cNvSpPr/>
          <p:nvPr/>
        </p:nvSpPr>
        <p:spPr>
          <a:xfrm>
            <a:off x="965200" y="2286000"/>
            <a:ext cx="4800600" cy="406400"/>
          </a:xfrm>
          <a:prstGeom prst="rect">
            <a:avLst/>
          </a:prstGeom>
          <a:noFill/>
          <a:ln>
            <a:noFill/>
          </a:ln>
        </p:spPr>
        <p:txBody>
          <a:bodyPr wrap="square" lIns="0" tIns="0" rIns="0" bIns="0" anchor="t">
            <a:noAutofit/>
          </a:bodyPr>
          <a:lstStyle/>
          <a:p>
            <a:pPr algn="l">
              <a:lnSpc>
                <a:spcPct val="120000"/>
              </a:lnSpc>
              <a:buNone/>
            </a:pPr>
            <a:r>
              <a:rPr lang="es-CL" sz="1050" b="0" spc="0" dirty="0"/>
              <a:t>F1 · MRR · nDCG · Correctness · Temporal Correctness · Latencia del sistema</a:t>
            </a:r>
          </a:p>
        </p:txBody>
      </p:sp>
      <p:sp>
        <p:nvSpPr>
          <p:cNvPr id="1009" name="sh1009"/>
          <p:cNvSpPr/>
          <p:nvPr/>
        </p:nvSpPr>
        <p:spPr>
          <a:xfrm>
            <a:off x="5381170" y="2032000"/>
            <a:ext cx="1219200" cy="177800"/>
          </a:xfrm>
          <a:prstGeom prst="rect">
            <a:avLst/>
          </a:prstGeom>
          <a:noFill/>
          <a:ln>
            <a:noFill/>
          </a:ln>
        </p:spPr>
        <p:txBody>
          <a:bodyPr wrap="square" lIns="0" tIns="0" rIns="0" bIns="0" anchor="ctr">
            <a:noAutofit/>
          </a:bodyPr>
          <a:lstStyle/>
          <a:p>
            <a:pPr algn="r">
              <a:lnSpc>
                <a:spcPct val="100000"/>
              </a:lnSpc>
              <a:buNone/>
            </a:pPr>
            <a:r>
              <a:rPr lang="es-CL" sz="1000" b="0" spc="0" dirty="0"/>
              <a:t>medible en el sistema</a:t>
            </a:r>
          </a:p>
        </p:txBody>
      </p:sp>
      <p:sp>
        <p:nvSpPr>
          <p:cNvPr id="1010" name="sh1010"/>
          <p:cNvSpPr/>
          <p:nvPr/>
        </p:nvSpPr>
        <p:spPr>
          <a:xfrm>
            <a:off x="1143000" y="2794000"/>
            <a:ext cx="0" cy="177800"/>
          </a:xfrm>
          <a:prstGeom prst="line">
            <a:avLst/>
          </a:prstGeom>
          <a:noFill/>
          <a:ln w="22225">
            <a:solidFill>
              <a:srgbClr val="1D5C9E"/>
            </a:solidFill>
            <a:tailEnd type="triangle" w="med" len="med"/>
          </a:ln>
        </p:spPr>
        <p:txBody>
          <a:bodyPr wrap="square" lIns="0" tIns="0" rIns="0" bIns="0" anchor="t">
            <a:noAutofit/>
          </a:bodyPr>
          <a:lstStyle/>
          <a:p>
            <a:endParaRPr lang="es-CL"/>
          </a:p>
        </p:txBody>
      </p:sp>
      <p:sp>
        <p:nvSpPr>
          <p:cNvPr id="1011" name="sh1011"/>
          <p:cNvSpPr/>
          <p:nvPr/>
        </p:nvSpPr>
        <p:spPr>
          <a:xfrm>
            <a:off x="762000" y="2971800"/>
            <a:ext cx="5969000" cy="8890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12" name="sh1012"/>
          <p:cNvSpPr/>
          <p:nvPr/>
        </p:nvSpPr>
        <p:spPr>
          <a:xfrm>
            <a:off x="762000" y="2971800"/>
            <a:ext cx="5969000" cy="889000"/>
          </a:xfrm>
          <a:prstGeom prst="rect">
            <a:avLst/>
          </a:prstGeom>
          <a:solidFill>
            <a:srgbClr val="17508B"/>
          </a:solidFill>
          <a:ln>
            <a:noFill/>
          </a:ln>
        </p:spPr>
        <p:txBody>
          <a:bodyPr wrap="square" lIns="0" tIns="0" rIns="0" bIns="0" anchor="t">
            <a:noAutofit/>
          </a:bodyPr>
          <a:lstStyle/>
          <a:p>
            <a:endParaRPr lang="es-CL"/>
          </a:p>
        </p:txBody>
      </p:sp>
      <p:sp>
        <p:nvSpPr>
          <p:cNvPr id="1013" name="sh1013"/>
          <p:cNvSpPr/>
          <p:nvPr/>
        </p:nvSpPr>
        <p:spPr>
          <a:xfrm>
            <a:off x="965200" y="3098800"/>
            <a:ext cx="3556000" cy="177800"/>
          </a:xfrm>
          <a:prstGeom prst="rect">
            <a:avLst/>
          </a:prstGeom>
          <a:noFill/>
          <a:ln>
            <a:noFill/>
          </a:ln>
        </p:spPr>
        <p:txBody>
          <a:bodyPr wrap="square" lIns="0" tIns="0" rIns="0" bIns="0" anchor="ctr">
            <a:noAutofit/>
          </a:bodyPr>
          <a:lstStyle/>
          <a:p>
            <a:pPr algn="l">
              <a:lnSpc>
                <a:spcPct val="100000"/>
              </a:lnSpc>
              <a:buNone/>
            </a:pPr>
            <a:r>
              <a:rPr lang="es-CL" sz="1300" b="1" spc="60" dirty="0"/>
              <a:t>ÁMBITO · TAREA</a:t>
            </a:r>
          </a:p>
        </p:txBody>
      </p:sp>
      <p:sp>
        <p:nvSpPr>
          <p:cNvPr id="1014" name="sh1014"/>
          <p:cNvSpPr/>
          <p:nvPr/>
        </p:nvSpPr>
        <p:spPr>
          <a:xfrm>
            <a:off x="965200" y="3352800"/>
            <a:ext cx="4800600" cy="406400"/>
          </a:xfrm>
          <a:prstGeom prst="rect">
            <a:avLst/>
          </a:prstGeom>
          <a:noFill/>
          <a:ln>
            <a:noFill/>
          </a:ln>
        </p:spPr>
        <p:txBody>
          <a:bodyPr wrap="square" lIns="0" tIns="0" rIns="0" bIns="0" anchor="t">
            <a:noAutofit/>
          </a:bodyPr>
          <a:lstStyle/>
          <a:p>
            <a:pPr algn="l">
              <a:lnSpc>
                <a:spcPct val="120000"/>
              </a:lnSpc>
              <a:buNone/>
            </a:pPr>
            <a:r>
              <a:rPr lang="es-CL" sz="1050" b="0" spc="0" dirty="0"/>
              <a:t>Time-to-Answer · Time-to-Evidence · Fuentes inspeccionadas · Consultas · Exactitud de tarea</a:t>
            </a:r>
          </a:p>
        </p:txBody>
      </p:sp>
      <p:sp>
        <p:nvSpPr>
          <p:cNvPr id="1015" name="sh1015"/>
          <p:cNvSpPr/>
          <p:nvPr/>
        </p:nvSpPr>
        <p:spPr>
          <a:xfrm>
            <a:off x="5381170" y="3098800"/>
            <a:ext cx="1219200" cy="177800"/>
          </a:xfrm>
          <a:prstGeom prst="rect">
            <a:avLst/>
          </a:prstGeom>
          <a:noFill/>
          <a:ln>
            <a:noFill/>
          </a:ln>
        </p:spPr>
        <p:txBody>
          <a:bodyPr wrap="square" lIns="0" tIns="0" rIns="0" bIns="0" anchor="ctr">
            <a:noAutofit/>
          </a:bodyPr>
          <a:lstStyle/>
          <a:p>
            <a:pPr algn="r">
              <a:lnSpc>
                <a:spcPct val="100000"/>
              </a:lnSpc>
              <a:buNone/>
            </a:pPr>
            <a:r>
              <a:rPr lang="es-CL" sz="1000" b="0" spc="0" dirty="0"/>
              <a:t>requiere estudio con usuarios</a:t>
            </a:r>
          </a:p>
        </p:txBody>
      </p:sp>
      <p:sp>
        <p:nvSpPr>
          <p:cNvPr id="1016" name="sh1016"/>
          <p:cNvSpPr/>
          <p:nvPr/>
        </p:nvSpPr>
        <p:spPr>
          <a:xfrm>
            <a:off x="1143000" y="3860800"/>
            <a:ext cx="0" cy="177800"/>
          </a:xfrm>
          <a:prstGeom prst="line">
            <a:avLst/>
          </a:prstGeom>
          <a:noFill/>
          <a:ln w="22225">
            <a:solidFill>
              <a:srgbClr val="1D5C9E"/>
            </a:solidFill>
            <a:tailEnd type="triangle" w="med" len="med"/>
          </a:ln>
        </p:spPr>
        <p:txBody>
          <a:bodyPr wrap="square" lIns="0" tIns="0" rIns="0" bIns="0" anchor="t">
            <a:noAutofit/>
          </a:bodyPr>
          <a:lstStyle/>
          <a:p>
            <a:endParaRPr lang="es-CL"/>
          </a:p>
        </p:txBody>
      </p:sp>
      <p:sp>
        <p:nvSpPr>
          <p:cNvPr id="1017" name="sh1017"/>
          <p:cNvSpPr/>
          <p:nvPr/>
        </p:nvSpPr>
        <p:spPr>
          <a:xfrm>
            <a:off x="762000" y="4038600"/>
            <a:ext cx="5969000" cy="8890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18" name="sh1018"/>
          <p:cNvSpPr/>
          <p:nvPr/>
        </p:nvSpPr>
        <p:spPr>
          <a:xfrm>
            <a:off x="762000" y="4038600"/>
            <a:ext cx="5969000" cy="889000"/>
          </a:xfrm>
          <a:prstGeom prst="rect">
            <a:avLst/>
          </a:prstGeom>
          <a:solidFill>
            <a:srgbClr val="12406E"/>
          </a:solidFill>
          <a:ln>
            <a:noFill/>
          </a:ln>
        </p:spPr>
        <p:txBody>
          <a:bodyPr wrap="square" lIns="0" tIns="0" rIns="0" bIns="0" anchor="t">
            <a:noAutofit/>
          </a:bodyPr>
          <a:lstStyle/>
          <a:p>
            <a:endParaRPr lang="es-CL"/>
          </a:p>
        </p:txBody>
      </p:sp>
      <p:sp>
        <p:nvSpPr>
          <p:cNvPr id="1019" name="sh1019"/>
          <p:cNvSpPr/>
          <p:nvPr/>
        </p:nvSpPr>
        <p:spPr>
          <a:xfrm>
            <a:off x="965200" y="4165600"/>
            <a:ext cx="3556000" cy="177800"/>
          </a:xfrm>
          <a:prstGeom prst="rect">
            <a:avLst/>
          </a:prstGeom>
          <a:noFill/>
          <a:ln>
            <a:noFill/>
          </a:ln>
        </p:spPr>
        <p:txBody>
          <a:bodyPr wrap="square" lIns="0" tIns="0" rIns="0" bIns="0" anchor="ctr">
            <a:noAutofit/>
          </a:bodyPr>
          <a:lstStyle/>
          <a:p>
            <a:pPr algn="l">
              <a:lnSpc>
                <a:spcPct val="100000"/>
              </a:lnSpc>
              <a:buNone/>
            </a:pPr>
            <a:r>
              <a:rPr lang="es-CL" sz="1300" b="1" spc="60" dirty="0"/>
              <a:t>ÁMBITO · ORGANIZACIÓN</a:t>
            </a:r>
          </a:p>
        </p:txBody>
      </p:sp>
      <p:sp>
        <p:nvSpPr>
          <p:cNvPr id="1020" name="sh1020"/>
          <p:cNvSpPr/>
          <p:nvPr/>
        </p:nvSpPr>
        <p:spPr>
          <a:xfrm>
            <a:off x="965200" y="4419600"/>
            <a:ext cx="4800600" cy="406400"/>
          </a:xfrm>
          <a:prstGeom prst="rect">
            <a:avLst/>
          </a:prstGeom>
          <a:noFill/>
          <a:ln>
            <a:noFill/>
          </a:ln>
        </p:spPr>
        <p:txBody>
          <a:bodyPr wrap="square" lIns="0" tIns="0" rIns="0" bIns="0" anchor="t">
            <a:noAutofit/>
          </a:bodyPr>
          <a:lstStyle/>
          <a:p>
            <a:pPr algn="l">
              <a:lnSpc>
                <a:spcPct val="120000"/>
              </a:lnSpc>
              <a:buNone/>
            </a:pPr>
            <a:r>
              <a:rPr lang="es-CL" sz="1050" b="0" spc="0" dirty="0"/>
              <a:t>Horas de búsqueda · errores de vigencia · dependencia de expertos · traspasos · auditoría · retrabajo</a:t>
            </a:r>
          </a:p>
        </p:txBody>
      </p:sp>
      <p:sp>
        <p:nvSpPr>
          <p:cNvPr id="1021" name="sh1021"/>
          <p:cNvSpPr/>
          <p:nvPr/>
        </p:nvSpPr>
        <p:spPr>
          <a:xfrm>
            <a:off x="5381170" y="4165600"/>
            <a:ext cx="1219200" cy="177800"/>
          </a:xfrm>
          <a:prstGeom prst="rect">
            <a:avLst/>
          </a:prstGeom>
          <a:noFill/>
          <a:ln>
            <a:noFill/>
          </a:ln>
        </p:spPr>
        <p:txBody>
          <a:bodyPr wrap="square" lIns="0" tIns="0" rIns="0" bIns="0" anchor="ctr">
            <a:noAutofit/>
          </a:bodyPr>
          <a:lstStyle/>
          <a:p>
            <a:pPr algn="r">
              <a:lnSpc>
                <a:spcPct val="100000"/>
              </a:lnSpc>
              <a:buNone/>
            </a:pPr>
            <a:r>
              <a:rPr lang="es-CL" sz="1000" b="0" spc="0" dirty="0"/>
              <a:t>requiere piloto real</a:t>
            </a:r>
          </a:p>
        </p:txBody>
      </p:sp>
      <p:sp>
        <p:nvSpPr>
          <p:cNvPr id="1022" name="sh1022"/>
          <p:cNvSpPr/>
          <p:nvPr/>
        </p:nvSpPr>
        <p:spPr>
          <a:xfrm>
            <a:off x="1143000" y="4927600"/>
            <a:ext cx="0" cy="177800"/>
          </a:xfrm>
          <a:prstGeom prst="line">
            <a:avLst/>
          </a:prstGeom>
          <a:noFill/>
          <a:ln w="22225">
            <a:solidFill>
              <a:srgbClr val="1D5C9E"/>
            </a:solidFill>
            <a:tailEnd type="triangle" w="med" len="med"/>
          </a:ln>
        </p:spPr>
        <p:txBody>
          <a:bodyPr wrap="square" lIns="0" tIns="0" rIns="0" bIns="0" anchor="t">
            <a:noAutofit/>
          </a:bodyPr>
          <a:lstStyle/>
          <a:p>
            <a:endParaRPr lang="es-CL"/>
          </a:p>
        </p:txBody>
      </p:sp>
      <p:sp>
        <p:nvSpPr>
          <p:cNvPr id="1023" name="sh1023"/>
          <p:cNvSpPr/>
          <p:nvPr/>
        </p:nvSpPr>
        <p:spPr>
          <a:xfrm>
            <a:off x="762000" y="5105400"/>
            <a:ext cx="5969000" cy="889000"/>
          </a:xfrm>
          <a:prstGeom prst="rect">
            <a:avLst/>
          </a:prstGeom>
          <a:solidFill>
            <a:srgbClr val="F7FAFC"/>
          </a:solidFill>
          <a:ln w="12700">
            <a:solidFill>
              <a:srgbClr val="C6D4E2"/>
            </a:solidFill>
          </a:ln>
        </p:spPr>
        <p:txBody>
          <a:bodyPr wrap="square" lIns="0" tIns="0" rIns="0" bIns="0" anchor="t">
            <a:noAutofit/>
          </a:bodyPr>
          <a:lstStyle/>
          <a:p>
            <a:endParaRPr lang="es-CL"/>
          </a:p>
        </p:txBody>
      </p:sp>
      <p:sp>
        <p:nvSpPr>
          <p:cNvPr id="1024" name="sh1024"/>
          <p:cNvSpPr/>
          <p:nvPr/>
        </p:nvSpPr>
        <p:spPr>
          <a:xfrm>
            <a:off x="762000" y="5105400"/>
            <a:ext cx="5969000" cy="889000"/>
          </a:xfrm>
          <a:prstGeom prst="rect">
            <a:avLst/>
          </a:prstGeom>
          <a:solidFill>
            <a:srgbClr val="0A6D82"/>
          </a:solidFill>
          <a:ln>
            <a:noFill/>
          </a:ln>
        </p:spPr>
        <p:txBody>
          <a:bodyPr wrap="square" lIns="0" tIns="0" rIns="0" bIns="0" anchor="t">
            <a:noAutofit/>
          </a:bodyPr>
          <a:lstStyle/>
          <a:p>
            <a:endParaRPr lang="es-CL"/>
          </a:p>
        </p:txBody>
      </p:sp>
      <p:sp>
        <p:nvSpPr>
          <p:cNvPr id="1025" name="sh1025"/>
          <p:cNvSpPr/>
          <p:nvPr/>
        </p:nvSpPr>
        <p:spPr>
          <a:xfrm>
            <a:off x="965200" y="5232400"/>
            <a:ext cx="3556000" cy="177800"/>
          </a:xfrm>
          <a:prstGeom prst="rect">
            <a:avLst/>
          </a:prstGeom>
          <a:noFill/>
          <a:ln>
            <a:noFill/>
          </a:ln>
        </p:spPr>
        <p:txBody>
          <a:bodyPr wrap="square" lIns="0" tIns="0" rIns="0" bIns="0" anchor="ctr">
            <a:noAutofit/>
          </a:bodyPr>
          <a:lstStyle/>
          <a:p>
            <a:pPr algn="l">
              <a:lnSpc>
                <a:spcPct val="100000"/>
              </a:lnSpc>
              <a:buNone/>
            </a:pPr>
            <a:r>
              <a:rPr lang="es-CL" sz="1300" b="1" spc="60" dirty="0"/>
              <a:t>ÁMBITO · ECONOMÍA</a:t>
            </a:r>
          </a:p>
        </p:txBody>
      </p:sp>
      <p:sp>
        <p:nvSpPr>
          <p:cNvPr id="1026" name="sh1026"/>
          <p:cNvSpPr/>
          <p:nvPr/>
        </p:nvSpPr>
        <p:spPr>
          <a:xfrm>
            <a:off x="965200" y="5486400"/>
            <a:ext cx="4800600" cy="406400"/>
          </a:xfrm>
          <a:prstGeom prst="rect">
            <a:avLst/>
          </a:prstGeom>
          <a:noFill/>
          <a:ln>
            <a:noFill/>
          </a:ln>
        </p:spPr>
        <p:txBody>
          <a:bodyPr wrap="square" lIns="0" tIns="0" rIns="0" bIns="0" anchor="t">
            <a:noAutofit/>
          </a:bodyPr>
          <a:lstStyle/>
          <a:p>
            <a:pPr algn="l">
              <a:lnSpc>
                <a:spcPct val="120000"/>
              </a:lnSpc>
              <a:buNone/>
            </a:pPr>
            <a:r>
              <a:rPr lang="es-CL" sz="1050" b="0" spc="0" dirty="0"/>
              <a:t>Costo por tarea correcta · TCO · punto de equilibrio · ROI (validación posterior)</a:t>
            </a:r>
          </a:p>
        </p:txBody>
      </p:sp>
      <p:sp>
        <p:nvSpPr>
          <p:cNvPr id="1027" name="sh1027"/>
          <p:cNvSpPr/>
          <p:nvPr/>
        </p:nvSpPr>
        <p:spPr>
          <a:xfrm>
            <a:off x="5381170" y="5232400"/>
            <a:ext cx="1219200" cy="177800"/>
          </a:xfrm>
          <a:prstGeom prst="rect">
            <a:avLst/>
          </a:prstGeom>
          <a:noFill/>
          <a:ln>
            <a:noFill/>
          </a:ln>
        </p:spPr>
        <p:txBody>
          <a:bodyPr wrap="square" lIns="0" tIns="0" rIns="0" bIns="0" anchor="ctr">
            <a:noAutofit/>
          </a:bodyPr>
          <a:lstStyle/>
          <a:p>
            <a:pPr algn="r">
              <a:lnSpc>
                <a:spcPct val="100000"/>
              </a:lnSpc>
              <a:buNone/>
            </a:pPr>
            <a:r>
              <a:rPr lang="es-CL" sz="1000" b="0" spc="0" dirty="0"/>
              <a:t>requiere carga y costos reales</a:t>
            </a:r>
          </a:p>
        </p:txBody>
      </p:sp>
      <p:sp>
        <p:nvSpPr>
          <p:cNvPr id="1028" name="sh1028"/>
          <p:cNvSpPr/>
          <p:nvPr/>
        </p:nvSpPr>
        <p:spPr>
          <a:xfrm>
            <a:off x="7112000" y="1905000"/>
            <a:ext cx="4318000" cy="38100"/>
          </a:xfrm>
          <a:prstGeom prst="rect">
            <a:avLst/>
          </a:prstGeom>
          <a:solidFill>
            <a:srgbClr val="0A6D82"/>
          </a:solidFill>
          <a:ln>
            <a:noFill/>
          </a:ln>
        </p:spPr>
        <p:txBody>
          <a:bodyPr wrap="square" lIns="0" tIns="0" rIns="0" bIns="0" anchor="t">
            <a:noAutofit/>
          </a:bodyPr>
          <a:lstStyle/>
          <a:p>
            <a:endParaRPr lang="es-CL"/>
          </a:p>
        </p:txBody>
      </p:sp>
      <p:sp>
        <p:nvSpPr>
          <p:cNvPr id="1029" name="sh1029"/>
          <p:cNvSpPr/>
          <p:nvPr/>
        </p:nvSpPr>
        <p:spPr>
          <a:xfrm>
            <a:off x="7112000" y="2057400"/>
            <a:ext cx="4318000" cy="190500"/>
          </a:xfrm>
          <a:prstGeom prst="rect">
            <a:avLst/>
          </a:prstGeom>
          <a:noFill/>
          <a:ln>
            <a:noFill/>
          </a:ln>
        </p:spPr>
        <p:txBody>
          <a:bodyPr wrap="square" lIns="0" tIns="0" rIns="0" bIns="0" anchor="ctr">
            <a:noAutofit/>
          </a:bodyPr>
          <a:lstStyle/>
          <a:p>
            <a:pPr algn="l">
              <a:lnSpc>
                <a:spcPct val="100000"/>
              </a:lnSpc>
              <a:buNone/>
            </a:pPr>
            <a:r>
              <a:rPr lang="es-CL" sz="1100" b="1" spc="80" dirty="0">
                <a:solidFill>
                  <a:srgbClr val="0A6D82"/>
                </a:solidFill>
              </a:rPr>
              <a:t>INDICADORES Y MODELO DE TRADUCCIÓN</a:t>
            </a:r>
          </a:p>
        </p:txBody>
      </p:sp>
      <p:sp>
        <p:nvSpPr>
          <p:cNvPr id="1030" name="sh1030"/>
          <p:cNvSpPr/>
          <p:nvPr/>
        </p:nvSpPr>
        <p:spPr>
          <a:xfrm>
            <a:off x="7112000" y="2413000"/>
            <a:ext cx="4318000" cy="457200"/>
          </a:xfrm>
          <a:prstGeom prst="rect">
            <a:avLst/>
          </a:prstGeom>
          <a:noFill/>
          <a:ln>
            <a:noFill/>
          </a:ln>
        </p:spPr>
        <p:txBody>
          <a:bodyPr wrap="square" lIns="0" tIns="0" rIns="0" bIns="0" anchor="ctr">
            <a:noAutofit/>
          </a:bodyPr>
          <a:lstStyle/>
          <a:p>
            <a:pPr algn="l">
              <a:lnSpc>
                <a:spcPct val="100000"/>
              </a:lnSpc>
              <a:buNone/>
            </a:pPr>
            <a:r>
              <a:rPr lang="es-CL" sz="1050" b="1" spc="0" dirty="0">
                <a:solidFill>
                  <a:srgbClr val="12406E"/>
                </a:solidFill>
                <a:latin typeface="Consolas"/>
              </a:rPr>
              <a:t>TTA · TTE · HRT · requieren usuarios</a:t>
            </a:r>
          </a:p>
        </p:txBody>
      </p:sp>
      <p:sp>
        <p:nvSpPr>
          <p:cNvPr id="1033" name="sh1033"/>
          <p:cNvSpPr/>
          <p:nvPr/>
        </p:nvSpPr>
        <p:spPr>
          <a:xfrm>
            <a:off x="7112000" y="2997200"/>
            <a:ext cx="4318000" cy="457200"/>
          </a:xfrm>
          <a:prstGeom prst="rect">
            <a:avLst/>
          </a:prstGeom>
          <a:noFill/>
          <a:ln>
            <a:noFill/>
          </a:ln>
        </p:spPr>
        <p:txBody>
          <a:bodyPr wrap="square" lIns="0" tIns="0" rIns="0" bIns="0" anchor="ctr">
            <a:noAutofit/>
          </a:bodyPr>
          <a:lstStyle/>
          <a:p>
            <a:pPr algn="l">
              <a:lnSpc>
                <a:spcPct val="100000"/>
              </a:lnSpc>
              <a:buNone/>
            </a:pPr>
            <a:r>
              <a:rPr lang="es-CL" sz="1050" b="1" spc="0" dirty="0">
                <a:solidFill>
                  <a:srgbClr val="12406E"/>
                </a:solidFill>
                <a:latin typeface="Consolas"/>
              </a:rPr>
              <a:t>SDER = respuestas que presentan una decisión reemplazada como vigente ÷ consultas de vigencia</a:t>
            </a:r>
          </a:p>
        </p:txBody>
      </p:sp>
      <p:sp>
        <p:nvSpPr>
          <p:cNvPr id="1036" name="sh1036"/>
          <p:cNvSpPr/>
          <p:nvPr/>
        </p:nvSpPr>
        <p:spPr>
          <a:xfrm>
            <a:off x="7112000" y="3581400"/>
            <a:ext cx="4318000" cy="457200"/>
          </a:xfrm>
          <a:prstGeom prst="rect">
            <a:avLst/>
          </a:prstGeom>
          <a:noFill/>
          <a:ln>
            <a:noFill/>
          </a:ln>
        </p:spPr>
        <p:txBody>
          <a:bodyPr wrap="square" lIns="0" tIns="0" rIns="0" bIns="0" anchor="ctr">
            <a:noAutofit/>
          </a:bodyPr>
          <a:lstStyle/>
          <a:p>
            <a:pPr algn="l">
              <a:lnSpc>
                <a:spcPct val="100000"/>
              </a:lnSpc>
              <a:buNone/>
            </a:pPr>
            <a:r>
              <a:rPr lang="es-CL" sz="1050" b="1" spc="0" dirty="0">
                <a:solidFill>
                  <a:srgbClr val="12406E"/>
                </a:solidFill>
                <a:latin typeface="Consolas"/>
              </a:rPr>
              <a:t>CPCT = costo total ÷ tareas correctas · validación posterior</a:t>
            </a:r>
          </a:p>
        </p:txBody>
      </p:sp>
      <p:sp>
        <p:nvSpPr>
          <p:cNvPr id="1038" name="sh1038"/>
          <p:cNvSpPr/>
          <p:nvPr/>
        </p:nvSpPr>
        <p:spPr>
          <a:xfrm>
            <a:off x="7112000" y="4140200"/>
            <a:ext cx="4318000" cy="381000"/>
          </a:xfrm>
          <a:prstGeom prst="rect">
            <a:avLst/>
          </a:prstGeom>
          <a:noFill/>
          <a:ln>
            <a:noFill/>
          </a:ln>
        </p:spPr>
        <p:txBody>
          <a:bodyPr wrap="square" lIns="0" tIns="0" rIns="0" bIns="0" anchor="ctr">
            <a:noAutofit/>
          </a:bodyPr>
          <a:lstStyle/>
          <a:p>
            <a:pPr algn="l">
              <a:lnSpc>
                <a:spcPct val="100000"/>
              </a:lnSpc>
              <a:buNone/>
            </a:pPr>
            <a:r>
              <a:rPr lang="es-CL" sz="1050" b="1" spc="0" dirty="0">
                <a:solidFill>
                  <a:srgbClr val="12406E"/>
                </a:solidFill>
                <a:latin typeface="Consolas"/>
              </a:rPr>
              <a:t>ESR = afirmaciones correctamente respaldadas ÷ afirmaciones evaluadas · se reporta en el estudio</a:t>
            </a:r>
          </a:p>
        </p:txBody>
      </p:sp>
      <p:sp>
        <p:nvSpPr>
          <p:cNvPr id="1039" name="sh1039"/>
          <p:cNvSpPr/>
          <p:nvPr/>
        </p:nvSpPr>
        <p:spPr>
          <a:xfrm>
            <a:off x="7112000" y="4597400"/>
            <a:ext cx="4318000" cy="1473200"/>
          </a:xfrm>
          <a:prstGeom prst="rect">
            <a:avLst/>
          </a:prstGeom>
          <a:solidFill>
            <a:srgbClr val="EAF3F7"/>
          </a:solidFill>
          <a:ln>
            <a:noFill/>
          </a:ln>
        </p:spPr>
        <p:txBody>
          <a:bodyPr wrap="square" lIns="0" tIns="0" rIns="0" bIns="0" anchor="t">
            <a:noAutofit/>
          </a:bodyPr>
          <a:lstStyle/>
          <a:p>
            <a:endParaRPr lang="es-CL"/>
          </a:p>
        </p:txBody>
      </p:sp>
      <p:sp>
        <p:nvSpPr>
          <p:cNvPr id="1040" name="sh1040"/>
          <p:cNvSpPr/>
          <p:nvPr/>
        </p:nvSpPr>
        <p:spPr>
          <a:xfrm>
            <a:off x="7112000" y="4597400"/>
            <a:ext cx="38100" cy="1473200"/>
          </a:xfrm>
          <a:prstGeom prst="rect">
            <a:avLst/>
          </a:prstGeom>
          <a:solidFill>
            <a:srgbClr val="2ED3E8"/>
          </a:solidFill>
          <a:ln>
            <a:noFill/>
          </a:ln>
        </p:spPr>
        <p:txBody>
          <a:bodyPr wrap="square" lIns="0" tIns="0" rIns="0" bIns="0" anchor="t">
            <a:noAutofit/>
          </a:bodyPr>
          <a:lstStyle/>
          <a:p>
            <a:endParaRPr lang="es-CL"/>
          </a:p>
        </p:txBody>
      </p:sp>
      <p:sp>
        <p:nvSpPr>
          <p:cNvPr id="1041" name="sh1041"/>
          <p:cNvSpPr/>
          <p:nvPr/>
        </p:nvSpPr>
        <p:spPr>
          <a:xfrm>
            <a:off x="7315200" y="4978400"/>
            <a:ext cx="3911600" cy="457200"/>
          </a:xfrm>
          <a:prstGeom prst="rect">
            <a:avLst/>
          </a:prstGeom>
          <a:noFill/>
          <a:ln>
            <a:noFill/>
          </a:ln>
        </p:spPr>
        <p:txBody>
          <a:bodyPr wrap="square" lIns="0" tIns="0" rIns="0" bIns="0" anchor="t">
            <a:noAutofit/>
          </a:bodyPr>
          <a:lstStyle/>
          <a:p>
            <a:pPr algn="l">
              <a:lnSpc>
                <a:spcPct val="115000"/>
              </a:lnSpc>
              <a:buNone/>
            </a:pPr>
            <a:r>
              <a:rPr lang="es-CL" sz="1250" b="1" spc="0" dirty="0">
                <a:solidFill>
                  <a:srgbClr val="12406E"/>
                </a:solidFill>
              </a:rPr>
              <a:t>¿En qué punto el beneficio de consultas repetidas compensa el costo inicial de estructuración?</a:t>
            </a:r>
          </a:p>
        </p:txBody>
      </p:sp>
      <p:sp>
        <p:nvSpPr>
          <p:cNvPr id="1042" name="sh1042"/>
          <p:cNvSpPr/>
          <p:nvPr/>
        </p:nvSpPr>
        <p:spPr>
          <a:xfrm>
            <a:off x="7315200" y="5461000"/>
            <a:ext cx="3911600" cy="533400"/>
          </a:xfrm>
          <a:prstGeom prst="rect">
            <a:avLst/>
          </a:prstGeom>
          <a:noFill/>
          <a:ln>
            <a:noFill/>
          </a:ln>
        </p:spPr>
        <p:txBody>
          <a:bodyPr wrap="square" lIns="0" tIns="0" rIns="0" bIns="0" anchor="t">
            <a:noAutofit/>
          </a:bodyPr>
          <a:lstStyle/>
          <a:p>
            <a:pPr algn="l">
              <a:lnSpc>
                <a:spcPct val="115000"/>
              </a:lnSpc>
              <a:buNone/>
            </a:pPr>
            <a:r>
              <a:rPr lang="es-CL" sz="1050" b="0" spc="0" dirty="0">
                <a:solidFill>
                  <a:srgbClr val="5A7290"/>
                </a:solidFill>
              </a:rPr>
              <a:t>Sólo habría valor económico si la reutilización compensa construcción y mantenimiento: C_amortized = (C_build + C_maint) / n_consultas + C_query.</a:t>
            </a:r>
          </a:p>
        </p:txBody>
      </p:sp>
      <p:sp>
        <p:nvSpPr>
          <p:cNvPr id="1043" name="sh1043"/>
          <p:cNvSpPr/>
          <p:nvPr/>
        </p:nvSpPr>
        <p:spPr>
          <a:xfrm>
            <a:off x="762000" y="6096000"/>
            <a:ext cx="10668000" cy="279400"/>
          </a:xfrm>
          <a:prstGeom prst="rect">
            <a:avLst/>
          </a:prstGeom>
          <a:noFill/>
          <a:ln>
            <a:noFill/>
          </a:ln>
        </p:spPr>
        <p:txBody>
          <a:bodyPr wrap="square" lIns="0" tIns="0" rIns="0" bIns="0" anchor="ctr">
            <a:noAutofit/>
          </a:bodyPr>
          <a:lstStyle/>
          <a:p>
            <a:pPr algn="l">
              <a:lnSpc>
                <a:spcPct val="100000"/>
              </a:lnSpc>
              <a:buNone/>
            </a:pPr>
            <a:r>
              <a:rPr lang="es-CL" sz="1150" b="1" spc="0" dirty="0">
                <a:solidFill>
                  <a:srgbClr val="12406E"/>
                </a:solidFill>
              </a:rPr>
              <a:t>No monetizar sin frecuencia de uso, costo laboral, costo de error y mantenimiento observados: el ROI sólo se reporta con datos reales.</a:t>
            </a:r>
          </a:p>
        </p:txBody>
      </p:sp>
      <p:sp>
        <p:nvSpPr>
          <p:cNvPr id="1993" name="reutil"/>
          <p:cNvSpPr/>
          <p:nvPr/>
        </p:nvSpPr>
        <p:spPr>
          <a:xfrm>
            <a:off x="7315200" y="4699000"/>
            <a:ext cx="3911600" cy="177800"/>
          </a:xfrm>
          <a:prstGeom prst="rect">
            <a:avLst/>
          </a:prstGeom>
          <a:noFill/>
          <a:ln>
            <a:noFill/>
          </a:ln>
        </p:spPr>
        <p:txBody>
          <a:bodyPr wrap="square" lIns="0" tIns="0" rIns="0" bIns="0" anchor="ctr">
            <a:noAutofit/>
          </a:bodyPr>
          <a:lstStyle/>
          <a:p>
            <a:pPr algn="l">
              <a:buNone/>
            </a:pPr>
            <a:r>
              <a:rPr lang="es-CL" sz="900" b="1" spc="80" dirty="0">
                <a:solidFill>
                  <a:srgbClr val="0A6D82"/>
                </a:solidFill>
              </a:rPr>
              <a:t>LA REUTILIZACIÓN DEBE COMPENSAR CONSTRUCCIÓN + MANTENIMIENTO</a:t>
            </a:r>
          </a:p>
        </p:txBody>
      </p:sp>
    </p:spTree>
    <p:extLst>
      <p:ext uri="{BB962C8B-B14F-4D97-AF65-F5344CB8AC3E}">
        <p14:creationId xmlns:p14="http://schemas.microsoft.com/office/powerpoint/2010/main" val="2371909577"/>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5A7290"/>
                </a:solidFill>
              </a:rPr>
              <a:t>CONDICIONES DE FRONTERA</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00000"/>
              </a:lnSpc>
              <a:buNone/>
            </a:pPr>
            <a:r>
              <a:rPr lang="es-CL" sz="2500" b="1" spc="0" dirty="0">
                <a:solidFill>
                  <a:srgbClr val="12406E"/>
                </a:solidFill>
              </a:rPr>
              <a:t>La lectura final se hace por tipo de tarea y profundidad histórica</a:t>
            </a:r>
          </a:p>
        </p:txBody>
      </p:sp>
      <p:sp>
        <p:nvSpPr>
          <p:cNvPr id="1003" name="sh1003"/>
          <p:cNvSpPr/>
          <p:nvPr/>
        </p:nvSpPr>
        <p:spPr>
          <a:xfrm>
            <a:off x="762000" y="1524000"/>
            <a:ext cx="1524000" cy="19050"/>
          </a:xfrm>
          <a:prstGeom prst="rect">
            <a:avLst/>
          </a:prstGeom>
          <a:solidFill>
            <a:srgbClr val="2ED3E8"/>
          </a:solidFill>
          <a:ln>
            <a:noFill/>
          </a:ln>
        </p:spPr>
        <p:txBody>
          <a:bodyPr wrap="square" lIns="0" tIns="0" rIns="0" bIns="0" anchor="t">
            <a:noAutofit/>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1D5C9E"/>
                </a:solidFill>
              </a:rPr>
              <a:t>[ 34 ]</a:t>
            </a:r>
          </a:p>
        </p:txBody>
      </p:sp>
      <p:sp>
        <p:nvSpPr>
          <p:cNvPr id="1005" name="sh1005"/>
          <p:cNvSpPr/>
          <p:nvPr/>
        </p:nvSpPr>
        <p:spPr>
          <a:xfrm>
            <a:off x="762000" y="1854200"/>
            <a:ext cx="2159000" cy="406400"/>
          </a:xfrm>
          <a:prstGeom prst="rect">
            <a:avLst/>
          </a:prstGeom>
          <a:noFill/>
          <a:ln>
            <a:noFill/>
          </a:ln>
        </p:spPr>
        <p:txBody>
          <a:bodyPr wrap="square" lIns="0" tIns="0" rIns="0" bIns="0" anchor="t">
            <a:noAutofit/>
          </a:bodyPr>
          <a:lstStyle/>
          <a:p>
            <a:pPr algn="l">
              <a:lnSpc>
                <a:spcPct val="110000"/>
              </a:lnSpc>
              <a:buNone/>
            </a:pPr>
            <a:r>
              <a:rPr lang="es-CL" sz="1000" b="1" spc="80" dirty="0">
                <a:solidFill>
                  <a:srgbClr val="5A7290"/>
                </a:solidFill>
              </a:rPr>
              <a:t>TIPO DE TAREA</a:t>
            </a:r>
          </a:p>
          <a:p>
            <a:pPr algn="l">
              <a:lnSpc>
                <a:spcPct val="100000"/>
              </a:lnSpc>
              <a:buNone/>
            </a:pPr>
            <a:r>
              <a:rPr lang="es-CL" sz="950" b="0" spc="80" dirty="0">
                <a:solidFill>
                  <a:srgbClr val="9FB3C8"/>
                </a:solidFill>
              </a:rPr>
              <a:t>ALCANCE DE LA PREGUNTA</a:t>
            </a:r>
          </a:p>
        </p:txBody>
      </p:sp>
      <p:sp>
        <p:nvSpPr>
          <p:cNvPr id="1006" name="sh1006"/>
          <p:cNvSpPr/>
          <p:nvPr/>
        </p:nvSpPr>
        <p:spPr>
          <a:xfrm>
            <a:off x="3124200" y="1854200"/>
            <a:ext cx="8305800" cy="177800"/>
          </a:xfrm>
          <a:prstGeom prst="rect">
            <a:avLst/>
          </a:prstGeom>
          <a:noFill/>
          <a:ln>
            <a:noFill/>
          </a:ln>
        </p:spPr>
        <p:txBody>
          <a:bodyPr wrap="square" lIns="0" tIns="0" rIns="0" bIns="0" anchor="ctr">
            <a:noAutofit/>
          </a:bodyPr>
          <a:lstStyle/>
          <a:p>
            <a:pPr algn="ctr">
              <a:lnSpc>
                <a:spcPct val="100000"/>
              </a:lnSpc>
              <a:buNone/>
            </a:pPr>
            <a:r>
              <a:rPr lang="es-CL" sz="1000" b="1" spc="100" dirty="0">
                <a:solidFill>
                  <a:srgbClr val="5A7290"/>
                </a:solidFill>
              </a:rPr>
              <a:t>DESEMPEÑO RELATIVO · EXPERIMENTO B</a:t>
            </a:r>
          </a:p>
        </p:txBody>
      </p:sp>
      <p:sp>
        <p:nvSpPr>
          <p:cNvPr id="1007" name="sh1007"/>
          <p:cNvSpPr/>
          <p:nvPr/>
        </p:nvSpPr>
        <p:spPr>
          <a:xfrm>
            <a:off x="3124200" y="2108200"/>
            <a:ext cx="2667000" cy="304800"/>
          </a:xfrm>
          <a:prstGeom prst="rect">
            <a:avLst/>
          </a:prstGeom>
          <a:solidFill>
            <a:srgbClr val="12684B"/>
          </a:solidFill>
          <a:ln>
            <a:noFill/>
          </a:ln>
        </p:spPr>
        <p:txBody>
          <a:bodyPr wrap="square" lIns="0" tIns="0" rIns="0" bIns="0" anchor="ctr">
            <a:noAutofit/>
          </a:bodyPr>
          <a:lstStyle/>
          <a:p>
            <a:pPr algn="ctr">
              <a:lnSpc>
                <a:spcPct val="100000"/>
              </a:lnSpc>
              <a:buNone/>
            </a:pPr>
            <a:r>
              <a:rPr lang="es-CL" sz="1300" b="1" spc="0" dirty="0">
                <a:solidFill>
                  <a:srgbClr val="FFFFFF"/>
                </a:solidFill>
              </a:rPr>
              <a:t>C2 &gt; C1</a:t>
            </a:r>
          </a:p>
        </p:txBody>
      </p:sp>
      <p:sp>
        <p:nvSpPr>
          <p:cNvPr id="1008" name="sh1008"/>
          <p:cNvSpPr/>
          <p:nvPr/>
        </p:nvSpPr>
        <p:spPr>
          <a:xfrm>
            <a:off x="5943600" y="2108200"/>
            <a:ext cx="2667000" cy="304800"/>
          </a:xfrm>
          <a:prstGeom prst="rect">
            <a:avLst/>
          </a:prstGeom>
          <a:solidFill>
            <a:srgbClr val="5A7290"/>
          </a:solidFill>
          <a:ln>
            <a:noFill/>
          </a:ln>
        </p:spPr>
        <p:txBody>
          <a:bodyPr wrap="square" lIns="0" tIns="0" rIns="0" bIns="0" anchor="ctr">
            <a:noAutofit/>
          </a:bodyPr>
          <a:lstStyle/>
          <a:p>
            <a:pPr algn="ctr">
              <a:lnSpc>
                <a:spcPct val="100000"/>
              </a:lnSpc>
              <a:buNone/>
            </a:pPr>
            <a:r>
              <a:rPr lang="es-CL" sz="1300" b="1" spc="0" dirty="0">
                <a:solidFill>
                  <a:srgbClr val="FFFFFF"/>
                </a:solidFill>
              </a:rPr>
              <a:t>SIN DIFERENCIA CONCLUYENTE</a:t>
            </a:r>
          </a:p>
        </p:txBody>
      </p:sp>
      <p:sp>
        <p:nvSpPr>
          <p:cNvPr id="1009" name="sh1009"/>
          <p:cNvSpPr/>
          <p:nvPr/>
        </p:nvSpPr>
        <p:spPr>
          <a:xfrm>
            <a:off x="8763000" y="2108200"/>
            <a:ext cx="2667000" cy="304800"/>
          </a:xfrm>
          <a:prstGeom prst="rect">
            <a:avLst/>
          </a:prstGeom>
          <a:solidFill>
            <a:srgbClr val="B03A2E"/>
          </a:solidFill>
          <a:ln>
            <a:noFill/>
          </a:ln>
        </p:spPr>
        <p:txBody>
          <a:bodyPr wrap="square" lIns="0" tIns="0" rIns="0" bIns="0" anchor="ctr">
            <a:noAutofit/>
          </a:bodyPr>
          <a:lstStyle/>
          <a:p>
            <a:pPr algn="ctr">
              <a:lnSpc>
                <a:spcPct val="100000"/>
              </a:lnSpc>
              <a:buNone/>
            </a:pPr>
            <a:r>
              <a:rPr lang="es-CL" sz="1300" b="1" spc="0" dirty="0">
                <a:solidFill>
                  <a:srgbClr val="FFFFFF"/>
                </a:solidFill>
              </a:rPr>
              <a:t>C1 &gt; C2</a:t>
            </a:r>
          </a:p>
        </p:txBody>
      </p:sp>
      <p:sp>
        <p:nvSpPr>
          <p:cNvPr id="1010" name="sh1010"/>
          <p:cNvSpPr/>
          <p:nvPr/>
        </p:nvSpPr>
        <p:spPr>
          <a:xfrm>
            <a:off x="762000" y="2514600"/>
            <a:ext cx="2159000" cy="990600"/>
          </a:xfrm>
          <a:prstGeom prst="rect">
            <a:avLst/>
          </a:prstGeom>
          <a:solidFill>
            <a:srgbClr val="F7FAFC"/>
          </a:solidFill>
          <a:ln>
            <a:noFill/>
          </a:ln>
        </p:spPr>
        <p:txBody>
          <a:bodyPr wrap="square" lIns="0" tIns="0" rIns="0" bIns="0" anchor="t">
            <a:noAutofit/>
          </a:bodyPr>
          <a:lstStyle/>
          <a:p>
            <a:endParaRPr lang="es-CL"/>
          </a:p>
        </p:txBody>
      </p:sp>
      <p:sp>
        <p:nvSpPr>
          <p:cNvPr id="1011" name="sh1011"/>
          <p:cNvSpPr/>
          <p:nvPr/>
        </p:nvSpPr>
        <p:spPr>
          <a:xfrm>
            <a:off x="762000" y="2514600"/>
            <a:ext cx="38100" cy="990600"/>
          </a:xfrm>
          <a:prstGeom prst="rect">
            <a:avLst/>
          </a:prstGeom>
          <a:solidFill>
            <a:srgbClr val="12406E"/>
          </a:solidFill>
          <a:ln>
            <a:noFill/>
          </a:ln>
        </p:spPr>
        <p:txBody>
          <a:bodyPr wrap="square" lIns="0" tIns="0" rIns="0" bIns="0" anchor="t">
            <a:noAutofit/>
          </a:bodyPr>
          <a:lstStyle/>
          <a:p>
            <a:endParaRPr lang="es-CL"/>
          </a:p>
        </p:txBody>
      </p:sp>
      <p:sp>
        <p:nvSpPr>
          <p:cNvPr id="1012" name="sh1012"/>
          <p:cNvSpPr/>
          <p:nvPr/>
        </p:nvSpPr>
        <p:spPr>
          <a:xfrm>
            <a:off x="939800" y="2717800"/>
            <a:ext cx="1828800" cy="457200"/>
          </a:xfrm>
          <a:prstGeom prst="rect">
            <a:avLst/>
          </a:prstGeom>
          <a:noFill/>
          <a:ln>
            <a:noFill/>
          </a:ln>
        </p:spPr>
        <p:txBody>
          <a:bodyPr wrap="square" lIns="0" tIns="0" rIns="0" bIns="0" anchor="t">
            <a:noAutofit/>
          </a:bodyPr>
          <a:lstStyle/>
          <a:p>
            <a:pPr algn="l">
              <a:lnSpc>
                <a:spcPct val="110000"/>
              </a:lnSpc>
              <a:buNone/>
            </a:pPr>
            <a:r>
              <a:rPr lang="es-CL" sz="1300" b="1" spc="0" dirty="0">
                <a:solidFill>
                  <a:srgbClr val="12406E"/>
                </a:solidFill>
              </a:rPr>
              <a:t>LOCAL</a:t>
            </a:r>
          </a:p>
        </p:txBody>
      </p:sp>
      <p:sp>
        <p:nvSpPr>
          <p:cNvPr id="1013" name="sh1013"/>
          <p:cNvSpPr/>
          <p:nvPr/>
        </p:nvSpPr>
        <p:spPr>
          <a:xfrm>
            <a:off x="939800" y="3200400"/>
            <a:ext cx="1828800" cy="203200"/>
          </a:xfrm>
          <a:prstGeom prst="rect">
            <a:avLst/>
          </a:prstGeom>
          <a:noFill/>
          <a:ln>
            <a:noFill/>
          </a:ln>
        </p:spPr>
        <p:txBody>
          <a:bodyPr wrap="square" lIns="0" tIns="0" rIns="0" bIns="0" anchor="ctr">
            <a:noAutofit/>
          </a:bodyPr>
          <a:lstStyle/>
          <a:p>
            <a:pPr algn="l">
              <a:lnSpc>
                <a:spcPct val="100000"/>
              </a:lnSpc>
              <a:buNone/>
            </a:pPr>
            <a:r>
              <a:rPr lang="es-CL" sz="1000" b="0" spc="0" dirty="0">
                <a:solidFill>
                  <a:srgbClr val="5A7290"/>
                </a:solidFill>
              </a:rPr>
              <a:t>evidencia en una sola reunión</a:t>
            </a:r>
          </a:p>
        </p:txBody>
      </p:sp>
      <p:sp>
        <p:nvSpPr>
          <p:cNvPr id="1014" name="sh1014"/>
          <p:cNvSpPr/>
          <p:nvPr/>
        </p:nvSpPr>
        <p:spPr>
          <a:xfrm>
            <a:off x="3124200" y="2514600"/>
            <a:ext cx="2667000" cy="990600"/>
          </a:xfrm>
          <a:prstGeom prst="rect">
            <a:avLst/>
          </a:prstGeom>
          <a:noFill/>
          <a:ln w="12700">
            <a:solidFill>
              <a:srgbClr val="C6D4E2"/>
            </a:solidFill>
          </a:ln>
        </p:spPr>
        <p:txBody>
          <a:bodyPr wrap="square" lIns="0" tIns="0" rIns="0" bIns="0" anchor="t">
            <a:noAutofit/>
          </a:bodyPr>
          <a:lstStyle/>
          <a:p>
            <a:endParaRPr lang="es-CL"/>
          </a:p>
        </p:txBody>
      </p:sp>
      <p:sp>
        <p:nvSpPr>
          <p:cNvPr id="1015" name="sh1015"/>
          <p:cNvSpPr/>
          <p:nvPr/>
        </p:nvSpPr>
        <p:spPr>
          <a:xfrm>
            <a:off x="3276600" y="2692400"/>
            <a:ext cx="23622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Hipótesis: las preguntas agregadas pueden favorecer los objetos estructurados.</a:t>
            </a:r>
          </a:p>
        </p:txBody>
      </p:sp>
      <p:sp>
        <p:nvSpPr>
          <p:cNvPr id="1016" name="sh1016"/>
          <p:cNvSpPr/>
          <p:nvPr/>
        </p:nvSpPr>
        <p:spPr>
          <a:xfrm>
            <a:off x="5943600" y="2514600"/>
            <a:ext cx="2667000" cy="990600"/>
          </a:xfrm>
          <a:prstGeom prst="rect">
            <a:avLst/>
          </a:prstGeom>
          <a:noFill/>
          <a:ln w="12700">
            <a:solidFill>
              <a:srgbClr val="C6D4E2"/>
            </a:solidFill>
          </a:ln>
        </p:spPr>
        <p:txBody>
          <a:bodyPr wrap="square" lIns="0" tIns="0" rIns="0" bIns="0" anchor="t">
            <a:noAutofit/>
          </a:bodyPr>
          <a:lstStyle/>
          <a:p>
            <a:endParaRPr lang="es-CL"/>
          </a:p>
        </p:txBody>
      </p:sp>
      <p:sp>
        <p:nvSpPr>
          <p:cNvPr id="1017" name="sh1017"/>
          <p:cNvSpPr/>
          <p:nvPr/>
        </p:nvSpPr>
        <p:spPr>
          <a:xfrm>
            <a:off x="6096000" y="2692400"/>
            <a:ext cx="23622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Sin evidencia concluyente de ventaja de una representación.</a:t>
            </a:r>
          </a:p>
        </p:txBody>
      </p:sp>
      <p:sp>
        <p:nvSpPr>
          <p:cNvPr id="1018" name="sh1018"/>
          <p:cNvSpPr/>
          <p:nvPr/>
        </p:nvSpPr>
        <p:spPr>
          <a:xfrm>
            <a:off x="8763000" y="2514600"/>
            <a:ext cx="2667000" cy="990600"/>
          </a:xfrm>
          <a:prstGeom prst="rect">
            <a:avLst/>
          </a:prstGeom>
          <a:noFill/>
          <a:ln w="12700">
            <a:solidFill>
              <a:srgbClr val="C6D4E2"/>
            </a:solidFill>
          </a:ln>
        </p:spPr>
        <p:txBody>
          <a:bodyPr wrap="square" lIns="0" tIns="0" rIns="0" bIns="0" anchor="t">
            <a:noAutofit/>
          </a:bodyPr>
          <a:lstStyle/>
          <a:p>
            <a:endParaRPr lang="es-CL"/>
          </a:p>
        </p:txBody>
      </p:sp>
      <p:sp>
        <p:nvSpPr>
          <p:cNvPr id="1019" name="sh1019"/>
          <p:cNvSpPr/>
          <p:nvPr/>
        </p:nvSpPr>
        <p:spPr>
          <a:xfrm>
            <a:off x="8915400" y="2692400"/>
            <a:ext cx="23622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Hipótesis: las preguntas locales o factuales pueden favorecer el retrieval documental.</a:t>
            </a:r>
          </a:p>
        </p:txBody>
      </p:sp>
      <p:sp>
        <p:nvSpPr>
          <p:cNvPr id="1020" name="sh1020"/>
          <p:cNvSpPr/>
          <p:nvPr/>
        </p:nvSpPr>
        <p:spPr>
          <a:xfrm>
            <a:off x="762000" y="3606800"/>
            <a:ext cx="2159000" cy="990600"/>
          </a:xfrm>
          <a:prstGeom prst="rect">
            <a:avLst/>
          </a:prstGeom>
          <a:solidFill>
            <a:srgbClr val="F7FAFC"/>
          </a:solidFill>
          <a:ln>
            <a:noFill/>
          </a:ln>
        </p:spPr>
        <p:txBody>
          <a:bodyPr wrap="square" lIns="0" tIns="0" rIns="0" bIns="0" anchor="t">
            <a:noAutofit/>
          </a:bodyPr>
          <a:lstStyle/>
          <a:p>
            <a:endParaRPr lang="es-CL"/>
          </a:p>
        </p:txBody>
      </p:sp>
      <p:sp>
        <p:nvSpPr>
          <p:cNvPr id="1021" name="sh1021"/>
          <p:cNvSpPr/>
          <p:nvPr/>
        </p:nvSpPr>
        <p:spPr>
          <a:xfrm>
            <a:off x="762000" y="3606800"/>
            <a:ext cx="38100" cy="990600"/>
          </a:xfrm>
          <a:prstGeom prst="rect">
            <a:avLst/>
          </a:prstGeom>
          <a:solidFill>
            <a:srgbClr val="5A7290"/>
          </a:solidFill>
          <a:ln>
            <a:noFill/>
          </a:ln>
        </p:spPr>
        <p:txBody>
          <a:bodyPr wrap="square" lIns="0" tIns="0" rIns="0" bIns="0" anchor="t">
            <a:noAutofit/>
          </a:bodyPr>
          <a:lstStyle/>
          <a:p>
            <a:endParaRPr lang="es-CL"/>
          </a:p>
        </p:txBody>
      </p:sp>
      <p:sp>
        <p:nvSpPr>
          <p:cNvPr id="1022" name="sh1022"/>
          <p:cNvSpPr/>
          <p:nvPr/>
        </p:nvSpPr>
        <p:spPr>
          <a:xfrm>
            <a:off x="939800" y="3810000"/>
            <a:ext cx="1828800" cy="457200"/>
          </a:xfrm>
          <a:prstGeom prst="rect">
            <a:avLst/>
          </a:prstGeom>
          <a:noFill/>
          <a:ln>
            <a:noFill/>
          </a:ln>
        </p:spPr>
        <p:txBody>
          <a:bodyPr wrap="square" lIns="0" tIns="0" rIns="0" bIns="0" anchor="t">
            <a:noAutofit/>
          </a:bodyPr>
          <a:lstStyle/>
          <a:p>
            <a:pPr algn="l">
              <a:lnSpc>
                <a:spcPct val="110000"/>
              </a:lnSpc>
              <a:buNone/>
            </a:pPr>
            <a:r>
              <a:rPr lang="es-CL" sz="1300" b="1" spc="0" dirty="0">
                <a:solidFill>
                  <a:srgbClr val="5A7290"/>
                </a:solidFill>
              </a:rPr>
              <a:t>LONGITUDINAL</a:t>
            </a:r>
          </a:p>
        </p:txBody>
      </p:sp>
      <p:sp>
        <p:nvSpPr>
          <p:cNvPr id="1023" name="sh1023"/>
          <p:cNvSpPr/>
          <p:nvPr/>
        </p:nvSpPr>
        <p:spPr>
          <a:xfrm>
            <a:off x="939800" y="4292600"/>
            <a:ext cx="1828800" cy="203200"/>
          </a:xfrm>
          <a:prstGeom prst="rect">
            <a:avLst/>
          </a:prstGeom>
          <a:noFill/>
          <a:ln>
            <a:noFill/>
          </a:ln>
        </p:spPr>
        <p:txBody>
          <a:bodyPr wrap="square" lIns="0" tIns="0" rIns="0" bIns="0" anchor="ctr">
            <a:noAutofit/>
          </a:bodyPr>
          <a:lstStyle/>
          <a:p>
            <a:pPr algn="l">
              <a:lnSpc>
                <a:spcPct val="100000"/>
              </a:lnSpc>
              <a:buNone/>
            </a:pPr>
            <a:r>
              <a:rPr lang="es-CL" sz="1000" b="0" spc="0" dirty="0">
                <a:solidFill>
                  <a:srgbClr val="5A7290"/>
                </a:solidFill>
              </a:rPr>
              <a:t>y multidecisión</a:t>
            </a:r>
          </a:p>
        </p:txBody>
      </p:sp>
      <p:sp>
        <p:nvSpPr>
          <p:cNvPr id="1024" name="sh1024"/>
          <p:cNvSpPr/>
          <p:nvPr/>
        </p:nvSpPr>
        <p:spPr>
          <a:xfrm>
            <a:off x="3124200" y="3606800"/>
            <a:ext cx="2667000" cy="990600"/>
          </a:xfrm>
          <a:prstGeom prst="rect">
            <a:avLst/>
          </a:prstGeom>
          <a:noFill/>
          <a:ln w="12700">
            <a:solidFill>
              <a:srgbClr val="C6D4E2"/>
            </a:solidFill>
          </a:ln>
        </p:spPr>
        <p:txBody>
          <a:bodyPr wrap="square" lIns="0" tIns="0" rIns="0" bIns="0" anchor="t">
            <a:noAutofit/>
          </a:bodyPr>
          <a:lstStyle/>
          <a:p>
            <a:endParaRPr lang="es-CL"/>
          </a:p>
        </p:txBody>
      </p:sp>
      <p:sp>
        <p:nvSpPr>
          <p:cNvPr id="1025" name="sh1025"/>
          <p:cNvSpPr/>
          <p:nvPr/>
        </p:nvSpPr>
        <p:spPr>
          <a:xfrm>
            <a:off x="3276600" y="3784600"/>
            <a:ext cx="23622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Hipótesis: vigencia y preguntas longitudinales pueden favorecer estructura temporal y relaciones.</a:t>
            </a:r>
          </a:p>
        </p:txBody>
      </p:sp>
      <p:sp>
        <p:nvSpPr>
          <p:cNvPr id="1026" name="sh1026"/>
          <p:cNvSpPr/>
          <p:nvPr/>
        </p:nvSpPr>
        <p:spPr>
          <a:xfrm>
            <a:off x="5943600" y="3606800"/>
            <a:ext cx="2667000" cy="990600"/>
          </a:xfrm>
          <a:prstGeom prst="rect">
            <a:avLst/>
          </a:prstGeom>
          <a:noFill/>
          <a:ln w="12700">
            <a:solidFill>
              <a:srgbClr val="C6D4E2"/>
            </a:solidFill>
          </a:ln>
        </p:spPr>
        <p:txBody>
          <a:bodyPr wrap="square" lIns="0" tIns="0" rIns="0" bIns="0" anchor="t">
            <a:noAutofit/>
          </a:bodyPr>
          <a:lstStyle/>
          <a:p>
            <a:endParaRPr lang="es-CL"/>
          </a:p>
        </p:txBody>
      </p:sp>
      <p:sp>
        <p:nvSpPr>
          <p:cNvPr id="1027" name="sh1027"/>
          <p:cNvSpPr/>
          <p:nvPr/>
        </p:nvSpPr>
        <p:spPr>
          <a:xfrm>
            <a:off x="6096000" y="3784600"/>
            <a:ext cx="23622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Sin evidencia concluyente de ventaja de una representación.</a:t>
            </a:r>
          </a:p>
        </p:txBody>
      </p:sp>
      <p:sp>
        <p:nvSpPr>
          <p:cNvPr id="1028" name="sh1028"/>
          <p:cNvSpPr/>
          <p:nvPr/>
        </p:nvSpPr>
        <p:spPr>
          <a:xfrm>
            <a:off x="8763000" y="3606800"/>
            <a:ext cx="2667000" cy="990600"/>
          </a:xfrm>
          <a:prstGeom prst="rect">
            <a:avLst/>
          </a:prstGeom>
          <a:noFill/>
          <a:ln w="12700">
            <a:solidFill>
              <a:srgbClr val="C6D4E2"/>
            </a:solidFill>
          </a:ln>
        </p:spPr>
        <p:txBody>
          <a:bodyPr wrap="square" lIns="0" tIns="0" rIns="0" bIns="0" anchor="t">
            <a:noAutofit/>
          </a:bodyPr>
          <a:lstStyle/>
          <a:p>
            <a:endParaRPr lang="es-CL"/>
          </a:p>
        </p:txBody>
      </p:sp>
      <p:sp>
        <p:nvSpPr>
          <p:cNvPr id="1029" name="sh1029"/>
          <p:cNvSpPr/>
          <p:nvPr/>
        </p:nvSpPr>
        <p:spPr>
          <a:xfrm>
            <a:off x="8915400" y="3784600"/>
            <a:ext cx="2362200" cy="660400"/>
          </a:xfrm>
          <a:prstGeom prst="rect">
            <a:avLst/>
          </a:prstGeom>
          <a:noFill/>
          <a:ln>
            <a:noFill/>
          </a:ln>
        </p:spPr>
        <p:txBody>
          <a:bodyPr wrap="square" lIns="0" tIns="0" rIns="0" bIns="0" anchor="t">
            <a:noAutofit/>
          </a:bodyPr>
          <a:lstStyle/>
          <a:p>
            <a:pPr algn="l">
              <a:lnSpc>
                <a:spcPct val="130000"/>
              </a:lnSpc>
              <a:buNone/>
            </a:pPr>
            <a:r>
              <a:rPr lang="es-CL" sz="1150" b="0" spc="0" dirty="0">
                <a:solidFill>
                  <a:srgbClr val="1E3A52"/>
                </a:solidFill>
              </a:rPr>
              <a:t>Hipótesis: el matiz textual puede favorecer el documento original.</a:t>
            </a:r>
          </a:p>
        </p:txBody>
      </p:sp>
      <p:sp>
        <p:nvSpPr>
          <p:cNvPr id="1030" name="sh1030"/>
          <p:cNvSpPr/>
          <p:nvPr/>
        </p:nvSpPr>
        <p:spPr>
          <a:xfrm>
            <a:off x="762000" y="4800600"/>
            <a:ext cx="10668000" cy="1066800"/>
          </a:xfrm>
          <a:prstGeom prst="rect">
            <a:avLst/>
          </a:prstGeom>
          <a:solidFill>
            <a:srgbClr val="F5F8FB"/>
          </a:solidFill>
          <a:ln>
            <a:noFill/>
          </a:ln>
        </p:spPr>
        <p:txBody>
          <a:bodyPr wrap="square" lIns="0" tIns="0" rIns="0" bIns="0" anchor="t">
            <a:noAutofit/>
          </a:bodyPr>
          <a:lstStyle/>
          <a:p>
            <a:endParaRPr lang="es-CL"/>
          </a:p>
        </p:txBody>
      </p:sp>
      <p:sp>
        <p:nvSpPr>
          <p:cNvPr id="1031" name="sh1031"/>
          <p:cNvSpPr/>
          <p:nvPr/>
        </p:nvSpPr>
        <p:spPr>
          <a:xfrm>
            <a:off x="762000" y="4800600"/>
            <a:ext cx="38100" cy="1066800"/>
          </a:xfrm>
          <a:prstGeom prst="rect">
            <a:avLst/>
          </a:prstGeom>
          <a:solidFill>
            <a:srgbClr val="2ED3E8"/>
          </a:solidFill>
          <a:ln>
            <a:noFill/>
          </a:ln>
        </p:spPr>
        <p:txBody>
          <a:bodyPr wrap="square" lIns="0" tIns="0" rIns="0" bIns="0" anchor="t">
            <a:noAutofit/>
          </a:bodyPr>
          <a:lstStyle/>
          <a:p>
            <a:endParaRPr lang="es-CL"/>
          </a:p>
        </p:txBody>
      </p:sp>
      <p:sp>
        <p:nvSpPr>
          <p:cNvPr id="1032" name="sh1032"/>
          <p:cNvSpPr/>
          <p:nvPr/>
        </p:nvSpPr>
        <p:spPr>
          <a:xfrm>
            <a:off x="990600" y="4902200"/>
            <a:ext cx="6350000" cy="165100"/>
          </a:xfrm>
          <a:prstGeom prst="rect">
            <a:avLst/>
          </a:prstGeom>
          <a:noFill/>
          <a:ln>
            <a:noFill/>
          </a:ln>
        </p:spPr>
        <p:txBody>
          <a:bodyPr wrap="square" lIns="0" tIns="0" rIns="0" bIns="0" anchor="ctr">
            <a:noAutofit/>
          </a:bodyPr>
          <a:lstStyle/>
          <a:p>
            <a:pPr algn="l">
              <a:lnSpc>
                <a:spcPct val="100000"/>
              </a:lnSpc>
              <a:buNone/>
            </a:pPr>
            <a:r>
              <a:rPr lang="es-CL" sz="900" b="1" spc="80" dirty="0">
                <a:solidFill>
                  <a:srgbClr val="0A6D82"/>
                </a:solidFill>
              </a:rPr>
              <a:t>PROFUNDIDAD HISTÓRICA N · CONDICIONES A CONTRASTAR</a:t>
            </a:r>
          </a:p>
        </p:txBody>
      </p:sp>
      <p:sp>
        <p:nvSpPr>
          <p:cNvPr id="1033" name="sh1033"/>
          <p:cNvSpPr/>
          <p:nvPr/>
        </p:nvSpPr>
        <p:spPr>
          <a:xfrm>
            <a:off x="990600" y="5130800"/>
            <a:ext cx="1397000" cy="177800"/>
          </a:xfrm>
          <a:prstGeom prst="rect">
            <a:avLst/>
          </a:prstGeom>
          <a:noFill/>
          <a:ln>
            <a:noFill/>
          </a:ln>
        </p:spPr>
        <p:txBody>
          <a:bodyPr wrap="square" lIns="0" tIns="0" rIns="0" bIns="0" anchor="ctr">
            <a:noAutofit/>
          </a:bodyPr>
          <a:lstStyle/>
          <a:p>
            <a:pPr algn="l">
              <a:lnSpc>
                <a:spcPct val="100000"/>
              </a:lnSpc>
              <a:buNone/>
            </a:pPr>
            <a:r>
              <a:rPr lang="es-CL" sz="950" b="1" spc="60" dirty="0">
                <a:solidFill>
                  <a:srgbClr val="12406E"/>
                </a:solidFill>
              </a:rPr>
              <a:t>ANALIZAR SEGÚN N</a:t>
            </a:r>
          </a:p>
        </p:txBody>
      </p:sp>
      <p:sp>
        <p:nvSpPr>
          <p:cNvPr id="1034" name="sh1034"/>
          <p:cNvSpPr/>
          <p:nvPr/>
        </p:nvSpPr>
        <p:spPr>
          <a:xfrm>
            <a:off x="2489200" y="5130800"/>
            <a:ext cx="88900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1E3A52"/>
                </a:solidFill>
              </a:rPr>
              <a:t>reuniones disponibles · reuniones con evidencia relevante · distancia entre primera y última evidencia · eventos · decisiones necesarias</a:t>
            </a:r>
          </a:p>
        </p:txBody>
      </p:sp>
      <p:sp>
        <p:nvSpPr>
          <p:cNvPr id="1035" name="sh1035"/>
          <p:cNvSpPr/>
          <p:nvPr/>
        </p:nvSpPr>
        <p:spPr>
          <a:xfrm>
            <a:off x="990600" y="5384800"/>
            <a:ext cx="1397000" cy="177800"/>
          </a:xfrm>
          <a:prstGeom prst="rect">
            <a:avLst/>
          </a:prstGeom>
          <a:noFill/>
          <a:ln>
            <a:noFill/>
          </a:ln>
        </p:spPr>
        <p:txBody>
          <a:bodyPr wrap="square" lIns="0" tIns="0" rIns="0" bIns="0" anchor="ctr">
            <a:noAutofit/>
          </a:bodyPr>
          <a:lstStyle/>
          <a:p>
            <a:pPr algn="l">
              <a:lnSpc>
                <a:spcPct val="100000"/>
              </a:lnSpc>
              <a:buNone/>
            </a:pPr>
            <a:r>
              <a:rPr lang="es-CL" sz="950" b="1" spc="60" dirty="0">
                <a:solidFill>
                  <a:srgbClr val="5A7290"/>
                </a:solidFill>
              </a:rPr>
              <a:t>MENOR N</a:t>
            </a:r>
          </a:p>
        </p:txBody>
      </p:sp>
      <p:sp>
        <p:nvSpPr>
          <p:cNvPr id="1036" name="sh1036"/>
          <p:cNvSpPr/>
          <p:nvPr/>
        </p:nvSpPr>
        <p:spPr>
          <a:xfrm>
            <a:off x="2489200" y="5384800"/>
            <a:ext cx="8890000" cy="177800"/>
          </a:xfrm>
          <a:prstGeom prst="rect">
            <a:avLst/>
          </a:prstGeom>
          <a:noFill/>
          <a:ln>
            <a:noFill/>
          </a:ln>
        </p:spPr>
        <p:txBody>
          <a:bodyPr wrap="square" lIns="0" tIns="0" rIns="0" bIns="0" anchor="ctr">
            <a:noAutofit/>
          </a:bodyPr>
          <a:lstStyle/>
          <a:p>
            <a:pPr algn="l">
              <a:lnSpc>
                <a:spcPct val="100000"/>
              </a:lnSpc>
              <a:buNone/>
            </a:pPr>
            <a:r>
              <a:rPr lang="es-CL" sz="1050" b="0" spc="0" dirty="0">
                <a:solidFill>
                  <a:srgbClr val="1E3A52"/>
                </a:solidFill>
              </a:rPr>
              <a:t>menos reuniones disponibles · menor distancia temporal · pocos eventos · evidencia concentrada</a:t>
            </a:r>
          </a:p>
        </p:txBody>
      </p:sp>
      <p:sp>
        <p:nvSpPr>
          <p:cNvPr id="1037" name="sh1037"/>
          <p:cNvSpPr/>
          <p:nvPr/>
        </p:nvSpPr>
        <p:spPr>
          <a:xfrm>
            <a:off x="990600" y="5638800"/>
            <a:ext cx="10261600" cy="177800"/>
          </a:xfrm>
          <a:prstGeom prst="rect">
            <a:avLst/>
          </a:prstGeom>
          <a:noFill/>
          <a:ln>
            <a:noFill/>
          </a:ln>
        </p:spPr>
        <p:txBody>
          <a:bodyPr wrap="square" lIns="0" tIns="0" rIns="0" bIns="0" anchor="ctr">
            <a:noAutofit/>
          </a:bodyPr>
          <a:lstStyle/>
          <a:p>
            <a:pPr algn="l">
              <a:lnSpc>
                <a:spcPct val="100000"/>
              </a:lnSpc>
              <a:buNone/>
            </a:pPr>
            <a:r>
              <a:rPr lang="es-CL" sz="1000" b="0" spc="0" dirty="0">
                <a:solidFill>
                  <a:srgbClr val="5A7290"/>
                </a:solidFill>
              </a:rPr>
              <a:t>Cada celda representa una hipótesis de lectura, no un resultado: el contraste se reporta por estrato de tarea y por profundidad N.</a:t>
            </a:r>
          </a:p>
        </p:txBody>
      </p:sp>
      <p:sp>
        <p:nvSpPr>
          <p:cNvPr id="1038" name="sh1038"/>
          <p:cNvSpPr/>
          <p:nvPr/>
        </p:nvSpPr>
        <p:spPr>
          <a:xfrm>
            <a:off x="762000" y="5994400"/>
            <a:ext cx="10668000" cy="355600"/>
          </a:xfrm>
          <a:prstGeom prst="rect">
            <a:avLst/>
          </a:prstGeom>
          <a:noFill/>
          <a:ln>
            <a:noFill/>
          </a:ln>
        </p:spPr>
        <p:txBody>
          <a:bodyPr wrap="square" lIns="0" tIns="0" rIns="0" bIns="0" anchor="ctr">
            <a:noAutofit/>
          </a:bodyPr>
          <a:lstStyle/>
          <a:p>
            <a:pPr algn="l">
              <a:lnSpc>
                <a:spcPct val="100000"/>
              </a:lnSpc>
              <a:buNone/>
            </a:pPr>
            <a:r>
              <a:rPr lang="es-CL" sz="1200" b="1" spc="0" dirty="0">
                <a:solidFill>
                  <a:srgbClr val="12406E"/>
                </a:solidFill>
              </a:rPr>
              <a:t>El objetivo no es identificar un ganador global, sino determinar cómo varía el desempeño relativo según tarea, profundidad histórica y condiciones.</a:t>
            </a:r>
          </a:p>
        </p:txBody>
      </p:sp>
    </p:spTree>
    <p:extLst>
      <p:ext uri="{BB962C8B-B14F-4D97-AF65-F5344CB8AC3E}">
        <p14:creationId xmlns:p14="http://schemas.microsoft.com/office/powerpoint/2010/main" val="745468954"/>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1524"/>
        </a:solidFill>
        <a:effectLst/>
      </p:bgPr>
    </p:bg>
    <p:spTree>
      <p:nvGrpSpPr>
        <p:cNvPr id="1" name=""/>
        <p:cNvGrpSpPr/>
        <p:nvPr/>
      </p:nvGrpSpPr>
      <p:grpSpPr>
        <a:xfrm>
          <a:off x="0" y="0"/>
          <a:ext cx="0" cy="0"/>
          <a:chOff x="0" y="0"/>
          <a:chExt cx="0" cy="0"/>
        </a:xfrm>
      </p:grpSpPr>
      <p:sp>
        <p:nvSpPr>
          <p:cNvPr id="1996" name="cadenaPanel"/>
          <p:cNvSpPr/>
          <p:nvPr/>
        </p:nvSpPr>
        <p:spPr>
          <a:xfrm>
            <a:off x="7975600" y="1447800"/>
            <a:ext cx="3606800" cy="2463800"/>
          </a:xfrm>
          <a:prstGeom prst="rect">
            <a:avLst/>
          </a:prstGeom>
          <a:solidFill>
            <a:srgbClr val="0E1E30"/>
          </a:solidFill>
          <a:ln>
            <a:noFill/>
          </a:ln>
        </p:spPr>
        <p:txBody>
          <a:bodyPr/>
          <a:lstStyle/>
          <a:p>
            <a:endParaRPr lang="es-CL"/>
          </a:p>
        </p:txBody>
      </p:sp>
      <p:sp>
        <p:nvSpPr>
          <p:cNvPr id="1001" name="sh1001"/>
          <p:cNvSpPr/>
          <p:nvPr/>
        </p:nvSpPr>
        <p:spPr>
          <a:xfrm>
            <a:off x="0" y="0"/>
            <a:ext cx="12192000" cy="6858000"/>
          </a:xfrm>
          <a:prstGeom prst="rect">
            <a:avLst/>
          </a:prstGeom>
          <a:solidFill>
            <a:srgbClr val="0A1524"/>
          </a:solidFill>
          <a:ln>
            <a:noFill/>
          </a:ln>
        </p:spPr>
        <p:txBody>
          <a:bodyPr/>
          <a:lstStyle/>
          <a:p>
            <a:endParaRPr lang="es-CL"/>
          </a:p>
        </p:txBody>
      </p:sp>
      <p:sp>
        <p:nvSpPr>
          <p:cNvPr id="1002" name="sh1002"/>
          <p:cNvSpPr/>
          <p:nvPr/>
        </p:nvSpPr>
        <p:spPr>
          <a:xfrm>
            <a:off x="0" y="0"/>
            <a:ext cx="12192000" cy="50800"/>
          </a:xfrm>
          <a:prstGeom prst="rect">
            <a:avLst/>
          </a:prstGeom>
          <a:solidFill>
            <a:srgbClr val="12406E"/>
          </a:solidFill>
          <a:ln>
            <a:noFill/>
          </a:ln>
        </p:spPr>
        <p:txBody>
          <a:bodyPr/>
          <a:lstStyle/>
          <a:p>
            <a:endParaRPr lang="es-CL"/>
          </a:p>
        </p:txBody>
      </p:sp>
      <p:sp>
        <p:nvSpPr>
          <p:cNvPr id="1003" name="sh1003"/>
          <p:cNvSpPr/>
          <p:nvPr/>
        </p:nvSpPr>
        <p:spPr>
          <a:xfrm>
            <a:off x="762000" y="889000"/>
            <a:ext cx="3810000" cy="177800"/>
          </a:xfrm>
          <a:prstGeom prst="rect">
            <a:avLst/>
          </a:prstGeom>
          <a:noFill/>
          <a:ln>
            <a:noFill/>
          </a:ln>
        </p:spPr>
        <p:txBody>
          <a:bodyPr wrap="square" lIns="0" tIns="0" rIns="0" bIns="0" anchor="ctr">
            <a:noAutofit/>
          </a:bodyPr>
          <a:lstStyle/>
          <a:p>
            <a:pPr algn="l">
              <a:lnSpc>
                <a:spcPct val="100000"/>
              </a:lnSpc>
              <a:buNone/>
            </a:pPr>
            <a:r>
              <a:rPr lang="es-CL" sz="1050" b="0" spc="180" dirty="0">
                <a:solidFill>
                  <a:srgbClr val="2ED3E8"/>
                </a:solidFill>
              </a:rPr>
              <a:t>CIERRE</a:t>
            </a:r>
          </a:p>
        </p:txBody>
      </p:sp>
      <p:sp>
        <p:nvSpPr>
          <p:cNvPr id="1004" name="sh1004"/>
          <p:cNvSpPr/>
          <p:nvPr/>
        </p:nvSpPr>
        <p:spPr>
          <a:xfrm>
            <a:off x="762000" y="1219200"/>
            <a:ext cx="1524000" cy="19050"/>
          </a:xfrm>
          <a:prstGeom prst="rect">
            <a:avLst/>
          </a:prstGeom>
          <a:solidFill>
            <a:srgbClr val="2ED3E8"/>
          </a:solidFill>
          <a:ln>
            <a:noFill/>
          </a:ln>
        </p:spPr>
        <p:txBody>
          <a:bodyPr/>
          <a:lstStyle/>
          <a:p>
            <a:endParaRPr lang="es-CL"/>
          </a:p>
        </p:txBody>
      </p:sp>
      <p:sp>
        <p:nvSpPr>
          <p:cNvPr id="1005" name="sh1005"/>
          <p:cNvSpPr/>
          <p:nvPr/>
        </p:nvSpPr>
        <p:spPr>
          <a:xfrm>
            <a:off x="762000" y="1524000"/>
            <a:ext cx="6604000" cy="2413000"/>
          </a:xfrm>
          <a:prstGeom prst="rect">
            <a:avLst/>
          </a:prstGeom>
          <a:noFill/>
          <a:ln>
            <a:noFill/>
          </a:ln>
        </p:spPr>
        <p:txBody>
          <a:bodyPr wrap="square" lIns="0" tIns="0" rIns="0" bIns="0" anchor="t">
            <a:noAutofit/>
          </a:bodyPr>
          <a:lstStyle/>
          <a:p>
            <a:pPr algn="l">
              <a:lnSpc>
                <a:spcPct val="115000"/>
              </a:lnSpc>
              <a:buNone/>
            </a:pPr>
            <a:r>
              <a:rPr lang="es-CL" sz="3200" b="1" spc="0" dirty="0">
                <a:solidFill>
                  <a:srgbClr val="FFFFFF"/>
                </a:solidFill>
              </a:rPr>
              <a:t>¿Qué valor podría producir,</a:t>
            </a:r>
          </a:p>
          <a:p>
            <a:pPr algn="l">
              <a:lnSpc>
                <a:spcPct val="115000"/>
              </a:lnSpc>
              <a:buNone/>
            </a:pPr>
            <a:r>
              <a:rPr lang="es-CL" sz="3200" b="1" spc="0" dirty="0">
                <a:solidFill>
                  <a:srgbClr val="FFFFFF"/>
                </a:solidFill>
              </a:rPr>
              <a:t>para qué tarea,</a:t>
            </a:r>
          </a:p>
          <a:p>
            <a:pPr algn="l">
              <a:lnSpc>
                <a:spcPct val="115000"/>
              </a:lnSpc>
              <a:buNone/>
            </a:pPr>
            <a:r>
              <a:rPr lang="es-CL" sz="3200" b="1" spc="0" dirty="0">
                <a:solidFill>
                  <a:srgbClr val="FFFFFF"/>
                </a:solidFill>
              </a:rPr>
              <a:t>bajo qué condiciones,</a:t>
            </a:r>
          </a:p>
          <a:p>
            <a:pPr algn="l">
              <a:lnSpc>
                <a:spcPct val="115000"/>
              </a:lnSpc>
              <a:buNone/>
            </a:pPr>
            <a:r>
              <a:rPr lang="es-CL" sz="3200" b="1" spc="0" dirty="0">
                <a:solidFill>
                  <a:srgbClr val="FFFFFF"/>
                </a:solidFill>
              </a:rPr>
              <a:t>con qué magnitud</a:t>
            </a:r>
          </a:p>
          <a:p>
            <a:pPr algn="l">
              <a:lnSpc>
                <a:spcPct val="115000"/>
              </a:lnSpc>
              <a:buNone/>
            </a:pPr>
            <a:r>
              <a:rPr lang="es-CL" sz="3200" b="1" spc="0" dirty="0">
                <a:solidFill>
                  <a:srgbClr val="2ED3E8"/>
                </a:solidFill>
              </a:rPr>
              <a:t>y a qué costo?</a:t>
            </a:r>
          </a:p>
        </p:txBody>
      </p:sp>
      <p:sp>
        <p:nvSpPr>
          <p:cNvPr id="1006" name="sh1006"/>
          <p:cNvSpPr/>
          <p:nvPr/>
        </p:nvSpPr>
        <p:spPr>
          <a:xfrm>
            <a:off x="8128000" y="1600200"/>
            <a:ext cx="3302000" cy="431800"/>
          </a:xfrm>
          <a:prstGeom prst="rect">
            <a:avLst/>
          </a:prstGeom>
          <a:solidFill>
            <a:srgbClr val="132A3F"/>
          </a:solidFill>
          <a:ln>
            <a:noFill/>
          </a:ln>
        </p:spPr>
        <p:txBody>
          <a:bodyPr/>
          <a:lstStyle/>
          <a:p>
            <a:endParaRPr lang="es-CL"/>
          </a:p>
        </p:txBody>
      </p:sp>
      <p:sp>
        <p:nvSpPr>
          <p:cNvPr id="1007" name="sh1007"/>
          <p:cNvSpPr/>
          <p:nvPr/>
        </p:nvSpPr>
        <p:spPr>
          <a:xfrm>
            <a:off x="8128000" y="1600200"/>
            <a:ext cx="38100" cy="431800"/>
          </a:xfrm>
          <a:prstGeom prst="rect">
            <a:avLst/>
          </a:prstGeom>
          <a:solidFill>
            <a:srgbClr val="2ED3E8"/>
          </a:solidFill>
          <a:ln>
            <a:noFill/>
          </a:ln>
        </p:spPr>
        <p:txBody>
          <a:bodyPr/>
          <a:lstStyle/>
          <a:p>
            <a:endParaRPr lang="es-CL"/>
          </a:p>
        </p:txBody>
      </p:sp>
      <p:sp>
        <p:nvSpPr>
          <p:cNvPr id="1008" name="sh1008"/>
          <p:cNvSpPr/>
          <p:nvPr/>
        </p:nvSpPr>
        <p:spPr>
          <a:xfrm>
            <a:off x="8331200" y="1714500"/>
            <a:ext cx="2921000" cy="203200"/>
          </a:xfrm>
          <a:prstGeom prst="rect">
            <a:avLst/>
          </a:prstGeom>
          <a:noFill/>
          <a:ln>
            <a:noFill/>
          </a:ln>
        </p:spPr>
        <p:txBody>
          <a:bodyPr wrap="square" lIns="0" tIns="0" rIns="0" bIns="0" anchor="ctr">
            <a:noAutofit/>
          </a:bodyPr>
          <a:lstStyle/>
          <a:p>
            <a:pPr algn="l">
              <a:lnSpc>
                <a:spcPct val="100000"/>
              </a:lnSpc>
              <a:buNone/>
            </a:pPr>
            <a:r>
              <a:rPr lang="es-CL" sz="1400" b="1" spc="60" dirty="0">
                <a:solidFill>
                  <a:srgbClr val="FFFFFF"/>
                </a:solidFill>
              </a:rPr>
              <a:t>CAPACIDAD</a:t>
            </a:r>
          </a:p>
        </p:txBody>
      </p:sp>
      <p:sp>
        <p:nvSpPr>
          <p:cNvPr id="1009" name="sh1009"/>
          <p:cNvSpPr/>
          <p:nvPr/>
        </p:nvSpPr>
        <p:spPr>
          <a:xfrm>
            <a:off x="9779000" y="2032000"/>
            <a:ext cx="0" cy="152400"/>
          </a:xfrm>
          <a:prstGeom prst="line">
            <a:avLst/>
          </a:prstGeom>
          <a:noFill/>
          <a:ln w="12700">
            <a:solidFill>
              <a:srgbClr val="2ED3E8"/>
            </a:solidFill>
            <a:tailEnd type="triangle" w="sm" len="sm"/>
          </a:ln>
        </p:spPr>
        <p:txBody>
          <a:bodyPr/>
          <a:lstStyle/>
          <a:p>
            <a:endParaRPr lang="es-CL"/>
          </a:p>
        </p:txBody>
      </p:sp>
      <p:sp>
        <p:nvSpPr>
          <p:cNvPr id="1010" name="sh1010"/>
          <p:cNvSpPr/>
          <p:nvPr/>
        </p:nvSpPr>
        <p:spPr>
          <a:xfrm>
            <a:off x="8128000" y="2184400"/>
            <a:ext cx="3302000" cy="431800"/>
          </a:xfrm>
          <a:prstGeom prst="rect">
            <a:avLst/>
          </a:prstGeom>
          <a:solidFill>
            <a:srgbClr val="132A3F"/>
          </a:solidFill>
          <a:ln>
            <a:noFill/>
          </a:ln>
        </p:spPr>
        <p:txBody>
          <a:bodyPr/>
          <a:lstStyle/>
          <a:p>
            <a:endParaRPr lang="es-CL"/>
          </a:p>
        </p:txBody>
      </p:sp>
      <p:sp>
        <p:nvSpPr>
          <p:cNvPr id="1011" name="sh1011"/>
          <p:cNvSpPr/>
          <p:nvPr/>
        </p:nvSpPr>
        <p:spPr>
          <a:xfrm>
            <a:off x="8128000" y="2184400"/>
            <a:ext cx="38100" cy="431800"/>
          </a:xfrm>
          <a:prstGeom prst="rect">
            <a:avLst/>
          </a:prstGeom>
          <a:solidFill>
            <a:srgbClr val="2ED3E8"/>
          </a:solidFill>
          <a:ln>
            <a:noFill/>
          </a:ln>
        </p:spPr>
        <p:txBody>
          <a:bodyPr/>
          <a:lstStyle/>
          <a:p>
            <a:endParaRPr lang="es-CL"/>
          </a:p>
        </p:txBody>
      </p:sp>
      <p:sp>
        <p:nvSpPr>
          <p:cNvPr id="1012" name="sh1012"/>
          <p:cNvSpPr/>
          <p:nvPr/>
        </p:nvSpPr>
        <p:spPr>
          <a:xfrm>
            <a:off x="8331200" y="2298700"/>
            <a:ext cx="2921000" cy="203200"/>
          </a:xfrm>
          <a:prstGeom prst="rect">
            <a:avLst/>
          </a:prstGeom>
          <a:noFill/>
          <a:ln>
            <a:noFill/>
          </a:ln>
        </p:spPr>
        <p:txBody>
          <a:bodyPr wrap="square" lIns="0" tIns="0" rIns="0" bIns="0" anchor="ctr">
            <a:noAutofit/>
          </a:bodyPr>
          <a:lstStyle/>
          <a:p>
            <a:pPr algn="l">
              <a:lnSpc>
                <a:spcPct val="100000"/>
              </a:lnSpc>
              <a:buNone/>
            </a:pPr>
            <a:r>
              <a:rPr lang="es-CL" sz="1400" b="1" spc="60" dirty="0">
                <a:solidFill>
                  <a:srgbClr val="FFFFFF"/>
                </a:solidFill>
              </a:rPr>
              <a:t>UTILIDAD</a:t>
            </a:r>
          </a:p>
        </p:txBody>
      </p:sp>
      <p:sp>
        <p:nvSpPr>
          <p:cNvPr id="1013" name="sh1013"/>
          <p:cNvSpPr/>
          <p:nvPr/>
        </p:nvSpPr>
        <p:spPr>
          <a:xfrm>
            <a:off x="9779000" y="2616200"/>
            <a:ext cx="0" cy="152400"/>
          </a:xfrm>
          <a:prstGeom prst="line">
            <a:avLst/>
          </a:prstGeom>
          <a:noFill/>
          <a:ln w="12700">
            <a:solidFill>
              <a:srgbClr val="2ED3E8"/>
            </a:solidFill>
            <a:tailEnd type="triangle" w="sm" len="sm"/>
          </a:ln>
        </p:spPr>
        <p:txBody>
          <a:bodyPr/>
          <a:lstStyle/>
          <a:p>
            <a:endParaRPr lang="es-CL"/>
          </a:p>
        </p:txBody>
      </p:sp>
      <p:sp>
        <p:nvSpPr>
          <p:cNvPr id="1014" name="sh1014"/>
          <p:cNvSpPr/>
          <p:nvPr/>
        </p:nvSpPr>
        <p:spPr>
          <a:xfrm>
            <a:off x="8128000" y="2768600"/>
            <a:ext cx="3302000" cy="431800"/>
          </a:xfrm>
          <a:prstGeom prst="rect">
            <a:avLst/>
          </a:prstGeom>
          <a:solidFill>
            <a:srgbClr val="132A3F"/>
          </a:solidFill>
          <a:ln>
            <a:noFill/>
          </a:ln>
        </p:spPr>
        <p:txBody>
          <a:bodyPr/>
          <a:lstStyle/>
          <a:p>
            <a:endParaRPr lang="es-CL"/>
          </a:p>
        </p:txBody>
      </p:sp>
      <p:sp>
        <p:nvSpPr>
          <p:cNvPr id="1015" name="sh1015"/>
          <p:cNvSpPr/>
          <p:nvPr/>
        </p:nvSpPr>
        <p:spPr>
          <a:xfrm>
            <a:off x="8128000" y="2768600"/>
            <a:ext cx="38100" cy="431800"/>
          </a:xfrm>
          <a:prstGeom prst="rect">
            <a:avLst/>
          </a:prstGeom>
          <a:solidFill>
            <a:srgbClr val="2ED3E8"/>
          </a:solidFill>
          <a:ln>
            <a:noFill/>
          </a:ln>
        </p:spPr>
        <p:txBody>
          <a:bodyPr/>
          <a:lstStyle/>
          <a:p>
            <a:endParaRPr lang="es-CL"/>
          </a:p>
        </p:txBody>
      </p:sp>
      <p:sp>
        <p:nvSpPr>
          <p:cNvPr id="1016" name="sh1016"/>
          <p:cNvSpPr/>
          <p:nvPr/>
        </p:nvSpPr>
        <p:spPr>
          <a:xfrm>
            <a:off x="8331200" y="2882900"/>
            <a:ext cx="2921000" cy="203200"/>
          </a:xfrm>
          <a:prstGeom prst="rect">
            <a:avLst/>
          </a:prstGeom>
          <a:noFill/>
          <a:ln>
            <a:noFill/>
          </a:ln>
        </p:spPr>
        <p:txBody>
          <a:bodyPr wrap="square" lIns="0" tIns="0" rIns="0" bIns="0" anchor="ctr">
            <a:noAutofit/>
          </a:bodyPr>
          <a:lstStyle/>
          <a:p>
            <a:pPr algn="l">
              <a:lnSpc>
                <a:spcPct val="100000"/>
              </a:lnSpc>
              <a:buNone/>
            </a:pPr>
            <a:r>
              <a:rPr lang="es-CL" sz="1400" b="1" spc="60" dirty="0">
                <a:solidFill>
                  <a:srgbClr val="FFFFFF"/>
                </a:solidFill>
              </a:rPr>
              <a:t>RESULTADO</a:t>
            </a:r>
          </a:p>
        </p:txBody>
      </p:sp>
      <p:sp>
        <p:nvSpPr>
          <p:cNvPr id="1017" name="sh1017"/>
          <p:cNvSpPr/>
          <p:nvPr/>
        </p:nvSpPr>
        <p:spPr>
          <a:xfrm>
            <a:off x="9779000" y="3200400"/>
            <a:ext cx="0" cy="152400"/>
          </a:xfrm>
          <a:prstGeom prst="line">
            <a:avLst/>
          </a:prstGeom>
          <a:noFill/>
          <a:ln w="12700">
            <a:solidFill>
              <a:srgbClr val="2ED3E8"/>
            </a:solidFill>
            <a:tailEnd type="triangle" w="sm" len="sm"/>
          </a:ln>
        </p:spPr>
        <p:txBody>
          <a:bodyPr/>
          <a:lstStyle/>
          <a:p>
            <a:endParaRPr lang="es-CL"/>
          </a:p>
        </p:txBody>
      </p:sp>
      <p:sp>
        <p:nvSpPr>
          <p:cNvPr id="1018" name="sh1018"/>
          <p:cNvSpPr/>
          <p:nvPr/>
        </p:nvSpPr>
        <p:spPr>
          <a:xfrm>
            <a:off x="8128000" y="3352800"/>
            <a:ext cx="3302000" cy="431800"/>
          </a:xfrm>
          <a:prstGeom prst="rect">
            <a:avLst/>
          </a:prstGeom>
          <a:solidFill>
            <a:srgbClr val="132A3F"/>
          </a:solidFill>
          <a:ln>
            <a:noFill/>
          </a:ln>
        </p:spPr>
        <p:txBody>
          <a:bodyPr/>
          <a:lstStyle/>
          <a:p>
            <a:endParaRPr lang="es-CL"/>
          </a:p>
        </p:txBody>
      </p:sp>
      <p:sp>
        <p:nvSpPr>
          <p:cNvPr id="1019" name="sh1019"/>
          <p:cNvSpPr/>
          <p:nvPr/>
        </p:nvSpPr>
        <p:spPr>
          <a:xfrm>
            <a:off x="8128000" y="3352800"/>
            <a:ext cx="38100" cy="431800"/>
          </a:xfrm>
          <a:prstGeom prst="rect">
            <a:avLst/>
          </a:prstGeom>
          <a:solidFill>
            <a:srgbClr val="2ED3E8"/>
          </a:solidFill>
          <a:ln>
            <a:noFill/>
          </a:ln>
        </p:spPr>
        <p:txBody>
          <a:bodyPr/>
          <a:lstStyle/>
          <a:p>
            <a:endParaRPr lang="es-CL"/>
          </a:p>
        </p:txBody>
      </p:sp>
      <p:sp>
        <p:nvSpPr>
          <p:cNvPr id="1020" name="sh1020"/>
          <p:cNvSpPr/>
          <p:nvPr/>
        </p:nvSpPr>
        <p:spPr>
          <a:xfrm>
            <a:off x="8331200" y="3467100"/>
            <a:ext cx="2921000" cy="203200"/>
          </a:xfrm>
          <a:prstGeom prst="rect">
            <a:avLst/>
          </a:prstGeom>
          <a:noFill/>
          <a:ln>
            <a:noFill/>
          </a:ln>
        </p:spPr>
        <p:txBody>
          <a:bodyPr wrap="square" lIns="0" tIns="0" rIns="0" bIns="0" anchor="ctr">
            <a:noAutofit/>
          </a:bodyPr>
          <a:lstStyle/>
          <a:p>
            <a:pPr algn="l">
              <a:lnSpc>
                <a:spcPct val="100000"/>
              </a:lnSpc>
              <a:buNone/>
            </a:pPr>
            <a:r>
              <a:rPr lang="es-CL" sz="1400" b="1" spc="60" dirty="0">
                <a:solidFill>
                  <a:srgbClr val="FFFFFF"/>
                </a:solidFill>
              </a:rPr>
              <a:t>VALOR</a:t>
            </a:r>
          </a:p>
        </p:txBody>
      </p:sp>
      <p:sp>
        <p:nvSpPr>
          <p:cNvPr id="1021" name="sh1021"/>
          <p:cNvSpPr/>
          <p:nvPr/>
        </p:nvSpPr>
        <p:spPr>
          <a:xfrm>
            <a:off x="762000" y="4318000"/>
            <a:ext cx="10668000" cy="9525"/>
          </a:xfrm>
          <a:prstGeom prst="rect">
            <a:avLst/>
          </a:prstGeom>
          <a:solidFill>
            <a:srgbClr val="1D3A57"/>
          </a:solidFill>
          <a:ln>
            <a:noFill/>
          </a:ln>
        </p:spPr>
        <p:txBody>
          <a:bodyPr/>
          <a:lstStyle/>
          <a:p>
            <a:endParaRPr lang="es-CL"/>
          </a:p>
        </p:txBody>
      </p:sp>
      <p:sp>
        <p:nvSpPr>
          <p:cNvPr id="1022" name="sh1022"/>
          <p:cNvSpPr/>
          <p:nvPr/>
        </p:nvSpPr>
        <p:spPr>
          <a:xfrm>
            <a:off x="762000" y="4546600"/>
            <a:ext cx="2476500" cy="177800"/>
          </a:xfrm>
          <a:prstGeom prst="rect">
            <a:avLst/>
          </a:prstGeom>
          <a:noFill/>
          <a:ln>
            <a:noFill/>
          </a:ln>
        </p:spPr>
        <p:txBody>
          <a:bodyPr wrap="square" lIns="0" tIns="0" rIns="0" bIns="0" anchor="ctr">
            <a:noAutofit/>
          </a:bodyPr>
          <a:lstStyle/>
          <a:p>
            <a:pPr algn="l">
              <a:lnSpc>
                <a:spcPct val="100000"/>
              </a:lnSpc>
              <a:buNone/>
            </a:pPr>
            <a:r>
              <a:rPr lang="es-CL" sz="1000" b="1" spc="100" dirty="0">
                <a:solidFill>
                  <a:srgbClr val="2ED3E8"/>
                </a:solidFill>
              </a:rPr>
              <a:t>PROBLEMA</a:t>
            </a:r>
          </a:p>
        </p:txBody>
      </p:sp>
      <p:sp>
        <p:nvSpPr>
          <p:cNvPr id="1023" name="sh1023"/>
          <p:cNvSpPr/>
          <p:nvPr/>
        </p:nvSpPr>
        <p:spPr>
          <a:xfrm>
            <a:off x="762000" y="4775200"/>
            <a:ext cx="2476500" cy="6096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9FB3C8"/>
                </a:solidFill>
              </a:rPr>
              <a:t>Conocimiento disperso, histórico y difícil de verificar</a:t>
            </a:r>
          </a:p>
        </p:txBody>
      </p:sp>
      <p:sp>
        <p:nvSpPr>
          <p:cNvPr id="1024" name="sh1024"/>
          <p:cNvSpPr/>
          <p:nvPr/>
        </p:nvSpPr>
        <p:spPr>
          <a:xfrm>
            <a:off x="3492500" y="4546600"/>
            <a:ext cx="2476500" cy="177800"/>
          </a:xfrm>
          <a:prstGeom prst="rect">
            <a:avLst/>
          </a:prstGeom>
          <a:noFill/>
          <a:ln>
            <a:noFill/>
          </a:ln>
        </p:spPr>
        <p:txBody>
          <a:bodyPr wrap="square" lIns="0" tIns="0" rIns="0" bIns="0" anchor="ctr">
            <a:noAutofit/>
          </a:bodyPr>
          <a:lstStyle/>
          <a:p>
            <a:pPr algn="l">
              <a:lnSpc>
                <a:spcPct val="100000"/>
              </a:lnSpc>
              <a:buNone/>
            </a:pPr>
            <a:r>
              <a:rPr lang="es-CL" sz="1000" b="1" spc="100" dirty="0">
                <a:solidFill>
                  <a:srgbClr val="2ED3E8"/>
                </a:solidFill>
              </a:rPr>
              <a:t>CAPACIDAD</a:t>
            </a:r>
          </a:p>
        </p:txBody>
      </p:sp>
      <p:sp>
        <p:nvSpPr>
          <p:cNvPr id="1025" name="sh1025"/>
          <p:cNvSpPr/>
          <p:nvPr/>
        </p:nvSpPr>
        <p:spPr>
          <a:xfrm>
            <a:off x="3492500" y="4775200"/>
            <a:ext cx="2476500" cy="6096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9FB3C8"/>
                </a:solidFill>
              </a:rPr>
              <a:t>Objetos persistentes, relaciones, procedencia y vigencia</a:t>
            </a:r>
          </a:p>
        </p:txBody>
      </p:sp>
      <p:sp>
        <p:nvSpPr>
          <p:cNvPr id="1026" name="sh1026"/>
          <p:cNvSpPr/>
          <p:nvPr/>
        </p:nvSpPr>
        <p:spPr>
          <a:xfrm>
            <a:off x="6223000" y="4546600"/>
            <a:ext cx="2476500" cy="177800"/>
          </a:xfrm>
          <a:prstGeom prst="rect">
            <a:avLst/>
          </a:prstGeom>
          <a:noFill/>
          <a:ln>
            <a:noFill/>
          </a:ln>
        </p:spPr>
        <p:txBody>
          <a:bodyPr wrap="square" lIns="0" tIns="0" rIns="0" bIns="0" anchor="ctr">
            <a:noAutofit/>
          </a:bodyPr>
          <a:lstStyle/>
          <a:p>
            <a:pPr algn="l">
              <a:lnSpc>
                <a:spcPct val="100000"/>
              </a:lnSpc>
              <a:buNone/>
            </a:pPr>
            <a:r>
              <a:rPr lang="es-CL" sz="1000" b="1" spc="100" dirty="0">
                <a:solidFill>
                  <a:srgbClr val="2ED3E8"/>
                </a:solidFill>
              </a:rPr>
              <a:t>EVALUACIÓN</a:t>
            </a:r>
          </a:p>
        </p:txBody>
      </p:sp>
      <p:sp>
        <p:nvSpPr>
          <p:cNvPr id="1027" name="sh1027"/>
          <p:cNvSpPr/>
          <p:nvPr/>
        </p:nvSpPr>
        <p:spPr>
          <a:xfrm>
            <a:off x="6223000" y="4775200"/>
            <a:ext cx="2476500" cy="6096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9FB3C8"/>
                </a:solidFill>
              </a:rPr>
              <a:t>Experimento A + comparación end-to-end C1 / C2, leída por tipo de tarea y profundidad histórica</a:t>
            </a:r>
          </a:p>
        </p:txBody>
      </p:sp>
      <p:sp>
        <p:nvSpPr>
          <p:cNvPr id="1028" name="sh1028"/>
          <p:cNvSpPr/>
          <p:nvPr/>
        </p:nvSpPr>
        <p:spPr>
          <a:xfrm>
            <a:off x="8953500" y="4546600"/>
            <a:ext cx="2476500" cy="177800"/>
          </a:xfrm>
          <a:prstGeom prst="rect">
            <a:avLst/>
          </a:prstGeom>
          <a:noFill/>
          <a:ln>
            <a:noFill/>
          </a:ln>
        </p:spPr>
        <p:txBody>
          <a:bodyPr wrap="square" lIns="0" tIns="0" rIns="0" bIns="0" anchor="ctr">
            <a:noAutofit/>
          </a:bodyPr>
          <a:lstStyle/>
          <a:p>
            <a:pPr algn="l">
              <a:lnSpc>
                <a:spcPct val="100000"/>
              </a:lnSpc>
              <a:buNone/>
            </a:pPr>
            <a:r>
              <a:rPr lang="es-CL" sz="1000" b="1" spc="100" dirty="0">
                <a:solidFill>
                  <a:srgbClr val="2ED3E8"/>
                </a:solidFill>
              </a:rPr>
              <a:t>DECISIÓN</a:t>
            </a:r>
          </a:p>
        </p:txBody>
      </p:sp>
      <p:sp>
        <p:nvSpPr>
          <p:cNvPr id="1029" name="sh1029"/>
          <p:cNvSpPr/>
          <p:nvPr/>
        </p:nvSpPr>
        <p:spPr>
          <a:xfrm>
            <a:off x="8953500" y="4775200"/>
            <a:ext cx="2476500" cy="609600"/>
          </a:xfrm>
          <a:prstGeom prst="rect">
            <a:avLst/>
          </a:prstGeom>
          <a:noFill/>
          <a:ln>
            <a:noFill/>
          </a:ln>
        </p:spPr>
        <p:txBody>
          <a:bodyPr wrap="square" lIns="0" tIns="0" rIns="0" bIns="0" anchor="t">
            <a:noAutofit/>
          </a:bodyPr>
          <a:lstStyle/>
          <a:p>
            <a:pPr algn="l">
              <a:lnSpc>
                <a:spcPct val="125000"/>
              </a:lnSpc>
              <a:buNone/>
            </a:pPr>
            <a:r>
              <a:rPr lang="es-CL" sz="1100" b="0" spc="0" dirty="0">
                <a:solidFill>
                  <a:srgbClr val="9FB3C8"/>
                </a:solidFill>
              </a:rPr>
              <a:t>Orientar una decisión posterior de adoptar, combinar o descartar según evidencia y costo</a:t>
            </a:r>
          </a:p>
        </p:txBody>
      </p:sp>
      <p:sp>
        <p:nvSpPr>
          <p:cNvPr id="1030" name="sh1030"/>
          <p:cNvSpPr/>
          <p:nvPr/>
        </p:nvSpPr>
        <p:spPr>
          <a:xfrm>
            <a:off x="762000" y="5486400"/>
            <a:ext cx="38100" cy="736600"/>
          </a:xfrm>
          <a:prstGeom prst="rect">
            <a:avLst/>
          </a:prstGeom>
          <a:solidFill>
            <a:srgbClr val="2ED3E8"/>
          </a:solidFill>
          <a:ln>
            <a:noFill/>
          </a:ln>
        </p:spPr>
        <p:txBody>
          <a:bodyPr/>
          <a:lstStyle/>
          <a:p>
            <a:endParaRPr lang="es-CL"/>
          </a:p>
        </p:txBody>
      </p:sp>
      <p:sp>
        <p:nvSpPr>
          <p:cNvPr id="1031" name="sh1031"/>
          <p:cNvSpPr/>
          <p:nvPr/>
        </p:nvSpPr>
        <p:spPr>
          <a:xfrm>
            <a:off x="990600" y="5486400"/>
            <a:ext cx="9906000" cy="457200"/>
          </a:xfrm>
          <a:prstGeom prst="rect">
            <a:avLst/>
          </a:prstGeom>
          <a:noFill/>
          <a:ln>
            <a:noFill/>
          </a:ln>
        </p:spPr>
        <p:txBody>
          <a:bodyPr wrap="square" lIns="0" tIns="0" rIns="0" bIns="0" anchor="ctr">
            <a:noAutofit/>
          </a:bodyPr>
          <a:lstStyle/>
          <a:p>
            <a:pPr algn="l">
              <a:lnSpc>
                <a:spcPct val="120000"/>
              </a:lnSpc>
              <a:buNone/>
            </a:pPr>
            <a:r>
              <a:rPr lang="es-CL" sz="1400" b="1" spc="0" dirty="0">
                <a:solidFill>
                  <a:srgbClr val="FFFFFF"/>
                </a:solidFill>
              </a:rPr>
              <a:t>La contribución incluye definir qué cuenta como decisión, cómo seguir su evolución, qué unidad se compara, cómo influye la profundidad histórica disponible y qué métricas corresponden a cada constructo.</a:t>
            </a:r>
          </a:p>
        </p:txBody>
      </p:sp>
      <p:sp>
        <p:nvSpPr>
          <p:cNvPr id="1032" name="sh1032"/>
          <p:cNvSpPr/>
          <p:nvPr/>
        </p:nvSpPr>
        <p:spPr>
          <a:xfrm>
            <a:off x="762000" y="6400800"/>
            <a:ext cx="10668000" cy="12700"/>
          </a:xfrm>
          <a:prstGeom prst="rect">
            <a:avLst/>
          </a:prstGeom>
          <a:solidFill>
            <a:srgbClr val="1D3A57"/>
          </a:solidFill>
          <a:ln>
            <a:noFill/>
          </a:ln>
        </p:spPr>
        <p:txBody>
          <a:bodyPr/>
          <a:lstStyle/>
          <a:p>
            <a:endParaRPr lang="es-CL"/>
          </a:p>
        </p:txBody>
      </p:sp>
      <p:sp>
        <p:nvSpPr>
          <p:cNvPr id="1033" name="sh1033"/>
          <p:cNvSpPr/>
          <p:nvPr/>
        </p:nvSpPr>
        <p:spPr>
          <a:xfrm>
            <a:off x="762000" y="6502400"/>
            <a:ext cx="7620000" cy="203200"/>
          </a:xfrm>
          <a:prstGeom prst="rect">
            <a:avLst/>
          </a:prstGeom>
          <a:noFill/>
          <a:ln>
            <a:noFill/>
          </a:ln>
        </p:spPr>
        <p:txBody>
          <a:bodyPr wrap="square" lIns="0" tIns="0" rIns="0" bIns="0" anchor="ctr">
            <a:noAutofit/>
          </a:bodyPr>
          <a:lstStyle/>
          <a:p>
            <a:pPr algn="l">
              <a:lnSpc>
                <a:spcPct val="100000"/>
              </a:lnSpc>
              <a:buNone/>
            </a:pPr>
            <a:r>
              <a:rPr lang="es-CL" sz="1000" b="0" spc="140" dirty="0">
                <a:solidFill>
                  <a:srgbClr val="9FB3C8"/>
                </a:solidFill>
              </a:rPr>
              <a:t>PROPUESTA DE TESIS · MAGÍSTER EN CIENCIA DE DATOS · PUC · 2026</a:t>
            </a:r>
          </a:p>
        </p:txBody>
      </p:sp>
      <p:sp>
        <p:nvSpPr>
          <p:cNvPr id="1034" name="sh1034"/>
          <p:cNvSpPr/>
          <p:nvPr/>
        </p:nvSpPr>
        <p:spPr>
          <a:xfrm>
            <a:off x="9652000" y="6502400"/>
            <a:ext cx="1778000" cy="203200"/>
          </a:xfrm>
          <a:prstGeom prst="rect">
            <a:avLst/>
          </a:prstGeom>
          <a:noFill/>
          <a:ln>
            <a:noFill/>
          </a:ln>
        </p:spPr>
        <p:txBody>
          <a:bodyPr wrap="square" lIns="0" tIns="0" rIns="0" bIns="0" anchor="ctr">
            <a:noAutofit/>
          </a:bodyPr>
          <a:lstStyle/>
          <a:p>
            <a:pPr algn="r">
              <a:lnSpc>
                <a:spcPct val="100000"/>
              </a:lnSpc>
              <a:buNone/>
            </a:pPr>
            <a:r>
              <a:rPr lang="es-CL" sz="1100" b="0" spc="120" dirty="0">
                <a:solidFill>
                  <a:srgbClr val="2ED3E8"/>
                </a:solidFill>
              </a:rPr>
              <a:t>[ 35 ]</a:t>
            </a:r>
          </a:p>
        </p:txBody>
      </p:sp>
      <p:sp>
        <p:nvSpPr>
          <p:cNvPr id="1960" name="hibrida"/>
          <p:cNvSpPr/>
          <p:nvPr/>
        </p:nvSpPr>
        <p:spPr>
          <a:xfrm>
            <a:off x="990600" y="5969000"/>
            <a:ext cx="10160000" cy="279400"/>
          </a:xfrm>
          <a:prstGeom prst="rect">
            <a:avLst/>
          </a:prstGeom>
          <a:noFill/>
          <a:ln>
            <a:noFill/>
          </a:ln>
        </p:spPr>
        <p:txBody>
          <a:bodyPr wrap="square" lIns="0" tIns="0" rIns="0" bIns="0" anchor="ctr">
            <a:noAutofit/>
          </a:bodyPr>
          <a:lstStyle/>
          <a:p>
            <a:pPr algn="l">
              <a:buNone/>
            </a:pPr>
            <a:r>
              <a:rPr lang="es-CL" sz="1100" dirty="0">
                <a:solidFill>
                  <a:srgbClr val="9FB3C8"/>
                </a:solidFill>
              </a:rPr>
              <a:t>El resultado puede ser que C2 supere a C1 en ciertas tareas, que C1 supere a C2, que el resultado sea contingente o no concluyente, que la diferencia dependa de la profundidad longitudinal, que la extracción limite a C2 o que estructura y documento original se complementen.</a:t>
            </a:r>
          </a:p>
        </p:txBody>
      </p:sp>
      <p:sp>
        <p:nvSpPr>
          <p:cNvPr id="1997" name="cadenaRot"/>
          <p:cNvSpPr/>
          <p:nvPr/>
        </p:nvSpPr>
        <p:spPr>
          <a:xfrm>
            <a:off x="8128000" y="1219200"/>
            <a:ext cx="3302000" cy="177800"/>
          </a:xfrm>
          <a:prstGeom prst="rect">
            <a:avLst/>
          </a:prstGeom>
          <a:noFill/>
          <a:ln>
            <a:noFill/>
          </a:ln>
        </p:spPr>
        <p:txBody>
          <a:bodyPr wrap="square" lIns="0" tIns="0" rIns="0" bIns="0" anchor="ctr">
            <a:noAutofit/>
          </a:bodyPr>
          <a:lstStyle/>
          <a:p>
            <a:pPr algn="l">
              <a:buNone/>
            </a:pPr>
            <a:r>
              <a:rPr lang="es-CL" sz="950" b="1" spc="120" dirty="0">
                <a:solidFill>
                  <a:srgbClr val="2ED3E8"/>
                </a:solidFill>
              </a:rPr>
              <a:t>SECUENCIA DE VALOR</a:t>
            </a:r>
          </a:p>
        </p:txBody>
      </p:sp>
    </p:spTree>
    <p:extLst>
      <p:ext uri="{BB962C8B-B14F-4D97-AF65-F5344CB8AC3E}">
        <p14:creationId xmlns:p14="http://schemas.microsoft.com/office/powerpoint/2010/main" val="2163240717"/>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 name="sh1001"/>
          <p:cNvSpPr/>
          <p:nvPr/>
        </p:nvSpPr>
        <p:spPr>
          <a:xfrm>
            <a:off x="762000" y="660400"/>
            <a:ext cx="8890000" cy="177800"/>
          </a:xfrm>
          <a:prstGeom prst="rect">
            <a:avLst/>
          </a:prstGeom>
          <a:noFill/>
          <a:ln>
            <a:noFill/>
          </a:ln>
        </p:spPr>
        <p:txBody>
          <a:bodyPr wrap="square" lIns="0" tIns="0" rIns="0" bIns="0" anchor="ctr">
            <a:noAutofit/>
          </a:bodyPr>
          <a:lstStyle/>
          <a:p>
            <a:pPr algn="l">
              <a:lnSpc>
                <a:spcPct val="110000"/>
              </a:lnSpc>
              <a:buNone/>
            </a:pPr>
            <a:r>
              <a:rPr lang="es-CL" sz="1000" b="0" spc="140" dirty="0">
                <a:solidFill>
                  <a:srgbClr val="5A7290"/>
                </a:solidFill>
              </a:rPr>
              <a:t>REFERENCIAS</a:t>
            </a:r>
          </a:p>
        </p:txBody>
      </p:sp>
      <p:sp>
        <p:nvSpPr>
          <p:cNvPr id="1002" name="sh1002"/>
          <p:cNvSpPr/>
          <p:nvPr/>
        </p:nvSpPr>
        <p:spPr>
          <a:xfrm>
            <a:off x="762000" y="863600"/>
            <a:ext cx="10414000" cy="508000"/>
          </a:xfrm>
          <a:prstGeom prst="rect">
            <a:avLst/>
          </a:prstGeom>
          <a:noFill/>
          <a:ln>
            <a:noFill/>
          </a:ln>
        </p:spPr>
        <p:txBody>
          <a:bodyPr wrap="square" lIns="0" tIns="0" rIns="0" bIns="0" anchor="t">
            <a:noAutofit/>
          </a:bodyPr>
          <a:lstStyle/>
          <a:p>
            <a:pPr algn="l">
              <a:lnSpc>
                <a:spcPct val="110000"/>
              </a:lnSpc>
              <a:buNone/>
            </a:pPr>
            <a:r>
              <a:rPr lang="es-CL" sz="2800" b="1" spc="0" dirty="0">
                <a:solidFill>
                  <a:srgbClr val="12406E"/>
                </a:solidFill>
              </a:rPr>
              <a:t>Referencias metodológicas y organizacionales</a:t>
            </a:r>
          </a:p>
        </p:txBody>
      </p:sp>
      <p:sp>
        <p:nvSpPr>
          <p:cNvPr id="1003" name="sh1003"/>
          <p:cNvSpPr/>
          <p:nvPr/>
        </p:nvSpPr>
        <p:spPr>
          <a:xfrm>
            <a:off x="762000" y="1524000"/>
            <a:ext cx="1524000" cy="19050"/>
          </a:xfrm>
          <a:prstGeom prst="rect">
            <a:avLst/>
          </a:prstGeom>
          <a:solidFill>
            <a:srgbClr val="2ED3E8"/>
          </a:solidFill>
          <a:ln>
            <a:noFill/>
          </a:ln>
        </p:spPr>
        <p:txBody>
          <a:bodyPr wrap="square" lIns="0" tIns="0" rIns="0" bIns="0" anchor="t">
            <a:noAutofit/>
          </a:bodyPr>
          <a:lstStyle/>
          <a:p>
            <a:endParaRPr lang="es-CL"/>
          </a:p>
        </p:txBody>
      </p:sp>
      <p:sp>
        <p:nvSpPr>
          <p:cNvPr id="1004" name="sh1004"/>
          <p:cNvSpPr/>
          <p:nvPr/>
        </p:nvSpPr>
        <p:spPr>
          <a:xfrm>
            <a:off x="9652000" y="6502400"/>
            <a:ext cx="1778000" cy="203200"/>
          </a:xfrm>
          <a:prstGeom prst="rect">
            <a:avLst/>
          </a:prstGeom>
          <a:noFill/>
          <a:ln>
            <a:noFill/>
          </a:ln>
        </p:spPr>
        <p:txBody>
          <a:bodyPr wrap="square" lIns="0" tIns="0" rIns="0" bIns="0" anchor="ctr">
            <a:noAutofit/>
          </a:bodyPr>
          <a:lstStyle/>
          <a:p>
            <a:pPr algn="r">
              <a:lnSpc>
                <a:spcPct val="110000"/>
              </a:lnSpc>
              <a:buNone/>
            </a:pPr>
            <a:r>
              <a:rPr lang="es-CL" sz="1100" b="0" spc="120" dirty="0">
                <a:solidFill>
                  <a:srgbClr val="1D5C9E"/>
                </a:solidFill>
              </a:rPr>
              <a:t>[ 36 ]</a:t>
            </a:r>
          </a:p>
        </p:txBody>
      </p:sp>
      <p:sp>
        <p:nvSpPr>
          <p:cNvPr id="1005" name="sh1005"/>
          <p:cNvSpPr/>
          <p:nvPr/>
        </p:nvSpPr>
        <p:spPr>
          <a:xfrm>
            <a:off x="762000" y="1854200"/>
            <a:ext cx="2476500" cy="38100"/>
          </a:xfrm>
          <a:prstGeom prst="rect">
            <a:avLst/>
          </a:prstGeom>
          <a:solidFill>
            <a:srgbClr val="12406E"/>
          </a:solidFill>
          <a:ln>
            <a:noFill/>
          </a:ln>
        </p:spPr>
        <p:txBody>
          <a:bodyPr wrap="square" lIns="0" tIns="0" rIns="0" bIns="0" anchor="t">
            <a:noAutofit/>
          </a:bodyPr>
          <a:lstStyle/>
          <a:p>
            <a:endParaRPr lang="es-CL"/>
          </a:p>
        </p:txBody>
      </p:sp>
      <p:sp>
        <p:nvSpPr>
          <p:cNvPr id="1006" name="sh1006"/>
          <p:cNvSpPr/>
          <p:nvPr/>
        </p:nvSpPr>
        <p:spPr>
          <a:xfrm>
            <a:off x="762000" y="1981200"/>
            <a:ext cx="2476500" cy="355600"/>
          </a:xfrm>
          <a:prstGeom prst="rect">
            <a:avLst/>
          </a:prstGeom>
          <a:noFill/>
          <a:ln>
            <a:noFill/>
          </a:ln>
        </p:spPr>
        <p:txBody>
          <a:bodyPr wrap="square" lIns="0" tIns="0" rIns="0" bIns="0" anchor="t">
            <a:noAutofit/>
          </a:bodyPr>
          <a:lstStyle/>
          <a:p>
            <a:pPr algn="l">
              <a:lnSpc>
                <a:spcPct val="110000"/>
              </a:lnSpc>
              <a:buNone/>
            </a:pPr>
            <a:r>
              <a:rPr lang="es-CL" sz="950" b="1" spc="20" dirty="0">
                <a:solidFill>
                  <a:srgbClr val="12406E"/>
                </a:solidFill>
              </a:rPr>
              <a:t>MEMORIA Y GESTIÓN DEL CONOCIMIENTO</a:t>
            </a:r>
          </a:p>
        </p:txBody>
      </p:sp>
      <p:sp>
        <p:nvSpPr>
          <p:cNvPr id="1007" name="sh1007"/>
          <p:cNvSpPr/>
          <p:nvPr/>
        </p:nvSpPr>
        <p:spPr>
          <a:xfrm>
            <a:off x="762000" y="2413000"/>
            <a:ext cx="2476500" cy="1320800"/>
          </a:xfrm>
          <a:prstGeom prst="rect">
            <a:avLst/>
          </a:prstGeom>
          <a:noFill/>
          <a:ln>
            <a:noFill/>
          </a:ln>
        </p:spPr>
        <p:txBody>
          <a:bodyPr wrap="square" lIns="0" tIns="0" rIns="0" bIns="0" anchor="t">
            <a:noAutofit/>
          </a:bodyPr>
          <a:lstStyle/>
          <a:p>
            <a:pPr marL="114300" indent="-114300" algn="l">
              <a:lnSpc>
                <a:spcPct val="110000"/>
              </a:lnSpc>
              <a:buClr>
                <a:srgbClr val="12406E"/>
              </a:buClr>
              <a:buFont typeface="Segoe UI"/>
              <a:buChar char="·"/>
            </a:pPr>
            <a:r>
              <a:rPr lang="es-CL" sz="1000" b="0" spc="0" dirty="0">
                <a:solidFill>
                  <a:srgbClr val="1E3A52"/>
                </a:solidFill>
              </a:rPr>
              <a:t>Walsh &amp; Ungson (1991) · AMR</a:t>
            </a:r>
          </a:p>
          <a:p>
            <a:pPr marL="114300" indent="-114300" algn="l">
              <a:lnSpc>
                <a:spcPct val="110000"/>
              </a:lnSpc>
              <a:spcBef>
                <a:spcPts val="420"/>
              </a:spcBef>
              <a:buClr>
                <a:srgbClr val="12406E"/>
              </a:buClr>
              <a:buFont typeface="Segoe UI"/>
              <a:buChar char="·"/>
            </a:pPr>
            <a:r>
              <a:rPr lang="es-CL" sz="1000" b="0" spc="0" dirty="0">
                <a:solidFill>
                  <a:srgbClr val="1E3A52"/>
                </a:solidFill>
              </a:rPr>
              <a:t>Stein (1995) · Int. J. Information Management</a:t>
            </a:r>
          </a:p>
          <a:p>
            <a:pPr marL="114300" indent="-114300" algn="l">
              <a:lnSpc>
                <a:spcPct val="110000"/>
              </a:lnSpc>
              <a:spcBef>
                <a:spcPts val="420"/>
              </a:spcBef>
              <a:buClr>
                <a:srgbClr val="12406E"/>
              </a:buClr>
              <a:buFont typeface="Segoe UI"/>
              <a:buChar char="·"/>
            </a:pPr>
            <a:r>
              <a:rPr lang="es-CL" sz="1000" b="0" spc="0" dirty="0">
                <a:solidFill>
                  <a:srgbClr val="1E3A52"/>
                </a:solidFill>
              </a:rPr>
              <a:t>OECD &amp; Statistics Canada (2004)</a:t>
            </a:r>
          </a:p>
          <a:p>
            <a:pPr marL="114300" indent="-114300" algn="l">
              <a:lnSpc>
                <a:spcPct val="110000"/>
              </a:lnSpc>
              <a:spcBef>
                <a:spcPts val="420"/>
              </a:spcBef>
              <a:buClr>
                <a:srgbClr val="12406E"/>
              </a:buClr>
              <a:buFont typeface="Segoe UI"/>
              <a:buChar char="·"/>
            </a:pPr>
            <a:r>
              <a:rPr lang="es-CL" sz="1000" b="0" spc="0" dirty="0">
                <a:solidFill>
                  <a:srgbClr val="1E3A52"/>
                </a:solidFill>
              </a:rPr>
              <a:t>ISO 30401:2018</a:t>
            </a:r>
          </a:p>
        </p:txBody>
      </p:sp>
      <p:sp>
        <p:nvSpPr>
          <p:cNvPr id="1008" name="sh1008"/>
          <p:cNvSpPr/>
          <p:nvPr/>
        </p:nvSpPr>
        <p:spPr>
          <a:xfrm>
            <a:off x="3492500" y="1854200"/>
            <a:ext cx="2476500" cy="38100"/>
          </a:xfrm>
          <a:prstGeom prst="rect">
            <a:avLst/>
          </a:prstGeom>
          <a:solidFill>
            <a:srgbClr val="17508B"/>
          </a:solidFill>
          <a:ln>
            <a:noFill/>
          </a:ln>
        </p:spPr>
        <p:txBody>
          <a:bodyPr wrap="square" lIns="0" tIns="0" rIns="0" bIns="0" anchor="t">
            <a:noAutofit/>
          </a:bodyPr>
          <a:lstStyle/>
          <a:p>
            <a:endParaRPr lang="es-CL"/>
          </a:p>
        </p:txBody>
      </p:sp>
      <p:sp>
        <p:nvSpPr>
          <p:cNvPr id="1009" name="sh1009"/>
          <p:cNvSpPr/>
          <p:nvPr/>
        </p:nvSpPr>
        <p:spPr>
          <a:xfrm>
            <a:off x="3492500" y="1981200"/>
            <a:ext cx="2476500" cy="355600"/>
          </a:xfrm>
          <a:prstGeom prst="rect">
            <a:avLst/>
          </a:prstGeom>
          <a:noFill/>
          <a:ln>
            <a:noFill/>
          </a:ln>
        </p:spPr>
        <p:txBody>
          <a:bodyPr wrap="square" lIns="0" tIns="0" rIns="0" bIns="0" anchor="t">
            <a:noAutofit/>
          </a:bodyPr>
          <a:lstStyle/>
          <a:p>
            <a:pPr algn="l">
              <a:lnSpc>
                <a:spcPct val="110000"/>
              </a:lnSpc>
              <a:buNone/>
            </a:pPr>
            <a:r>
              <a:rPr lang="es-CL" sz="950" b="1" spc="20" dirty="0">
                <a:solidFill>
                  <a:srgbClr val="17508B"/>
                </a:solidFill>
              </a:rPr>
              <a:t>BÚSQUEDA Y PRODUCTIVIDAD</a:t>
            </a:r>
          </a:p>
        </p:txBody>
      </p:sp>
      <p:sp>
        <p:nvSpPr>
          <p:cNvPr id="1010" name="sh1010"/>
          <p:cNvSpPr/>
          <p:nvPr/>
        </p:nvSpPr>
        <p:spPr>
          <a:xfrm>
            <a:off x="3492500" y="2413000"/>
            <a:ext cx="2476500" cy="1320800"/>
          </a:xfrm>
          <a:prstGeom prst="rect">
            <a:avLst/>
          </a:prstGeom>
          <a:noFill/>
          <a:ln>
            <a:noFill/>
          </a:ln>
        </p:spPr>
        <p:txBody>
          <a:bodyPr wrap="square" lIns="0" tIns="0" rIns="0" bIns="0" anchor="t">
            <a:noAutofit/>
          </a:bodyPr>
          <a:lstStyle/>
          <a:p>
            <a:pPr marL="114300" indent="-114300" algn="l">
              <a:lnSpc>
                <a:spcPct val="110000"/>
              </a:lnSpc>
              <a:buClr>
                <a:srgbClr val="17508B"/>
              </a:buClr>
              <a:buFont typeface="Segoe UI"/>
              <a:buChar char="·"/>
            </a:pPr>
            <a:r>
              <a:rPr lang="es-CL" sz="1000" b="0" spc="0" dirty="0">
                <a:solidFill>
                  <a:srgbClr val="1E3A52"/>
                </a:solidFill>
              </a:rPr>
              <a:t>Edmunds &amp; Morris (2000) · IJIM</a:t>
            </a:r>
          </a:p>
          <a:p>
            <a:pPr marL="114300" indent="-114300" algn="l">
              <a:lnSpc>
                <a:spcPct val="110000"/>
              </a:lnSpc>
              <a:spcBef>
                <a:spcPts val="420"/>
              </a:spcBef>
              <a:buClr>
                <a:srgbClr val="17508B"/>
              </a:buClr>
              <a:buFont typeface="Segoe UI"/>
              <a:buChar char="·"/>
            </a:pPr>
            <a:r>
              <a:rPr lang="es-CL" sz="1000" b="0" spc="0" dirty="0">
                <a:solidFill>
                  <a:srgbClr val="1E3A52"/>
                </a:solidFill>
              </a:rPr>
              <a:t>Sutanto et al. (2018) · IJIM</a:t>
            </a:r>
          </a:p>
          <a:p>
            <a:pPr marL="114300" indent="-114300" algn="l">
              <a:lnSpc>
                <a:spcPct val="110000"/>
              </a:lnSpc>
              <a:spcBef>
                <a:spcPts val="420"/>
              </a:spcBef>
              <a:buClr>
                <a:srgbClr val="17508B"/>
              </a:buClr>
              <a:buFont typeface="Segoe UI"/>
              <a:buChar char="·"/>
            </a:pPr>
            <a:r>
              <a:rPr lang="es-CL" sz="1000" b="0" spc="0" dirty="0">
                <a:solidFill>
                  <a:srgbClr val="1E3A52"/>
                </a:solidFill>
              </a:rPr>
              <a:t>Microsoft Work Trend Index (2023)</a:t>
            </a:r>
          </a:p>
        </p:txBody>
      </p:sp>
      <p:sp>
        <p:nvSpPr>
          <p:cNvPr id="1011" name="sh1011"/>
          <p:cNvSpPr/>
          <p:nvPr/>
        </p:nvSpPr>
        <p:spPr>
          <a:xfrm>
            <a:off x="6223000" y="1854200"/>
            <a:ext cx="2476500" cy="38100"/>
          </a:xfrm>
          <a:prstGeom prst="rect">
            <a:avLst/>
          </a:prstGeom>
          <a:solidFill>
            <a:srgbClr val="1D5C9E"/>
          </a:solidFill>
          <a:ln>
            <a:noFill/>
          </a:ln>
        </p:spPr>
        <p:txBody>
          <a:bodyPr wrap="square" lIns="0" tIns="0" rIns="0" bIns="0" anchor="t">
            <a:noAutofit/>
          </a:bodyPr>
          <a:lstStyle/>
          <a:p>
            <a:endParaRPr lang="es-CL"/>
          </a:p>
        </p:txBody>
      </p:sp>
      <p:sp>
        <p:nvSpPr>
          <p:cNvPr id="1012" name="sh1012"/>
          <p:cNvSpPr/>
          <p:nvPr/>
        </p:nvSpPr>
        <p:spPr>
          <a:xfrm>
            <a:off x="6223000" y="1981200"/>
            <a:ext cx="2476500" cy="355600"/>
          </a:xfrm>
          <a:prstGeom prst="rect">
            <a:avLst/>
          </a:prstGeom>
          <a:noFill/>
          <a:ln>
            <a:noFill/>
          </a:ln>
        </p:spPr>
        <p:txBody>
          <a:bodyPr wrap="square" lIns="0" tIns="0" rIns="0" bIns="0" anchor="t">
            <a:noAutofit/>
          </a:bodyPr>
          <a:lstStyle/>
          <a:p>
            <a:pPr algn="l">
              <a:lnSpc>
                <a:spcPct val="110000"/>
              </a:lnSpc>
              <a:buNone/>
            </a:pPr>
            <a:r>
              <a:rPr lang="es-CL" sz="950" b="1" spc="20" dirty="0">
                <a:solidFill>
                  <a:srgbClr val="1D5C9E"/>
                </a:solidFill>
              </a:rPr>
              <a:t>CONTINUIDAD Y TRANSFERENCIA</a:t>
            </a:r>
          </a:p>
        </p:txBody>
      </p:sp>
      <p:sp>
        <p:nvSpPr>
          <p:cNvPr id="1013" name="sh1013"/>
          <p:cNvSpPr/>
          <p:nvPr/>
        </p:nvSpPr>
        <p:spPr>
          <a:xfrm>
            <a:off x="6223000" y="2413000"/>
            <a:ext cx="2476500" cy="1320800"/>
          </a:xfrm>
          <a:prstGeom prst="rect">
            <a:avLst/>
          </a:prstGeom>
          <a:noFill/>
          <a:ln>
            <a:noFill/>
          </a:ln>
        </p:spPr>
        <p:txBody>
          <a:bodyPr wrap="square" lIns="0" tIns="0" rIns="0" bIns="0" anchor="t">
            <a:noAutofit/>
          </a:bodyPr>
          <a:lstStyle/>
          <a:p>
            <a:pPr marL="114300" indent="-114300" algn="l">
              <a:lnSpc>
                <a:spcPct val="110000"/>
              </a:lnSpc>
              <a:buClr>
                <a:srgbClr val="1D5C9E"/>
              </a:buClr>
              <a:buFont typeface="Segoe UI"/>
              <a:buChar char="·"/>
            </a:pPr>
            <a:r>
              <a:rPr lang="es-CL" sz="1000" b="0" spc="0" dirty="0">
                <a:solidFill>
                  <a:srgbClr val="1E3A52"/>
                </a:solidFill>
              </a:rPr>
              <a:t>Carley (1992) · Organization Science</a:t>
            </a:r>
          </a:p>
          <a:p>
            <a:pPr marL="114300" indent="-114300" algn="l">
              <a:lnSpc>
                <a:spcPct val="110000"/>
              </a:lnSpc>
              <a:spcBef>
                <a:spcPts val="420"/>
              </a:spcBef>
              <a:buClr>
                <a:srgbClr val="1D5C9E"/>
              </a:buClr>
              <a:buFont typeface="Segoe UI"/>
              <a:buChar char="·"/>
            </a:pPr>
            <a:r>
              <a:rPr lang="es-CL" sz="1000" b="0" spc="0" dirty="0">
                <a:solidFill>
                  <a:srgbClr val="1E3A52"/>
                </a:solidFill>
              </a:rPr>
              <a:t>Argote &amp; Ingram (2000) · OBHDP</a:t>
            </a:r>
          </a:p>
          <a:p>
            <a:pPr marL="114300" indent="-114300" algn="l">
              <a:lnSpc>
                <a:spcPct val="110000"/>
              </a:lnSpc>
              <a:spcBef>
                <a:spcPts val="420"/>
              </a:spcBef>
              <a:buClr>
                <a:srgbClr val="1D5C9E"/>
              </a:buClr>
              <a:buFont typeface="Segoe UI"/>
              <a:buChar char="·"/>
            </a:pPr>
            <a:r>
              <a:rPr lang="es-CL" sz="1000" b="0" spc="0" dirty="0">
                <a:solidFill>
                  <a:srgbClr val="1E3A52"/>
                </a:solidFill>
              </a:rPr>
              <a:t>Galan (2023)</a:t>
            </a:r>
          </a:p>
        </p:txBody>
      </p:sp>
      <p:sp>
        <p:nvSpPr>
          <p:cNvPr id="1014" name="sh1014"/>
          <p:cNvSpPr/>
          <p:nvPr/>
        </p:nvSpPr>
        <p:spPr>
          <a:xfrm>
            <a:off x="8953500" y="1854200"/>
            <a:ext cx="2476500" cy="38100"/>
          </a:xfrm>
          <a:prstGeom prst="rect">
            <a:avLst/>
          </a:prstGeom>
          <a:solidFill>
            <a:srgbClr val="0A6D82"/>
          </a:solidFill>
          <a:ln>
            <a:noFill/>
          </a:ln>
        </p:spPr>
        <p:txBody>
          <a:bodyPr wrap="square" lIns="0" tIns="0" rIns="0" bIns="0" anchor="t">
            <a:noAutofit/>
          </a:bodyPr>
          <a:lstStyle/>
          <a:p>
            <a:endParaRPr lang="es-CL"/>
          </a:p>
        </p:txBody>
      </p:sp>
      <p:sp>
        <p:nvSpPr>
          <p:cNvPr id="1015" name="sh1015"/>
          <p:cNvSpPr/>
          <p:nvPr/>
        </p:nvSpPr>
        <p:spPr>
          <a:xfrm>
            <a:off x="8953500" y="1981200"/>
            <a:ext cx="2476500" cy="355600"/>
          </a:xfrm>
          <a:prstGeom prst="rect">
            <a:avLst/>
          </a:prstGeom>
          <a:noFill/>
          <a:ln>
            <a:noFill/>
          </a:ln>
        </p:spPr>
        <p:txBody>
          <a:bodyPr wrap="square" lIns="0" tIns="0" rIns="0" bIns="0" anchor="t">
            <a:noAutofit/>
          </a:bodyPr>
          <a:lstStyle/>
          <a:p>
            <a:pPr algn="l">
              <a:lnSpc>
                <a:spcPct val="110000"/>
              </a:lnSpc>
              <a:buNone/>
            </a:pPr>
            <a:r>
              <a:rPr lang="es-CL" sz="950" b="1" spc="20" dirty="0">
                <a:solidFill>
                  <a:srgbClr val="0A6D82"/>
                </a:solidFill>
              </a:rPr>
              <a:t>PROCEDENCIA Y GOBERNANZA</a:t>
            </a:r>
          </a:p>
        </p:txBody>
      </p:sp>
      <p:sp>
        <p:nvSpPr>
          <p:cNvPr id="1016" name="sh1016"/>
          <p:cNvSpPr/>
          <p:nvPr/>
        </p:nvSpPr>
        <p:spPr>
          <a:xfrm>
            <a:off x="8953500" y="2413000"/>
            <a:ext cx="2476500" cy="1320800"/>
          </a:xfrm>
          <a:prstGeom prst="rect">
            <a:avLst/>
          </a:prstGeom>
          <a:noFill/>
          <a:ln>
            <a:noFill/>
          </a:ln>
        </p:spPr>
        <p:txBody>
          <a:bodyPr wrap="square" lIns="0" tIns="0" rIns="0" bIns="0" anchor="t">
            <a:noAutofit/>
          </a:bodyPr>
          <a:lstStyle/>
          <a:p>
            <a:pPr marL="114300" indent="-114300" algn="l">
              <a:lnSpc>
                <a:spcPct val="110000"/>
              </a:lnSpc>
              <a:buClr>
                <a:srgbClr val="0A6D82"/>
              </a:buClr>
              <a:buFont typeface="Segoe UI"/>
              <a:buChar char="·"/>
            </a:pPr>
            <a:r>
              <a:rPr lang="es-CL" sz="1000" b="0" spc="0" dirty="0">
                <a:solidFill>
                  <a:srgbClr val="1E3A52"/>
                </a:solidFill>
              </a:rPr>
              <a:t>W3C PROV-O</a:t>
            </a:r>
          </a:p>
          <a:p>
            <a:pPr marL="114300" indent="-114300" algn="l">
              <a:lnSpc>
                <a:spcPct val="110000"/>
              </a:lnSpc>
              <a:spcBef>
                <a:spcPts val="420"/>
              </a:spcBef>
              <a:buClr>
                <a:srgbClr val="0A6D82"/>
              </a:buClr>
              <a:buFont typeface="Segoe UI"/>
              <a:buChar char="·"/>
            </a:pPr>
            <a:r>
              <a:rPr lang="es-CL" sz="1000" b="0" spc="0" dirty="0">
                <a:solidFill>
                  <a:srgbClr val="1E3A52"/>
                </a:solidFill>
              </a:rPr>
              <a:t>Singh, Cobbe &amp; Norval</a:t>
            </a:r>
          </a:p>
          <a:p>
            <a:pPr marL="114300" indent="-114300" algn="l">
              <a:lnSpc>
                <a:spcPct val="110000"/>
              </a:lnSpc>
              <a:spcBef>
                <a:spcPts val="420"/>
              </a:spcBef>
              <a:buClr>
                <a:srgbClr val="0A6D82"/>
              </a:buClr>
              <a:buFont typeface="Segoe UI"/>
              <a:buChar char="·"/>
            </a:pPr>
            <a:r>
              <a:rPr lang="es-CL" sz="1000" b="0" spc="0" dirty="0">
                <a:solidFill>
                  <a:srgbClr val="1E3A52"/>
                </a:solidFill>
              </a:rPr>
              <a:t>Klammer &amp; Gueldenberg (2019)</a:t>
            </a:r>
          </a:p>
          <a:p>
            <a:pPr marL="114300" indent="-114300" algn="l">
              <a:lnSpc>
                <a:spcPct val="110000"/>
              </a:lnSpc>
              <a:spcBef>
                <a:spcPts val="420"/>
              </a:spcBef>
              <a:buClr>
                <a:srgbClr val="0A6D82"/>
              </a:buClr>
              <a:buFont typeface="Segoe UI"/>
              <a:buChar char="·"/>
            </a:pPr>
            <a:r>
              <a:rPr lang="es-CL" sz="1000" b="0" spc="0" dirty="0">
                <a:solidFill>
                  <a:srgbClr val="1E3A52"/>
                </a:solidFill>
              </a:rPr>
              <a:t>NIST AI RMF 1.0</a:t>
            </a:r>
          </a:p>
          <a:p>
            <a:pPr marL="114300" indent="-114300" algn="l">
              <a:lnSpc>
                <a:spcPct val="110000"/>
              </a:lnSpc>
              <a:spcBef>
                <a:spcPts val="420"/>
              </a:spcBef>
              <a:buClr>
                <a:srgbClr val="0A6D82"/>
              </a:buClr>
              <a:buFont typeface="Segoe UI"/>
              <a:buChar char="·"/>
            </a:pPr>
            <a:r>
              <a:rPr lang="es-CL" sz="1000" b="0" spc="0" dirty="0">
                <a:solidFill>
                  <a:srgbClr val="1E3A52"/>
                </a:solidFill>
              </a:rPr>
              <a:t>OECD AI Principles · EU AI Act (2024)</a:t>
            </a:r>
          </a:p>
        </p:txBody>
      </p:sp>
      <p:sp>
        <p:nvSpPr>
          <p:cNvPr id="1017" name="sh1017"/>
          <p:cNvSpPr/>
          <p:nvPr/>
        </p:nvSpPr>
        <p:spPr>
          <a:xfrm>
            <a:off x="762000" y="3937000"/>
            <a:ext cx="2476500" cy="38100"/>
          </a:xfrm>
          <a:prstGeom prst="rect">
            <a:avLst/>
          </a:prstGeom>
          <a:solidFill>
            <a:srgbClr val="12406E"/>
          </a:solidFill>
          <a:ln>
            <a:noFill/>
          </a:ln>
        </p:spPr>
        <p:txBody>
          <a:bodyPr wrap="square" lIns="0" tIns="0" rIns="0" bIns="0" anchor="t">
            <a:noAutofit/>
          </a:bodyPr>
          <a:lstStyle/>
          <a:p>
            <a:endParaRPr lang="es-CL"/>
          </a:p>
        </p:txBody>
      </p:sp>
      <p:sp>
        <p:nvSpPr>
          <p:cNvPr id="1018" name="sh1018"/>
          <p:cNvSpPr/>
          <p:nvPr/>
        </p:nvSpPr>
        <p:spPr>
          <a:xfrm>
            <a:off x="762000" y="4064000"/>
            <a:ext cx="2476500" cy="355600"/>
          </a:xfrm>
          <a:prstGeom prst="rect">
            <a:avLst/>
          </a:prstGeom>
          <a:noFill/>
          <a:ln>
            <a:noFill/>
          </a:ln>
        </p:spPr>
        <p:txBody>
          <a:bodyPr wrap="square" lIns="0" tIns="0" rIns="0" bIns="0" anchor="t">
            <a:noAutofit/>
          </a:bodyPr>
          <a:lstStyle/>
          <a:p>
            <a:pPr algn="l">
              <a:lnSpc>
                <a:spcPct val="110000"/>
              </a:lnSpc>
              <a:buNone/>
            </a:pPr>
            <a:r>
              <a:rPr lang="es-CL" sz="950" b="1" spc="20" dirty="0">
                <a:solidFill>
                  <a:srgbClr val="12406E"/>
                </a:solidFill>
              </a:rPr>
              <a:t>REUNIONES Y EXTRACCIÓN</a:t>
            </a:r>
          </a:p>
        </p:txBody>
      </p:sp>
      <p:sp>
        <p:nvSpPr>
          <p:cNvPr id="1019" name="sh1019"/>
          <p:cNvSpPr/>
          <p:nvPr/>
        </p:nvSpPr>
        <p:spPr>
          <a:xfrm>
            <a:off x="762000" y="4495800"/>
            <a:ext cx="2476500" cy="1320800"/>
          </a:xfrm>
          <a:prstGeom prst="rect">
            <a:avLst/>
          </a:prstGeom>
          <a:noFill/>
          <a:ln>
            <a:noFill/>
          </a:ln>
        </p:spPr>
        <p:txBody>
          <a:bodyPr wrap="square" lIns="0" tIns="0" rIns="0" bIns="0" anchor="t">
            <a:noAutofit/>
          </a:bodyPr>
          <a:lstStyle/>
          <a:p>
            <a:pPr marL="114300" indent="-114300" algn="l">
              <a:lnSpc>
                <a:spcPct val="110000"/>
              </a:lnSpc>
              <a:buClr>
                <a:srgbClr val="12406E"/>
              </a:buClr>
              <a:buFont typeface="Segoe UI"/>
              <a:buChar char="·"/>
            </a:pPr>
            <a:r>
              <a:rPr lang="es-CL" sz="1000" b="0" spc="0" dirty="0">
                <a:solidFill>
                  <a:srgbClr val="1E3A52"/>
                </a:solidFill>
              </a:rPr>
              <a:t>Hsueh &amp; Moore (2007) · NAACL</a:t>
            </a:r>
          </a:p>
          <a:p>
            <a:pPr marL="114300" indent="-114300" algn="l">
              <a:lnSpc>
                <a:spcPct val="110000"/>
              </a:lnSpc>
              <a:spcBef>
                <a:spcPts val="420"/>
              </a:spcBef>
              <a:buClr>
                <a:srgbClr val="12406E"/>
              </a:buClr>
              <a:buFont typeface="Segoe UI"/>
              <a:buChar char="·"/>
            </a:pPr>
            <a:r>
              <a:rPr lang="es-CL" sz="1000" b="0" spc="0" dirty="0">
                <a:solidFill>
                  <a:srgbClr val="1E3A52"/>
                </a:solidFill>
              </a:rPr>
              <a:t>Fernández et al. (2008) · SIGdial</a:t>
            </a:r>
          </a:p>
          <a:p>
            <a:pPr marL="114300" indent="-114300" algn="l">
              <a:lnSpc>
                <a:spcPct val="110000"/>
              </a:lnSpc>
              <a:spcBef>
                <a:spcPts val="420"/>
              </a:spcBef>
              <a:buClr>
                <a:srgbClr val="12406E"/>
              </a:buClr>
              <a:buFont typeface="Segoe UI"/>
              <a:buChar char="·"/>
            </a:pPr>
            <a:r>
              <a:rPr lang="es-CL" sz="1000" b="0" spc="0" dirty="0">
                <a:solidFill>
                  <a:srgbClr val="1E3A52"/>
                </a:solidFill>
              </a:rPr>
              <a:t>Bui et al. (2009) · SIGdial</a:t>
            </a:r>
          </a:p>
          <a:p>
            <a:pPr marL="114300" indent="-114300" algn="l">
              <a:lnSpc>
                <a:spcPct val="110000"/>
              </a:lnSpc>
              <a:spcBef>
                <a:spcPts val="420"/>
              </a:spcBef>
              <a:buClr>
                <a:srgbClr val="12406E"/>
              </a:buClr>
              <a:buFont typeface="Segoe UI"/>
              <a:buChar char="·"/>
            </a:pPr>
            <a:r>
              <a:rPr lang="es-CL" sz="1000" b="0" spc="0" dirty="0">
                <a:solidFill>
                  <a:srgbClr val="1E3A52"/>
                </a:solidFill>
              </a:rPr>
              <a:t>Geimer et al. (2015)</a:t>
            </a:r>
          </a:p>
        </p:txBody>
      </p:sp>
      <p:sp>
        <p:nvSpPr>
          <p:cNvPr id="1020" name="sh1020"/>
          <p:cNvSpPr/>
          <p:nvPr/>
        </p:nvSpPr>
        <p:spPr>
          <a:xfrm>
            <a:off x="3492500" y="3937000"/>
            <a:ext cx="2476500" cy="38100"/>
          </a:xfrm>
          <a:prstGeom prst="rect">
            <a:avLst/>
          </a:prstGeom>
          <a:solidFill>
            <a:srgbClr val="17508B"/>
          </a:solidFill>
          <a:ln>
            <a:noFill/>
          </a:ln>
        </p:spPr>
        <p:txBody>
          <a:bodyPr wrap="square" lIns="0" tIns="0" rIns="0" bIns="0" anchor="t">
            <a:noAutofit/>
          </a:bodyPr>
          <a:lstStyle/>
          <a:p>
            <a:endParaRPr lang="es-CL"/>
          </a:p>
        </p:txBody>
      </p:sp>
      <p:sp>
        <p:nvSpPr>
          <p:cNvPr id="1021" name="sh1021"/>
          <p:cNvSpPr/>
          <p:nvPr/>
        </p:nvSpPr>
        <p:spPr>
          <a:xfrm>
            <a:off x="3492500" y="4064000"/>
            <a:ext cx="2476500" cy="355600"/>
          </a:xfrm>
          <a:prstGeom prst="rect">
            <a:avLst/>
          </a:prstGeom>
          <a:noFill/>
          <a:ln>
            <a:noFill/>
          </a:ln>
        </p:spPr>
        <p:txBody>
          <a:bodyPr wrap="square" lIns="0" tIns="0" rIns="0" bIns="0" anchor="t">
            <a:noAutofit/>
          </a:bodyPr>
          <a:lstStyle/>
          <a:p>
            <a:pPr algn="l">
              <a:lnSpc>
                <a:spcPct val="110000"/>
              </a:lnSpc>
              <a:buNone/>
            </a:pPr>
            <a:r>
              <a:rPr lang="es-CL" sz="950" b="1" spc="20" dirty="0">
                <a:solidFill>
                  <a:srgbClr val="17508B"/>
                </a:solidFill>
              </a:rPr>
              <a:t>RAG Y REPRESENTACIÓN ESTRUCTURADA</a:t>
            </a:r>
          </a:p>
        </p:txBody>
      </p:sp>
      <p:sp>
        <p:nvSpPr>
          <p:cNvPr id="1022" name="sh1022"/>
          <p:cNvSpPr/>
          <p:nvPr/>
        </p:nvSpPr>
        <p:spPr>
          <a:xfrm>
            <a:off x="3492500" y="4495800"/>
            <a:ext cx="2476500" cy="1320800"/>
          </a:xfrm>
          <a:prstGeom prst="rect">
            <a:avLst/>
          </a:prstGeom>
          <a:noFill/>
          <a:ln>
            <a:noFill/>
          </a:ln>
        </p:spPr>
        <p:txBody>
          <a:bodyPr wrap="square" lIns="0" tIns="0" rIns="0" bIns="0" anchor="t">
            <a:noAutofit/>
          </a:bodyPr>
          <a:lstStyle/>
          <a:p>
            <a:pPr marL="114300" indent="-114300" algn="l">
              <a:lnSpc>
                <a:spcPct val="110000"/>
              </a:lnSpc>
              <a:buClr>
                <a:srgbClr val="17508B"/>
              </a:buClr>
              <a:buFont typeface="Segoe UI"/>
              <a:buChar char="·"/>
            </a:pPr>
            <a:r>
              <a:rPr lang="es-CL" sz="1000" b="0" spc="0" dirty="0">
                <a:solidFill>
                  <a:srgbClr val="1E3A52"/>
                </a:solidFill>
              </a:rPr>
              <a:t>Lewis et al. (2020) · NeurIPS</a:t>
            </a:r>
          </a:p>
          <a:p>
            <a:pPr marL="114300" indent="-114300" algn="l">
              <a:lnSpc>
                <a:spcPct val="110000"/>
              </a:lnSpc>
              <a:spcBef>
                <a:spcPts val="420"/>
              </a:spcBef>
              <a:buClr>
                <a:srgbClr val="17508B"/>
              </a:buClr>
              <a:buFont typeface="Segoe UI"/>
              <a:buChar char="·"/>
            </a:pPr>
            <a:r>
              <a:rPr lang="es-CL" sz="1000" b="0" spc="0" dirty="0">
                <a:solidFill>
                  <a:srgbClr val="1E3A52"/>
                </a:solidFill>
              </a:rPr>
              <a:t>Dagdelen et al. (2024) · Nature Comms.</a:t>
            </a:r>
          </a:p>
        </p:txBody>
      </p:sp>
      <p:sp>
        <p:nvSpPr>
          <p:cNvPr id="1023" name="sh1023"/>
          <p:cNvSpPr/>
          <p:nvPr/>
        </p:nvSpPr>
        <p:spPr>
          <a:xfrm>
            <a:off x="6223000" y="3937000"/>
            <a:ext cx="2476500" cy="38100"/>
          </a:xfrm>
          <a:prstGeom prst="rect">
            <a:avLst/>
          </a:prstGeom>
          <a:solidFill>
            <a:srgbClr val="1D5C9E"/>
          </a:solidFill>
          <a:ln>
            <a:noFill/>
          </a:ln>
        </p:spPr>
        <p:txBody>
          <a:bodyPr wrap="square" lIns="0" tIns="0" rIns="0" bIns="0" anchor="t">
            <a:noAutofit/>
          </a:bodyPr>
          <a:lstStyle/>
          <a:p>
            <a:endParaRPr lang="es-CL"/>
          </a:p>
        </p:txBody>
      </p:sp>
      <p:sp>
        <p:nvSpPr>
          <p:cNvPr id="1024" name="sh1024"/>
          <p:cNvSpPr/>
          <p:nvPr/>
        </p:nvSpPr>
        <p:spPr>
          <a:xfrm>
            <a:off x="6223000" y="4064000"/>
            <a:ext cx="2476500" cy="355600"/>
          </a:xfrm>
          <a:prstGeom prst="rect">
            <a:avLst/>
          </a:prstGeom>
          <a:noFill/>
          <a:ln>
            <a:noFill/>
          </a:ln>
        </p:spPr>
        <p:txBody>
          <a:bodyPr wrap="square" lIns="0" tIns="0" rIns="0" bIns="0" anchor="t">
            <a:noAutofit/>
          </a:bodyPr>
          <a:lstStyle/>
          <a:p>
            <a:pPr algn="l">
              <a:lnSpc>
                <a:spcPct val="110000"/>
              </a:lnSpc>
              <a:buNone/>
            </a:pPr>
            <a:r>
              <a:rPr lang="es-CL" sz="950" b="1" spc="20" dirty="0">
                <a:solidFill>
                  <a:srgbClr val="1D5C9E"/>
                </a:solidFill>
              </a:rPr>
              <a:t>CALIDAD · BENCHMARKS · ANALÍTICA ESTRUCTURADA</a:t>
            </a:r>
          </a:p>
        </p:txBody>
      </p:sp>
      <p:sp>
        <p:nvSpPr>
          <p:cNvPr id="1025" name="sh1025"/>
          <p:cNvSpPr/>
          <p:nvPr/>
        </p:nvSpPr>
        <p:spPr>
          <a:xfrm>
            <a:off x="6223000" y="4495800"/>
            <a:ext cx="2476500" cy="1320800"/>
          </a:xfrm>
          <a:prstGeom prst="rect">
            <a:avLst/>
          </a:prstGeom>
          <a:noFill/>
          <a:ln>
            <a:noFill/>
          </a:ln>
        </p:spPr>
        <p:txBody>
          <a:bodyPr wrap="square" lIns="0" tIns="0" rIns="0" bIns="0" anchor="t">
            <a:noAutofit/>
          </a:bodyPr>
          <a:lstStyle/>
          <a:p>
            <a:pPr marL="114300" indent="-114300" algn="l">
              <a:lnSpc>
                <a:spcPct val="110000"/>
              </a:lnSpc>
              <a:spcBef>
                <a:spcPts val="420"/>
              </a:spcBef>
              <a:buClr>
                <a:srgbClr val="17508B"/>
              </a:buClr>
              <a:buFont typeface="Segoe UI"/>
              <a:buChar char="·"/>
            </a:pPr>
            <a:r>
              <a:rPr lang="es-CL" sz="1000" b="0" spc="0" dirty="0">
                <a:solidFill>
                  <a:srgbClr val="1E3A52"/>
                </a:solidFill>
              </a:rPr>
              <a:t>Zhong et al. (2021) · QMSum</a:t>
            </a:r>
          </a:p>
          <a:p>
            <a:pPr marL="114300" indent="-114300" algn="l">
              <a:lnSpc>
                <a:spcPct val="110000"/>
              </a:lnSpc>
              <a:spcBef>
                <a:spcPts val="420"/>
              </a:spcBef>
              <a:buClr>
                <a:srgbClr val="17508B"/>
              </a:buClr>
              <a:buFont typeface="Segoe UI"/>
              <a:buChar char="·"/>
            </a:pPr>
            <a:r>
              <a:rPr lang="es-CL" sz="1000" b="0" spc="0" dirty="0">
                <a:solidFill>
                  <a:srgbClr val="1E3A52"/>
                </a:solidFill>
              </a:rPr>
              <a:t>Raghunathan (1999)</a:t>
            </a:r>
          </a:p>
          <a:p>
            <a:pPr marL="114300" indent="-114300" algn="l">
              <a:lnSpc>
                <a:spcPct val="110000"/>
              </a:lnSpc>
              <a:spcBef>
                <a:spcPts val="420"/>
              </a:spcBef>
              <a:buClr>
                <a:srgbClr val="17508B"/>
              </a:buClr>
              <a:buFont typeface="Segoe UI"/>
              <a:buChar char="·"/>
            </a:pPr>
            <a:r>
              <a:rPr lang="es-CL" sz="1000" b="0" spc="0" dirty="0">
                <a:solidFill>
                  <a:srgbClr val="1E3A52"/>
                </a:solidFill>
              </a:rPr>
              <a:t>Staudinger et al. (2025)</a:t>
            </a:r>
          </a:p>
        </p:txBody>
      </p:sp>
      <p:sp>
        <p:nvSpPr>
          <p:cNvPr id="1026" name="sh1026"/>
          <p:cNvSpPr/>
          <p:nvPr/>
        </p:nvSpPr>
        <p:spPr>
          <a:xfrm>
            <a:off x="8953500" y="3937000"/>
            <a:ext cx="2476500" cy="38100"/>
          </a:xfrm>
          <a:prstGeom prst="rect">
            <a:avLst/>
          </a:prstGeom>
          <a:solidFill>
            <a:srgbClr val="0A6D82"/>
          </a:solidFill>
          <a:ln>
            <a:noFill/>
          </a:ln>
        </p:spPr>
        <p:txBody>
          <a:bodyPr wrap="square" lIns="0" tIns="0" rIns="0" bIns="0" anchor="t">
            <a:noAutofit/>
          </a:bodyPr>
          <a:lstStyle/>
          <a:p>
            <a:endParaRPr lang="es-CL"/>
          </a:p>
        </p:txBody>
      </p:sp>
      <p:sp>
        <p:nvSpPr>
          <p:cNvPr id="1027" name="sh1027"/>
          <p:cNvSpPr/>
          <p:nvPr/>
        </p:nvSpPr>
        <p:spPr>
          <a:xfrm>
            <a:off x="8953500" y="4064000"/>
            <a:ext cx="2476500" cy="355600"/>
          </a:xfrm>
          <a:prstGeom prst="rect">
            <a:avLst/>
          </a:prstGeom>
          <a:noFill/>
          <a:ln>
            <a:noFill/>
          </a:ln>
        </p:spPr>
        <p:txBody>
          <a:bodyPr wrap="square" lIns="0" tIns="0" rIns="0" bIns="0" anchor="t">
            <a:noAutofit/>
          </a:bodyPr>
          <a:lstStyle/>
          <a:p>
            <a:pPr algn="l">
              <a:lnSpc>
                <a:spcPct val="110000"/>
              </a:lnSpc>
              <a:buNone/>
            </a:pPr>
            <a:r>
              <a:rPr lang="es-CL" sz="950" b="1" spc="20" dirty="0">
                <a:solidFill>
                  <a:srgbClr val="0A6D82"/>
                </a:solidFill>
              </a:rPr>
              <a:t>OPENKOS · DOCUMENTACIÓN PRIMARIA</a:t>
            </a:r>
          </a:p>
        </p:txBody>
      </p:sp>
      <p:sp>
        <p:nvSpPr>
          <p:cNvPr id="1028" name="sh1028"/>
          <p:cNvSpPr/>
          <p:nvPr/>
        </p:nvSpPr>
        <p:spPr>
          <a:xfrm>
            <a:off x="8953500" y="4495800"/>
            <a:ext cx="2476500" cy="1320800"/>
          </a:xfrm>
          <a:prstGeom prst="rect">
            <a:avLst/>
          </a:prstGeom>
          <a:noFill/>
          <a:ln>
            <a:noFill/>
          </a:ln>
        </p:spPr>
        <p:txBody>
          <a:bodyPr wrap="square" lIns="0" tIns="0" rIns="0" bIns="0" anchor="t">
            <a:noAutofit/>
          </a:bodyPr>
          <a:lstStyle/>
          <a:p>
            <a:pPr marL="114300" indent="-114300" algn="l">
              <a:lnSpc>
                <a:spcPct val="110000"/>
              </a:lnSpc>
              <a:buClr>
                <a:srgbClr val="0A6D82"/>
              </a:buClr>
              <a:buFont typeface="Segoe UI"/>
              <a:buChar char="·"/>
            </a:pPr>
            <a:r>
              <a:rPr lang="es-CL" sz="1000" b="0" spc="0" dirty="0">
                <a:solidFill>
                  <a:srgbClr val="1E3A52"/>
                </a:solidFill>
              </a:rPr>
              <a:t>Repositorio · jasonssdev/openkos</a:t>
            </a:r>
          </a:p>
          <a:p>
            <a:pPr marL="114300" indent="-114300" algn="l">
              <a:lnSpc>
                <a:spcPct val="110000"/>
              </a:lnSpc>
              <a:spcBef>
                <a:spcPts val="420"/>
              </a:spcBef>
              <a:buClr>
                <a:srgbClr val="0A6D82"/>
              </a:buClr>
              <a:buFont typeface="Segoe UI"/>
              <a:buChar char="·"/>
            </a:pPr>
            <a:r>
              <a:rPr lang="es-CL" sz="1000" b="0" spc="0" dirty="0">
                <a:solidFill>
                  <a:srgbClr val="1E3A52"/>
                </a:solidFill>
              </a:rPr>
              <a:t>Arquitectura · docs/architecture.md</a:t>
            </a:r>
          </a:p>
          <a:p>
            <a:pPr marL="114300" indent="-114300" algn="l">
              <a:lnSpc>
                <a:spcPct val="110000"/>
              </a:lnSpc>
              <a:spcBef>
                <a:spcPts val="420"/>
              </a:spcBef>
              <a:buClr>
                <a:srgbClr val="0A6D82"/>
              </a:buClr>
              <a:buFont typeface="Segoe UI"/>
              <a:buChar char="·"/>
            </a:pPr>
            <a:r>
              <a:rPr lang="es-CL" sz="1000" b="0" spc="0" dirty="0">
                <a:solidFill>
                  <a:srgbClr val="1E3A52"/>
                </a:solidFill>
              </a:rPr>
              <a:t>Glosario · docs/glossary.md</a:t>
            </a:r>
          </a:p>
        </p:txBody>
      </p:sp>
      <p:sp>
        <p:nvSpPr>
          <p:cNvPr id="1029" name="sh1029"/>
          <p:cNvSpPr/>
          <p:nvPr/>
        </p:nvSpPr>
        <p:spPr>
          <a:xfrm>
            <a:off x="762000" y="6045200"/>
            <a:ext cx="38100" cy="279400"/>
          </a:xfrm>
          <a:prstGeom prst="rect">
            <a:avLst/>
          </a:prstGeom>
          <a:solidFill>
            <a:srgbClr val="2ED3E8"/>
          </a:solidFill>
          <a:ln>
            <a:noFill/>
          </a:ln>
        </p:spPr>
        <p:txBody>
          <a:bodyPr wrap="square" lIns="0" tIns="0" rIns="0" bIns="0" anchor="t">
            <a:noAutofit/>
          </a:bodyPr>
          <a:lstStyle/>
          <a:p>
            <a:endParaRPr lang="es-CL"/>
          </a:p>
        </p:txBody>
      </p:sp>
      <p:sp>
        <p:nvSpPr>
          <p:cNvPr id="1030" name="sh1030"/>
          <p:cNvSpPr/>
          <p:nvPr/>
        </p:nvSpPr>
        <p:spPr>
          <a:xfrm>
            <a:off x="990600" y="6045200"/>
            <a:ext cx="10414000" cy="279400"/>
          </a:xfrm>
          <a:prstGeom prst="rect">
            <a:avLst/>
          </a:prstGeom>
          <a:noFill/>
          <a:ln>
            <a:noFill/>
          </a:ln>
        </p:spPr>
        <p:txBody>
          <a:bodyPr wrap="square" lIns="0" tIns="0" rIns="0" bIns="0" anchor="ctr">
            <a:noAutofit/>
          </a:bodyPr>
          <a:lstStyle/>
          <a:p>
            <a:pPr algn="l">
              <a:lnSpc>
                <a:spcPct val="110000"/>
              </a:lnSpc>
              <a:buNone/>
            </a:pPr>
            <a:r>
              <a:rPr lang="es-CL" sz="1150" b="1" spc="0" dirty="0">
                <a:solidFill>
                  <a:srgbClr val="12406E"/>
                </a:solidFill>
              </a:rPr>
              <a:t>Bibliografía completa, DOIs y URLs verificadas en el documento de research asociado.</a:t>
            </a:r>
          </a:p>
        </p:txBody>
      </p:sp>
    </p:spTree>
    <p:extLst>
      <p:ext uri="{BB962C8B-B14F-4D97-AF65-F5344CB8AC3E}">
        <p14:creationId xmlns:p14="http://schemas.microsoft.com/office/powerpoint/2010/main" val="1561678616"/>
      </p:ext>
    </p:extLst>
  </p:cSld>
  <p:clrMapOvr>
    <a:masterClrMapping/>
  </p:clrMapOvr>
  <p:transition spd="slow"/>
</p:sld>
</file>

<file path=ppt/theme/theme1.xml><?xml version="1.0" encoding="utf-8"?>
<a:theme xmlns:a="http://schemas.openxmlformats.org/drawingml/2006/main" name="Tema de Office [1786728636078]">
  <a:themeElements>
    <a:clrScheme name="Office">
      <a:dk1>
        <a:srgbClr val="FFFFFF"/>
      </a:dk1>
      <a:lt1>
        <a:srgbClr val="0A1524"/>
      </a:lt1>
      <a:dk2>
        <a:srgbClr val="E8EEF5"/>
      </a:dk2>
      <a:lt2>
        <a:srgbClr val="132A3F"/>
      </a:lt2>
      <a:accent1>
        <a:srgbClr val="1D5C9E"/>
      </a:accent1>
      <a:accent2>
        <a:srgbClr val="2ED3E8"/>
      </a:accent2>
      <a:accent3>
        <a:srgbClr val="9FB3C8"/>
      </a:accent3>
      <a:accent4>
        <a:srgbClr val="12406E"/>
      </a:accent4>
      <a:accent5>
        <a:srgbClr val="5A7290"/>
      </a:accent5>
      <a:accent6>
        <a:srgbClr val="FFFFFF"/>
      </a:accent6>
      <a:hlink>
        <a:srgbClr val="467886"/>
      </a:hlink>
      <a:folHlink>
        <a:srgbClr val="96607D"/>
      </a:folHlink>
    </a:clrScheme>
    <a:fontScheme name="Office">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3CC5D67-6EF9-F144-AF4B-95F4FF043B67}">
  <we:reference id="wa200010215" version="2.0.0.0" store="es-MX" storeType="OMEX"/>
  <we:alternateReferences>
    <we:reference id="wa200010215" version="2.0.0.0" store="WA200010215" storeType="OMEX"/>
  </we:alternateReferences>
  <we:properties>
    <we:property name="bps.codex_control.document_id" value="&quot;d6742857-42fd-4ab4-9e4d-7d769288ae92&quot;"/>
  </we:properties>
  <we:bindings/>
  <we:snapshot xmlns:r="http://schemas.openxmlformats.org/officeDocument/2006/relationships"/>
</we:webextension>
</file>

<file path=ppt/webextensions/webextension2.xml><?xml version="1.0" encoding="utf-8"?>
<we:webextension xmlns:we="http://schemas.microsoft.com/office/webextensions/webextension/2010/11" id="{3ECF832D-ACC0-A94C-B036-C2CA61CB1D7D}">
  <we:reference id="wa200010001" version="1.0.0.1" store="en-US" storeType="OMEX"/>
  <we:alternateReferences>
    <we:reference id="WA200010001" version="1.0.0.1" store="" storeType="OMEX"/>
  </we:alternateReferences>
  <we:properties>
    <we:property name="claude.fileId" value="&quot;366ecb44-2b78-4a28-9aa2-6b09c819ff5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3884</TotalTime>
  <Words>13761</Words>
  <Application>Microsoft Macintosh PowerPoint</Application>
  <PresentationFormat>Panorámica</PresentationFormat>
  <Paragraphs>1087</Paragraphs>
  <Slides>36</Slides>
  <Notes>36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36</vt:i4>
      </vt:variant>
    </vt:vector>
  </HeadingPairs>
  <TitlesOfParts>
    <vt:vector size="42" baseType="lpstr">
      <vt:lpstr>Aptos</vt:lpstr>
      <vt:lpstr>Arial</vt:lpstr>
      <vt:lpstr>Consolas</vt:lpstr>
      <vt:lpstr>Segoe UI</vt:lpstr>
      <vt:lpstr>Segoe UI Semibold</vt:lpstr>
      <vt:lpstr>Tema de Office [1786728636078]</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gustavo adolfo Martínez Barra</dc:creator>
  <cp:lastModifiedBy>gustavo adolfo Martínez Barra</cp:lastModifiedBy>
  <cp:revision>37</cp:revision>
  <dcterms:created xsi:type="dcterms:W3CDTF">2026-09-10T21:36:02Z</dcterms:created>
  <dcterms:modified xsi:type="dcterms:W3CDTF">2026-09-15T01:07:19Z</dcterms:modified>
</cp:coreProperties>
</file>