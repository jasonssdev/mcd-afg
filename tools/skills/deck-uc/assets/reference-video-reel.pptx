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sldIdLst>
    <p:sldId id="366" r:id="rId2"/>
    <p:sldId id="380" r:id="rId3"/>
    <p:sldId id="381" r:id="rId4"/>
    <p:sldId id="382" r:id="rId5"/>
    <p:sldId id="383" r:id="rId6"/>
    <p:sldId id="384" r:id="rId7"/>
    <p:sldId id="385" r:id="rId8"/>
    <p:sldId id="386" r:id="rId9"/>
    <p:sldId id="367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/>
    <p:restoredTop sz="96494"/>
  </p:normalViewPr>
  <p:slideViewPr>
    <p:cSldViewPr snapToGrid="0">
      <p:cViewPr varScale="1">
        <p:scale>
          <a:sx n="127" d="100"/>
          <a:sy n="127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9B0A7-F03D-C749-8279-9A99F926ECBF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12FCAB-5EBB-9446-97DA-AB0E5E0BCA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9471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00:00–00:04   ·   DURACIÓN OBJETIVO: 00:04</a:t>
            </a:r>
          </a:p>
          <a:p>
            <a:r>
              <a:rPr lang="es-CL" dirty="0"/>
              <a:t>Apertura institucional del video. Entrada inmediata, sin animaciones internas: el escudo y los textos no se animan individualmente y no hay zoom sobre el logo.</a:t>
            </a:r>
          </a:p>
          <a:p>
            <a:r>
              <a:rPr lang="es-CL" dirty="0"/>
              <a:t>Sin cues. La slide se mantiene estable 4,0 s.</a:t>
            </a:r>
          </a:p>
          <a:p>
            <a:r>
              <a:rPr lang="es-CL" dirty="0"/>
              <a:t>00:04 — TRANSICIÓN A SIGUIENTE SLIDE: Morph · 0,75 s · desplazamiento horizontal suave.</a:t>
            </a:r>
          </a:p>
          <a:p>
            <a:r>
              <a:rPr lang="es-CL" dirty="0"/>
              <a:t>AVANCE: automático a los 4,0 s (Después de: 00:04,00). Clic manual habilitado como respaldo.</a:t>
            </a:r>
          </a:p>
          <a:p>
            <a:r>
              <a:rPr lang="es-CL" dirty="0"/>
              <a:t>MODO REPRODUCCIÓN: presentación autoejecutable. Total del deck = 300,0 s exactos.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Estimado tutor y compañeros, muy buenos días. Mi nombre es [NOMBRE DEL EXPOSITOR] y, en representación del equipo integrado por Gustavo Martínez, Jason Sepúlveda y German Vega, presentaré nuestra propuesta de tesis para el Magíster en Ciencia de Datos.</a:t>
            </a:r>
          </a:p>
          <a:p>
            <a:r>
              <a:rPr lang="es-CL" dirty="0"/>
              <a:t>El proyecto estudia la representación estructurada de decisiones frente a la recuperación aumentada, mediante una evaluación experimental con modelos de lenguaje sobre transcripciones de reuniones.</a:t>
            </a:r>
          </a:p>
          <a:p>
            <a:r>
              <a:rPr lang="es-CL" dirty="0"/>
              <a:t>Las reuniones producen decisiones constantemente, pero quedan registradas casi exclusivamente como texto no estructurado.</a:t>
            </a:r>
          </a:p>
          <a:p>
            <a:r>
              <a:rPr lang="es-CL" dirty="0"/>
              <a:t>La pregunta que abre este trabajo es si aporta valor representar de forma persistente esas decisiones, o si basta con recuperar las transcripciones cuando se necesitan.</a:t>
            </a:r>
          </a:p>
          <a:p>
            <a:r>
              <a:rPr lang="es-CL" dirty="0"/>
              <a:t>OpenKOS aparece únicamente como demostración práctica del enfoque; el objeto de la investigación es la evaluación experimental.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00:04–00:40   ·   DURACIÓN OBJETIVO: 00:36</a:t>
            </a:r>
          </a:p>
          <a:p>
            <a:r>
              <a:rPr lang="es-CL" dirty="0"/>
              <a:t>ENTRADA 00:04 — el video del speaker arranca automáticamente. Título, regla, numeración y columna del speaker llegan por Morph y no se animan.</a:t>
            </a:r>
          </a:p>
          <a:p>
            <a:r>
              <a:rPr lang="es-CL" dirty="0"/>
              <a:t>CUE 01 · TIMECODE OBJETIVO 00:10</a:t>
            </a:r>
          </a:p>
          <a:p>
            <a:r>
              <a:rPr lang="es-CL" dirty="0"/>
              <a:t>DISPARADOR: “Las reuniones producen decisiones constantemente”</a:t>
            </a:r>
          </a:p>
          <a:p>
            <a:r>
              <a:rPr lang="es-CL" dirty="0"/>
              <a:t>ACCIÓN: Chip REUNIONES</a:t>
            </a:r>
          </a:p>
          <a:p>
            <a:r>
              <a:rPr lang="es-CL" dirty="0"/>
              <a:t>EFECTO: Fade + desplazamiento horizontal corto desde la derecha</a:t>
            </a:r>
          </a:p>
          <a:p>
            <a:r>
              <a:rPr lang="es-CL" dirty="0"/>
              <a:t>DURACIÓN: 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00:15</a:t>
            </a:r>
          </a:p>
          <a:p>
            <a:r>
              <a:rPr lang="es-CL" dirty="0"/>
              <a:t>DISPARADOR: “quedan registradas casi exclusivamente como texto no estructurado”</a:t>
            </a:r>
          </a:p>
          <a:p>
            <a:r>
              <a:rPr lang="es-CL" dirty="0"/>
              <a:t>ACCIÓN: Conexión, chip TEXTO NO ESTRUCTURADO y nube de fragmentos</a:t>
            </a:r>
          </a:p>
          <a:p>
            <a:r>
              <a:rPr lang="es-CL" dirty="0"/>
              <a:t>EFECTO: Wipe 0,30 s en la conexión · Fade + desplazamiento 0,35 s en el chip · Fade 0,30 s en los fragmentos</a:t>
            </a:r>
          </a:p>
          <a:p>
            <a:r>
              <a:rPr lang="es-CL" dirty="0"/>
              <a:t>DURACIÓN: 0,30–0,35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00:21</a:t>
            </a:r>
          </a:p>
          <a:p>
            <a:r>
              <a:rPr lang="es-CL" dirty="0"/>
              <a:t>DISPARADOR: “si aporta valor representar de forma persistente esas decisiones”</a:t>
            </a:r>
          </a:p>
          <a:p>
            <a:r>
              <a:rPr lang="es-CL" dirty="0"/>
              <a:t>ACCIÓN: Conexión y chip DECISIONES</a:t>
            </a:r>
          </a:p>
          <a:p>
            <a:r>
              <a:rPr lang="es-CL" dirty="0"/>
              <a:t>EFECTO: Wipe 0,30 s + Fade + desplazamiento 0,40 s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00:27</a:t>
            </a:r>
          </a:p>
          <a:p>
            <a:r>
              <a:rPr lang="es-CL" dirty="0"/>
              <a:t>DISPARADOR: “o si basta con recuperar las transcripciones cuando se necesitan”</a:t>
            </a:r>
          </a:p>
          <a:p>
            <a:r>
              <a:rPr lang="es-CL" dirty="0"/>
              <a:t>ACCIÓN: Líneas de convergencia, conector y nodo DECISIÓN con su etiqueta</a:t>
            </a:r>
          </a:p>
          <a:p>
            <a:r>
              <a:rPr lang="es-CL" dirty="0"/>
              <a:t>EFECTO: Wipe From Left 0,35 s en las líneas · Wipe 0,30 s en el conector · Fade + desplazamiento 0,40 s en el nodo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00:33</a:t>
            </a:r>
          </a:p>
          <a:p>
            <a:r>
              <a:rPr lang="es-CL" dirty="0"/>
              <a:t>DISPARADOR: “OpenKOS aparece únicamente como demostración práctica del enfoque”</a:t>
            </a:r>
          </a:p>
          <a:p>
            <a:r>
              <a:rPr lang="es-CL" dirty="0"/>
              <a:t>ACCIÓN: Marca OpenKOS · demostración práctica</a:t>
            </a:r>
          </a:p>
          <a:p>
            <a:r>
              <a:rPr lang="es-CL" dirty="0"/>
              <a:t>EFECTO: Fade suave</a:t>
            </a:r>
          </a:p>
          <a:p>
            <a:r>
              <a:rPr lang="es-CL" dirty="0"/>
              <a:t>DURACIÓN: 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00:39 — inicio de transición.</a:t>
            </a:r>
          </a:p>
          <a:p>
            <a:r>
              <a:rPr lang="es-CL" dirty="0"/>
              <a:t>TRANSICIÓN A SIGUIENTE SLIDE: Morph · 0,75 s · continuidad horizontal tipo carrusel.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53,70 s. DURACIÓN REAL DEL VIDEO: 53,27 s (medida sobre el archivo insertado). FINAL VIDEO: +53,27 s. TRANSICIÓN: Morph 0,75 s, ejecutada 0,4 s después de finalizar el video.</a:t>
            </a:r>
          </a:p>
          <a:p>
            <a:r>
              <a:rPr lang="es-CL" dirty="0"/>
              <a:t>OFFSETS ACTUALMENTE APLICADOS DESDE T=0 DE LA SLIDE — CUE 01: 6,0 s · CUE 02: 11,0 s · CUE 03: 17,0 s · CUE 04: 23,0 s · CUE 05: 29,0 s.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  <a:p>
            <a:r>
              <a:rPr lang="es-CL" dirty="0"/>
              <a:t>PENDIENTE DE VALIDACIÓN: los offsets anteriores son los teóricos originales y NO han sido verificados contra el audio real del video insertado. Deben sustituirse por los instantes reales de locución.</a:t>
            </a:r>
          </a:p>
          <a:p>
            <a:r>
              <a:rPr lang="es-CL" dirty="0"/>
              <a:t>CONFIGURACIÓN TÉCNICA APLICADA · VIDEO: START T+0,0 s · modo With Previous · reproducción concurrente · sin animaciones de entrada ni efectos sobre el video.</a:t>
            </a:r>
          </a:p>
          <a:p>
            <a:r>
              <a:rPr lang="es-CL" dirty="0"/>
              <a:t>Todos los CUES principales utilizan With Previous y delays absolutos desde el inicio de la slide/video. El video se reproduce concurrentemente y no bloquea la secuencia de animaciones.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Las decisiones quedan registradas casi exclusivamente en texto no estructurado. De ahí surgen tres dificultades.</a:t>
            </a:r>
          </a:p>
          <a:p>
            <a:r>
              <a:rPr lang="es-CL" dirty="0"/>
              <a:t>Primero, la fragmentación. Una decisión rara vez está contenida en un solo pasaje: se propone en un momento, se discute en otro y se cierra en un tercero. Por eso recuperar un fragmento no equivale a reconstruir una decisión ni la evidencia que la sustenta.</a:t>
            </a:r>
          </a:p>
          <a:p>
            <a:r>
              <a:rPr lang="es-CL" dirty="0"/>
              <a:t>Segundo, las decisiones evolucionan: se introducen, se confirman o se revisan, y se reemplazan a lo largo de varias sesiones. RAG consulta las transcripciones originales en cada interacción, pero no mantiene una representación persistente de ese historial.</a:t>
            </a:r>
          </a:p>
          <a:p>
            <a:r>
              <a:rPr lang="es-CL" dirty="0"/>
              <a:t>Tercero, el material es sensible. Esto no distingue nuestra propuesta de RAG —ambas condiciones pueden ejecutarse localmente— pero condiciona el diseño: todo el estudio corre sobre infraestructura local, lo que además controla la variable del modelo generador.</a:t>
            </a:r>
          </a:p>
          <a:p>
            <a:r>
              <a:rPr lang="es-CL" dirty="0"/>
              <a:t>Existen antecedentes directos de detección de decisiones sobre este tipo de corpus. El vacío es otro: falta una evaluación controlada que separe el valor de una representación persistente de los errores introducidos por su extracción automática, sobre todo en consultas longitudinales sobre decisiones revisadas o reemplazadas.</a:t>
            </a:r>
          </a:p>
          <a:p>
            <a:r>
              <a:rPr lang="es-CL" dirty="0"/>
              <a:t>Y hay un riesgo que el propio método introduce: un error de RAG es transitorio, mientras que una decisión mal compilada persiste y adquiere apariencia de dato verificado. Cuantificar esa asimetría es parte del proyecto, no un supuesto previo.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00:40–01:28   ·   DURACIÓN OBJETIVO: 00:48</a:t>
            </a:r>
          </a:p>
          <a:p>
            <a:r>
              <a:rPr lang="es-CL" dirty="0"/>
              <a:t>ENTRADA 00:40 — carrusel interno: FRAGMENTACIÓN → EVOLUCIÓN → CONDICIÓN LOCAL COMÚN → VACÍO DE INVESTIGACIÓN. Activo 100 %, anterior 65 %, siguiente oculto.</a:t>
            </a:r>
          </a:p>
          <a:p>
            <a:r>
              <a:rPr lang="es-CL" dirty="0"/>
              <a:t>CUE 01 · TIMECODE OBJETIVO 00:47</a:t>
            </a:r>
          </a:p>
          <a:p>
            <a:r>
              <a:rPr lang="es-CL" dirty="0"/>
              <a:t>DISPARADOR: “Primero, la fragmentación.”</a:t>
            </a:r>
          </a:p>
          <a:p>
            <a:r>
              <a:rPr lang="es-CL" dirty="0"/>
              <a:t>ACCIÓN: Bloque 01 · Fragmentación y trazabilidad</a:t>
            </a:r>
          </a:p>
          <a:p>
            <a:r>
              <a:rPr lang="es-CL" dirty="0"/>
              <a:t>EFECTO: Fade + desplazamiento horizontal corto desde la derecha</a:t>
            </a:r>
          </a:p>
          <a:p>
            <a:r>
              <a:rPr lang="es-CL" dirty="0"/>
              <a:t>DURACIÓN: 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00:52</a:t>
            </a:r>
          </a:p>
          <a:p>
            <a:r>
              <a:rPr lang="es-CL" dirty="0"/>
              <a:t>DISPARADOR: “se propone en un momento, se discute en otro y se cierra en un tercero”</a:t>
            </a:r>
          </a:p>
          <a:p>
            <a:r>
              <a:rPr lang="es-CL" dirty="0"/>
              <a:t>ACCIÓN: Panel de transcripción, sus líneas y el realce de la frase clave</a:t>
            </a:r>
          </a:p>
          <a:p>
            <a:r>
              <a:rPr lang="es-CL" dirty="0"/>
              <a:t>EFECTO: Fade + desplazamiento 0,40 s en el panel · Fade 0,30 s en las líneas · Wipe 0,30 s en la barra de realce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00:57</a:t>
            </a:r>
          </a:p>
          <a:p>
            <a:r>
              <a:rPr lang="es-CL" dirty="0"/>
              <a:t>DISPARADOR: “recuperar un fragmento no equivale a reconstruir una decisión”</a:t>
            </a:r>
          </a:p>
          <a:p>
            <a:r>
              <a:rPr lang="es-CL" dirty="0"/>
              <a:t>ACCIÓN: Las tres preguntas de reconstrucción y la nota RECUPERAR UN FRAGMENTO ≠ RECONSTRUIR UNA DECISIÓN</a:t>
            </a:r>
          </a:p>
          <a:p>
            <a:r>
              <a:rPr lang="es-CL" dirty="0"/>
              <a:t>EFECTO: Fade 0,30 s en cascada</a:t>
            </a:r>
          </a:p>
          <a:p>
            <a:r>
              <a:rPr lang="es-CL" dirty="0"/>
              <a:t>DURACIÓN: 0,30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01:02</a:t>
            </a:r>
          </a:p>
          <a:p>
            <a:r>
              <a:rPr lang="es-CL" dirty="0"/>
              <a:t>DISPARADOR: “Segundo, las decisiones evolucionan”</a:t>
            </a:r>
          </a:p>
          <a:p>
            <a:r>
              <a:rPr lang="es-CL" dirty="0"/>
              <a:t>ACCIÓN: El bloque 01 baja al 65 %; entra el bloque 02 con REUNIÓN 1 · Decisión A · introducida</a:t>
            </a:r>
          </a:p>
          <a:p>
            <a:r>
              <a:rPr lang="es-CL" dirty="0"/>
              <a:t>EFECTO: Atenuación 0,30 s + Fade + desplazamiento desde la derecha 0,35 s</a:t>
            </a:r>
          </a:p>
          <a:p>
            <a:r>
              <a:rPr lang="es-CL" dirty="0"/>
              <a:t>DURACIÓN: 0,30–0,35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01:07</a:t>
            </a:r>
          </a:p>
          <a:p>
            <a:r>
              <a:rPr lang="es-CL" dirty="0"/>
              <a:t>DISPARADOR: “se confirman o se revisan”</a:t>
            </a:r>
          </a:p>
          <a:p>
            <a:r>
              <a:rPr lang="es-CL" dirty="0"/>
              <a:t>ACCIÓN: Conexión y REUNIÓN 2 · Decisión A′ · confirmada / revisada</a:t>
            </a:r>
          </a:p>
          <a:p>
            <a:r>
              <a:rPr lang="es-CL" dirty="0"/>
              <a:t>EFECTO: Wipe From Left 0,35 s + Fade + desplazamiento 0,35 s</a:t>
            </a:r>
          </a:p>
          <a:p>
            <a:r>
              <a:rPr lang="es-CL" dirty="0"/>
              <a:t>DURACIÓN: 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06 · TIMECODE OBJETIVO 01:11</a:t>
            </a:r>
          </a:p>
          <a:p>
            <a:r>
              <a:rPr lang="es-CL" dirty="0"/>
              <a:t>DISPARADOR: “y se reemplazan a lo largo de varias sesiones”</a:t>
            </a:r>
          </a:p>
          <a:p>
            <a:r>
              <a:rPr lang="es-CL" dirty="0"/>
              <a:t>ACCIÓN: Conexión, REUNIÓN 3 · Decisión B y la nota RAG reconsulta transcripciones · sin historial persistente</a:t>
            </a:r>
          </a:p>
          <a:p>
            <a:r>
              <a:rPr lang="es-CL" dirty="0"/>
              <a:t>EFECTO: Wipe From Left 0,35 s + Fade + desplazamiento 0,35 s + Fade 0,30 s</a:t>
            </a:r>
          </a:p>
          <a:p>
            <a:r>
              <a:rPr lang="es-CL" dirty="0"/>
              <a:t>DURACIÓN: 0,30–0,35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07 · TIMECODE OBJETIVO 01:16</a:t>
            </a:r>
          </a:p>
          <a:p>
            <a:r>
              <a:rPr lang="es-CL" dirty="0"/>
              <a:t>DISPARADOR: “Tercero, el material es sensible.”</a:t>
            </a:r>
          </a:p>
          <a:p>
            <a:r>
              <a:rPr lang="es-CL" dirty="0"/>
              <a:t>ACCIÓN: El bloque 02 baja al 65 %; entra el bloque 03 · INFRAESTRUCTURA LOCAL con la bifurcación RAG / BASE ESTRUCTURADA y su nota de condición común</a:t>
            </a:r>
          </a:p>
          <a:p>
            <a:r>
              <a:rPr lang="es-CL" dirty="0"/>
              <a:t>EFECTO: Atenuación 0,30 s · Fade + desplazamiento 0,35–0,40 s · Wipe 0,25 s en las bifurcaciones</a:t>
            </a:r>
          </a:p>
          <a:p>
            <a:r>
              <a:rPr lang="es-CL" dirty="0"/>
              <a:t>DURACIÓN: 0,25–0,40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08 · TIMECODE OBJETIVO 01:22</a:t>
            </a:r>
          </a:p>
          <a:p>
            <a:r>
              <a:rPr lang="es-CL" dirty="0"/>
              <a:t>DISPARADOR: “falta una evaluación controlada que separe el valor de una representación persistente”</a:t>
            </a:r>
          </a:p>
          <a:p>
            <a:r>
              <a:rPr lang="es-CL" dirty="0"/>
              <a:t>ACCIÓN: Bloque VACÍO DE INVESTIGACIÓN; los tres bloques recuperan el 100 % de opacidad</a:t>
            </a:r>
          </a:p>
          <a:p>
            <a:r>
              <a:rPr lang="es-CL" dirty="0"/>
              <a:t>EFECTO: Fade 0,40 s + restauración 0,30 s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01:27 — inicio de transición.</a:t>
            </a:r>
          </a:p>
          <a:p>
            <a:r>
              <a:rPr lang="es-CL" dirty="0"/>
              <a:t>TRANSICIÓN A SIGUIENTE SLIDE: Morph · 0,75 s · continuidad horizontal tipo carrusel.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47,25 s (Después de: 00:47,25). Con la transición de entrada de 0,75 s el segmento ocupa 48,0 s exactos.</a:t>
            </a:r>
          </a:p>
          <a:p>
            <a:r>
              <a:rPr lang="es-CL" dirty="0"/>
              <a:t>OFFSETS APLICADOS (escalado proporcional a la duración real del video, factor 1.974) — CUE 01: 13.8 s · CUE 02: 23.7 s · CUE 03: 33.5 s · CUE 04: 43.5 s · CUE 05: 55.3 s · CUE 06: 63.1 s · CUE 07: 75.0 s · CUE 08: 86.8 s. DURACIÓN REAL DEL VIDEO: 93.27 s. AVANCE: 93.67 s. Video en T=0 con With Previous, reproducción concurrente; todos los CUES usan With Previous con delays absolutos desde el inicio de la slide. NO verificado contra el audio real: pendiente de ajuste fino con los timecodes de locución.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¿Por qué la Ciencia de Datos? Porque convierte un problema que suele tratarse como desarrollo de herramientas en uno que puede medirse y refutarse.</a:t>
            </a:r>
          </a:p>
          <a:p>
            <a:r>
              <a:rPr lang="es-CL" dirty="0"/>
              <a:t>Primero, formaliza la extracción como una tarea supervisada evaluable: detectar decisiones a partir de actos de diálogo se plantea como clasificación y extracción de información.</a:t>
            </a:r>
          </a:p>
          <a:p>
            <a:r>
              <a:rPr lang="es-CL" dirty="0"/>
              <a:t>Eso nos permite comparar la predicción del modelo contra anotaciones humanas de referencia sobre el AMI Meeting Corpus, con precisión, cobertura y F1.</a:t>
            </a:r>
          </a:p>
          <a:p>
            <a:r>
              <a:rPr lang="es-CL" dirty="0"/>
              <a:t>Segundo, impone estructura verificable sobre la salida del modelo: mediante esquemas de validación estricta obligamos al modelo a producir objetos con descripción, fecha, evidencia de origen y estado, y rechazamos de forma determinista lo que no cumpla el esquema.</a:t>
            </a:r>
          </a:p>
          <a:p>
            <a:r>
              <a:rPr lang="es-CL" dirty="0"/>
              <a:t>Tercero, aporta el diseño para un contraste controlado: mismo corpus, mismo modelo generador y tres condiciones comparables, en lugar de un simple benchmark de herramientas.</a:t>
            </a:r>
          </a:p>
          <a:p>
            <a:r>
              <a:rPr lang="es-CL" dirty="0"/>
              <a:t>Toda la inferencia se ejecuta localmente; eso es lo que muestra esta breve demostración de OpenKOS.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01:28–02:08   ·   DURACIÓN OBJETIVO: 00:40</a:t>
            </a:r>
          </a:p>
          <a:p>
            <a:r>
              <a:rPr lang="es-CL" dirty="0"/>
              <a:t>ENTRADA 01:28 — la slide llega casi vacía: solo título, speaker y estructura institucional. Lectura: HUMANO → COMPARACIÓN ← MODELO.</a:t>
            </a:r>
          </a:p>
          <a:p>
            <a:r>
              <a:rPr lang="es-CL" dirty="0"/>
              <a:t>CUE 01 · TIMECODE OBJETIVO 01:34</a:t>
            </a:r>
          </a:p>
          <a:p>
            <a:r>
              <a:rPr lang="es-CL" dirty="0"/>
              <a:t>DISPARADOR: “formaliza la extracción como una tarea supervisada evaluable”</a:t>
            </a:r>
          </a:p>
          <a:p>
            <a:r>
              <a:rPr lang="es-CL" dirty="0"/>
              <a:t>ACCIÓN: Carril REFERENCIA HUMANA: TRANSCRIPCIÓN → ANOTACIÓN HUMANA → GROUND TRUTH</a:t>
            </a:r>
          </a:p>
          <a:p>
            <a:r>
              <a:rPr lang="es-CL" dirty="0"/>
              <a:t>EFECTO: Fade 0,30 s en la etiqueta · Fade + desplazamiento horizontal corto 0,35 s en los nodos · Wipe 0,25 s en las conexiones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01:41</a:t>
            </a:r>
          </a:p>
          <a:p>
            <a:r>
              <a:rPr lang="es-CL" dirty="0"/>
              <a:t>DISPARADOR: “comparar la predicción del modelo contra anotaciones humanas de referencia”</a:t>
            </a:r>
          </a:p>
          <a:p>
            <a:r>
              <a:rPr lang="es-CL" dirty="0"/>
              <a:t>ACCIÓN: Carril MODELO LOCAL entrando desde la derecha: TRANSCRIPCIÓN → LLM LOCAL → PREDICCIÓN</a:t>
            </a:r>
          </a:p>
          <a:p>
            <a:r>
              <a:rPr lang="es-CL" dirty="0"/>
              <a:t>EFECTO: Mismo vocabulario que el carril 1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01:47</a:t>
            </a:r>
          </a:p>
          <a:p>
            <a:r>
              <a:rPr lang="es-CL" dirty="0"/>
              <a:t>DISPARADOR: “sobre el AMI Meeting Corpus, con precisión, cobertura y F1”</a:t>
            </a:r>
          </a:p>
          <a:p>
            <a:r>
              <a:rPr lang="es-CL" dirty="0"/>
              <a:t>ACCIÓN: Bus GROUND TRUTH ←→ PREDICCIÓN, etiqueta MÉTRICAS DE NLP · GROUND TRUTH HUMANO · AMI MEETING CORPUS y luego Precisión · Cobertura · F1</a:t>
            </a:r>
          </a:p>
          <a:p>
            <a:r>
              <a:rPr lang="es-CL" dirty="0"/>
              <a:t>EFECTO: Wipe From Left 0,35 s en el bus siguiendo la dirección real de la relación · Fade 0,30 s en cascada en las tres métricas</a:t>
            </a:r>
          </a:p>
          <a:p>
            <a:r>
              <a:rPr lang="es-CL" dirty="0"/>
              <a:t>DURACIÓN: 0,30–0,35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01:53</a:t>
            </a:r>
          </a:p>
          <a:p>
            <a:r>
              <a:rPr lang="es-CL" dirty="0"/>
              <a:t>DISPARADOR: “mediante esquemas de validación estricta”</a:t>
            </a:r>
          </a:p>
          <a:p>
            <a:r>
              <a:rPr lang="es-CL" dirty="0"/>
              <a:t>ACCIÓN: DIÁLOGO INFORMAL → OBJETO ESTRUCTURADO, ficha DECISIÓN con sus campos y la nota VALIDACIÓN DE ESQUEMA</a:t>
            </a:r>
          </a:p>
          <a:p>
            <a:r>
              <a:rPr lang="es-CL" dirty="0"/>
              <a:t>EFECTO: Fade + desplazamiento 0,35–0,40 s · Wipe From Left 0,30 s · Fade 0,30 s en los campos y en la nota de validación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02:00</a:t>
            </a:r>
          </a:p>
          <a:p>
            <a:r>
              <a:rPr lang="es-CL" dirty="0"/>
              <a:t>DISPARADOR: “Toda la inferencia se ejecuta localmente”</a:t>
            </a:r>
          </a:p>
          <a:p>
            <a:r>
              <a:rPr lang="es-CL" dirty="0"/>
              <a:t>ACCIÓN: [ SCREEN RECORDING — OPENKOS DOCTOR + INIT ]</a:t>
            </a:r>
          </a:p>
          <a:p>
            <a:r>
              <a:rPr lang="es-CL" dirty="0"/>
              <a:t>EFECTO: Fade + desplazamiento horizontal corto desde la derecha, después Play</a:t>
            </a:r>
          </a:p>
          <a:p>
            <a:r>
              <a:rPr lang="es-CL" dirty="0"/>
              <a:t>DURACIÓN: 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MICRODEMO · DOCTOR + INIT (ventana 02:00–02:07, ~7 s): demostración visual de ejecución y preparación local. No es evidencia de rendimiento ni de superioridad frente a RAG. Recortar todo tiempo muerto de terminal. Sin animaciones superpuestas durante Play.</a:t>
            </a:r>
          </a:p>
          <a:p>
            <a:r>
              <a:rPr lang="es-CL" dirty="0"/>
              <a:t>02:07 — inicio de transición.</a:t>
            </a:r>
          </a:p>
          <a:p>
            <a:r>
              <a:rPr lang="es-CL" dirty="0"/>
              <a:t>TRANSICIÓN A SIGUIENTE SLIDE: Morph · 0,75 s · OBJETO ESTRUCTURADO ancla el pipeline de la slide siguiente.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39,25 s (Después de: 00:39,25). Con la transición de entrada de 0,75 s el segmento ocupa 40,0 s exactos.</a:t>
            </a:r>
          </a:p>
          <a:p>
            <a:r>
              <a:rPr lang="es-CL" dirty="0"/>
              <a:t>OFFSETS APLICADOS (escalado proporcional a la duración real del video, factor 1.603) — CUE 01: 9.6 s · CUE 02: 20.9 s · CUE 03: 30.4 s · CUE 04: 40.0 s · CUE 05: 51.3 s. DURACIÓN REAL DEL VIDEO: 62.90 s. AVANCE: 63.30 s. Video en T=0 con With Previous, reproducción concurrente; todos los CUES usan With Previous con delays absolutos desde el inicio de la slide. NO verificado contra el audio real: pendiente de ajuste fino con los timecodes de locución.</a:t>
            </a:r>
          </a:p>
          <a:p>
            <a:r>
              <a:rPr lang="es-CL" dirty="0"/>
              <a:t>La microdemo DOCTOR + INIT debe caber en la ventana 32,0–39,25 s (~7 s).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Nuestro objetivo general es diseñar y evaluar un método para extraer automáticamente decisiones desde transcripciones de reuniones mediante modelos de lenguaje de ejecución local, representarlas de forma estructurada conservando su contenido, evidencia y evolución temporal, y determinar experimentalmente en qué condiciones esa representación aporta valor en términos de calidad, trazabilidad o eficiencia frente a RAG aplicado directamente sobre las transcripciones.</a:t>
            </a:r>
          </a:p>
          <a:p>
            <a:r>
              <a:rPr lang="es-CL" dirty="0"/>
              <a:t>La cinta resume ese recorrido: el alcance experimental son las decisiones, no un sistema general de gestión del conocimiento.</a:t>
            </a:r>
          </a:p>
          <a:p>
            <a:r>
              <a:rPr lang="es-CL" dirty="0"/>
              <a:t>La demostración ilustra la ingesta: el texto se convierte en una representación persistente y consultable.</a:t>
            </a:r>
          </a:p>
          <a:p>
            <a:r>
              <a:rPr lang="es-CL" dirty="0"/>
              <a:t>Ese objetivo se abre en dos preguntas que mantenemos separadas: una de extracción y otra de utilidad de la representación.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FORMULACIÓN ACADÉMICA COMPLETA (referencia de guion, no se locuta íntegra):</a:t>
            </a:r>
          </a:p>
          <a:p>
            <a:r>
              <a:rPr lang="es-CL" dirty="0"/>
              <a:t>PREGUNTA EXPERIMENTAL 1 · EXTRACCIÓN — ¿Con qué nivel de precisión pueden modelos de lenguaje locales detectar, normalizar y vincular con evidencia las decisiones contenidas en transcripciones, en comparación con métodos clásicos de NLP?</a:t>
            </a:r>
          </a:p>
          <a:p>
            <a:r>
              <a:rPr lang="es-CL" dirty="0"/>
              <a:t>PREGUNTA EXPERIMENTAL 2 · UTILIDAD DE LA REPRESENTACIÓN — ¿En qué tipos de consulta una base persistente y estructurada de decisiones responde con mayor calidad, trazabilidad o eficiencia que un sistema RAG sobre las transcripciones?</a:t>
            </a:r>
          </a:p>
          <a:p>
            <a:r>
              <a:rPr lang="es-CL" dirty="0"/>
              <a:t>La primera compara métodos de extracción; la segunda compara representaciones y pipelines de consulta. Combinarlas ocultaría el valor potencial de la representación detrás de los errores del extractor.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02:08–02:48   ·   DURACIÓN OBJETIVO: 00:40</a:t>
            </a:r>
          </a:p>
          <a:p>
            <a:r>
              <a:rPr lang="es-CL" dirty="0"/>
              <a:t>ENTRADA 02:08 — la cinta TEXTO → EXTRAER → ESTRUCTURAR → COMPILAR → GESTIONAR → TRAZAR → CONOCIMIENTO se construye horizontalmente y de forma acumulativa.</a:t>
            </a:r>
          </a:p>
          <a:p>
            <a:r>
              <a:rPr lang="es-CL" dirty="0"/>
              <a:t>CUE 01 · TIMECODE OBJETIVO 02:14</a:t>
            </a:r>
          </a:p>
          <a:p>
            <a:r>
              <a:rPr lang="es-CL" dirty="0"/>
              <a:t>DISPARADOR: “diseñar y evaluar un método para extraer automáticamente decisiones desde transcripciones de reuniones”</a:t>
            </a:r>
          </a:p>
          <a:p>
            <a:r>
              <a:rPr lang="es-CL" dirty="0"/>
              <a:t>ACCIÓN: Nodo TEXTO, primer eslabón de la cinta</a:t>
            </a:r>
          </a:p>
          <a:p>
            <a:r>
              <a:rPr lang="es-CL" dirty="0"/>
              <a:t>EFECTO: Fade + desplazamiento horizontal corto desde la derecha</a:t>
            </a:r>
          </a:p>
          <a:p>
            <a:r>
              <a:rPr lang="es-CL" dirty="0"/>
              <a:t>DURACIÓN: 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02:19</a:t>
            </a:r>
          </a:p>
          <a:p>
            <a:r>
              <a:rPr lang="es-CL" dirty="0"/>
              <a:t>DISPARADOR: “representarlas de forma estructurada conservando su contenido, evidencia y evolución temporal”</a:t>
            </a:r>
          </a:p>
          <a:p>
            <a:r>
              <a:rPr lang="es-CL" dirty="0"/>
              <a:t>ACCIÓN: EXTRAER, ESTRUCTURAR y COMPILAR</a:t>
            </a:r>
          </a:p>
          <a:p>
            <a:r>
              <a:rPr lang="es-CL" dirty="0"/>
              <a:t>EFECTO: Wipe From Left 0,25 s dibuja la conexión y el nodo entra con Fade + desplazamiento 0,35 s. La cinta crece hacia la derecha; ningún nodo anterior se mueve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02:25</a:t>
            </a:r>
          </a:p>
          <a:p>
            <a:r>
              <a:rPr lang="es-CL" dirty="0"/>
              <a:t>DISPARADOR: “determinar experimentalmente en qué condiciones esa representación aporta valor en términos de calidad, trazabilidad o eficiencia”</a:t>
            </a:r>
          </a:p>
          <a:p>
            <a:r>
              <a:rPr lang="es-CL" dirty="0"/>
              <a:t>ACCIÓN: GESTIONAR, TRAZAR y CONOCIMIENTO</a:t>
            </a:r>
          </a:p>
          <a:p>
            <a:r>
              <a:rPr lang="es-CL" dirty="0"/>
              <a:t>EFECTO: Mismo patrón Wipe → Fade + desplazamiento. La cinta termina de extenderse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02:32</a:t>
            </a:r>
          </a:p>
          <a:p>
            <a:r>
              <a:rPr lang="es-CL" dirty="0"/>
              <a:t>DISPARADOR: “La demostración ilustra la ingesta”</a:t>
            </a:r>
          </a:p>
          <a:p>
            <a:r>
              <a:rPr lang="es-CL" dirty="0"/>
              <a:t>ACCIÓN: Entra [ SCREEN RECORDING — OPENKOS INGEST ] y luego meeting-notes.txt → openkos ingest → raw/bundle/openkos.yaml</a:t>
            </a:r>
          </a:p>
          <a:p>
            <a:r>
              <a:rPr lang="es-CL" dirty="0"/>
              <a:t>EFECTO: Fade + desplazamiento 0,40 s en la grabación · Wipe 0,25 s en las conexiones · Fade + desplazamiento 0,35 s en cada nodo</a:t>
            </a:r>
          </a:p>
          <a:p>
            <a:r>
              <a:rPr lang="es-CL" dirty="0"/>
              <a:t>DURACIÓN: 0,25–0,40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02:42</a:t>
            </a:r>
          </a:p>
          <a:p>
            <a:r>
              <a:rPr lang="es-CL" dirty="0"/>
              <a:t>DISPARADOR: “el texto se convierte en una representación persistente y consultable”</a:t>
            </a:r>
          </a:p>
          <a:p>
            <a:r>
              <a:rPr lang="es-CL" dirty="0"/>
              <a:t>ACCIÓN: EJEMPLO · REPRESENTACIÓN OBJETIVO junto con la ficha DECISIÓN, simultáneas</a:t>
            </a:r>
          </a:p>
          <a:p>
            <a:r>
              <a:rPr lang="es-CL" dirty="0"/>
              <a:t>EFECTO: Fade 0,40 s en la etiqueta y Fade + desplazamiento corto 0,40 s en la ficha</a:t>
            </a:r>
          </a:p>
          <a:p>
            <a:r>
              <a:rPr lang="es-CL" dirty="0"/>
              <a:t>DURACIÓN: 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06 · TIMECODE OBJETIVO 02:45</a:t>
            </a:r>
          </a:p>
          <a:p>
            <a:r>
              <a:rPr lang="es-CL" dirty="0"/>
              <a:t>DISPARADOR: “dos preguntas que mantenemos separadas”</a:t>
            </a:r>
          </a:p>
          <a:p>
            <a:r>
              <a:rPr lang="es-CL" dirty="0"/>
              <a:t>ACCIÓN: Entran las dos líneas 01 · EXTRACCIÓN y 02 · REPRESENTACIÓN, en cascada</a:t>
            </a:r>
          </a:p>
          <a:p>
            <a:r>
              <a:rPr lang="es-CL" dirty="0"/>
              <a:t>EFECTO: Fade + desplazamiento horizontal corto 0,30 s</a:t>
            </a:r>
          </a:p>
          <a:p>
            <a:r>
              <a:rPr lang="es-CL" dirty="0"/>
              <a:t>DURACIÓN: 0,30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MICRODEMO · INGEST (ventana 02:32–02:42, ~10 s): demostración visual de cómo el texto se transforma en una representación persistente. No es evidencia de calidad de extracción ni de superioridad frente a RAG. Mostrar solo meeting-notes.txt, el comando openkos ingest y el archivo resultante. Recortar tiempos muertos.</a:t>
            </a:r>
          </a:p>
          <a:p>
            <a:r>
              <a:rPr lang="es-CL" dirty="0"/>
              <a:t>02:47 — inicio de transición.</a:t>
            </a:r>
          </a:p>
          <a:p>
            <a:r>
              <a:rPr lang="es-CL" dirty="0"/>
              <a:t>TRANSICIÓN A SIGUIENTE SLIDE: Morph · 0,80 s · las dos preguntas anclan la apertura de los tres carriles experimentales.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39,25 s (Después de: 00:39,25). Con la transición de entrada de 0,75 s el segmento ocupa 40,0 s exactos.</a:t>
            </a:r>
          </a:p>
          <a:p>
            <a:r>
              <a:rPr lang="es-CL" dirty="0"/>
              <a:t>OFFSETS APLICADOS (escalado proporcional a la duración real del video, factor 1.327) — CUE 01: 8.0 s · CUE 02: 14.6 s · CUE 03: 22.6 s · CUE 04: 31.9 s · CUE 05: 45.1 s. DURACIÓN REAL DEL VIDEO: 52.10 s. AVANCE: 52.50 s. Video en T=0 con With Previous, reproducción concurrente; todos los CUES usan With Previous con delays absolutos desde el inicio de la slide. NO verificado contra el audio real: pendiente de ajuste fino con los timecodes de locución.</a:t>
            </a:r>
          </a:p>
          <a:p>
            <a:r>
              <a:rPr lang="es-CL" dirty="0"/>
              <a:t>La microdemo INGEST debe caber en la ventana 24,0–34,0 s (~10 s).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El diseño experimental compara tres condiciones sobre el mismo corpus, con el mismo modelo generador y las mismas preguntas.</a:t>
            </a:r>
          </a:p>
          <a:p>
            <a:r>
              <a:rPr lang="es-CL" dirty="0"/>
              <a:t>La primera condición es RAG documental: recuperación directa sobre las transcripciones originales.</a:t>
            </a:r>
          </a:p>
          <a:p>
            <a:r>
              <a:rPr lang="es-CL" dirty="0"/>
              <a:t>La segunda es la base compilada manualmente: el techo teórico, es decir, la representación estructurada sin errores de extracción.</a:t>
            </a:r>
          </a:p>
          <a:p>
            <a:r>
              <a:rPr lang="es-CL" dirty="0"/>
              <a:t>La tercera es la base compilada automáticamente: el sistema completo, con los errores del modelo incluidos.</a:t>
            </a:r>
          </a:p>
          <a:p>
            <a:r>
              <a:rPr lang="es-CL" dirty="0"/>
              <a:t>La segunda condición es la que convierte el proyecto en un experimento y no en una demostración. Sin ella, un mal resultado sería ambiguo: no sabríamos si falló la idea de estructurar o si falló el modelo al extraer. Con ella, ambas preguntas se analizan por separado.</a:t>
            </a:r>
          </a:p>
          <a:p>
            <a:r>
              <a:rPr lang="es-CL" dirty="0"/>
              <a:t>Trabajamos sobre el AMI Meeting Corpus, que incluye series de reuniones de un mismo grupo; eso permite evaluar consultas longitudinales sobre decisiones revisadas o reemplazadas.</a:t>
            </a:r>
          </a:p>
          <a:p>
            <a:r>
              <a:rPr lang="es-CL" dirty="0"/>
              <a:t>Las tres condiciones responden el mismo conjunto de preguntas y sus resultados se comparan cuantitativamente. La demostración solo ilustra cómo una consulta devuelve una respuesta con su evidencia.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02:48–03:40   ·   DURACIÓN OBJETIVO: 00:52  (segmento más extenso: es la slide metodológica central)</a:t>
            </a:r>
          </a:p>
          <a:p>
            <a:r>
              <a:rPr lang="es-CL" dirty="0"/>
              <a:t>ENTRADA 02:48 — foco por opacidad: condición activa 100 %, anteriores 65 %. Al llegar a la comparación, las tres vuelven al 100 %.</a:t>
            </a:r>
          </a:p>
          <a:p>
            <a:r>
              <a:rPr lang="es-CL" dirty="0"/>
              <a:t>CUE 01 · TIMECODE OBJETIVO 02:54</a:t>
            </a:r>
          </a:p>
          <a:p>
            <a:r>
              <a:rPr lang="es-CL" dirty="0"/>
              <a:t>DISPARADOR: “compara tres condiciones sobre el mismo corpus, con el mismo modelo generador”</a:t>
            </a:r>
          </a:p>
          <a:p>
            <a:r>
              <a:rPr lang="es-CL" dirty="0"/>
              <a:t>ACCIÓN: Bajada del corpus, etiquetas MISMO MODELO GENERADOR y AMI MEETING CORPUS, bus superior, las tres ramas y los tres carriles</a:t>
            </a:r>
          </a:p>
          <a:p>
            <a:r>
              <a:rPr lang="es-CL" dirty="0"/>
              <a:t>EFECTO: Wipe From Left 0,35 s en el bus · Wipe 0,25 s en las ramas · Fade 0,30 s en las etiquetas · Fade + desplazamiento horizontal corto 0,35 s en los carriles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03:00</a:t>
            </a:r>
          </a:p>
          <a:p>
            <a:r>
              <a:rPr lang="es-CL" dirty="0"/>
              <a:t>DISPARADOR: “La primera condición es RAG documental”</a:t>
            </a:r>
          </a:p>
          <a:p>
            <a:r>
              <a:rPr lang="es-CL" dirty="0"/>
              <a:t>ACCIÓN: RAG DOCUMENTAL toma protagonismo y se construye su cadena vertical</a:t>
            </a:r>
          </a:p>
          <a:p>
            <a:r>
              <a:rPr lang="es-CL" dirty="0"/>
              <a:t>EFECTO: Fade + desplazamiento 0,35 s en los nodos · Fade 0,30 s en la etiqueta · Wipe 0,25 s en las conexiones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03:07</a:t>
            </a:r>
          </a:p>
          <a:p>
            <a:r>
              <a:rPr lang="es-CL" dirty="0"/>
              <a:t>DISPARADOR: “La segunda es la base compilada manualmente”</a:t>
            </a:r>
          </a:p>
          <a:p>
            <a:r>
              <a:rPr lang="es-CL" dirty="0"/>
              <a:t>ACCIÓN: RAG baja al 65 % sin ocultarse; BASE COMPILADA MANUALMENTE entra desde la derecha y se construye</a:t>
            </a:r>
          </a:p>
          <a:p>
            <a:r>
              <a:rPr lang="es-CL" dirty="0"/>
              <a:t>EFECTO: Atenuación 0,30 s + Fade + desplazamiento 0,35 s + Wipe 0,25 s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03:14</a:t>
            </a:r>
          </a:p>
          <a:p>
            <a:r>
              <a:rPr lang="es-CL" dirty="0"/>
              <a:t>DISPARADOR: “La tercera es la base compilada automáticamente”</a:t>
            </a:r>
          </a:p>
          <a:p>
            <a:r>
              <a:rPr lang="es-CL" dirty="0"/>
              <a:t>ACCIÓN: Los dos carriles anteriores quedan secundarios; BASE COMPILADA AUTOMÁTICAMENTE adquiere protagonismo</a:t>
            </a:r>
          </a:p>
          <a:p>
            <a:r>
              <a:rPr lang="es-CL" dirty="0"/>
              <a:t>EFECTO: Atenuación 0,30 s + Fade + desplazamiento 0,35 s + Wipe 0,25 s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03:21</a:t>
            </a:r>
          </a:p>
          <a:p>
            <a:r>
              <a:rPr lang="es-CL" dirty="0"/>
              <a:t>DISPARADOR: “convierte el proyecto en un experimento y no en una demostración”</a:t>
            </a:r>
          </a:p>
          <a:p>
            <a:r>
              <a:rPr lang="es-CL" dirty="0"/>
              <a:t>ACCIÓN: Énfasis breve sobre el carril 2 y su etiqueta Techo teórico</a:t>
            </a:r>
          </a:p>
          <a:p>
            <a:r>
              <a:rPr lang="es-CL" dirty="0"/>
              <a:t>EFECTO: Atenuación y retorno de opacidad, sin zoom</a:t>
            </a:r>
          </a:p>
          <a:p>
            <a:r>
              <a:rPr lang="es-CL" dirty="0"/>
              <a:t>DURACIÓN: 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06 · TIMECODE OBJETIVO 03:27</a:t>
            </a:r>
          </a:p>
          <a:p>
            <a:r>
              <a:rPr lang="es-CL" dirty="0"/>
              <a:t>DISPARADOR: “Las tres condiciones responden el mismo conjunto de preguntas”</a:t>
            </a:r>
          </a:p>
          <a:p>
            <a:r>
              <a:rPr lang="es-CL" dirty="0"/>
              <a:t>ACCIÓN: Los tres carriles vuelven al 100 %; las bajadas convergen en el bus inferior hacia MISMAS PREGUNTAS y COMPARACIÓN CUANTITATIVA</a:t>
            </a:r>
          </a:p>
          <a:p>
            <a:r>
              <a:rPr lang="es-CL" dirty="0"/>
              <a:t>EFECTO: Restauración 0,30 s y Wipe siguiendo la dirección real de cada conexión. Momento de resolución visual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07 · TIMECODE OBJETIVO 03:33</a:t>
            </a:r>
          </a:p>
          <a:p>
            <a:r>
              <a:rPr lang="es-CL" dirty="0"/>
              <a:t>DISPARADOR: “sus resultados se comparan cuantitativamente”</a:t>
            </a:r>
          </a:p>
          <a:p>
            <a:r>
              <a:rPr lang="es-CL" dirty="0"/>
              <a:t>ACCIÓN: [ SCREEN RECORDING — OPENKOS QUERY ] con su comando y nota</a:t>
            </a:r>
          </a:p>
          <a:p>
            <a:r>
              <a:rPr lang="es-CL" dirty="0"/>
              <a:t>EFECTO: Fade + desplazamiento corto 0,40 s y Fade 0,30 s, después Play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MICRODEMO · QUERY (ventana 03:33–03:39, ~6 s): comando → ejecución → respuesta → procedencia/evidencia. Es una ilustración visual de la consulta con evidencia, no una comparación de calidad frente a RAG. No extender la demo.</a:t>
            </a:r>
          </a:p>
          <a:p>
            <a:r>
              <a:rPr lang="es-CL" dirty="0"/>
              <a:t>NOTA DE CONDICIONES (referencia): CONDICIÓN 1 · RAG documental — recuperación directa sobre las transcripciones originales. CONDICIÓN 2 · Base compilada manualmente — techo teórico: representación estructurada sin errores de extracción. CONDICIÓN 3 · Base compilada automáticamente — el sistema completo, con los errores del modelo incluidos.</a:t>
            </a:r>
          </a:p>
          <a:p>
            <a:r>
              <a:rPr lang="es-CL" dirty="0"/>
              <a:t>03:39 — inicio de transición.</a:t>
            </a:r>
          </a:p>
          <a:p>
            <a:r>
              <a:rPr lang="es-CL" dirty="0"/>
              <a:t>TRANSICIÓN A SIGUIENTE SLIDE: Morph · 0,75 s · COMPARACIÓN CUANTITATIVA ancla el título Cuantificación del rendimiento.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51,20 s (Después de: 00:51,20). Con la transición de entrada de 0,80 s el segmento ocupa 52,0 s exactos.</a:t>
            </a:r>
          </a:p>
          <a:p>
            <a:r>
              <a:rPr lang="es-CL" dirty="0"/>
              <a:t>OFFSETS APLICADOS (escalado proporcional a la duración real del video, factor 1.394) — CUE 01: 8.3 s · CUE 02: 16.8 s · CUE 03: 26.5 s · CUE 04: 36.3 s · CUE 05: 46.0 s · CUE 06: 54.4 s · CUE 07: 62.8 s. DURACIÓN REAL DEL VIDEO: 71.37 s. AVANCE: 71.77 s. Video en T=0 con With Previous, reproducción concurrente; todos los CUES usan With Previous con delays absolutos desde el inicio de la slide. NO verificado contra el audio real: pendiente de ajuste fino con los timecodes de locución.</a:t>
            </a:r>
          </a:p>
          <a:p>
            <a:r>
              <a:rPr lang="es-CL" dirty="0"/>
              <a:t>La microdemo QUERY debe caber en la ventana 45,0–51,20 s (~6 s).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La validez del experimento se sostiene en cuatro dimensiones de medición.</a:t>
            </a:r>
          </a:p>
          <a:p>
            <a:r>
              <a:rPr lang="es-CL" dirty="0"/>
              <a:t>Primero, el rendimiento de NLP: precisión, cobertura y F1 de las decisiones extraídas, comparadas contra un ground truth anotado por humanos sobre el AMI Meeting Corpus.</a:t>
            </a:r>
          </a:p>
          <a:p>
            <a:r>
              <a:rPr lang="es-CL" dirty="0"/>
              <a:t>Segundo, las citas: la tasa de citas incorrectas y la verificación de que cada afirmación tenga respaldo en el texto de origen; sin respaldo, se marca como posible alucinación, no como alucinación confirmada.</a:t>
            </a:r>
          </a:p>
          <a:p>
            <a:r>
              <a:rPr lang="es-CL" dirty="0"/>
              <a:t>Tercero, las métricas operativas del procesamiento local: latencia de inferencia y uso de memoria, operacionalizado como RAM y VRAM.</a:t>
            </a:r>
          </a:p>
          <a:p>
            <a:r>
              <a:rPr lang="es-CL" dirty="0"/>
              <a:t>Cuarto, el comportamiento no determinista: repetiremos la misma entrada en múltiples ejecuciones y reportaremos la variabilidad, no un número único.</a:t>
            </a:r>
          </a:p>
          <a:p>
            <a:r>
              <a:rPr lang="es-CL" dirty="0"/>
              <a:t>Así no solo se evaluará si el sistema responde, sino cuán trazable, eficiente y reproducible es su comportamiento.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03:40–04:18   ·   DURACIÓN OBJETIVO: 00:38</a:t>
            </a:r>
          </a:p>
          <a:p>
            <a:r>
              <a:rPr lang="es-CL" dirty="0"/>
              <a:t>ENTRADA 03:40 — carrusel 2×2: cada módulo adquiere protagonismo al 100 % y pasa al 65 % cuando entra el siguiente. Al aparecer el cuarto, los cuatro vuelven al 100 %.</a:t>
            </a:r>
          </a:p>
          <a:p>
            <a:r>
              <a:rPr lang="es-CL" dirty="0"/>
              <a:t>CUE 01 · TIMECODE OBJETIVO 03:46</a:t>
            </a:r>
          </a:p>
          <a:p>
            <a:r>
              <a:rPr lang="es-CL" dirty="0"/>
              <a:t>DISPARADOR: “Primero, el rendimiento de NLP: precisión, cobertura y F1”</a:t>
            </a:r>
          </a:p>
          <a:p>
            <a:r>
              <a:rPr lang="es-CL" dirty="0"/>
              <a:t>ACCIÓN: Módulo 01 · RENDIMIENTO NLP con su bajada de precisión, cobertura y F1 contra ground truth humano</a:t>
            </a:r>
          </a:p>
          <a:p>
            <a:r>
              <a:rPr lang="es-CL" dirty="0"/>
              <a:t>EFECTO: Wipe From Left 0,25 s en la regla · Fade + desplazamiento horizontal corto 0,35 s en el módulo · Fade 0,30 s en la bajada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03:52</a:t>
            </a:r>
          </a:p>
          <a:p>
            <a:r>
              <a:rPr lang="es-CL" dirty="0"/>
              <a:t>DISPARADOR: “Segundo, las citas”</a:t>
            </a:r>
          </a:p>
          <a:p>
            <a:r>
              <a:rPr lang="es-CL" dirty="0"/>
              <a:t>ACCIÓN: El módulo 01 baja al 65 % y entra el 02 · RIESGO DE ALUCINACIÓN (tasa de citas incorrectas) desde la derecha</a:t>
            </a:r>
          </a:p>
          <a:p>
            <a:r>
              <a:rPr lang="es-CL" dirty="0"/>
              <a:t>EFECTO: Atenuación 0,30 s + Wipe 0,25 s + Fade + desplazamiento 0,35 s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03:58</a:t>
            </a:r>
          </a:p>
          <a:p>
            <a:r>
              <a:rPr lang="es-CL" dirty="0"/>
              <a:t>DISPARADOR: “Tercero, las métricas operativas del procesamiento local”</a:t>
            </a:r>
          </a:p>
          <a:p>
            <a:r>
              <a:rPr lang="es-CL" dirty="0"/>
              <a:t>ACCIÓN: El 02 pasa a secundario y entra el módulo 03 · MÉTRICAS OPERATIVAS (latencia y uso de memoria)</a:t>
            </a:r>
          </a:p>
          <a:p>
            <a:r>
              <a:rPr lang="es-CL" dirty="0"/>
              <a:t>EFECTO: Mismo patrón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04:04</a:t>
            </a:r>
          </a:p>
          <a:p>
            <a:r>
              <a:rPr lang="es-CL" dirty="0"/>
              <a:t>DISPARADOR: “Cuarto, el comportamiento no determinista”</a:t>
            </a:r>
          </a:p>
          <a:p>
            <a:r>
              <a:rPr lang="es-CL" dirty="0"/>
              <a:t>ACCIÓN: Entra el módulo 04 · CONSISTENCIA con la bajada múltiples ejecuciones · variabilidad; los cuatro módulos recuperan el 100 % de opacidad</a:t>
            </a:r>
          </a:p>
          <a:p>
            <a:r>
              <a:rPr lang="es-CL" dirty="0"/>
              <a:t>EFECTO: Atenuación + Fade + desplazamiento 0,35 s y restauración 0,30 s</a:t>
            </a:r>
          </a:p>
          <a:p>
            <a:r>
              <a:rPr lang="es-CL" dirty="0"/>
              <a:t>DURACIÓN: 0,30–0,35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04:10</a:t>
            </a:r>
          </a:p>
          <a:p>
            <a:r>
              <a:rPr lang="es-CL" dirty="0"/>
              <a:t>DISPARADOR: “cuán trazable, eficiente y reproducible es su comportamiento”</a:t>
            </a:r>
          </a:p>
          <a:p>
            <a:r>
              <a:rPr lang="es-CL" dirty="0"/>
              <a:t>ACCIÓN: Bloque VERIFICACIÓN DE EVIDENCIA: RESPUESTA → ¿EXISTE EVIDENCIA? → SÍ / RESPALDADA · NO / POSIBLE ALUCINACIÓN</a:t>
            </a:r>
          </a:p>
          <a:p>
            <a:r>
              <a:rPr lang="es-CL" dirty="0"/>
              <a:t>EFECTO: Fade + desplazamiento 0,35 s en los chips · Wipe siguiendo la dirección real de cada conexión 0,25 s. Resolución visual de la slide</a:t>
            </a:r>
          </a:p>
          <a:p>
            <a:r>
              <a:rPr lang="es-CL" dirty="0"/>
              <a:t>DURACIÓN: 0,25–0,35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NOTA METODOLÓGICA (referencia, no locutada): el ground truth proviene de anotaciones humanas sobre el AMI Meeting Corpus. Una afirmación sin evidencia localizable se registra como POSIBLE ALUCINACIÓN y requiere revisión; no se reporta como alucinación confirmada.</a:t>
            </a:r>
          </a:p>
          <a:p>
            <a:r>
              <a:rPr lang="es-CL" dirty="0"/>
              <a:t>04:17 — inicio de transición.</a:t>
            </a:r>
          </a:p>
          <a:p>
            <a:r>
              <a:rPr lang="es-CL" dirty="0"/>
              <a:t>TRANSICIÓN A SIGUIENTE SLIDE: Morph · 0,85 s · la transición más lenta de la presentación. Salir del análisis, entrar en la síntesis.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37,25 s (Después de: 00:37,25). Con la transición de entrada de 0,75 s el segmento ocupa 38,0 s exactos.</a:t>
            </a:r>
          </a:p>
          <a:p>
            <a:r>
              <a:rPr lang="es-CL" dirty="0"/>
              <a:t>OFFSETS APLICADOS (escalado proporcional a la duración real del video, factor 1.603) — CUE 01: 9.6 s · CUE 02: 19.3 s · CUE 03: 28.9 s · CUE 04: 38.5 s · CUE 05: 48.1 s. DURACIÓN REAL DEL VIDEO: 59.70 s. AVANCE: 60.10 s. Video en T=0 con With Previous, reproducción concurrente; todos los CUES usan With Previous con delays absolutos desde el inicio de la slide. NO verificado contra el audio real: pendiente de ajuste fino con los timecodes de locución.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s-CL" dirty="0"/>
              <a:t>Con esto cerramos la propuesta.</a:t>
            </a:r>
          </a:p>
          <a:p>
            <a:r>
              <a:rPr lang="es-CL" dirty="0"/>
              <a:t>El criterio de éxito es explícito: producir la comparación, no ganarla.</a:t>
            </a:r>
          </a:p>
          <a:p>
            <a:r>
              <a:rPr lang="es-CL" dirty="0"/>
              <a:t>Todos los resultados son informativos: que la base estructurada supere a RAG, que lo iguale, que RAG resulte superior en consultas puntuales o que los métodos clásicos basten para extraer. Cualquiera de ellos responde la pregunta de investigación.</a:t>
            </a:r>
          </a:p>
          <a:p>
            <a:r>
              <a:rPr lang="es-CL" dirty="0"/>
              <a:t>Como el sistema evaluado lo desarrolla un integrante del equipo, el protocolo, las métricas, el criterio de emparejamiento y los umbrales se registran con fecha verificable antes de experimentar, y el baseline RAG sigue buenas prácticas documentadas.</a:t>
            </a:r>
          </a:p>
          <a:p>
            <a:r>
              <a:rPr lang="es-CL" dirty="0"/>
              <a:t>El alcance experimental son las decisiones; OpenKOS es solo la demostración práctica del enfoque.</a:t>
            </a:r>
          </a:p>
          <a:p>
            <a:r>
              <a:rPr lang="es-CL" dirty="0"/>
              <a:t>Muchas gracias por su atención.</a:t>
            </a:r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04:18–04:55   ·   DURACIÓN OBJETIVO: 00:37</a:t>
            </a:r>
          </a:p>
          <a:p>
            <a:r>
              <a:rPr lang="es-CL" dirty="0"/>
              <a:t>ENTRADA 04:18 — la slide desacelera perceptualmente. El título llega por Morph desde la slide anterior y no se anima.</a:t>
            </a:r>
          </a:p>
          <a:p>
            <a:r>
              <a:rPr lang="es-CL" dirty="0"/>
              <a:t>CUE 01 · TIMECODE OBJETIVO 04:24</a:t>
            </a:r>
          </a:p>
          <a:p>
            <a:r>
              <a:rPr lang="es-CL" dirty="0"/>
              <a:t>DISPARADOR: “Con esto cerramos la propuesta.”</a:t>
            </a:r>
          </a:p>
          <a:p>
            <a:r>
              <a:rPr lang="es-CL" dirty="0"/>
              <a:t>ACCIÓN: Kicker, bajada y regla del cierre</a:t>
            </a:r>
          </a:p>
          <a:p>
            <a:r>
              <a:rPr lang="es-CL" dirty="0"/>
              <a:t>EFECTO: Fade 0,30–0,40 s y Wipe From Left 0,30 s en la regla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02 · TIMECODE OBJETIVO 04:30</a:t>
            </a:r>
          </a:p>
          <a:p>
            <a:r>
              <a:rPr lang="es-CL" dirty="0"/>
              <a:t>DISPARADOR: “producir la comparación, no ganarla”</a:t>
            </a:r>
          </a:p>
          <a:p>
            <a:r>
              <a:rPr lang="es-CL" dirty="0"/>
              <a:t>ACCIÓN: TEXTO NO ESTRUCTURADO → DECISIONES ESTRUCTURADAS</a:t>
            </a:r>
          </a:p>
          <a:p>
            <a:r>
              <a:rPr lang="es-CL" dirty="0"/>
              <a:t>EFECTO: Fade + desplazamiento horizontal corto desde la derecha 0,40 s en los bloques · Wipe 0,25 s en la conexión</a:t>
            </a:r>
          </a:p>
          <a:p>
            <a:r>
              <a:rPr lang="es-CL" dirty="0"/>
              <a:t>DURACIÓN: 0,25–0,40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03 · TIMECODE OBJETIVO 04:36</a:t>
            </a:r>
          </a:p>
          <a:p>
            <a:r>
              <a:rPr lang="es-CL" dirty="0"/>
              <a:t>DISPARADOR: “Todos los resultados son informativos”</a:t>
            </a:r>
          </a:p>
          <a:p>
            <a:r>
              <a:rPr lang="es-CL" dirty="0"/>
              <a:t>ACCIÓN: EVOLUCIÓN + EVIDENCIA y el bloque RESULTADOS INFORMATIVOS con los cuatro desenlaces posibles</a:t>
            </a:r>
          </a:p>
          <a:p>
            <a:r>
              <a:rPr lang="es-CL" dirty="0"/>
              <a:t>EFECTO: Wipe 0,25 s + Fade + desplazamiento 0,40 s · Fade 0,35 s en el bloque de resultados</a:t>
            </a:r>
          </a:p>
          <a:p>
            <a:r>
              <a:rPr lang="es-CL" dirty="0"/>
              <a:t>DURACIÓN: 0,25–0,40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04 · TIMECODE OBJETIVO 04:41</a:t>
            </a:r>
          </a:p>
          <a:p>
            <a:r>
              <a:rPr lang="es-CL" dirty="0"/>
              <a:t>DISPARADOR: “el protocolo, las métricas, el criterio de emparejamiento y los umbrales se registran con fecha verificable”</a:t>
            </a:r>
          </a:p>
          <a:p>
            <a:r>
              <a:rPr lang="es-CL" dirty="0"/>
              <a:t>ACCIÓN: EVALUACIÓN EXPERIMENTAL, la línea RAG · BASE MANUAL · BASE AUTOMÁTICA y la etiqueta PROTOCOLO PREDEFINIDO</a:t>
            </a:r>
          </a:p>
          <a:p>
            <a:r>
              <a:rPr lang="es-CL" dirty="0"/>
              <a:t>EFECTO: Wipe 0,25 s · Fade + desplazamiento 0,40 s · Fade 0,40 s en las condiciones y en el protocolo</a:t>
            </a:r>
          </a:p>
          <a:p>
            <a:r>
              <a:rPr lang="es-CL" dirty="0"/>
              <a:t>DURACIÓN: 0,25–0,40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CUE 05 · TIMECODE OBJETIVO 04:48</a:t>
            </a:r>
          </a:p>
          <a:p>
            <a:r>
              <a:rPr lang="es-CL" dirty="0"/>
              <a:t>DISPARADOR: “Muchas gracias por su atención.”</a:t>
            </a:r>
          </a:p>
          <a:p>
            <a:r>
              <a:rPr lang="es-CL" dirty="0"/>
              <a:t>ACCIÓN: Marca OpenKOS y su bajada demostración práctica del enfoque</a:t>
            </a:r>
          </a:p>
          <a:p>
            <a:r>
              <a:rPr lang="es-CL" dirty="0"/>
              <a:t>EFECTO: Fade suave</a:t>
            </a:r>
          </a:p>
          <a:p>
            <a:r>
              <a:rPr lang="es-CL" dirty="0"/>
              <a:t>DURACIÓN: 0,30–0,40 s</a:t>
            </a:r>
          </a:p>
          <a:p>
            <a:r>
              <a:rPr lang="es-CL" dirty="0"/>
              <a:t>INICIO: automático · disparo temporizado desde la entrada de la slide</a:t>
            </a:r>
          </a:p>
          <a:p>
            <a:r>
              <a:rPr lang="es-CL" dirty="0"/>
              <a:t>DESPUÉS DEL CUE 05: detener toda animación interna. Quedan estables el speaker, el mensaje final, OpenKOS y la identidad institucional.</a:t>
            </a:r>
          </a:p>
          <a:p>
            <a:r>
              <a:rPr lang="es-CL" dirty="0"/>
              <a:t>NOTA DE RIGOR (referencia, no locutada): ninguna afirmación del cierre debe presentarse como resultado. La superioridad de la representación estructurada es una pregunta experimental abierta; OpenKOS no es evidencia de esa superioridad.</a:t>
            </a:r>
          </a:p>
          <a:p>
            <a:r>
              <a:rPr lang="es-CL" dirty="0"/>
              <a:t>04:54 — inicio de transición final.</a:t>
            </a:r>
          </a:p>
          <a:p>
            <a:r>
              <a:rPr lang="es-CL" dirty="0"/>
              <a:t>TRANSICIÓN A SIGUIENTE SLIDE: Morph o Fade suave · 0,70 s hacia la slide de cierre institucional.</a:t>
            </a:r>
          </a:p>
          <a:p>
            <a:r>
              <a:rPr lang="es-CL" dirty="0"/>
              <a:t>REGLA DE SINCRONÍA: el timecode es el objetivo de producción; el disparador real es la frase. Ante una diferencia de ±1–2 s, prima la voz.</a:t>
            </a:r>
          </a:p>
          <a:p>
            <a:r>
              <a:rPr lang="es-CL" dirty="0"/>
              <a:t>AVANCE: automático a los 36,15 s (Después de: 00:36,15). Con la transición de entrada de 0,85 s el segmento ocupa 37,0 s exactos.</a:t>
            </a:r>
          </a:p>
          <a:p>
            <a:r>
              <a:rPr lang="es-CL" dirty="0"/>
              <a:t>OFFSETS APLICADOS (escalado proporcional a la duración real del video, factor 1.324) — CUE 01: 8.0 s · CUE 02: 15.9 s · CUE 03: 23.9 s · CUE 04: 30.4 s · CUE 05: 39.8 s. DURACIÓN REAL DEL VIDEO: 47.87 s. AVANCE: 48.27 s. Video en T=0 con With Previous, reproducción concurrente; todos los CUES usan With Previous con delays absolutos desde el inicio de la slide. NO verificado contra el audio real: pendiente de ajuste fino con los timecodes de locución.</a:t>
            </a:r>
          </a:p>
          <a:p>
            <a:r>
              <a:rPr lang="es-CL" dirty="0"/>
              <a:t>Tras el CUE 05 (30,7 s) no queda ninguna animación activa: la slide permanece estática hasta el avance.</a:t>
            </a:r>
          </a:p>
          <a:p>
            <a:r>
              <a:rPr lang="es-CL" dirty="0"/>
              <a:t>La locución debe grabarse contra estos offsets. Si la voz se desvía, mover el offset del cue, no el contenido.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CUES DE ANIMACIÓN · SISTEMA CARRUSEL</a:t>
            </a:r>
          </a:p>
          <a:p>
            <a:r>
              <a:rPr lang="es-CL" dirty="0"/>
              <a:t>────────────────────────</a:t>
            </a:r>
          </a:p>
          <a:p>
            <a:r>
              <a:rPr lang="es-CL" dirty="0"/>
              <a:t>TIMECODE SLIDE: 04:55–05:00   ·   DURACIÓN OBJETIVO: 00:05 exactos</a:t>
            </a:r>
          </a:p>
          <a:p>
            <a:r>
              <a:rPr lang="es-CL" dirty="0"/>
              <a:t>Cierre institucional. Diseño y logo se conservan tal cual. Sin animaciones internas y sin información adicional.</a:t>
            </a:r>
          </a:p>
          <a:p>
            <a:r>
              <a:rPr lang="es-CL" dirty="0"/>
              <a:t>ENTRADA: Morph / Fade suave desde la slide anterior · 0,60–0,75 s. Después, imagen completamente estática.</a:t>
            </a:r>
          </a:p>
          <a:p>
            <a:r>
              <a:rPr lang="es-CL" dirty="0"/>
              <a:t>Mantener hasta 05:00 y finalizar el video exactamente allí. No añadir Fade to Black si suma duración.</a:t>
            </a:r>
          </a:p>
          <a:p>
            <a:endParaRPr lang="es-CL" dirty="0"/>
          </a:p>
          <a:p>
            <a:r>
              <a:rPr lang="es-CL" dirty="0"/>
              <a:t>AVANCE: automático a los 4,30 s (Después de: 00:04,30). Con la transición de entrada de 0,70 s el segmento ocupa 5,0 s exactos y el video termina en 05:00,0.</a:t>
            </a:r>
          </a:p>
          <a:p>
            <a:r>
              <a:rPr lang="es-CL" dirty="0"/>
              <a:t>Sin animaciones internas: imagen estática durante todo el segmento.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0A6F6-B785-1129-32EE-B2F500DBE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C47EBC-B0E1-FB9B-34A4-95B703025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9140EB-DE4A-DC95-BC62-3A962D4FB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35C774-36FC-54B7-CAF7-C6A8FE2F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9FBDEF-D254-481F-9C3E-7CECEA7F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955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230CA-78E8-8675-BF1C-D612A5B7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D80229-308E-8356-B2C4-A5F7D5437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DA29C3-D919-3508-D50E-4214CFBA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81338B-18D6-CB92-26EB-864A923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566E60-F752-9B70-214B-FF8271EE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9412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60222-B55E-E9E7-8DFF-F95073157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D5BAF8-90ED-9194-021C-68D3A85D2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673885-B1A6-D58B-8C36-3400E892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5F0F1-41E8-5EDF-184F-8C3EC3573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7642EC-F4F3-9031-856E-BECECA779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174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2FF33-E156-FCA0-7B13-0F50301F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49EC96-335E-79A4-2FE0-065D52EE2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4253BA-4152-F1CA-FCC3-6AD7B0BB8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37332D-CC9A-AE97-658B-50E6268F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5609DE-8899-FA22-A7A1-03060254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E46CA0-9695-3976-6CA0-688A9A53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546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3A3D5-8DED-BBAB-0D09-7939ECCA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5C5276-A11C-0F27-775D-411A5D9CD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471BE8-0725-169A-27A4-03D6D6E7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2872DA-0350-1A71-F642-9C5A86173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BEFCAE-6EC3-3A35-C777-DF5E3E6F3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EDF42F-623F-F27B-075A-E7FC3A815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DB0708-8BA0-4AB7-38FC-50E1094B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EBEB35D-2C2E-238F-6E8C-11608921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087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A7B6A-FCFD-D302-D822-C2C2970A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CB712D-7859-D851-9356-B947159B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7D2A-FE43-CD3D-9475-12F4A5DF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F6742A-056F-F9F1-ABD0-8E2FF538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668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10B902-5F08-DF75-E6B2-BFC9E687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C17B6E-66F6-CEAE-2E36-69B66E4D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F82027-0BE8-9611-F372-9D0A27EF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469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CDECB-A2D9-4E69-129B-F76C6FE7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50BA98-C547-67A0-469D-DD529D6F6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A605FA-559C-B739-9785-96312FC29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F17A33-8CBD-C8CD-23FE-1721CE41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6A201A-BAF6-DBF3-1464-226A30CA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3A8531-DBDF-F034-347A-A9D7B656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890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893A2-08BA-7A13-6E48-F472779A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AAE1728-DCE1-1BA3-58D1-72EC47A9F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5DACD4-ED98-9ED3-8C6D-D2017A93B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6EC604-0086-2D02-21EF-124F46BB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350D64-954B-496B-5B6F-390A75CB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AA7FE8-767A-9464-BA3E-A6A6EBFE5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056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347DC-8449-E5F0-4F16-3DBAF593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D1CAD7-0797-D869-2E90-F6A6BDAB4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A438EC-BB2C-9206-DD8C-F08DCDBE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7CEF73-45C4-662A-0C7B-77675991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061B4A-E2D4-0073-FA83-C87B546D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4426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D71930-2706-F5D5-54CB-E77BAB449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C9568C4-BFEE-C38F-7191-701882B45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7A48A-23AE-7BC9-C401-652ECFF3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AB7D2-1EAE-3169-25FB-026D4C3A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95654F-B87A-83FE-E2E6-E89BB182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772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3859E9-80F0-A9DD-BCBB-0DA87492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2DEC50-7F43-E072-2A2C-2DBB7373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B1747C-76E4-3F5E-F27C-7CB14E72B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A9A0A-0C67-2042-8AB7-846358EF90C0}" type="datetimeFigureOut">
              <a:rPr lang="es-CL" smtClean="0"/>
              <a:t>23-08-26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39F849-3133-03AB-FC95-20860D068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31EBF3-CFE6-CEB9-F7E0-75AF93A6E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1A8A6-DCE5-CE42-A2F0-46D792983C2D}" type="slidenum">
              <a:rPr lang="es-CL" smtClean="0"/>
              <a:t>‹Nº›</a:t>
            </a:fld>
            <a:endParaRPr lang="es-CL"/>
          </a:p>
        </p:txBody>
      </p:sp>
      <p:sp>
        <p:nvSpPr>
          <p:cNvPr id="920" name="Accent Mark"/>
          <p:cNvSpPr txBox="1"/>
          <p:nvPr/>
        </p:nvSpPr>
        <p:spPr>
          <a:xfrm>
            <a:off x="762000" y="431800"/>
            <a:ext cx="330200" cy="381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CL"/>
          </a:p>
        </p:txBody>
      </p:sp>
      <p:sp>
        <p:nvSpPr>
          <p:cNvPr id="921" name="Footer Rule"/>
          <p:cNvSpPr txBox="1"/>
          <p:nvPr/>
        </p:nvSpPr>
        <p:spPr>
          <a:xfrm>
            <a:off x="762000" y="6400800"/>
            <a:ext cx="10668000" cy="127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CL"/>
          </a:p>
        </p:txBody>
      </p:sp>
      <p:sp>
        <p:nvSpPr>
          <p:cNvPr id="922" name="Footer Text"/>
          <p:cNvSpPr txBox="1"/>
          <p:nvPr/>
        </p:nvSpPr>
        <p:spPr>
          <a:xfrm>
            <a:off x="762000" y="6502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s-CL" sz="1100" b="0" spc="120" dirty="0">
                <a:solidFill>
                  <a:srgbClr val="5A7290"/>
                </a:solidFill>
              </a:rPr>
              <a:t>PROPUESTA DE TESIS · MAGÍSTER EN CIENCIA DE DATOS · PUC · 2026</a:t>
            </a:r>
          </a:p>
        </p:txBody>
      </p:sp>
      <p:sp>
        <p:nvSpPr>
          <p:cNvPr id="923" name="Program Label"/>
          <p:cNvSpPr txBox="1"/>
          <p:nvPr/>
        </p:nvSpPr>
        <p:spPr>
          <a:xfrm>
            <a:off x="8382000" y="3810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es-CL" sz="1100" b="0" spc="120" dirty="0">
                <a:solidFill>
                  <a:srgbClr val="5A7290"/>
                </a:solidFill>
              </a:rPr>
              <a:t>MAGÍSTER EN CIENCIA DE DATOS</a:t>
            </a:r>
          </a:p>
        </p:txBody>
      </p:sp>
    </p:spTree>
    <p:extLst>
      <p:ext uri="{BB962C8B-B14F-4D97-AF65-F5344CB8AC3E}">
        <p14:creationId xmlns:p14="http://schemas.microsoft.com/office/powerpoint/2010/main" val="116678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7E3E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7E3E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7E3E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7E3E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7E3E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7E3E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7E3E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7E3E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7E3EF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gla"/>
          <p:cNvSpPr/>
          <p:nvPr/>
        </p:nvSpPr>
        <p:spPr>
          <a:xfrm>
            <a:off x="762000" y="28956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104" name="Titulo"/>
          <p:cNvSpPr/>
          <p:nvPr/>
        </p:nvSpPr>
        <p:spPr>
          <a:xfrm>
            <a:off x="762000" y="3200400"/>
            <a:ext cx="9144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5400" b="1" spc="0" dirty="0">
                <a:solidFill>
                  <a:srgbClr val="FFFFFF"/>
                </a:solidFill>
              </a:rPr>
              <a:t>OpenKOS</a:t>
            </a:r>
          </a:p>
        </p:txBody>
      </p:sp>
      <p:sp>
        <p:nvSpPr>
          <p:cNvPr id="105" name="Subtitulo"/>
          <p:cNvSpPr/>
          <p:nvPr/>
        </p:nvSpPr>
        <p:spPr>
          <a:xfrm>
            <a:off x="762000" y="4292600"/>
            <a:ext cx="812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800" b="0" spc="0" dirty="0">
                <a:solidFill>
                  <a:srgbClr val="9FB3C8"/>
                </a:solidFill>
              </a:rPr>
              <a:t>Propuesta de tesis · Evaluación experimental de modelos locales</a:t>
            </a:r>
          </a:p>
        </p:txBody>
      </p:sp>
      <p:sp>
        <p:nvSpPr>
          <p:cNvPr id="106" name="Fecha"/>
          <p:cNvSpPr/>
          <p:nvPr/>
        </p:nvSpPr>
        <p:spPr>
          <a:xfrm>
            <a:off x="762000" y="49784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120" dirty="0">
                <a:solidFill>
                  <a:srgbClr val="2ED3E8"/>
                </a:solidFill>
              </a:rPr>
              <a:t>SEMANA 01 · 2026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B43CBF7-F656-D3FB-7E9E-51E55129B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45163"/>
            <a:ext cx="2345939" cy="135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4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Kicker"/>
          <p:cNvSpPr/>
          <p:nvPr/>
        </p:nvSpPr>
        <p:spPr>
          <a:xfrm>
            <a:off x="762000" y="8382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1" spc="200" dirty="0">
                <a:solidFill>
                  <a:srgbClr val="2ED3E8"/>
                </a:solidFill>
              </a:rPr>
              <a:t>PROPUESTA DE TESIS · MAGÍSTER EN CIENCIA DE DATOS · PUC · 2026</a:t>
            </a:r>
          </a:p>
        </p:txBody>
      </p:sp>
      <p:sp>
        <p:nvSpPr>
          <p:cNvPr id="101" name="Titulo"/>
          <p:cNvSpPr/>
          <p:nvPr/>
        </p:nvSpPr>
        <p:spPr>
          <a:xfrm>
            <a:off x="762000" y="1219200"/>
            <a:ext cx="7620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4600" b="1" spc="0" dirty="0">
                <a:solidFill>
                  <a:srgbClr val="FFFFFF"/>
                </a:solidFill>
              </a:rPr>
              <a:t>Decisiones estructuradas.</a:t>
            </a:r>
          </a:p>
        </p:txBody>
      </p:sp>
      <p:sp>
        <p:nvSpPr>
          <p:cNvPr id="1103" name="Subtitulo"/>
          <p:cNvSpPr/>
          <p:nvPr/>
        </p:nvSpPr>
        <p:spPr>
          <a:xfrm>
            <a:off x="762000" y="2133600"/>
            <a:ext cx="711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CL" sz="2000" b="0" spc="0" dirty="0">
                <a:solidFill>
                  <a:srgbClr val="9FB3C8"/>
                </a:solidFill>
              </a:rPr>
              <a:t>Representación estructurada de decisiones frente a recuperación aumentada (RAG)</a:t>
            </a:r>
          </a:p>
        </p:txBody>
      </p:sp>
      <p:sp>
        <p:nvSpPr>
          <p:cNvPr id="1104" name="Regla"/>
          <p:cNvSpPr/>
          <p:nvPr/>
        </p:nvSpPr>
        <p:spPr>
          <a:xfrm>
            <a:off x="762000" y="2997200"/>
            <a:ext cx="2794000" cy="12700"/>
          </a:xfrm>
          <a:prstGeom prst="rect">
            <a:avLst/>
          </a:prstGeom>
          <a:solidFill>
            <a:srgbClr val="1D5C9E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05" name="Chip Reuniones"/>
          <p:cNvSpPr/>
          <p:nvPr/>
        </p:nvSpPr>
        <p:spPr>
          <a:xfrm>
            <a:off x="762000" y="3327400"/>
            <a:ext cx="29972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60" dirty="0">
                <a:solidFill>
                  <a:srgbClr val="FFFFFF"/>
                </a:solidFill>
              </a:rPr>
              <a:t>REUNIONES</a:t>
            </a:r>
          </a:p>
        </p:txBody>
      </p:sp>
      <p:sp>
        <p:nvSpPr>
          <p:cNvPr id="1106" name="Flecha 1"/>
          <p:cNvSpPr/>
          <p:nvPr/>
        </p:nvSpPr>
        <p:spPr>
          <a:xfrm>
            <a:off x="2260600" y="3860800"/>
            <a:ext cx="12700" cy="2794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07" name="Chip Texto"/>
          <p:cNvSpPr/>
          <p:nvPr/>
        </p:nvSpPr>
        <p:spPr>
          <a:xfrm>
            <a:off x="762000" y="4165600"/>
            <a:ext cx="29972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60" dirty="0">
                <a:solidFill>
                  <a:srgbClr val="FFFFFF"/>
                </a:solidFill>
              </a:rPr>
              <a:t>TEXTO NO ESTRUCTURADO</a:t>
            </a:r>
          </a:p>
        </p:txBody>
      </p:sp>
      <p:sp>
        <p:nvSpPr>
          <p:cNvPr id="1108" name="Flecha 2"/>
          <p:cNvSpPr/>
          <p:nvPr/>
        </p:nvSpPr>
        <p:spPr>
          <a:xfrm>
            <a:off x="2260600" y="4699000"/>
            <a:ext cx="12700" cy="2794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09" name="Chip Decisiones"/>
          <p:cNvSpPr/>
          <p:nvPr/>
        </p:nvSpPr>
        <p:spPr>
          <a:xfrm>
            <a:off x="762000" y="5003800"/>
            <a:ext cx="29972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60" dirty="0">
                <a:solidFill>
                  <a:srgbClr val="2ED3E8"/>
                </a:solidFill>
              </a:rPr>
              <a:t>DECISIONES</a:t>
            </a:r>
          </a:p>
        </p:txBody>
      </p:sp>
      <p:sp>
        <p:nvSpPr>
          <p:cNvPr id="1110" name="Fragmento 1"/>
          <p:cNvSpPr/>
          <p:nvPr/>
        </p:nvSpPr>
        <p:spPr>
          <a:xfrm>
            <a:off x="4191000" y="3403600"/>
            <a:ext cx="939800" cy="63500"/>
          </a:xfrm>
          <a:prstGeom prst="rect">
            <a:avLst/>
          </a:prstGeom>
          <a:solidFill>
            <a:srgbClr val="2A4257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1" name="Fragmento 2"/>
          <p:cNvSpPr/>
          <p:nvPr/>
        </p:nvSpPr>
        <p:spPr>
          <a:xfrm>
            <a:off x="5334000" y="3632200"/>
            <a:ext cx="685800" cy="635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2" name="Fragmento 3"/>
          <p:cNvSpPr/>
          <p:nvPr/>
        </p:nvSpPr>
        <p:spPr>
          <a:xfrm>
            <a:off x="4470400" y="3886200"/>
            <a:ext cx="787400" cy="635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3" name="Fragmento 4"/>
          <p:cNvSpPr/>
          <p:nvPr/>
        </p:nvSpPr>
        <p:spPr>
          <a:xfrm>
            <a:off x="5969000" y="3327400"/>
            <a:ext cx="584200" cy="63500"/>
          </a:xfrm>
          <a:prstGeom prst="rect">
            <a:avLst/>
          </a:prstGeom>
          <a:solidFill>
            <a:srgbClr val="2A4257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4" name="Fragmento 5"/>
          <p:cNvSpPr/>
          <p:nvPr/>
        </p:nvSpPr>
        <p:spPr>
          <a:xfrm>
            <a:off x="4267200" y="4318000"/>
            <a:ext cx="635000" cy="635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5" name="Fragmento 6"/>
          <p:cNvSpPr/>
          <p:nvPr/>
        </p:nvSpPr>
        <p:spPr>
          <a:xfrm>
            <a:off x="5461000" y="4191000"/>
            <a:ext cx="863600" cy="635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6" name="Fragmento 7"/>
          <p:cNvSpPr/>
          <p:nvPr/>
        </p:nvSpPr>
        <p:spPr>
          <a:xfrm>
            <a:off x="6350000" y="3860800"/>
            <a:ext cx="558800" cy="63500"/>
          </a:xfrm>
          <a:prstGeom prst="rect">
            <a:avLst/>
          </a:prstGeom>
          <a:solidFill>
            <a:srgbClr val="2A4257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7" name="Fragmento 8"/>
          <p:cNvSpPr/>
          <p:nvPr/>
        </p:nvSpPr>
        <p:spPr>
          <a:xfrm>
            <a:off x="4826000" y="4622800"/>
            <a:ext cx="736600" cy="635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8" name="Fragmento 9"/>
          <p:cNvSpPr/>
          <p:nvPr/>
        </p:nvSpPr>
        <p:spPr>
          <a:xfrm>
            <a:off x="5969000" y="4546600"/>
            <a:ext cx="508000" cy="635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19" name="Convergencia 1"/>
          <p:cNvSpPr/>
          <p:nvPr/>
        </p:nvSpPr>
        <p:spPr>
          <a:xfrm>
            <a:off x="5207000" y="3429000"/>
            <a:ext cx="1981200" cy="12700"/>
          </a:xfrm>
          <a:prstGeom prst="line">
            <a:avLst/>
          </a:prstGeom>
          <a:noFill/>
          <a:ln w="9525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0" name="Convergencia 2"/>
          <p:cNvSpPr/>
          <p:nvPr/>
        </p:nvSpPr>
        <p:spPr>
          <a:xfrm>
            <a:off x="6096000" y="3657600"/>
            <a:ext cx="1092200" cy="12700"/>
          </a:xfrm>
          <a:prstGeom prst="line">
            <a:avLst/>
          </a:prstGeom>
          <a:noFill/>
          <a:ln w="9525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1" name="Convergencia 3"/>
          <p:cNvSpPr/>
          <p:nvPr/>
        </p:nvSpPr>
        <p:spPr>
          <a:xfrm>
            <a:off x="5334000" y="3911600"/>
            <a:ext cx="1854200" cy="12700"/>
          </a:xfrm>
          <a:prstGeom prst="line">
            <a:avLst/>
          </a:prstGeom>
          <a:noFill/>
          <a:ln w="9525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2" name="Convergencia 4"/>
          <p:cNvSpPr/>
          <p:nvPr/>
        </p:nvSpPr>
        <p:spPr>
          <a:xfrm>
            <a:off x="6629400" y="3352800"/>
            <a:ext cx="558800" cy="12700"/>
          </a:xfrm>
          <a:prstGeom prst="line">
            <a:avLst/>
          </a:prstGeom>
          <a:noFill/>
          <a:ln w="9525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3" name="Convergencia 5"/>
          <p:cNvSpPr/>
          <p:nvPr/>
        </p:nvSpPr>
        <p:spPr>
          <a:xfrm>
            <a:off x="4978400" y="4343400"/>
            <a:ext cx="2209800" cy="12700"/>
          </a:xfrm>
          <a:prstGeom prst="line">
            <a:avLst/>
          </a:prstGeom>
          <a:noFill/>
          <a:ln w="9525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4" name="Nodo Decision"/>
          <p:cNvSpPr/>
          <p:nvPr/>
        </p:nvSpPr>
        <p:spPr>
          <a:xfrm>
            <a:off x="7188200" y="5130800"/>
            <a:ext cx="177800" cy="177800"/>
          </a:xfrm>
          <a:prstGeom prst="ellipse">
            <a:avLst/>
          </a:prstGeom>
          <a:solidFill>
            <a:srgbClr val="2ED3E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5" name="Etiqueta Nodo"/>
          <p:cNvSpPr/>
          <p:nvPr/>
        </p:nvSpPr>
        <p:spPr>
          <a:xfrm>
            <a:off x="7467600" y="5054600"/>
            <a:ext cx="101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1" spc="80" dirty="0">
                <a:solidFill>
                  <a:srgbClr val="FFFFFF"/>
                </a:solidFill>
              </a:rPr>
              <a:t>DECISIÓN</a:t>
            </a:r>
          </a:p>
        </p:txBody>
      </p:sp>
      <p:sp>
        <p:nvSpPr>
          <p:cNvPr id="1126" name="Conector Nodo"/>
          <p:cNvSpPr/>
          <p:nvPr/>
        </p:nvSpPr>
        <p:spPr>
          <a:xfrm>
            <a:off x="7277100" y="4318000"/>
            <a:ext cx="12700" cy="762000"/>
          </a:xfrm>
          <a:prstGeom prst="line">
            <a:avLst/>
          </a:prstGeom>
          <a:noFill/>
          <a:ln w="9525">
            <a:solidFill>
              <a:srgbClr val="244358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7" name="Punto OpenKOS"/>
          <p:cNvSpPr/>
          <p:nvPr/>
        </p:nvSpPr>
        <p:spPr>
          <a:xfrm>
            <a:off x="762000" y="5842000"/>
            <a:ext cx="76200" cy="76200"/>
          </a:xfrm>
          <a:prstGeom prst="ellipse">
            <a:avLst/>
          </a:prstGeom>
          <a:solidFill>
            <a:srgbClr val="2ED3E8"/>
          </a:solidFill>
          <a:ln>
            <a:noFill/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1128" name="OpenKOS"/>
          <p:cNvSpPr/>
          <p:nvPr/>
        </p:nvSpPr>
        <p:spPr>
          <a:xfrm>
            <a:off x="939800" y="5740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60" dirty="0">
                <a:solidFill>
                  <a:srgbClr val="5A7290"/>
                </a:solidFill>
              </a:rPr>
              <a:t>OpenKOS · demostración práctica</a:t>
            </a:r>
          </a:p>
        </p:txBody>
      </p:sp>
      <p:sp>
        <p:nvSpPr>
          <p:cNvPr id="990" name="Linea Speaker"/>
          <p:cNvSpPr/>
          <p:nvPr/>
        </p:nvSpPr>
        <p:spPr>
          <a:xfrm>
            <a:off x="8432800" y="736600"/>
            <a:ext cx="12700" cy="5422900"/>
          </a:xfrm>
          <a:prstGeom prst="rect">
            <a:avLst/>
          </a:prstGeom>
          <a:solidFill>
            <a:srgbClr val="1D5C9E"/>
          </a:solidFill>
          <a:ln w="12700">
            <a:solidFill>
              <a:srgbClr val="1D5C9E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endParaRPr lang="es-CL"/>
          </a:p>
        </p:txBody>
      </p:sp>
      <p:sp>
        <p:nvSpPr>
          <p:cNvPr id="992" name="PH VIDEO SPEAKER"/>
          <p:cNvSpPr/>
          <p:nvPr/>
        </p:nvSpPr>
        <p:spPr>
          <a:xfrm>
            <a:off x="8636000" y="736600"/>
            <a:ext cx="3048000" cy="54229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127000" tIns="50800" rIns="12700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80" dirty="0">
                <a:solidFill>
                  <a:srgbClr val="2ED3E8"/>
                </a:solidFill>
              </a:rPr>
              <a:t>[ VIDEO SPEAKER ]</a:t>
            </a:r>
          </a:p>
          <a:p>
            <a:pPr algn="l">
              <a:lnSpc>
                <a:spcPct val="100000"/>
              </a:lnSpc>
              <a:buNone/>
            </a:pPr>
            <a:endParaRPr lang="es-CL" sz="1500" b="1" spc="80" dirty="0">
              <a:solidFill>
                <a:srgbClr val="2ED3E8"/>
              </a:solidFill>
            </a:endParaRPr>
          </a:p>
          <a:p>
            <a:pPr algn="ctr">
              <a:lnSpc>
                <a:spcPct val="100000"/>
              </a:lnSpc>
              <a:buNone/>
            </a:pPr>
            <a:r>
              <a:rPr lang="es-CL" sz="1300" b="0" spc="0" dirty="0">
                <a:solidFill>
                  <a:srgbClr val="5A7290"/>
                </a:solidFill>
              </a:rPr>
              <a:t>proporción 9:16</a:t>
            </a:r>
          </a:p>
        </p:txBody>
      </p:sp>
      <p:sp>
        <p:nvSpPr>
          <p:cNvPr id="991" name="Etiqueta Speaker"/>
          <p:cNvSpPr/>
          <p:nvPr/>
        </p:nvSpPr>
        <p:spPr>
          <a:xfrm>
            <a:off x="8636000" y="6248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50800" rIns="0" bIns="508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9FB3C8"/>
                </a:solidFill>
              </a:rPr>
              <a:t>Gustavo Martínez</a:t>
            </a:r>
          </a:p>
        </p:txBody>
      </p:sp>
    </p:spTree>
    <p:extLst>
      <p:ext uri="{BB962C8B-B14F-4D97-AF65-F5344CB8AC3E}">
        <p14:creationId xmlns:p14="http://schemas.microsoft.com/office/powerpoint/2010/main" val="140314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53700">
        <p159:morph option="byObject"/>
      </p:transition>
    </mc:Choice>
    <mc:Fallback xmlns="">
      <p:transition spd="med" advTm="537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116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" dur="400" fill="hold"/>
                                        <p:tgtEl>
                                          <p:spTgt spid="1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278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8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5" dur="350" fill="hold"/>
                                        <p:tgtEl>
                                          <p:spTgt spid="1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285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2859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86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87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87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88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889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289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90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35887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300"/>
                                        <p:tgtEl>
                                          <p:spTgt spid="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36187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49" dur="400" fill="hold"/>
                                        <p:tgtEl>
                                          <p:spTgt spid="1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3712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35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3720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350"/>
                                        <p:tgtEl>
                                          <p:spTgt spid="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37288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35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37368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35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3744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35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3782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3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8128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71" dur="400" fill="hold"/>
                                        <p:tgtEl>
                                          <p:spTgt spid="1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38278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43373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43523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/>
          <p:nvPr/>
        </p:nvSpPr>
        <p:spPr>
          <a:xfrm>
            <a:off x="762000" y="6350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3200" b="1" spc="0" dirty="0">
                <a:solidFill>
                  <a:srgbClr val="FFFFFF"/>
                </a:solidFill>
              </a:rPr>
              <a:t>Cuál es el problema</a:t>
            </a:r>
          </a:p>
        </p:txBody>
      </p:sp>
      <p:sp>
        <p:nvSpPr>
          <p:cNvPr id="102" name="Regla Titulo"/>
          <p:cNvSpPr/>
          <p:nvPr/>
        </p:nvSpPr>
        <p:spPr>
          <a:xfrm>
            <a:off x="762000" y="12192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103" name="Numero"/>
          <p:cNvSpPr/>
          <p:nvPr/>
        </p:nvSpPr>
        <p:spPr>
          <a:xfrm>
            <a:off x="10617200" y="64770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[ 02 ]</a:t>
            </a:r>
          </a:p>
        </p:txBody>
      </p:sp>
      <p:sp>
        <p:nvSpPr>
          <p:cNvPr id="2104" name="Z1 Num"/>
          <p:cNvSpPr/>
          <p:nvPr/>
        </p:nvSpPr>
        <p:spPr>
          <a:xfrm>
            <a:off x="762000" y="13462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2200" b="1" spc="0" dirty="0">
                <a:solidFill>
                  <a:srgbClr val="2ED3E8"/>
                </a:solidFill>
              </a:rPr>
              <a:t>01</a:t>
            </a:r>
          </a:p>
        </p:txBody>
      </p:sp>
      <p:sp>
        <p:nvSpPr>
          <p:cNvPr id="2105" name="Z1 Titulo"/>
          <p:cNvSpPr/>
          <p:nvPr/>
        </p:nvSpPr>
        <p:spPr>
          <a:xfrm>
            <a:off x="762000" y="1727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1" spc="0" dirty="0">
                <a:solidFill>
                  <a:srgbClr val="FFFFFF"/>
                </a:solidFill>
              </a:rPr>
              <a:t>Fragmentación y trazabilidad</a:t>
            </a:r>
          </a:p>
        </p:txBody>
      </p:sp>
      <p:sp>
        <p:nvSpPr>
          <p:cNvPr id="2106" name="Panel Transcripcion"/>
          <p:cNvSpPr/>
          <p:nvPr/>
        </p:nvSpPr>
        <p:spPr>
          <a:xfrm>
            <a:off x="762000" y="2082800"/>
            <a:ext cx="2717800" cy="1930400"/>
          </a:xfrm>
          <a:prstGeom prst="roundRect">
            <a:avLst/>
          </a:prstGeom>
          <a:solidFill>
            <a:srgbClr val="0E1F31"/>
          </a:solidFill>
          <a:ln w="12700">
            <a:solidFill>
              <a:srgbClr val="1E354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07" name="Etq Transcripcion"/>
          <p:cNvSpPr/>
          <p:nvPr/>
        </p:nvSpPr>
        <p:spPr>
          <a:xfrm>
            <a:off x="914400" y="21844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5A7290"/>
                </a:solidFill>
              </a:rPr>
              <a:t>TRANSCRIPCIÓN · REUNIÓN</a:t>
            </a:r>
          </a:p>
        </p:txBody>
      </p:sp>
      <p:sp>
        <p:nvSpPr>
          <p:cNvPr id="2108" name="Linea Texto 1"/>
          <p:cNvSpPr/>
          <p:nvPr/>
        </p:nvSpPr>
        <p:spPr>
          <a:xfrm>
            <a:off x="914400" y="2463800"/>
            <a:ext cx="19050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09" name="Linea Texto 2"/>
          <p:cNvSpPr/>
          <p:nvPr/>
        </p:nvSpPr>
        <p:spPr>
          <a:xfrm>
            <a:off x="914400" y="2616200"/>
            <a:ext cx="15240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0" name="Linea Texto 3"/>
          <p:cNvSpPr/>
          <p:nvPr/>
        </p:nvSpPr>
        <p:spPr>
          <a:xfrm>
            <a:off x="914400" y="2768600"/>
            <a:ext cx="20828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1" name="Linea Texto 4"/>
          <p:cNvSpPr/>
          <p:nvPr/>
        </p:nvSpPr>
        <p:spPr>
          <a:xfrm>
            <a:off x="914400" y="3327400"/>
            <a:ext cx="17526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2" name="Linea Texto 5"/>
          <p:cNvSpPr/>
          <p:nvPr/>
        </p:nvSpPr>
        <p:spPr>
          <a:xfrm>
            <a:off x="914400" y="3479800"/>
            <a:ext cx="20066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3" name="Linea Texto 6"/>
          <p:cNvSpPr/>
          <p:nvPr/>
        </p:nvSpPr>
        <p:spPr>
          <a:xfrm>
            <a:off x="914400" y="3632200"/>
            <a:ext cx="13970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4" name="Realce Fondo"/>
          <p:cNvSpPr/>
          <p:nvPr/>
        </p:nvSpPr>
        <p:spPr>
          <a:xfrm>
            <a:off x="838200" y="2921000"/>
            <a:ext cx="2565400" cy="330200"/>
          </a:xfrm>
          <a:prstGeom prst="rect">
            <a:avLst/>
          </a:prstGeom>
          <a:solidFill>
            <a:srgbClr val="143C57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5" name="Realce Barra"/>
          <p:cNvSpPr/>
          <p:nvPr/>
        </p:nvSpPr>
        <p:spPr>
          <a:xfrm>
            <a:off x="838200" y="2921000"/>
            <a:ext cx="38100" cy="3302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6" name="Frase Clave"/>
          <p:cNvSpPr/>
          <p:nvPr/>
        </p:nvSpPr>
        <p:spPr>
          <a:xfrm>
            <a:off x="939800" y="2946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1" spc="0" dirty="0">
                <a:solidFill>
                  <a:srgbClr val="FFFFFF"/>
                </a:solidFill>
              </a:rPr>
              <a:t>“Entonces avancemos con A.”</a:t>
            </a:r>
          </a:p>
        </p:txBody>
      </p:sp>
      <p:sp>
        <p:nvSpPr>
          <p:cNvPr id="2117" name="Punto Preg 1"/>
          <p:cNvSpPr/>
          <p:nvPr/>
        </p:nvSpPr>
        <p:spPr>
          <a:xfrm>
            <a:off x="762000" y="4267200"/>
            <a:ext cx="1016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18" name="Pregunta 1"/>
          <p:cNvSpPr/>
          <p:nvPr/>
        </p:nvSpPr>
        <p:spPr>
          <a:xfrm>
            <a:off x="965200" y="4140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0" spc="0" dirty="0">
                <a:solidFill>
                  <a:srgbClr val="9FB3C8"/>
                </a:solidFill>
              </a:rPr>
              <a:t>¿Qué se decidió?</a:t>
            </a:r>
          </a:p>
        </p:txBody>
      </p:sp>
      <p:sp>
        <p:nvSpPr>
          <p:cNvPr id="2119" name="Punto Preg 2"/>
          <p:cNvSpPr/>
          <p:nvPr/>
        </p:nvSpPr>
        <p:spPr>
          <a:xfrm>
            <a:off x="762000" y="4648200"/>
            <a:ext cx="1016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20" name="Pregunta 2"/>
          <p:cNvSpPr/>
          <p:nvPr/>
        </p:nvSpPr>
        <p:spPr>
          <a:xfrm>
            <a:off x="965200" y="4521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0" spc="0" dirty="0">
                <a:solidFill>
                  <a:srgbClr val="9FB3C8"/>
                </a:solidFill>
              </a:rPr>
              <a:t>¿Cuándo?</a:t>
            </a:r>
          </a:p>
        </p:txBody>
      </p:sp>
      <p:sp>
        <p:nvSpPr>
          <p:cNvPr id="2121" name="Punto Preg 3"/>
          <p:cNvSpPr/>
          <p:nvPr/>
        </p:nvSpPr>
        <p:spPr>
          <a:xfrm>
            <a:off x="762000" y="5029200"/>
            <a:ext cx="1016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22" name="Pregunta 3"/>
          <p:cNvSpPr/>
          <p:nvPr/>
        </p:nvSpPr>
        <p:spPr>
          <a:xfrm>
            <a:off x="965200" y="4902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0" spc="0" dirty="0">
                <a:solidFill>
                  <a:srgbClr val="9FB3C8"/>
                </a:solidFill>
              </a:rPr>
              <a:t>¿Con qué evidencia?</a:t>
            </a:r>
          </a:p>
        </p:txBody>
      </p:sp>
      <p:sp>
        <p:nvSpPr>
          <p:cNvPr id="2123" name="Z2 Num"/>
          <p:cNvSpPr/>
          <p:nvPr/>
        </p:nvSpPr>
        <p:spPr>
          <a:xfrm>
            <a:off x="3810000" y="13462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2200" b="1" spc="0" dirty="0">
                <a:solidFill>
                  <a:srgbClr val="2ED3E8"/>
                </a:solidFill>
              </a:rPr>
              <a:t>02</a:t>
            </a:r>
          </a:p>
        </p:txBody>
      </p:sp>
      <p:sp>
        <p:nvSpPr>
          <p:cNvPr id="2124" name="Z2 Titulo"/>
          <p:cNvSpPr/>
          <p:nvPr/>
        </p:nvSpPr>
        <p:spPr>
          <a:xfrm>
            <a:off x="3810000" y="172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1" spc="0" dirty="0">
                <a:solidFill>
                  <a:srgbClr val="FFFFFF"/>
                </a:solidFill>
              </a:rPr>
              <a:t>Decisiones evolutivas</a:t>
            </a:r>
          </a:p>
        </p:txBody>
      </p:sp>
      <p:sp>
        <p:nvSpPr>
          <p:cNvPr id="2125" name="R1 Etq"/>
          <p:cNvSpPr/>
          <p:nvPr/>
        </p:nvSpPr>
        <p:spPr>
          <a:xfrm>
            <a:off x="3810000" y="2108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80" dirty="0">
                <a:solidFill>
                  <a:srgbClr val="5A7290"/>
                </a:solidFill>
              </a:rPr>
              <a:t>REUNIÓN 1</a:t>
            </a:r>
          </a:p>
        </p:txBody>
      </p:sp>
      <p:sp>
        <p:nvSpPr>
          <p:cNvPr id="2126" name="R1 Chip"/>
          <p:cNvSpPr/>
          <p:nvPr/>
        </p:nvSpPr>
        <p:spPr>
          <a:xfrm>
            <a:off x="3810000" y="2336800"/>
            <a:ext cx="25400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384B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5A7290"/>
                </a:solidFill>
              </a:rPr>
              <a:t>Decisión A</a:t>
            </a:r>
          </a:p>
        </p:txBody>
      </p:sp>
      <p:sp>
        <p:nvSpPr>
          <p:cNvPr id="2127" name="R1 Sub"/>
          <p:cNvSpPr/>
          <p:nvPr/>
        </p:nvSpPr>
        <p:spPr>
          <a:xfrm>
            <a:off x="3810000" y="2794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0" dirty="0">
                <a:solidFill>
                  <a:srgbClr val="5A7290"/>
                </a:solidFill>
              </a:rPr>
              <a:t>introducida</a:t>
            </a:r>
          </a:p>
        </p:txBody>
      </p:sp>
      <p:sp>
        <p:nvSpPr>
          <p:cNvPr id="2128" name="Flecha Evol 1"/>
          <p:cNvSpPr/>
          <p:nvPr/>
        </p:nvSpPr>
        <p:spPr>
          <a:xfrm>
            <a:off x="3962400" y="3022600"/>
            <a:ext cx="12700" cy="2032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29" name="R2 Etq"/>
          <p:cNvSpPr/>
          <p:nvPr/>
        </p:nvSpPr>
        <p:spPr>
          <a:xfrm>
            <a:off x="3810000" y="3251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80" dirty="0">
                <a:solidFill>
                  <a:srgbClr val="5A7290"/>
                </a:solidFill>
              </a:rPr>
              <a:t>REUNIÓN 2</a:t>
            </a:r>
          </a:p>
        </p:txBody>
      </p:sp>
      <p:sp>
        <p:nvSpPr>
          <p:cNvPr id="2130" name="R2 Chip"/>
          <p:cNvSpPr/>
          <p:nvPr/>
        </p:nvSpPr>
        <p:spPr>
          <a:xfrm>
            <a:off x="3810000" y="3479800"/>
            <a:ext cx="25400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A4257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9FB3C8"/>
                </a:solidFill>
              </a:rPr>
              <a:t>Decisión A′</a:t>
            </a:r>
          </a:p>
        </p:txBody>
      </p:sp>
      <p:sp>
        <p:nvSpPr>
          <p:cNvPr id="2131" name="R2 Sub"/>
          <p:cNvSpPr/>
          <p:nvPr/>
        </p:nvSpPr>
        <p:spPr>
          <a:xfrm>
            <a:off x="3810000" y="3937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0" dirty="0">
                <a:solidFill>
                  <a:srgbClr val="5A7290"/>
                </a:solidFill>
              </a:rPr>
              <a:t>confirmada / revisada</a:t>
            </a:r>
          </a:p>
        </p:txBody>
      </p:sp>
      <p:sp>
        <p:nvSpPr>
          <p:cNvPr id="2132" name="Flecha Evol 2"/>
          <p:cNvSpPr/>
          <p:nvPr/>
        </p:nvSpPr>
        <p:spPr>
          <a:xfrm>
            <a:off x="3962400" y="4165600"/>
            <a:ext cx="12700" cy="2032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33" name="R3 Etq"/>
          <p:cNvSpPr/>
          <p:nvPr/>
        </p:nvSpPr>
        <p:spPr>
          <a:xfrm>
            <a:off x="3810000" y="4394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80" dirty="0">
                <a:solidFill>
                  <a:srgbClr val="5A7290"/>
                </a:solidFill>
              </a:rPr>
              <a:t>REUNIÓN 3</a:t>
            </a:r>
          </a:p>
        </p:txBody>
      </p:sp>
      <p:sp>
        <p:nvSpPr>
          <p:cNvPr id="2134" name="R3 Chip"/>
          <p:cNvSpPr/>
          <p:nvPr/>
        </p:nvSpPr>
        <p:spPr>
          <a:xfrm>
            <a:off x="3810000" y="4622800"/>
            <a:ext cx="25400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Decisión B</a:t>
            </a:r>
          </a:p>
        </p:txBody>
      </p:sp>
      <p:sp>
        <p:nvSpPr>
          <p:cNvPr id="2135" name="R3 Sub"/>
          <p:cNvSpPr/>
          <p:nvPr/>
        </p:nvSpPr>
        <p:spPr>
          <a:xfrm>
            <a:off x="3810000" y="508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0" dirty="0">
                <a:solidFill>
                  <a:srgbClr val="5A7290"/>
                </a:solidFill>
              </a:rPr>
              <a:t>reemplazada</a:t>
            </a:r>
          </a:p>
        </p:txBody>
      </p:sp>
      <p:sp>
        <p:nvSpPr>
          <p:cNvPr id="2136" name="Z2 Nota"/>
          <p:cNvSpPr/>
          <p:nvPr/>
        </p:nvSpPr>
        <p:spPr>
          <a:xfrm>
            <a:off x="3810000" y="5537200"/>
            <a:ext cx="266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0" dirty="0">
                <a:solidFill>
                  <a:srgbClr val="5A7290"/>
                </a:solidFill>
              </a:rPr>
              <a:t>RAG reconsulta transcripciones · sin historial persistente</a:t>
            </a:r>
          </a:p>
        </p:txBody>
      </p:sp>
      <p:sp>
        <p:nvSpPr>
          <p:cNvPr id="2137" name="Z3 Num"/>
          <p:cNvSpPr/>
          <p:nvPr/>
        </p:nvSpPr>
        <p:spPr>
          <a:xfrm>
            <a:off x="6731000" y="13462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2200" b="1" spc="0" dirty="0">
                <a:solidFill>
                  <a:srgbClr val="2ED3E8"/>
                </a:solidFill>
              </a:rPr>
              <a:t>03</a:t>
            </a:r>
          </a:p>
        </p:txBody>
      </p:sp>
      <p:sp>
        <p:nvSpPr>
          <p:cNvPr id="2138" name="Z3 Titulo"/>
          <p:cNvSpPr/>
          <p:nvPr/>
        </p:nvSpPr>
        <p:spPr>
          <a:xfrm>
            <a:off x="6731000" y="172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1" spc="0" dirty="0">
                <a:solidFill>
                  <a:srgbClr val="FFFFFF"/>
                </a:solidFill>
              </a:rPr>
              <a:t>Material sensible · ejecución local</a:t>
            </a:r>
          </a:p>
        </p:txBody>
      </p:sp>
      <p:sp>
        <p:nvSpPr>
          <p:cNvPr id="2139" name="Limite Infraestructura"/>
          <p:cNvSpPr/>
          <p:nvPr/>
        </p:nvSpPr>
        <p:spPr>
          <a:xfrm>
            <a:off x="6731000" y="2082800"/>
            <a:ext cx="2489200" cy="3022600"/>
          </a:xfrm>
          <a:prstGeom prst="roundRect">
            <a:avLst/>
          </a:prstGeom>
          <a:noFill/>
          <a:ln w="15875">
            <a:solidFill>
              <a:srgbClr val="1D5C9E"/>
            </a:solidFill>
            <a:prstDash val="dash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40" name="Etq Infraestructura"/>
          <p:cNvSpPr/>
          <p:nvPr/>
        </p:nvSpPr>
        <p:spPr>
          <a:xfrm>
            <a:off x="6883400" y="22098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2ED3E8"/>
                </a:solidFill>
              </a:rPr>
              <a:t>INFRAESTRUCTURA LOCAL</a:t>
            </a:r>
          </a:p>
        </p:txBody>
      </p:sp>
      <p:sp>
        <p:nvSpPr>
          <p:cNvPr id="2141" name="Priv 1"/>
          <p:cNvSpPr/>
          <p:nvPr/>
        </p:nvSpPr>
        <p:spPr>
          <a:xfrm>
            <a:off x="6908800" y="2590800"/>
            <a:ext cx="21336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TRANSCRIPCIONES</a:t>
            </a:r>
          </a:p>
        </p:txBody>
      </p:sp>
      <p:sp>
        <p:nvSpPr>
          <p:cNvPr id="2142" name="Flecha Priv 1"/>
          <p:cNvSpPr/>
          <p:nvPr/>
        </p:nvSpPr>
        <p:spPr>
          <a:xfrm flipH="1">
            <a:off x="7213600" y="3048000"/>
            <a:ext cx="762000" cy="5334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43" name="Priv 2"/>
          <p:cNvSpPr/>
          <p:nvPr/>
        </p:nvSpPr>
        <p:spPr>
          <a:xfrm>
            <a:off x="6858000" y="3632200"/>
            <a:ext cx="7112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100" b="1" spc="40" dirty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2144" name="Flecha Priv 2"/>
          <p:cNvSpPr/>
          <p:nvPr/>
        </p:nvSpPr>
        <p:spPr>
          <a:xfrm>
            <a:off x="7975600" y="3048000"/>
            <a:ext cx="368300" cy="5334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2145" name="Priv 3"/>
          <p:cNvSpPr/>
          <p:nvPr/>
        </p:nvSpPr>
        <p:spPr>
          <a:xfrm>
            <a:off x="7645400" y="3632200"/>
            <a:ext cx="1460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100" b="1" spc="40" dirty="0">
                <a:solidFill>
                  <a:srgbClr val="2ED3E8"/>
                </a:solidFill>
              </a:rPr>
              <a:t>BASE ESTRUCTURADA</a:t>
            </a:r>
          </a:p>
        </p:txBody>
      </p:sp>
      <p:sp>
        <p:nvSpPr>
          <p:cNvPr id="2146" name="Z3 Caption"/>
          <p:cNvSpPr/>
          <p:nvPr/>
        </p:nvSpPr>
        <p:spPr>
          <a:xfrm>
            <a:off x="6731000" y="54610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s-CL" sz="1500" dirty="0">
                <a:solidFill>
                  <a:srgbClr val="9FB3C8"/>
                </a:solidFill>
              </a:rPr>
              <a:t>Condición común a ambas alternativas, no una ventaja.</a:t>
            </a:r>
          </a:p>
        </p:txBody>
      </p:sp>
      <p:sp>
        <p:nvSpPr>
          <p:cNvPr id="990" name="Linea Speaker"/>
          <p:cNvSpPr/>
          <p:nvPr/>
        </p:nvSpPr>
        <p:spPr>
          <a:xfrm>
            <a:off x="9448800" y="1397000"/>
            <a:ext cx="12700" cy="4064000"/>
          </a:xfrm>
          <a:prstGeom prst="rect">
            <a:avLst/>
          </a:prstGeom>
          <a:solidFill>
            <a:srgbClr val="1D5C9E"/>
          </a:solidFill>
          <a:ln w="12700">
            <a:solidFill>
              <a:srgbClr val="1D5C9E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992" name="PH VIDEO SPEAKER"/>
          <p:cNvSpPr/>
          <p:nvPr/>
        </p:nvSpPr>
        <p:spPr>
          <a:xfrm>
            <a:off x="9601200" y="1397000"/>
            <a:ext cx="2286000" cy="40640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1" spc="60" dirty="0">
                <a:solidFill>
                  <a:srgbClr val="2ED3E8"/>
                </a:solidFill>
              </a:rPr>
              <a:t>[ VIDEO SPEAKER ]</a:t>
            </a:r>
          </a:p>
        </p:txBody>
      </p:sp>
      <p:sp>
        <p:nvSpPr>
          <p:cNvPr id="991" name="Etq Speaker"/>
          <p:cNvSpPr/>
          <p:nvPr/>
        </p:nvSpPr>
        <p:spPr>
          <a:xfrm>
            <a:off x="9601200" y="5562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5A7290"/>
                </a:solidFill>
              </a:rPr>
              <a:t>EXPOSITOR</a:t>
            </a:r>
          </a:p>
        </p:txBody>
      </p:sp>
      <p:sp>
        <p:nvSpPr>
          <p:cNvPr id="2150" name="Nota Fragmento"/>
          <p:cNvSpPr/>
          <p:nvPr/>
        </p:nvSpPr>
        <p:spPr>
          <a:xfrm>
            <a:off x="762000" y="5283200"/>
            <a:ext cx="2717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2ED3E8"/>
                </a:solidFill>
              </a:rPr>
              <a:t>RECUPERAR UN FRAGMENTO ≠ RECONSTRUIR UNA DECISIÓN</a:t>
            </a:r>
          </a:p>
        </p:txBody>
      </p:sp>
      <p:sp>
        <p:nvSpPr>
          <p:cNvPr id="2151" name="Etq Vacio"/>
          <p:cNvSpPr/>
          <p:nvPr/>
        </p:nvSpPr>
        <p:spPr>
          <a:xfrm>
            <a:off x="762000" y="5969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2ED3E8"/>
                </a:solidFill>
              </a:rPr>
              <a:t>VACÍO DE INVESTIGACIÓN</a:t>
            </a:r>
          </a:p>
        </p:txBody>
      </p:sp>
      <p:sp>
        <p:nvSpPr>
          <p:cNvPr id="2152" name="Texto Vacio"/>
          <p:cNvSpPr/>
          <p:nvPr/>
        </p:nvSpPr>
        <p:spPr>
          <a:xfrm>
            <a:off x="3378200" y="5943600"/>
            <a:ext cx="584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CL" sz="1300" b="0" spc="0" dirty="0">
                <a:solidFill>
                  <a:srgbClr val="FFFFFF"/>
                </a:solidFill>
              </a:rPr>
              <a:t>¿Cómo separar el valor de la representación del error de extracción?</a:t>
            </a:r>
          </a:p>
        </p:txBody>
      </p:sp>
    </p:spTree>
    <p:extLst>
      <p:ext uri="{BB962C8B-B14F-4D97-AF65-F5344CB8AC3E}">
        <p14:creationId xmlns:p14="http://schemas.microsoft.com/office/powerpoint/2010/main" val="2323993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3670">
        <p159:morph option="byObject"/>
      </p:transition>
    </mc:Choice>
    <mc:Fallback xmlns="">
      <p:transition spd="slow" advTm="936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79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0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" dur="350" fill="hold"/>
                                        <p:tgtEl>
                                          <p:spTgt spid="2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791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2" dur="350" fill="hold"/>
                                        <p:tgtEl>
                                          <p:spTgt spid="2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73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0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6" dur="4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323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523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583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0643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0703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0763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0823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973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11073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1273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3916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391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5137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5137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6419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6419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66" dur="300" fill="hold"/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7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68" dur="300" fill="hold"/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9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0" dur="3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1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2" dur="300" fill="hold"/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3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4" dur="3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5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6" dur="300" fill="hold"/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7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8" dur="300" fill="hold"/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9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0" dur="300" fill="hold"/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1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2" dur="300" fill="hold"/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3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4" dur="300" fill="hold"/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5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6" dur="3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7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8" dur="3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9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90" dur="300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1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92" dur="300" fill="hold"/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3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94" dur="300" fill="hold"/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5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96" dur="300" fill="hold"/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7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98" dur="300" fill="hold"/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9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0" dur="300" fill="hold"/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1" presetID="55" presetClass="emph" presetSubtype="0" fill="hold" nodeType="withEffect">
                                  <p:stCondLst>
                                    <p:cond delay="2504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2" dur="3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2534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2123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06" dur="350" fill="hold"/>
                                        <p:tgtEl>
                                          <p:spTgt spid="2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25344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212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10" dur="350" fill="hold"/>
                                        <p:tgtEl>
                                          <p:spTgt spid="2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27366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00"/>
                                        <p:tgtEl>
                                          <p:spTgt spid="2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7666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212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17" dur="350" fill="hold"/>
                                        <p:tgtEl>
                                          <p:spTgt spid="2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27966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00"/>
                                        <p:tgtEl>
                                          <p:spTgt spid="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28367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350"/>
                                        <p:tgtEl>
                                          <p:spTgt spid="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28517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28667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213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30" dur="35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2896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30329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350"/>
                                        <p:tgtEl>
                                          <p:spTgt spid="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30479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30629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213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43" dur="350" fill="hold"/>
                                        <p:tgtEl>
                                          <p:spTgt spid="2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30929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00"/>
                                        <p:tgtEl>
                                          <p:spTgt spid="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3259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51" dur="300" fill="hold"/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2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53" dur="300" fill="hold"/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4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55" dur="300" fill="hold"/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6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57" dur="300" fill="hold"/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8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59" dur="300" fill="hold"/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0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61" dur="300" fill="hold"/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2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63" dur="300" fill="hold"/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4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65" dur="30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6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67" dur="300" fill="hold"/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8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69" dur="300" fill="hold"/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0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1" dur="300" fill="hold"/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2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3" dur="300" fill="hold"/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4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5" dur="300" fill="hold"/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6" presetID="55" presetClass="emph" presetSubtype="0" fill="hold" nodeType="withEffect">
                                  <p:stCondLst>
                                    <p:cond delay="4051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7" dur="300" fill="hold"/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40817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50"/>
                                        <p:tgtEl>
                                          <p:spTgt spid="213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81" dur="350" fill="hold"/>
                                        <p:tgtEl>
                                          <p:spTgt spid="2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40817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213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85" dur="350" fill="hold"/>
                                        <p:tgtEl>
                                          <p:spTgt spid="2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47203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400"/>
                                        <p:tgtEl>
                                          <p:spTgt spid="2139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89" dur="400" fill="hold"/>
                                        <p:tgtEl>
                                          <p:spTgt spid="2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47503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00"/>
                                        <p:tgtEl>
                                          <p:spTgt spid="2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51126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50"/>
                                        <p:tgtEl>
                                          <p:spTgt spid="214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96" dur="350" fill="hold"/>
                                        <p:tgtEl>
                                          <p:spTgt spid="2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22" presetClass="entr" presetSubtype="1" fill="hold" nodeType="withEffect">
                                  <p:stCondLst>
                                    <p:cond delay="55724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25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55874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50"/>
                                        <p:tgtEl>
                                          <p:spTgt spid="2143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03" dur="350" fill="hold"/>
                                        <p:tgtEl>
                                          <p:spTgt spid="2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56024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250"/>
                                        <p:tgtEl>
                                          <p:spTgt spid="2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56174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50"/>
                                        <p:tgtEl>
                                          <p:spTgt spid="214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10" dur="350" fill="hold"/>
                                        <p:tgtEl>
                                          <p:spTgt spid="2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79952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4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15" dur="300" fill="hold"/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17" dur="300" fill="hold"/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19" dur="300" fill="hold"/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0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21" dur="300" fill="hold"/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2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23" dur="300" fill="hold"/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25" dur="300" fill="hold"/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27" dur="300" fill="hold"/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29" dur="300" fill="hold"/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0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31" dur="300" fill="hold"/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2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33" dur="300" fill="hold"/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35" dur="300" fill="hold"/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37" dur="3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39" dur="300" fill="hold"/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0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41" dur="300" fill="hold"/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2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43" dur="300" fill="hold"/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45" dur="300" fill="hold"/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47" dur="300" fill="hold"/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49" dur="300" fill="hold"/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0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51" dur="3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2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53" dur="300" fill="hold"/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55" dur="300" fill="hold"/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57" dur="300" fill="hold"/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59" dur="300" fill="hold"/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0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1" dur="300" fill="hold"/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2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3" dur="300" fill="hold"/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5" dur="300" fill="hold"/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7" dur="300" fill="hold"/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9" dur="300" fill="hold"/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0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71" dur="300" fill="hold"/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2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73" dur="300" fill="hold"/>
                                        <p:tgtEl>
                                          <p:spTgt spid="21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4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75" dur="300" fill="hold"/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6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77" dur="300" fill="hold"/>
                                        <p:tgtEl>
                                          <p:spTgt spid="21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8" presetID="55" presetClass="emph" presetSubtype="0" fill="hold" nodeType="withEffect">
                                  <p:stCondLst>
                                    <p:cond delay="8849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79" dur="300" fill="hold"/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1846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300"/>
                                        <p:tgtEl>
                                          <p:spTgt spid="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nodeType="withEffect">
                                  <p:stCondLst>
                                    <p:cond delay="64027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300"/>
                                        <p:tgtEl>
                                          <p:spTgt spid="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nodeType="withEffect">
                                  <p:stCondLst>
                                    <p:cond delay="62486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300"/>
                                        <p:tgtEl>
                                          <p:spTgt spid="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3200" b="1" spc="0" dirty="0">
                <a:solidFill>
                  <a:srgbClr val="FFFFFF"/>
                </a:solidFill>
              </a:rPr>
              <a:t>Por qué utilizar Ciencia de Datos</a:t>
            </a:r>
          </a:p>
        </p:txBody>
      </p:sp>
      <p:sp>
        <p:nvSpPr>
          <p:cNvPr id="102" name="Regla Titulo"/>
          <p:cNvSpPr/>
          <p:nvPr/>
        </p:nvSpPr>
        <p:spPr>
          <a:xfrm>
            <a:off x="762000" y="12192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103" name="Numero"/>
          <p:cNvSpPr/>
          <p:nvPr/>
        </p:nvSpPr>
        <p:spPr>
          <a:xfrm>
            <a:off x="10617200" y="64770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[ 03 ]</a:t>
            </a:r>
          </a:p>
        </p:txBody>
      </p:sp>
      <p:sp>
        <p:nvSpPr>
          <p:cNvPr id="3104" name="Etq Izq"/>
          <p:cNvSpPr/>
          <p:nvPr/>
        </p:nvSpPr>
        <p:spPr>
          <a:xfrm>
            <a:off x="762000" y="1447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5A7290"/>
                </a:solidFill>
              </a:rPr>
              <a:t>REFERENCIA HUMANA</a:t>
            </a:r>
          </a:p>
        </p:txBody>
      </p:sp>
      <p:sp>
        <p:nvSpPr>
          <p:cNvPr id="3105" name="Etq Der"/>
          <p:cNvSpPr/>
          <p:nvPr/>
        </p:nvSpPr>
        <p:spPr>
          <a:xfrm>
            <a:off x="3429000" y="14478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2ED3E8"/>
                </a:solidFill>
              </a:rPr>
              <a:t>MODELO LOCAL</a:t>
            </a:r>
          </a:p>
        </p:txBody>
      </p:sp>
      <p:sp>
        <p:nvSpPr>
          <p:cNvPr id="3106" name="Izq 1"/>
          <p:cNvSpPr/>
          <p:nvPr/>
        </p:nvSpPr>
        <p:spPr>
          <a:xfrm>
            <a:off x="762000" y="1727200"/>
            <a:ext cx="2413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9FB3C8"/>
                </a:solidFill>
              </a:rPr>
              <a:t>TRANSCRIPCIÓN</a:t>
            </a:r>
          </a:p>
        </p:txBody>
      </p:sp>
      <p:sp>
        <p:nvSpPr>
          <p:cNvPr id="3107" name="FL Izq 1"/>
          <p:cNvSpPr/>
          <p:nvPr/>
        </p:nvSpPr>
        <p:spPr>
          <a:xfrm>
            <a:off x="1968500" y="2184400"/>
            <a:ext cx="12700" cy="2286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08" name="Izq 2"/>
          <p:cNvSpPr/>
          <p:nvPr/>
        </p:nvSpPr>
        <p:spPr>
          <a:xfrm>
            <a:off x="762000" y="2438400"/>
            <a:ext cx="2413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9FB3C8"/>
                </a:solidFill>
              </a:rPr>
              <a:t>ANOTACIÓN HUMANA</a:t>
            </a:r>
          </a:p>
        </p:txBody>
      </p:sp>
      <p:sp>
        <p:nvSpPr>
          <p:cNvPr id="3109" name="FL Izq 2"/>
          <p:cNvSpPr/>
          <p:nvPr/>
        </p:nvSpPr>
        <p:spPr>
          <a:xfrm>
            <a:off x="1968500" y="2895600"/>
            <a:ext cx="12700" cy="2286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10" name="Izq 3"/>
          <p:cNvSpPr/>
          <p:nvPr/>
        </p:nvSpPr>
        <p:spPr>
          <a:xfrm>
            <a:off x="762000" y="3149600"/>
            <a:ext cx="2413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1D5C9E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GROUND TRUTH</a:t>
            </a:r>
          </a:p>
        </p:txBody>
      </p:sp>
      <p:sp>
        <p:nvSpPr>
          <p:cNvPr id="3111" name="Der 1"/>
          <p:cNvSpPr/>
          <p:nvPr/>
        </p:nvSpPr>
        <p:spPr>
          <a:xfrm>
            <a:off x="3429000" y="1727200"/>
            <a:ext cx="2413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9FB3C8"/>
                </a:solidFill>
              </a:rPr>
              <a:t>TRANSCRIPCIÓN</a:t>
            </a:r>
          </a:p>
        </p:txBody>
      </p:sp>
      <p:sp>
        <p:nvSpPr>
          <p:cNvPr id="3112" name="FL Der 1"/>
          <p:cNvSpPr/>
          <p:nvPr/>
        </p:nvSpPr>
        <p:spPr>
          <a:xfrm>
            <a:off x="4635500" y="2184400"/>
            <a:ext cx="12700" cy="2286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13" name="Der 2"/>
          <p:cNvSpPr/>
          <p:nvPr/>
        </p:nvSpPr>
        <p:spPr>
          <a:xfrm>
            <a:off x="3429000" y="2438400"/>
            <a:ext cx="2413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9FB3C8"/>
                </a:solidFill>
              </a:rPr>
              <a:t>LLM LOCAL</a:t>
            </a:r>
          </a:p>
        </p:txBody>
      </p:sp>
      <p:sp>
        <p:nvSpPr>
          <p:cNvPr id="3114" name="FL Der 2"/>
          <p:cNvSpPr/>
          <p:nvPr/>
        </p:nvSpPr>
        <p:spPr>
          <a:xfrm>
            <a:off x="4635500" y="2895600"/>
            <a:ext cx="12700" cy="2286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15" name="Der 3"/>
          <p:cNvSpPr/>
          <p:nvPr/>
        </p:nvSpPr>
        <p:spPr>
          <a:xfrm>
            <a:off x="3429000" y="3149600"/>
            <a:ext cx="2413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PREDICCIÓN</a:t>
            </a:r>
          </a:p>
        </p:txBody>
      </p:sp>
      <p:sp>
        <p:nvSpPr>
          <p:cNvPr id="3116" name="Bajada Izq"/>
          <p:cNvSpPr/>
          <p:nvPr/>
        </p:nvSpPr>
        <p:spPr>
          <a:xfrm>
            <a:off x="1968500" y="3606800"/>
            <a:ext cx="12700" cy="2794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17" name="Bajada Der"/>
          <p:cNvSpPr/>
          <p:nvPr/>
        </p:nvSpPr>
        <p:spPr>
          <a:xfrm>
            <a:off x="4635500" y="3606800"/>
            <a:ext cx="12700" cy="2794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18" name="Bus Comparacion"/>
          <p:cNvSpPr/>
          <p:nvPr/>
        </p:nvSpPr>
        <p:spPr>
          <a:xfrm>
            <a:off x="1968500" y="3886200"/>
            <a:ext cx="2667000" cy="127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19" name="FL Metricas"/>
          <p:cNvSpPr/>
          <p:nvPr/>
        </p:nvSpPr>
        <p:spPr>
          <a:xfrm>
            <a:off x="3302000" y="3886200"/>
            <a:ext cx="12700" cy="2540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20" name="Etq Comparacion"/>
          <p:cNvSpPr/>
          <p:nvPr/>
        </p:nvSpPr>
        <p:spPr>
          <a:xfrm>
            <a:off x="762000" y="391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40" dirty="0">
                <a:solidFill>
                  <a:srgbClr val="5A7290"/>
                </a:solidFill>
              </a:rPr>
              <a:t>GROUND TRUTH ←→ PREDICCIÓN</a:t>
            </a:r>
          </a:p>
        </p:txBody>
      </p:sp>
      <p:sp>
        <p:nvSpPr>
          <p:cNvPr id="3121" name="Etq Metricas"/>
          <p:cNvSpPr/>
          <p:nvPr/>
        </p:nvSpPr>
        <p:spPr>
          <a:xfrm>
            <a:off x="762000" y="41402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1" spc="20" dirty="0">
                <a:solidFill>
                  <a:srgbClr val="2ED3E8"/>
                </a:solidFill>
              </a:rPr>
              <a:t>MÉTRICAS DE NLP · AMI MEETING CORPUS</a:t>
            </a:r>
          </a:p>
        </p:txBody>
      </p:sp>
      <p:sp>
        <p:nvSpPr>
          <p:cNvPr id="3122" name="Metrica 1"/>
          <p:cNvSpPr/>
          <p:nvPr/>
        </p:nvSpPr>
        <p:spPr>
          <a:xfrm>
            <a:off x="762000" y="4419600"/>
            <a:ext cx="16002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Precisión</a:t>
            </a:r>
          </a:p>
        </p:txBody>
      </p:sp>
      <p:sp>
        <p:nvSpPr>
          <p:cNvPr id="3123" name="Metrica 2"/>
          <p:cNvSpPr/>
          <p:nvPr/>
        </p:nvSpPr>
        <p:spPr>
          <a:xfrm>
            <a:off x="2565400" y="4419600"/>
            <a:ext cx="16002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3125" name="Dialogo"/>
          <p:cNvSpPr/>
          <p:nvPr/>
        </p:nvSpPr>
        <p:spPr>
          <a:xfrm>
            <a:off x="762000" y="5156200"/>
            <a:ext cx="22860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9FB3C8"/>
                </a:solidFill>
              </a:rPr>
              <a:t>DIÁLOGO INFORMAL</a:t>
            </a:r>
          </a:p>
        </p:txBody>
      </p:sp>
      <p:sp>
        <p:nvSpPr>
          <p:cNvPr id="3126" name="FL Transformacion"/>
          <p:cNvSpPr/>
          <p:nvPr/>
        </p:nvSpPr>
        <p:spPr>
          <a:xfrm>
            <a:off x="3124200" y="5372100"/>
            <a:ext cx="4318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27" name="Objeto"/>
          <p:cNvSpPr/>
          <p:nvPr/>
        </p:nvSpPr>
        <p:spPr>
          <a:xfrm>
            <a:off x="3632200" y="5156200"/>
            <a:ext cx="2336800" cy="4318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2ED3E8"/>
                </a:solidFill>
              </a:rPr>
              <a:t>OBJETO ESTRUCTURADO</a:t>
            </a:r>
          </a:p>
        </p:txBody>
      </p:sp>
      <p:sp>
        <p:nvSpPr>
          <p:cNvPr id="3128" name="PH SCREEN RECORDING OPENKOS DOCTOR + INIT"/>
          <p:cNvSpPr/>
          <p:nvPr/>
        </p:nvSpPr>
        <p:spPr>
          <a:xfrm>
            <a:off x="6350000" y="1524000"/>
            <a:ext cx="3810000" cy="2146300"/>
          </a:xfrm>
          <a:prstGeom prst="roundRect">
            <a:avLst/>
          </a:prstGeom>
          <a:solidFill>
            <a:srgbClr val="081420"/>
          </a:solidFill>
          <a:ln w="15875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SCREEN RECORDING — OPENKOS DOCTOR + INIT ]</a:t>
            </a:r>
          </a:p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▶  INSERTAR VIDEO AQUÍ</a:t>
            </a:r>
          </a:p>
        </p:txBody>
      </p:sp>
      <p:sp>
        <p:nvSpPr>
          <p:cNvPr id="3129" name="Etq Terminal"/>
          <p:cNvSpPr/>
          <p:nvPr/>
        </p:nvSpPr>
        <p:spPr>
          <a:xfrm>
            <a:off x="6350000" y="3733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60" dirty="0">
                <a:solidFill>
                  <a:srgbClr val="5A7290"/>
                </a:solidFill>
              </a:rPr>
              <a:t>terminal / CLI · proporción 16:9</a:t>
            </a:r>
          </a:p>
        </p:txBody>
      </p:sp>
      <p:sp>
        <p:nvSpPr>
          <p:cNvPr id="3130" name="Ficha"/>
          <p:cNvSpPr/>
          <p:nvPr/>
        </p:nvSpPr>
        <p:spPr>
          <a:xfrm>
            <a:off x="6350000" y="4089400"/>
            <a:ext cx="3810000" cy="21590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31" name="Ficha Titulo"/>
          <p:cNvSpPr/>
          <p:nvPr/>
        </p:nvSpPr>
        <p:spPr>
          <a:xfrm>
            <a:off x="6527800" y="4216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1" spc="100" dirty="0">
                <a:solidFill>
                  <a:srgbClr val="FFFFFF"/>
                </a:solidFill>
              </a:rPr>
              <a:t>DECISIÓN</a:t>
            </a:r>
          </a:p>
        </p:txBody>
      </p:sp>
      <p:sp>
        <p:nvSpPr>
          <p:cNvPr id="3132" name="Ficha Regla"/>
          <p:cNvSpPr/>
          <p:nvPr/>
        </p:nvSpPr>
        <p:spPr>
          <a:xfrm>
            <a:off x="6527800" y="4521200"/>
            <a:ext cx="3454400" cy="12700"/>
          </a:xfrm>
          <a:prstGeom prst="rect">
            <a:avLst/>
          </a:prstGeom>
          <a:solidFill>
            <a:srgbClr val="1E354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33" name="Campo 1"/>
          <p:cNvSpPr/>
          <p:nvPr/>
        </p:nvSpPr>
        <p:spPr>
          <a:xfrm>
            <a:off x="6527800" y="4622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descripción</a:t>
            </a:r>
          </a:p>
        </p:txBody>
      </p:sp>
      <p:sp>
        <p:nvSpPr>
          <p:cNvPr id="3134" name="Valor 1"/>
          <p:cNvSpPr/>
          <p:nvPr/>
        </p:nvSpPr>
        <p:spPr>
          <a:xfrm>
            <a:off x="8229600" y="4737100"/>
            <a:ext cx="17526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35" name="Campo 2"/>
          <p:cNvSpPr/>
          <p:nvPr/>
        </p:nvSpPr>
        <p:spPr>
          <a:xfrm>
            <a:off x="6527800" y="49403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fecha</a:t>
            </a:r>
          </a:p>
        </p:txBody>
      </p:sp>
      <p:sp>
        <p:nvSpPr>
          <p:cNvPr id="3136" name="Valor 2"/>
          <p:cNvSpPr/>
          <p:nvPr/>
        </p:nvSpPr>
        <p:spPr>
          <a:xfrm>
            <a:off x="8229600" y="5054600"/>
            <a:ext cx="17526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37" name="Campo 3"/>
          <p:cNvSpPr/>
          <p:nvPr/>
        </p:nvSpPr>
        <p:spPr>
          <a:xfrm>
            <a:off x="6527800" y="5257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estado</a:t>
            </a:r>
          </a:p>
        </p:txBody>
      </p:sp>
      <p:sp>
        <p:nvSpPr>
          <p:cNvPr id="3138" name="Valor 3"/>
          <p:cNvSpPr/>
          <p:nvPr/>
        </p:nvSpPr>
        <p:spPr>
          <a:xfrm>
            <a:off x="8229600" y="5372100"/>
            <a:ext cx="17526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39" name="Campo 4"/>
          <p:cNvSpPr/>
          <p:nvPr/>
        </p:nvSpPr>
        <p:spPr>
          <a:xfrm>
            <a:off x="6527800" y="55753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origen</a:t>
            </a:r>
          </a:p>
        </p:txBody>
      </p:sp>
      <p:sp>
        <p:nvSpPr>
          <p:cNvPr id="3140" name="Valor 4"/>
          <p:cNvSpPr/>
          <p:nvPr/>
        </p:nvSpPr>
        <p:spPr>
          <a:xfrm>
            <a:off x="8229600" y="5689600"/>
            <a:ext cx="1752600" cy="50800"/>
          </a:xfrm>
          <a:prstGeom prst="rect">
            <a:avLst/>
          </a:prstGeom>
          <a:solidFill>
            <a:srgbClr val="24384B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3141" name="Campo 5"/>
          <p:cNvSpPr/>
          <p:nvPr/>
        </p:nvSpPr>
        <p:spPr>
          <a:xfrm>
            <a:off x="6527800" y="5892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evidencia</a:t>
            </a:r>
          </a:p>
        </p:txBody>
      </p:sp>
      <p:sp>
        <p:nvSpPr>
          <p:cNvPr id="3142" name="Valor 5"/>
          <p:cNvSpPr/>
          <p:nvPr/>
        </p:nvSpPr>
        <p:spPr>
          <a:xfrm>
            <a:off x="8229600" y="6007100"/>
            <a:ext cx="1752600" cy="508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992" name="PH VIDEO SPEAKER"/>
          <p:cNvSpPr/>
          <p:nvPr/>
        </p:nvSpPr>
        <p:spPr>
          <a:xfrm>
            <a:off x="10414000" y="3810000"/>
            <a:ext cx="1371600" cy="24384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VIDEO SPEAKER ]</a:t>
            </a:r>
          </a:p>
        </p:txBody>
      </p:sp>
      <p:sp>
        <p:nvSpPr>
          <p:cNvPr id="3150" name="Metrica 3"/>
          <p:cNvSpPr/>
          <p:nvPr/>
        </p:nvSpPr>
        <p:spPr>
          <a:xfrm>
            <a:off x="4368800" y="4419600"/>
            <a:ext cx="16002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3151" name="Etq Validacion"/>
          <p:cNvSpPr/>
          <p:nvPr/>
        </p:nvSpPr>
        <p:spPr>
          <a:xfrm>
            <a:off x="7874000" y="4241800"/>
            <a:ext cx="21844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000" b="0" spc="60" dirty="0">
                <a:solidFill>
                  <a:srgbClr val="5A7290"/>
                </a:solidFill>
              </a:rPr>
              <a:t>VALIDACIÓN DE ESQUEMA ✓</a:t>
            </a:r>
          </a:p>
        </p:txBody>
      </p:sp>
    </p:spTree>
    <p:extLst>
      <p:ext uri="{BB962C8B-B14F-4D97-AF65-F5344CB8AC3E}">
        <p14:creationId xmlns:p14="http://schemas.microsoft.com/office/powerpoint/2010/main" val="1188781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3300">
        <p159:morph option="byObject"/>
      </p:transition>
    </mc:Choice>
    <mc:Fallback xmlns="">
      <p:transition spd="slow" advTm="63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665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81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10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1" dur="350" fill="hold"/>
                                        <p:tgtEl>
                                          <p:spTgt spid="3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11115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250"/>
                                        <p:tgtEl>
                                          <p:spTgt spid="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1315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8" dur="350" fill="hold"/>
                                        <p:tgtEl>
                                          <p:spTgt spid="3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1161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50"/>
                                        <p:tgtEl>
                                          <p:spTgt spid="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181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311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5" dur="350" fill="hold"/>
                                        <p:tgtEl>
                                          <p:spTgt spid="3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488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638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32" dur="350" fill="hold"/>
                                        <p:tgtEl>
                                          <p:spTgt spid="3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15938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6138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39" dur="350" fill="hold"/>
                                        <p:tgtEl>
                                          <p:spTgt spid="3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1643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250"/>
                                        <p:tgtEl>
                                          <p:spTgt spid="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663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46" dur="350" fill="hold"/>
                                        <p:tgtEl>
                                          <p:spTgt spid="3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23079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50"/>
                                        <p:tgtEl>
                                          <p:spTgt spid="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23079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250"/>
                                        <p:tgtEl>
                                          <p:spTgt spid="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23329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35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4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27342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50"/>
                                        <p:tgtEl>
                                          <p:spTgt spid="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7642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3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9223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30004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2566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74" dur="350" fill="hold"/>
                                        <p:tgtEl>
                                          <p:spTgt spid="3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32916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3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33216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1" dur="400" fill="hold"/>
                                        <p:tgtEl>
                                          <p:spTgt spid="3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40572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3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5" dur="400" fill="hold"/>
                                        <p:tgtEl>
                                          <p:spTgt spid="3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40872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41072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250"/>
                                        <p:tgtEl>
                                          <p:spTgt spid="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41553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49618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4976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28" dur="400" fill="hold"/>
                                        <p:tgtEl>
                                          <p:spTgt spid="3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30624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3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48438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00"/>
                                        <p:tgtEl>
                                          <p:spTgt spid="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/>
          <p:nvPr/>
        </p:nvSpPr>
        <p:spPr>
          <a:xfrm>
            <a:off x="762000" y="6096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3200" b="1" spc="0" dirty="0">
                <a:solidFill>
                  <a:srgbClr val="FFFFFF"/>
                </a:solidFill>
              </a:rPr>
              <a:t>Objetivo del proyecto</a:t>
            </a:r>
          </a:p>
        </p:txBody>
      </p:sp>
      <p:sp>
        <p:nvSpPr>
          <p:cNvPr id="102" name="Regla Titulo"/>
          <p:cNvSpPr/>
          <p:nvPr/>
        </p:nvSpPr>
        <p:spPr>
          <a:xfrm>
            <a:off x="762000" y="11684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103" name="Numero"/>
          <p:cNvSpPr/>
          <p:nvPr/>
        </p:nvSpPr>
        <p:spPr>
          <a:xfrm>
            <a:off x="10617200" y="64770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[ 04 ]</a:t>
            </a:r>
          </a:p>
        </p:txBody>
      </p:sp>
      <p:sp>
        <p:nvSpPr>
          <p:cNvPr id="4104" name="Frase Central"/>
          <p:cNvSpPr/>
          <p:nvPr/>
        </p:nvSpPr>
        <p:spPr>
          <a:xfrm>
            <a:off x="762000" y="1320800"/>
            <a:ext cx="889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s-CL" sz="2100" b="0" spc="0" dirty="0">
                <a:solidFill>
                  <a:srgbClr val="FFFFFF"/>
                </a:solidFill>
              </a:rPr>
              <a:t>Extraer decisiones desde transcripciones con modelos locales, representarlas con evidencia y evolución, y evaluarlas frente a RAG.</a:t>
            </a:r>
          </a:p>
        </p:txBody>
      </p:sp>
      <p:sp>
        <p:nvSpPr>
          <p:cNvPr id="4105" name="Paso 1"/>
          <p:cNvSpPr/>
          <p:nvPr/>
        </p:nvSpPr>
        <p:spPr>
          <a:xfrm>
            <a:off x="7620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FFFFFF"/>
                </a:solidFill>
              </a:rPr>
              <a:t>TEXTO</a:t>
            </a:r>
          </a:p>
        </p:txBody>
      </p:sp>
      <p:sp>
        <p:nvSpPr>
          <p:cNvPr id="4106" name="FL Paso 1"/>
          <p:cNvSpPr/>
          <p:nvPr/>
        </p:nvSpPr>
        <p:spPr>
          <a:xfrm>
            <a:off x="1993900" y="2413000"/>
            <a:ext cx="1270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07" name="Paso 2"/>
          <p:cNvSpPr/>
          <p:nvPr/>
        </p:nvSpPr>
        <p:spPr>
          <a:xfrm>
            <a:off x="21209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FFFFFF"/>
                </a:solidFill>
              </a:rPr>
              <a:t>EXTRAER</a:t>
            </a:r>
          </a:p>
        </p:txBody>
      </p:sp>
      <p:sp>
        <p:nvSpPr>
          <p:cNvPr id="4108" name="FL Paso 2"/>
          <p:cNvSpPr/>
          <p:nvPr/>
        </p:nvSpPr>
        <p:spPr>
          <a:xfrm>
            <a:off x="3352800" y="2413000"/>
            <a:ext cx="1270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09" name="Paso 3"/>
          <p:cNvSpPr/>
          <p:nvPr/>
        </p:nvSpPr>
        <p:spPr>
          <a:xfrm>
            <a:off x="34798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FFFFFF"/>
                </a:solidFill>
              </a:rPr>
              <a:t>ESTRUCTURAR</a:t>
            </a:r>
          </a:p>
        </p:txBody>
      </p:sp>
      <p:sp>
        <p:nvSpPr>
          <p:cNvPr id="4110" name="FL Paso 3"/>
          <p:cNvSpPr/>
          <p:nvPr/>
        </p:nvSpPr>
        <p:spPr>
          <a:xfrm>
            <a:off x="4711700" y="2413000"/>
            <a:ext cx="1270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11" name="Paso 4"/>
          <p:cNvSpPr/>
          <p:nvPr/>
        </p:nvSpPr>
        <p:spPr>
          <a:xfrm>
            <a:off x="48387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FFFFFF"/>
                </a:solidFill>
              </a:rPr>
              <a:t>COMPILAR</a:t>
            </a:r>
          </a:p>
        </p:txBody>
      </p:sp>
      <p:sp>
        <p:nvSpPr>
          <p:cNvPr id="4112" name="FL Paso 4"/>
          <p:cNvSpPr/>
          <p:nvPr/>
        </p:nvSpPr>
        <p:spPr>
          <a:xfrm>
            <a:off x="6070600" y="2413000"/>
            <a:ext cx="1270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13" name="Paso 5"/>
          <p:cNvSpPr/>
          <p:nvPr/>
        </p:nvSpPr>
        <p:spPr>
          <a:xfrm>
            <a:off x="61976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FFFFFF"/>
                </a:solidFill>
              </a:rPr>
              <a:t>GESTIONAR</a:t>
            </a:r>
          </a:p>
        </p:txBody>
      </p:sp>
      <p:sp>
        <p:nvSpPr>
          <p:cNvPr id="4114" name="FL Paso 5"/>
          <p:cNvSpPr/>
          <p:nvPr/>
        </p:nvSpPr>
        <p:spPr>
          <a:xfrm>
            <a:off x="7429500" y="2413000"/>
            <a:ext cx="1270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15" name="Paso 6"/>
          <p:cNvSpPr/>
          <p:nvPr/>
        </p:nvSpPr>
        <p:spPr>
          <a:xfrm>
            <a:off x="75565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FFFFFF"/>
                </a:solidFill>
              </a:rPr>
              <a:t>TRAZAR</a:t>
            </a:r>
          </a:p>
        </p:txBody>
      </p:sp>
      <p:sp>
        <p:nvSpPr>
          <p:cNvPr id="4116" name="FL Paso 6"/>
          <p:cNvSpPr/>
          <p:nvPr/>
        </p:nvSpPr>
        <p:spPr>
          <a:xfrm>
            <a:off x="8788400" y="2413000"/>
            <a:ext cx="127000" cy="127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17" name="Paso 7"/>
          <p:cNvSpPr/>
          <p:nvPr/>
        </p:nvSpPr>
        <p:spPr>
          <a:xfrm>
            <a:off x="8915400" y="2159000"/>
            <a:ext cx="1206500" cy="508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50800" tIns="38100" rIns="508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000" b="1" spc="20" dirty="0">
                <a:solidFill>
                  <a:srgbClr val="2ED3E8"/>
                </a:solidFill>
              </a:rPr>
              <a:t>CONOCIMIENTO</a:t>
            </a:r>
          </a:p>
        </p:txBody>
      </p:sp>
      <p:sp>
        <p:nvSpPr>
          <p:cNvPr id="992" name="PH VIDEO SPEAKER"/>
          <p:cNvSpPr/>
          <p:nvPr/>
        </p:nvSpPr>
        <p:spPr>
          <a:xfrm>
            <a:off x="10363200" y="1905000"/>
            <a:ext cx="1193800" cy="21209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63500" tIns="38100" rIns="63500" bIns="381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VIDEO SPEAKER ]</a:t>
            </a:r>
          </a:p>
        </p:txBody>
      </p:sp>
      <p:sp>
        <p:nvSpPr>
          <p:cNvPr id="991" name="Etq Speaker"/>
          <p:cNvSpPr/>
          <p:nvPr/>
        </p:nvSpPr>
        <p:spPr>
          <a:xfrm>
            <a:off x="10363200" y="1651000"/>
            <a:ext cx="11938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200" b="0" spc="60" dirty="0">
                <a:solidFill>
                  <a:srgbClr val="5A7290"/>
                </a:solidFill>
              </a:rPr>
              <a:t>EXPOSITOR</a:t>
            </a:r>
          </a:p>
        </p:txBody>
      </p:sp>
      <p:sp>
        <p:nvSpPr>
          <p:cNvPr id="4120" name="PH SCREEN RECORDING OPENKOS INGEST"/>
          <p:cNvSpPr/>
          <p:nvPr/>
        </p:nvSpPr>
        <p:spPr>
          <a:xfrm>
            <a:off x="762000" y="2997200"/>
            <a:ext cx="5334000" cy="2997200"/>
          </a:xfrm>
          <a:prstGeom prst="roundRect">
            <a:avLst/>
          </a:prstGeom>
          <a:solidFill>
            <a:srgbClr val="081420"/>
          </a:solidFill>
          <a:ln w="15875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600" b="1" spc="0" dirty="0">
                <a:solidFill>
                  <a:srgbClr val="2ED3E8"/>
                </a:solidFill>
              </a:rPr>
              <a:t>[ SCREEN RECORDING — OPENKOS INGEST ]</a:t>
            </a:r>
          </a:p>
          <a:p>
            <a:pPr algn="l">
              <a:lnSpc>
                <a:spcPct val="100000"/>
              </a:lnSpc>
              <a:buNone/>
            </a:pPr>
            <a:endParaRPr lang="es-CL" sz="1600" b="1" spc="0" dirty="0">
              <a:solidFill>
                <a:srgbClr val="2ED3E8"/>
              </a:solidFill>
            </a:endParaRPr>
          </a:p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▶  INSERTAR VIDEO AQUÍ</a:t>
            </a:r>
          </a:p>
        </p:txBody>
      </p:sp>
      <p:sp>
        <p:nvSpPr>
          <p:cNvPr id="4121" name="Etq Grabacion"/>
          <p:cNvSpPr/>
          <p:nvPr/>
        </p:nvSpPr>
        <p:spPr>
          <a:xfrm>
            <a:off x="762000" y="2768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5A7290"/>
                </a:solidFill>
              </a:rPr>
              <a:t>DEMOSTRACIÓN · TERMINAL 16:9</a:t>
            </a:r>
          </a:p>
        </p:txBody>
      </p:sp>
      <p:sp>
        <p:nvSpPr>
          <p:cNvPr id="4122" name="Archivo Entrada"/>
          <p:cNvSpPr/>
          <p:nvPr/>
        </p:nvSpPr>
        <p:spPr>
          <a:xfrm>
            <a:off x="6350000" y="3073400"/>
            <a:ext cx="2540000" cy="4064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meeting-notes.txt</a:t>
            </a:r>
          </a:p>
        </p:txBody>
      </p:sp>
      <p:sp>
        <p:nvSpPr>
          <p:cNvPr id="4123" name="FL Ingest 1"/>
          <p:cNvSpPr/>
          <p:nvPr/>
        </p:nvSpPr>
        <p:spPr>
          <a:xfrm>
            <a:off x="7620000" y="3530600"/>
            <a:ext cx="12700" cy="2032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24" name="Comando Ingest"/>
          <p:cNvSpPr/>
          <p:nvPr/>
        </p:nvSpPr>
        <p:spPr>
          <a:xfrm>
            <a:off x="6350000" y="3784600"/>
            <a:ext cx="2540000" cy="406400"/>
          </a:xfrm>
          <a:prstGeom prst="roundRect">
            <a:avLst/>
          </a:prstGeom>
          <a:solidFill>
            <a:srgbClr val="0E2E42"/>
          </a:solidFill>
          <a:ln w="12700">
            <a:solidFill>
              <a:srgbClr val="2ED3E8"/>
            </a:solidFill>
          </a:ln>
        </p:spPr>
        <p:txBody>
          <a:bodyPr wrap="square" lIns="101600" tIns="38100" rIns="101600" bIns="381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openkos ingest</a:t>
            </a:r>
          </a:p>
        </p:txBody>
      </p:sp>
      <p:sp>
        <p:nvSpPr>
          <p:cNvPr id="4125" name="FL Ingest 2"/>
          <p:cNvSpPr/>
          <p:nvPr/>
        </p:nvSpPr>
        <p:spPr>
          <a:xfrm>
            <a:off x="7620000" y="4241800"/>
            <a:ext cx="12700" cy="2032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101600" tIns="38100" rIns="101600" bIns="38100" anchor="ctr">
            <a:noAutofit/>
          </a:bodyPr>
          <a:lstStyle/>
          <a:p>
            <a:endParaRPr lang="es-CL"/>
          </a:p>
        </p:txBody>
      </p:sp>
      <p:sp>
        <p:nvSpPr>
          <p:cNvPr id="4126" name="Salidas"/>
          <p:cNvSpPr/>
          <p:nvPr/>
        </p:nvSpPr>
        <p:spPr>
          <a:xfrm>
            <a:off x="6350000" y="4495800"/>
            <a:ext cx="2540000" cy="1143000"/>
          </a:xfrm>
          <a:prstGeom prst="roundRect">
            <a:avLst/>
          </a:prstGeom>
          <a:solidFill>
            <a:srgbClr val="0E1F31"/>
          </a:solidFill>
          <a:ln w="12700">
            <a:solidFill>
              <a:srgbClr val="1E3548"/>
            </a:solidFill>
          </a:ln>
        </p:spPr>
        <p:txBody>
          <a:bodyPr wrap="square" lIns="177800" tIns="38100" rIns="17780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raw/</a:t>
            </a:r>
          </a:p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bundle/</a:t>
            </a:r>
          </a:p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openkos.yaml</a:t>
            </a:r>
          </a:p>
        </p:txBody>
      </p:sp>
      <p:sp>
        <p:nvSpPr>
          <p:cNvPr id="4127" name="Etq Salida"/>
          <p:cNvSpPr/>
          <p:nvPr/>
        </p:nvSpPr>
        <p:spPr>
          <a:xfrm>
            <a:off x="8890000" y="41148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38100" rIns="0" bIns="381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0" dirty="0">
                <a:solidFill>
                  <a:srgbClr val="5A7290"/>
                </a:solidFill>
              </a:rPr>
              <a:t>EJEMPLO · REPRESENTACIÓN OBJETIVO</a:t>
            </a:r>
          </a:p>
        </p:txBody>
      </p:sp>
      <p:sp>
        <p:nvSpPr>
          <p:cNvPr id="4128" name="Ficha Decision"/>
          <p:cNvSpPr/>
          <p:nvPr/>
        </p:nvSpPr>
        <p:spPr>
          <a:xfrm>
            <a:off x="9144000" y="4343400"/>
            <a:ext cx="2540000" cy="18288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177800" tIns="152400" rIns="177800" bIns="15240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600" b="1" spc="100" dirty="0">
                <a:solidFill>
                  <a:srgbClr val="FFFFFF"/>
                </a:solidFill>
              </a:rPr>
              <a:t>DECISIÓN</a:t>
            </a:r>
          </a:p>
          <a:p>
            <a:pPr algn="l">
              <a:lnSpc>
                <a:spcPct val="135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estado: vigente</a:t>
            </a:r>
          </a:p>
          <a:p>
            <a:pPr algn="l">
              <a:lnSpc>
                <a:spcPct val="135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origen: reunión</a:t>
            </a:r>
          </a:p>
          <a:p>
            <a:pPr algn="l">
              <a:lnSpc>
                <a:spcPct val="135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evidencia: disponible</a:t>
            </a:r>
          </a:p>
          <a:p>
            <a:pPr algn="l">
              <a:lnSpc>
                <a:spcPct val="135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historial: trazable</a:t>
            </a:r>
          </a:p>
        </p:txBody>
      </p:sp>
      <p:sp>
        <p:nvSpPr>
          <p:cNvPr id="4150" name="Pregunta Exp 1"/>
          <p:cNvSpPr/>
          <p:nvPr/>
        </p:nvSpPr>
        <p:spPr>
          <a:xfrm>
            <a:off x="762000" y="60706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000" b="0" spc="80" dirty="0">
                <a:solidFill>
                  <a:srgbClr val="E8EEF5"/>
                </a:solidFill>
              </a:rPr>
              <a:t>01 · EXTRACCIÓN — ¿qué tan bien detectamos y estructuramos decisiones?</a:t>
            </a:r>
          </a:p>
        </p:txBody>
      </p:sp>
      <p:sp>
        <p:nvSpPr>
          <p:cNvPr id="4151" name="Pregunta Exp 2"/>
          <p:cNvSpPr/>
          <p:nvPr/>
        </p:nvSpPr>
        <p:spPr>
          <a:xfrm>
            <a:off x="762000" y="6273800"/>
            <a:ext cx="584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38100" rIns="0" bIns="381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000" b="0" spc="80" dirty="0">
                <a:solidFill>
                  <a:srgbClr val="E8EEF5"/>
                </a:solidFill>
              </a:rPr>
              <a:t>02 · REPRESENTACIÓN — ¿cuándo aporta valor frente a RAG?</a:t>
            </a:r>
          </a:p>
        </p:txBody>
      </p:sp>
    </p:spTree>
    <p:extLst>
      <p:ext uri="{BB962C8B-B14F-4D97-AF65-F5344CB8AC3E}">
        <p14:creationId xmlns:p14="http://schemas.microsoft.com/office/powerpoint/2010/main" val="2774360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2500">
        <p159:morph option="byObject"/>
      </p:transition>
    </mc:Choice>
    <mc:Fallback xmlns="">
      <p:transition spd="slow" advTm="52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51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" dur="35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7952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8252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5" dur="35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1233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5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1533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2" dur="35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12313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25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2613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9" dur="350" fill="hold"/>
                                        <p:tgtEl>
                                          <p:spTgt spid="4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14614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5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4914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36" dur="350" fill="hold"/>
                                        <p:tgtEl>
                                          <p:spTgt spid="4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22616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5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22916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43" dur="350" fill="hold"/>
                                        <p:tgtEl>
                                          <p:spTgt spid="4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8697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25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8997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50" dur="35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37079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37229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57" dur="400" fill="hold"/>
                                        <p:tgtEl>
                                          <p:spTgt spid="4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39119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61" dur="350" fill="hold"/>
                                        <p:tgtEl>
                                          <p:spTgt spid="4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397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50"/>
                                        <p:tgtEl>
                                          <p:spTgt spid="4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01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68" dur="35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407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5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410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75" dur="400" fill="hold"/>
                                        <p:tgtEl>
                                          <p:spTgt spid="4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42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42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2" dur="400" fill="hold"/>
                                        <p:tgtEl>
                                          <p:spTgt spid="4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3331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86" dur="35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48241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415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90" dur="400" fill="hold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49522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94" dur="400" fill="hold"/>
                                        <p:tgtEl>
                                          <p:spTgt spid="4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/>
          <p:nvPr/>
        </p:nvSpPr>
        <p:spPr>
          <a:xfrm>
            <a:off x="762000" y="584200"/>
            <a:ext cx="762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3200" b="1" spc="0" dirty="0">
                <a:solidFill>
                  <a:srgbClr val="FFFFFF"/>
                </a:solidFill>
              </a:rPr>
              <a:t>Metodología de evaluación</a:t>
            </a:r>
          </a:p>
        </p:txBody>
      </p:sp>
      <p:sp>
        <p:nvSpPr>
          <p:cNvPr id="102" name="Regla Titulo"/>
          <p:cNvSpPr/>
          <p:nvPr/>
        </p:nvSpPr>
        <p:spPr>
          <a:xfrm>
            <a:off x="762000" y="11176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103" name="Numero"/>
          <p:cNvSpPr/>
          <p:nvPr/>
        </p:nvSpPr>
        <p:spPr>
          <a:xfrm>
            <a:off x="10617200" y="64770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[ 05 ]</a:t>
            </a:r>
          </a:p>
        </p:txBody>
      </p:sp>
      <p:sp>
        <p:nvSpPr>
          <p:cNvPr id="5104" name="Mismo Corpus"/>
          <p:cNvSpPr/>
          <p:nvPr/>
        </p:nvSpPr>
        <p:spPr>
          <a:xfrm>
            <a:off x="3175000" y="1270000"/>
            <a:ext cx="2540000" cy="406400"/>
          </a:xfrm>
          <a:prstGeom prst="roundRect">
            <a:avLst/>
          </a:prstGeom>
          <a:solidFill>
            <a:srgbClr val="0E2E42"/>
          </a:solidFill>
          <a:ln w="15875">
            <a:solidFill>
              <a:srgbClr val="2ED3E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500" b="1" spc="80" dirty="0">
                <a:solidFill>
                  <a:srgbClr val="2ED3E8"/>
                </a:solidFill>
              </a:rPr>
              <a:t>MISMO CORPUS</a:t>
            </a:r>
          </a:p>
        </p:txBody>
      </p:sp>
      <p:sp>
        <p:nvSpPr>
          <p:cNvPr id="5105" name="Bajada Corpus"/>
          <p:cNvSpPr/>
          <p:nvPr/>
        </p:nvSpPr>
        <p:spPr>
          <a:xfrm>
            <a:off x="4445000" y="1676400"/>
            <a:ext cx="12700" cy="2032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06" name="Bus Superior"/>
          <p:cNvSpPr/>
          <p:nvPr/>
        </p:nvSpPr>
        <p:spPr>
          <a:xfrm>
            <a:off x="1905000" y="1879600"/>
            <a:ext cx="5080000" cy="127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07" name="FL Rama 1"/>
          <p:cNvSpPr/>
          <p:nvPr/>
        </p:nvSpPr>
        <p:spPr>
          <a:xfrm>
            <a:off x="1905000" y="1879600"/>
            <a:ext cx="12700" cy="1778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08" name="FL Rama 2"/>
          <p:cNvSpPr/>
          <p:nvPr/>
        </p:nvSpPr>
        <p:spPr>
          <a:xfrm>
            <a:off x="4445000" y="1879600"/>
            <a:ext cx="12700" cy="1778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09" name="FL Rama 3"/>
          <p:cNvSpPr/>
          <p:nvPr/>
        </p:nvSpPr>
        <p:spPr>
          <a:xfrm>
            <a:off x="6985000" y="1879600"/>
            <a:ext cx="12700" cy="1778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10" name="Carril 1"/>
          <p:cNvSpPr/>
          <p:nvPr/>
        </p:nvSpPr>
        <p:spPr>
          <a:xfrm>
            <a:off x="762000" y="2057400"/>
            <a:ext cx="2286000" cy="2819400"/>
          </a:xfrm>
          <a:prstGeom prst="roundRect">
            <a:avLst/>
          </a:prstGeom>
          <a:solidFill>
            <a:srgbClr val="0C1C2C"/>
          </a:solidFill>
          <a:ln w="12700">
            <a:solidFill>
              <a:srgbClr val="1A2E42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11" name="Cond 1"/>
          <p:cNvSpPr/>
          <p:nvPr/>
        </p:nvSpPr>
        <p:spPr>
          <a:xfrm>
            <a:off x="914400" y="21590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00" dirty="0">
                <a:solidFill>
                  <a:srgbClr val="5A7290"/>
                </a:solidFill>
              </a:rPr>
              <a:t>CONDICIÓN 1</a:t>
            </a:r>
          </a:p>
        </p:txBody>
      </p:sp>
      <p:sp>
        <p:nvSpPr>
          <p:cNvPr id="5112" name="Nombre 1"/>
          <p:cNvSpPr/>
          <p:nvPr/>
        </p:nvSpPr>
        <p:spPr>
          <a:xfrm>
            <a:off x="914400" y="23622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2540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CL" sz="1200" b="1" spc="0" dirty="0">
                <a:solidFill>
                  <a:srgbClr val="FFFFFF"/>
                </a:solidFill>
              </a:rPr>
              <a:t>RAG DOCUMENTAL</a:t>
            </a:r>
          </a:p>
        </p:txBody>
      </p:sp>
      <p:sp>
        <p:nvSpPr>
          <p:cNvPr id="5113" name="Badge 1"/>
          <p:cNvSpPr/>
          <p:nvPr/>
        </p:nvSpPr>
        <p:spPr>
          <a:xfrm>
            <a:off x="914400" y="2514600"/>
            <a:ext cx="1270" cy="1270"/>
          </a:xfrm>
          <a:prstGeom prst="rect">
            <a:avLst/>
          </a:prstGeom>
          <a:solidFill>
            <a:srgbClr val="2A4257"/>
          </a:solidFill>
          <a:ln>
            <a:noFill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14" name="C1 Paso 1"/>
          <p:cNvSpPr/>
          <p:nvPr/>
        </p:nvSpPr>
        <p:spPr>
          <a:xfrm>
            <a:off x="914400" y="28702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Transcripciones</a:t>
            </a:r>
          </a:p>
        </p:txBody>
      </p:sp>
      <p:sp>
        <p:nvSpPr>
          <p:cNvPr id="5115" name="C1 FL 1"/>
          <p:cNvSpPr/>
          <p:nvPr/>
        </p:nvSpPr>
        <p:spPr>
          <a:xfrm>
            <a:off x="1905000" y="3263900"/>
            <a:ext cx="12700" cy="127000"/>
          </a:xfrm>
          <a:prstGeom prst="line">
            <a:avLst/>
          </a:prstGeom>
          <a:noFill/>
          <a:ln w="15875">
            <a:solidFill>
              <a:srgbClr val="2A4257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16" name="C1 Paso 2"/>
          <p:cNvSpPr/>
          <p:nvPr/>
        </p:nvSpPr>
        <p:spPr>
          <a:xfrm>
            <a:off x="914400" y="34036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recuperación</a:t>
            </a:r>
          </a:p>
        </p:txBody>
      </p:sp>
      <p:sp>
        <p:nvSpPr>
          <p:cNvPr id="5117" name="C1 FL 2"/>
          <p:cNvSpPr/>
          <p:nvPr/>
        </p:nvSpPr>
        <p:spPr>
          <a:xfrm>
            <a:off x="1905000" y="3797300"/>
            <a:ext cx="12700" cy="660400"/>
          </a:xfrm>
          <a:prstGeom prst="line">
            <a:avLst/>
          </a:prstGeom>
          <a:noFill/>
          <a:ln w="15875">
            <a:solidFill>
              <a:srgbClr val="2A4257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18" name="C1 Paso 3"/>
          <p:cNvSpPr/>
          <p:nvPr/>
        </p:nvSpPr>
        <p:spPr>
          <a:xfrm>
            <a:off x="914400" y="44704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A4257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respuesta</a:t>
            </a:r>
          </a:p>
        </p:txBody>
      </p:sp>
      <p:sp>
        <p:nvSpPr>
          <p:cNvPr id="5119" name="Bajada C1"/>
          <p:cNvSpPr/>
          <p:nvPr/>
        </p:nvSpPr>
        <p:spPr>
          <a:xfrm>
            <a:off x="1905000" y="4876800"/>
            <a:ext cx="12700" cy="1524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20" name="Carril 2"/>
          <p:cNvSpPr/>
          <p:nvPr/>
        </p:nvSpPr>
        <p:spPr>
          <a:xfrm>
            <a:off x="3302000" y="2057400"/>
            <a:ext cx="2286000" cy="2819400"/>
          </a:xfrm>
          <a:prstGeom prst="roundRect">
            <a:avLst/>
          </a:prstGeom>
          <a:solidFill>
            <a:srgbClr val="0C1C2C"/>
          </a:solidFill>
          <a:ln w="12700">
            <a:solidFill>
              <a:srgbClr val="1A2E42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21" name="Cond 2"/>
          <p:cNvSpPr/>
          <p:nvPr/>
        </p:nvSpPr>
        <p:spPr>
          <a:xfrm>
            <a:off x="3454400" y="21590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00" dirty="0">
                <a:solidFill>
                  <a:srgbClr val="5A7290"/>
                </a:solidFill>
              </a:rPr>
              <a:t>CONDICIÓN 2</a:t>
            </a:r>
          </a:p>
        </p:txBody>
      </p:sp>
      <p:sp>
        <p:nvSpPr>
          <p:cNvPr id="5122" name="Nombre 2"/>
          <p:cNvSpPr/>
          <p:nvPr/>
        </p:nvSpPr>
        <p:spPr>
          <a:xfrm>
            <a:off x="3454400" y="23622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CL" sz="1100" b="1" spc="0" dirty="0">
                <a:solidFill>
                  <a:srgbClr val="FFFFFF"/>
                </a:solidFill>
              </a:rPr>
              <a:t>BASE COMPILADA MANUALMENTE</a:t>
            </a:r>
          </a:p>
        </p:txBody>
      </p:sp>
      <p:sp>
        <p:nvSpPr>
          <p:cNvPr id="5123" name="Badge 2"/>
          <p:cNvSpPr/>
          <p:nvPr/>
        </p:nvSpPr>
        <p:spPr>
          <a:xfrm>
            <a:off x="3454400" y="2514600"/>
            <a:ext cx="1270" cy="1270"/>
          </a:xfrm>
          <a:prstGeom prst="rect">
            <a:avLst/>
          </a:prstGeom>
          <a:solidFill>
            <a:srgbClr val="1D5C9E"/>
          </a:solidFill>
          <a:ln>
            <a:noFill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24" name="C2 Paso 1"/>
          <p:cNvSpPr/>
          <p:nvPr/>
        </p:nvSpPr>
        <p:spPr>
          <a:xfrm>
            <a:off x="3454400" y="28702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Anotación humana</a:t>
            </a:r>
          </a:p>
        </p:txBody>
      </p:sp>
      <p:sp>
        <p:nvSpPr>
          <p:cNvPr id="5125" name="C2 FL 1"/>
          <p:cNvSpPr/>
          <p:nvPr/>
        </p:nvSpPr>
        <p:spPr>
          <a:xfrm>
            <a:off x="4445000" y="3263900"/>
            <a:ext cx="12700" cy="1270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26" name="C2 Paso 2"/>
          <p:cNvSpPr/>
          <p:nvPr/>
        </p:nvSpPr>
        <p:spPr>
          <a:xfrm>
            <a:off x="3454400" y="34036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Base estructurada</a:t>
            </a:r>
          </a:p>
        </p:txBody>
      </p:sp>
      <p:sp>
        <p:nvSpPr>
          <p:cNvPr id="5127" name="C2 FL 2"/>
          <p:cNvSpPr/>
          <p:nvPr/>
        </p:nvSpPr>
        <p:spPr>
          <a:xfrm>
            <a:off x="4445000" y="3797300"/>
            <a:ext cx="12700" cy="660400"/>
          </a:xfrm>
          <a:prstGeom prst="line">
            <a:avLst/>
          </a:prstGeom>
          <a:noFill/>
          <a:ln w="15875">
            <a:solidFill>
              <a:srgbClr val="1D5C9E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28" name="C2 Paso 3"/>
          <p:cNvSpPr/>
          <p:nvPr/>
        </p:nvSpPr>
        <p:spPr>
          <a:xfrm>
            <a:off x="3454400" y="44704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1D5C9E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respuesta</a:t>
            </a:r>
          </a:p>
        </p:txBody>
      </p:sp>
      <p:sp>
        <p:nvSpPr>
          <p:cNvPr id="5129" name="Bajada C2"/>
          <p:cNvSpPr/>
          <p:nvPr/>
        </p:nvSpPr>
        <p:spPr>
          <a:xfrm>
            <a:off x="4445000" y="4876800"/>
            <a:ext cx="12700" cy="1524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30" name="Carril 3"/>
          <p:cNvSpPr/>
          <p:nvPr/>
        </p:nvSpPr>
        <p:spPr>
          <a:xfrm>
            <a:off x="5842000" y="2057400"/>
            <a:ext cx="2286000" cy="2819400"/>
          </a:xfrm>
          <a:prstGeom prst="roundRect">
            <a:avLst/>
          </a:prstGeom>
          <a:solidFill>
            <a:srgbClr val="0C1C2C"/>
          </a:solidFill>
          <a:ln w="12700">
            <a:solidFill>
              <a:srgbClr val="1A2E42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31" name="Cond 3"/>
          <p:cNvSpPr/>
          <p:nvPr/>
        </p:nvSpPr>
        <p:spPr>
          <a:xfrm>
            <a:off x="5994400" y="21590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00" dirty="0">
                <a:solidFill>
                  <a:srgbClr val="5A7290"/>
                </a:solidFill>
              </a:rPr>
              <a:t>CONDICIÓN 3</a:t>
            </a:r>
          </a:p>
        </p:txBody>
      </p:sp>
      <p:sp>
        <p:nvSpPr>
          <p:cNvPr id="5132" name="Nombre 3"/>
          <p:cNvSpPr/>
          <p:nvPr/>
        </p:nvSpPr>
        <p:spPr>
          <a:xfrm>
            <a:off x="5994400" y="23622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s-CL" sz="1100" b="1" spc="0" dirty="0">
                <a:solidFill>
                  <a:srgbClr val="FFFFFF"/>
                </a:solidFill>
              </a:rPr>
              <a:t>BASE COMPILADA AUTOMÁTICAMENTE</a:t>
            </a:r>
          </a:p>
        </p:txBody>
      </p:sp>
      <p:sp>
        <p:nvSpPr>
          <p:cNvPr id="5133" name="Badge 3"/>
          <p:cNvSpPr/>
          <p:nvPr/>
        </p:nvSpPr>
        <p:spPr>
          <a:xfrm>
            <a:off x="5994400" y="2514600"/>
            <a:ext cx="1270" cy="127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34" name="C3 Paso 1"/>
          <p:cNvSpPr/>
          <p:nvPr/>
        </p:nvSpPr>
        <p:spPr>
          <a:xfrm>
            <a:off x="5994400" y="28702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Transcripciones</a:t>
            </a:r>
          </a:p>
        </p:txBody>
      </p:sp>
      <p:sp>
        <p:nvSpPr>
          <p:cNvPr id="5135" name="C3 FL 1"/>
          <p:cNvSpPr/>
          <p:nvPr/>
        </p:nvSpPr>
        <p:spPr>
          <a:xfrm>
            <a:off x="6985000" y="3263900"/>
            <a:ext cx="12700" cy="1270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36" name="C3 Paso 2"/>
          <p:cNvSpPr/>
          <p:nvPr/>
        </p:nvSpPr>
        <p:spPr>
          <a:xfrm>
            <a:off x="5994400" y="34036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LLM local</a:t>
            </a:r>
          </a:p>
        </p:txBody>
      </p:sp>
      <p:sp>
        <p:nvSpPr>
          <p:cNvPr id="5137" name="C3 FL 2"/>
          <p:cNvSpPr/>
          <p:nvPr/>
        </p:nvSpPr>
        <p:spPr>
          <a:xfrm>
            <a:off x="6985000" y="3797300"/>
            <a:ext cx="12700" cy="1270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38" name="C3 Paso 3"/>
          <p:cNvSpPr/>
          <p:nvPr/>
        </p:nvSpPr>
        <p:spPr>
          <a:xfrm>
            <a:off x="5994400" y="39370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FFFFFF"/>
                </a:solidFill>
              </a:rPr>
              <a:t>Base estructurada</a:t>
            </a:r>
          </a:p>
        </p:txBody>
      </p:sp>
      <p:sp>
        <p:nvSpPr>
          <p:cNvPr id="5139" name="C3 FL 3"/>
          <p:cNvSpPr/>
          <p:nvPr/>
        </p:nvSpPr>
        <p:spPr>
          <a:xfrm>
            <a:off x="6985000" y="4330700"/>
            <a:ext cx="12700" cy="1270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40" name="C3 Paso 4"/>
          <p:cNvSpPr/>
          <p:nvPr/>
        </p:nvSpPr>
        <p:spPr>
          <a:xfrm>
            <a:off x="5994400" y="4470400"/>
            <a:ext cx="19812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respuesta</a:t>
            </a:r>
          </a:p>
        </p:txBody>
      </p:sp>
      <p:sp>
        <p:nvSpPr>
          <p:cNvPr id="5141" name="Bajada C3"/>
          <p:cNvSpPr/>
          <p:nvPr/>
        </p:nvSpPr>
        <p:spPr>
          <a:xfrm>
            <a:off x="6985000" y="4876800"/>
            <a:ext cx="12700" cy="1524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42" name="Etiqueta 1"/>
          <p:cNvSpPr/>
          <p:nvPr/>
        </p:nvSpPr>
        <p:spPr>
          <a:xfrm>
            <a:off x="914400" y="2794000"/>
            <a:ext cx="2032000" cy="127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5143" name="Etiqueta 2"/>
          <p:cNvSpPr/>
          <p:nvPr/>
        </p:nvSpPr>
        <p:spPr>
          <a:xfrm>
            <a:off x="3454400" y="2794000"/>
            <a:ext cx="2032000" cy="127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5144" name="Etiqueta 3"/>
          <p:cNvSpPr/>
          <p:nvPr/>
        </p:nvSpPr>
        <p:spPr>
          <a:xfrm>
            <a:off x="5994400" y="2794000"/>
            <a:ext cx="2032000" cy="127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endParaRPr/>
          </a:p>
        </p:txBody>
      </p:sp>
      <p:sp>
        <p:nvSpPr>
          <p:cNvPr id="5145" name="Etq Cond 1"/>
          <p:cNvSpPr/>
          <p:nvPr/>
        </p:nvSpPr>
        <p:spPr>
          <a:xfrm>
            <a:off x="914400" y="2692400"/>
            <a:ext cx="1981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100" b="0" spc="40" dirty="0">
                <a:solidFill>
                  <a:srgbClr val="9FB3C8"/>
                </a:solidFill>
              </a:rPr>
              <a:t>Recuperación directa</a:t>
            </a:r>
          </a:p>
        </p:txBody>
      </p:sp>
      <p:sp>
        <p:nvSpPr>
          <p:cNvPr id="5146" name="Etq Cond 2"/>
          <p:cNvSpPr/>
          <p:nvPr/>
        </p:nvSpPr>
        <p:spPr>
          <a:xfrm>
            <a:off x="3454400" y="2692400"/>
            <a:ext cx="1981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100" b="0" spc="40" dirty="0">
                <a:solidFill>
                  <a:srgbClr val="9FB3C8"/>
                </a:solidFill>
              </a:rPr>
              <a:t>Techo teórico</a:t>
            </a:r>
          </a:p>
        </p:txBody>
      </p:sp>
      <p:sp>
        <p:nvSpPr>
          <p:cNvPr id="5147" name="Etq Cond 3"/>
          <p:cNvSpPr/>
          <p:nvPr/>
        </p:nvSpPr>
        <p:spPr>
          <a:xfrm>
            <a:off x="5994400" y="2692400"/>
            <a:ext cx="19812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100" b="0" spc="40" dirty="0">
                <a:solidFill>
                  <a:srgbClr val="2ED3E8"/>
                </a:solidFill>
              </a:rPr>
              <a:t>Sistema completo</a:t>
            </a:r>
          </a:p>
        </p:txBody>
      </p:sp>
      <p:sp>
        <p:nvSpPr>
          <p:cNvPr id="5148" name="Bus Inferior"/>
          <p:cNvSpPr/>
          <p:nvPr/>
        </p:nvSpPr>
        <p:spPr>
          <a:xfrm>
            <a:off x="1905000" y="5029200"/>
            <a:ext cx="5080000" cy="12700"/>
          </a:xfrm>
          <a:prstGeom prst="line">
            <a:avLst/>
          </a:prstGeom>
          <a:noFill/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49" name="FL Convergencia"/>
          <p:cNvSpPr/>
          <p:nvPr/>
        </p:nvSpPr>
        <p:spPr>
          <a:xfrm>
            <a:off x="4445000" y="5029200"/>
            <a:ext cx="12700" cy="1778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50" name="Mismas Preguntas"/>
          <p:cNvSpPr/>
          <p:nvPr/>
        </p:nvSpPr>
        <p:spPr>
          <a:xfrm>
            <a:off x="3175000" y="5232400"/>
            <a:ext cx="25400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1" spc="60" dirty="0">
                <a:solidFill>
                  <a:srgbClr val="2ED3E8"/>
                </a:solidFill>
              </a:rPr>
              <a:t>MISMAS PREGUNTAS</a:t>
            </a:r>
          </a:p>
        </p:txBody>
      </p:sp>
      <p:sp>
        <p:nvSpPr>
          <p:cNvPr id="5151" name="FL Comparacion"/>
          <p:cNvSpPr/>
          <p:nvPr/>
        </p:nvSpPr>
        <p:spPr>
          <a:xfrm>
            <a:off x="4445000" y="5638800"/>
            <a:ext cx="12700" cy="152400"/>
          </a:xfrm>
          <a:prstGeom prst="line">
            <a:avLst/>
          </a:prstGeom>
          <a:noFill/>
          <a:ln w="15875">
            <a:solidFill>
              <a:srgbClr val="2ED3E8"/>
            </a:solidFill>
            <a:tailEnd type="triangle"/>
          </a:ln>
        </p:spPr>
        <p:txBody>
          <a:bodyPr wrap="square" lIns="76200" tIns="25400" rIns="76200" bIns="25400" anchor="ctr">
            <a:noAutofit/>
          </a:bodyPr>
          <a:lstStyle/>
          <a:p>
            <a:endParaRPr lang="es-CL"/>
          </a:p>
        </p:txBody>
      </p:sp>
      <p:sp>
        <p:nvSpPr>
          <p:cNvPr id="5152" name="Comparacion"/>
          <p:cNvSpPr/>
          <p:nvPr/>
        </p:nvSpPr>
        <p:spPr>
          <a:xfrm>
            <a:off x="2921000" y="5816600"/>
            <a:ext cx="3048000" cy="406400"/>
          </a:xfrm>
          <a:prstGeom prst="roundRect">
            <a:avLst/>
          </a:prstGeom>
          <a:solidFill>
            <a:srgbClr val="0E2E42"/>
          </a:solidFill>
          <a:ln w="15875">
            <a:solidFill>
              <a:srgbClr val="2ED3E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1" spc="60" dirty="0">
                <a:solidFill>
                  <a:srgbClr val="FFFFFF"/>
                </a:solidFill>
              </a:rPr>
              <a:t>COMPARACIÓN CUANTITATIVA</a:t>
            </a:r>
          </a:p>
        </p:txBody>
      </p:sp>
      <p:sp>
        <p:nvSpPr>
          <p:cNvPr id="5153" name="Etq Query"/>
          <p:cNvSpPr/>
          <p:nvPr/>
        </p:nvSpPr>
        <p:spPr>
          <a:xfrm>
            <a:off x="8509000" y="12700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5A7290"/>
                </a:solidFill>
              </a:rPr>
              <a:t>DEMOSTRACIÓN · CONSULTA</a:t>
            </a:r>
          </a:p>
        </p:txBody>
      </p:sp>
      <p:sp>
        <p:nvSpPr>
          <p:cNvPr id="5154" name="PH SCREEN RECORDING OPENKOS QUERY"/>
          <p:cNvSpPr/>
          <p:nvPr/>
        </p:nvSpPr>
        <p:spPr>
          <a:xfrm>
            <a:off x="8509000" y="1524000"/>
            <a:ext cx="3175000" cy="1790700"/>
          </a:xfrm>
          <a:prstGeom prst="roundRect">
            <a:avLst/>
          </a:prstGeom>
          <a:solidFill>
            <a:srgbClr val="081420"/>
          </a:solidFill>
          <a:ln w="15875">
            <a:solidFill>
              <a:srgbClr val="2ED3E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SCREEN RECORDING — OPENKOS QUERY ]</a:t>
            </a:r>
          </a:p>
          <a:p>
            <a:pPr algn="ctr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▶  INSERTAR VIDEO AQUÍ</a:t>
            </a:r>
          </a:p>
        </p:txBody>
      </p:sp>
      <p:sp>
        <p:nvSpPr>
          <p:cNvPr id="5155" name="Comando Query"/>
          <p:cNvSpPr/>
          <p:nvPr/>
        </p:nvSpPr>
        <p:spPr>
          <a:xfrm>
            <a:off x="8509000" y="3429000"/>
            <a:ext cx="3175000" cy="381000"/>
          </a:xfrm>
          <a:prstGeom prst="roundRect">
            <a:avLst/>
          </a:prstGeom>
          <a:solidFill>
            <a:srgbClr val="0E1F31"/>
          </a:solidFill>
          <a:ln w="12700">
            <a:solidFill>
              <a:srgbClr val="1E3548"/>
            </a:solidFill>
          </a:ln>
        </p:spPr>
        <p:txBody>
          <a:bodyPr wrap="square" lIns="127000" tIns="25400" rIns="12700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300" b="0" spc="0" dirty="0">
                <a:solidFill>
                  <a:srgbClr val="9FB3C8"/>
                </a:solidFill>
              </a:rPr>
              <a:t>openkos query "what did we decide?"</a:t>
            </a:r>
          </a:p>
        </p:txBody>
      </p:sp>
      <p:sp>
        <p:nvSpPr>
          <p:cNvPr id="5156" name="Nota Query"/>
          <p:cNvSpPr/>
          <p:nvPr/>
        </p:nvSpPr>
        <p:spPr>
          <a:xfrm>
            <a:off x="8509000" y="39116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en pantalla: respuesta + procedencia / evidencia</a:t>
            </a:r>
          </a:p>
        </p:txBody>
      </p:sp>
      <p:sp>
        <p:nvSpPr>
          <p:cNvPr id="992" name="PH VIDEO SPEAKER"/>
          <p:cNvSpPr/>
          <p:nvPr/>
        </p:nvSpPr>
        <p:spPr>
          <a:xfrm>
            <a:off x="10617200" y="4572000"/>
            <a:ext cx="1066800" cy="16510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50800" tIns="25400" rIns="50800" bIns="254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VIDEO SPEAKER ]</a:t>
            </a:r>
          </a:p>
        </p:txBody>
      </p:sp>
      <p:sp>
        <p:nvSpPr>
          <p:cNvPr id="5157" name="Etq Modelo"/>
          <p:cNvSpPr/>
          <p:nvPr/>
        </p:nvSpPr>
        <p:spPr>
          <a:xfrm>
            <a:off x="5842000" y="1270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000" b="0" spc="80" dirty="0">
                <a:solidFill>
                  <a:srgbClr val="5A7290"/>
                </a:solidFill>
              </a:rPr>
              <a:t>MISMO MODELO GENERADOR</a:t>
            </a:r>
          </a:p>
        </p:txBody>
      </p:sp>
      <p:sp>
        <p:nvSpPr>
          <p:cNvPr id="5158" name="Etq Corpus"/>
          <p:cNvSpPr/>
          <p:nvPr/>
        </p:nvSpPr>
        <p:spPr>
          <a:xfrm>
            <a:off x="5842000" y="1473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000" b="0" spc="80" dirty="0">
                <a:solidFill>
                  <a:srgbClr val="5A7290"/>
                </a:solidFill>
              </a:rPr>
              <a:t>AMI MEETING CORPUS</a:t>
            </a:r>
          </a:p>
        </p:txBody>
      </p:sp>
    </p:spTree>
    <p:extLst>
      <p:ext uri="{BB962C8B-B14F-4D97-AF65-F5344CB8AC3E}">
        <p14:creationId xmlns:p14="http://schemas.microsoft.com/office/powerpoint/2010/main" val="2917384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71770">
        <p159:morph option="byObject"/>
      </p:transition>
    </mc:Choice>
    <mc:Fallback xmlns="">
      <p:transition spd="slow" advTm="717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5313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563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350"/>
                                        <p:tgtEl>
                                          <p:spTgt spid="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511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3" dur="350" fill="hold"/>
                                        <p:tgtEl>
                                          <p:spTgt spid="5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6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512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7" dur="350" fill="hold"/>
                                        <p:tgtEl>
                                          <p:spTgt spid="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6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31" dur="35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754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4837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3821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112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44" dur="350" fill="hold"/>
                                        <p:tgtEl>
                                          <p:spTgt spid="5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496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2156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511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51" dur="350" fill="hold"/>
                                        <p:tgtEl>
                                          <p:spTgt spid="5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12356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250"/>
                                        <p:tgtEl>
                                          <p:spTgt spid="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2556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511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58" dur="350" fill="hold"/>
                                        <p:tgtEl>
                                          <p:spTgt spid="5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12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50"/>
                                        <p:tgtEl>
                                          <p:spTgt spid="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13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511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65" dur="350" fill="hold"/>
                                        <p:tgtEl>
                                          <p:spTgt spid="5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67" dur="300" fill="hold"/>
                                        <p:tgtEl>
                                          <p:spTgt spid="5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8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69" dur="300" fill="hold"/>
                                        <p:tgtEl>
                                          <p:spTgt spid="5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0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1" dur="300" fill="hold"/>
                                        <p:tgtEl>
                                          <p:spTgt spid="5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2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3" dur="300" fill="hold"/>
                                        <p:tgtEl>
                                          <p:spTgt spid="5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4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5" dur="300" fill="hold"/>
                                        <p:tgtEl>
                                          <p:spTgt spid="5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6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7" dur="300" fill="hold"/>
                                        <p:tgtEl>
                                          <p:spTgt spid="5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8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9" dur="300" fill="hold"/>
                                        <p:tgtEl>
                                          <p:spTgt spid="5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0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1" dur="300" fill="hold"/>
                                        <p:tgtEl>
                                          <p:spTgt spid="5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2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3" dur="300" fill="hold"/>
                                        <p:tgtEl>
                                          <p:spTgt spid="5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4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5" dur="3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6" presetID="55" presetClass="emph" presetSubtype="0" fill="hold" nodeType="withEffect">
                                  <p:stCondLst>
                                    <p:cond delay="14537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7" dur="3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15538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91" dur="35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7559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9679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98" dur="35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19979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25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203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05" dur="35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nodeType="withEffect">
                                  <p:stCondLst>
                                    <p:cond delay="208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25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2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12" dur="35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4" dur="300" fill="hold"/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5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6" dur="3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7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8" dur="3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9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0" dur="3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1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2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3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4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5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6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7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8" dur="3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9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0" dur="3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1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2" dur="3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3" presetID="55" presetClass="emph" presetSubtype="0" fill="hold" nodeType="withEffect">
                                  <p:stCondLst>
                                    <p:cond delay="23521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4" dur="3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24542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38" dur="35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26883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28538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5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45" dur="35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28838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25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29118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52" dur="35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29418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25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29618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35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59" dur="350" fill="hold"/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nodeType="withEffect">
                                  <p:stCondLst>
                                    <p:cond delay="29918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25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30118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66" dur="350" fill="hold"/>
                                        <p:tgtEl>
                                          <p:spTgt spid="5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55" presetClass="emph" presetSubtype="0" fill="hold" nodeType="withEffect">
                                  <p:stCondLst>
                                    <p:cond delay="32699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68" dur="400" autoRev="1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9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0" dur="300" fill="hold"/>
                                        <p:tgtEl>
                                          <p:spTgt spid="5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1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2" dur="300" fill="hold"/>
                                        <p:tgtEl>
                                          <p:spTgt spid="5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3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4" dur="300" fill="hold"/>
                                        <p:tgtEl>
                                          <p:spTgt spid="5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5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6" dur="300" fill="hold"/>
                                        <p:tgtEl>
                                          <p:spTgt spid="5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7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78" dur="300" fill="hold"/>
                                        <p:tgtEl>
                                          <p:spTgt spid="5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9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80" dur="300" fill="hold"/>
                                        <p:tgtEl>
                                          <p:spTgt spid="5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1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82" dur="300" fill="hold"/>
                                        <p:tgtEl>
                                          <p:spTgt spid="5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3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84" dur="300" fill="hold"/>
                                        <p:tgtEl>
                                          <p:spTgt spid="5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5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86" dur="300" fill="hold"/>
                                        <p:tgtEl>
                                          <p:spTgt spid="5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7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88" dur="3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9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90" dur="3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1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92" dur="300" fill="hold"/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3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94" dur="300" fill="hold"/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5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96" dur="3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7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98" dur="3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9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00" dur="3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1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02" dur="3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3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04" dur="3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5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06" dur="3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7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08" dur="3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9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10" dur="3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1" presetID="55" presetClass="emph" presetSubtype="0" fill="hold" nodeType="withEffect">
                                  <p:stCondLst>
                                    <p:cond delay="58670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12" dur="300" fill="hold"/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3" presetID="22" presetClass="entr" presetSubtype="1" fill="hold" nodeType="withEffect">
                                  <p:stCondLst>
                                    <p:cond delay="5897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250"/>
                                        <p:tgtEl>
                                          <p:spTgt spid="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1" fill="hold" nodeType="withEffect">
                                  <p:stCondLst>
                                    <p:cond delay="5897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25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1" fill="hold" nodeType="withEffect">
                                  <p:stCondLst>
                                    <p:cond delay="5897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25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nodeType="withEffect">
                                  <p:stCondLst>
                                    <p:cond delay="5927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35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1" fill="hold" nodeType="withEffect">
                                  <p:stCondLst>
                                    <p:cond delay="59551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250"/>
                                        <p:tgtEl>
                                          <p:spTgt spid="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61172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350"/>
                                        <p:tgtEl>
                                          <p:spTgt spid="515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31" dur="350" fill="hold"/>
                                        <p:tgtEl>
                                          <p:spTgt spid="5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32" presetID="22" presetClass="entr" presetSubtype="1" fill="hold" nodeType="withEffect">
                                  <p:stCondLst>
                                    <p:cond delay="629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25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63054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5152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38" dur="400" fill="hold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65135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300"/>
                                        <p:tgtEl>
                                          <p:spTgt spid="5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65285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45" dur="400" fill="hold"/>
                                        <p:tgtEl>
                                          <p:spTgt spid="5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67057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68758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2712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00"/>
                                        <p:tgtEl>
                                          <p:spTgt spid="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4193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3012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55" presetClass="emph" presetSubtype="0" fill="hold" nodeType="withEffect">
                                  <p:stCondLst>
                                    <p:cond delay="32699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2" dur="300" fill="hold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63" presetID="55" presetClass="emph" presetSubtype="0" fill="hold" nodeType="withEffect">
                                  <p:stCondLst>
                                    <p:cond delay="32849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4" dur="300" fill="hold"/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/>
          <p:nvPr/>
        </p:nvSpPr>
        <p:spPr>
          <a:xfrm>
            <a:off x="762000" y="584200"/>
            <a:ext cx="787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3200" b="1" spc="0" dirty="0">
                <a:solidFill>
                  <a:srgbClr val="FFFFFF"/>
                </a:solidFill>
              </a:rPr>
              <a:t>Cuantificación del rendimiento</a:t>
            </a:r>
          </a:p>
        </p:txBody>
      </p:sp>
      <p:sp>
        <p:nvSpPr>
          <p:cNvPr id="102" name="Regla Titulo"/>
          <p:cNvSpPr/>
          <p:nvPr/>
        </p:nvSpPr>
        <p:spPr>
          <a:xfrm>
            <a:off x="762000" y="11176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103" name="Numero"/>
          <p:cNvSpPr/>
          <p:nvPr/>
        </p:nvSpPr>
        <p:spPr>
          <a:xfrm>
            <a:off x="10617200" y="64770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[ 06 ]</a:t>
            </a:r>
          </a:p>
        </p:txBody>
      </p:sp>
      <p:sp>
        <p:nvSpPr>
          <p:cNvPr id="6104" name="Regla 01"/>
          <p:cNvSpPr/>
          <p:nvPr/>
        </p:nvSpPr>
        <p:spPr>
          <a:xfrm>
            <a:off x="762000" y="1524000"/>
            <a:ext cx="3683000" cy="12700"/>
          </a:xfrm>
          <a:prstGeom prst="rect">
            <a:avLst/>
          </a:prstGeom>
          <a:solidFill>
            <a:srgbClr val="24435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05" name="Num 01"/>
          <p:cNvSpPr/>
          <p:nvPr/>
        </p:nvSpPr>
        <p:spPr>
          <a:xfrm>
            <a:off x="762000" y="1651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01</a:t>
            </a:r>
          </a:p>
        </p:txBody>
      </p:sp>
      <p:sp>
        <p:nvSpPr>
          <p:cNvPr id="6106" name="Modulo 01"/>
          <p:cNvSpPr/>
          <p:nvPr/>
        </p:nvSpPr>
        <p:spPr>
          <a:xfrm>
            <a:off x="762000" y="19304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RENDIMIENTO NLP</a:t>
            </a:r>
          </a:p>
        </p:txBody>
      </p:sp>
      <p:sp>
        <p:nvSpPr>
          <p:cNvPr id="6107" name="Etq 01"/>
          <p:cNvSpPr/>
          <p:nvPr/>
        </p:nvSpPr>
        <p:spPr>
          <a:xfrm>
            <a:off x="762000" y="2209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ground truth humano</a:t>
            </a:r>
          </a:p>
        </p:txBody>
      </p:sp>
      <p:sp>
        <p:nvSpPr>
          <p:cNvPr id="6108" name="Desc 01"/>
          <p:cNvSpPr/>
          <p:nvPr/>
        </p:nvSpPr>
        <p:spPr>
          <a:xfrm>
            <a:off x="762000" y="2463800"/>
            <a:ext cx="368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Precisión, cobertura y F1 de las decisiones extraídas.</a:t>
            </a:r>
          </a:p>
        </p:txBody>
      </p:sp>
      <p:sp>
        <p:nvSpPr>
          <p:cNvPr id="6109" name="Regla 02"/>
          <p:cNvSpPr/>
          <p:nvPr/>
        </p:nvSpPr>
        <p:spPr>
          <a:xfrm>
            <a:off x="4699000" y="1524000"/>
            <a:ext cx="3683000" cy="12700"/>
          </a:xfrm>
          <a:prstGeom prst="rect">
            <a:avLst/>
          </a:prstGeom>
          <a:solidFill>
            <a:srgbClr val="24435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10" name="Num 02"/>
          <p:cNvSpPr/>
          <p:nvPr/>
        </p:nvSpPr>
        <p:spPr>
          <a:xfrm>
            <a:off x="4699000" y="1651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02</a:t>
            </a:r>
          </a:p>
        </p:txBody>
      </p:sp>
      <p:sp>
        <p:nvSpPr>
          <p:cNvPr id="6111" name="Modulo 02"/>
          <p:cNvSpPr/>
          <p:nvPr/>
        </p:nvSpPr>
        <p:spPr>
          <a:xfrm>
            <a:off x="4699000" y="19304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RIESGO DE ALUCINACIÓN</a:t>
            </a:r>
          </a:p>
        </p:txBody>
      </p:sp>
      <p:sp>
        <p:nvSpPr>
          <p:cNvPr id="6112" name="Etq 02"/>
          <p:cNvSpPr/>
          <p:nvPr/>
        </p:nvSpPr>
        <p:spPr>
          <a:xfrm>
            <a:off x="4699000" y="2209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citas · evidencia</a:t>
            </a:r>
          </a:p>
        </p:txBody>
      </p:sp>
      <p:sp>
        <p:nvSpPr>
          <p:cNvPr id="6113" name="Desc 02"/>
          <p:cNvSpPr/>
          <p:nvPr/>
        </p:nvSpPr>
        <p:spPr>
          <a:xfrm>
            <a:off x="4699000" y="2463800"/>
            <a:ext cx="368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Tasa de citas incorrectas y verificación del respaldo en el texto de origen.</a:t>
            </a:r>
          </a:p>
        </p:txBody>
      </p:sp>
      <p:sp>
        <p:nvSpPr>
          <p:cNvPr id="6114" name="Regla 03"/>
          <p:cNvSpPr/>
          <p:nvPr/>
        </p:nvSpPr>
        <p:spPr>
          <a:xfrm>
            <a:off x="762000" y="3175000"/>
            <a:ext cx="3683000" cy="12700"/>
          </a:xfrm>
          <a:prstGeom prst="rect">
            <a:avLst/>
          </a:prstGeom>
          <a:solidFill>
            <a:srgbClr val="24435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15" name="Num 03"/>
          <p:cNvSpPr/>
          <p:nvPr/>
        </p:nvSpPr>
        <p:spPr>
          <a:xfrm>
            <a:off x="762000" y="3302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03</a:t>
            </a:r>
          </a:p>
        </p:txBody>
      </p:sp>
      <p:sp>
        <p:nvSpPr>
          <p:cNvPr id="6116" name="Modulo 03"/>
          <p:cNvSpPr/>
          <p:nvPr/>
        </p:nvSpPr>
        <p:spPr>
          <a:xfrm>
            <a:off x="762000" y="35814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MÉTRICAS OPERATIVAS</a:t>
            </a:r>
          </a:p>
        </p:txBody>
      </p:sp>
      <p:sp>
        <p:nvSpPr>
          <p:cNvPr id="6117" name="Etq 03"/>
          <p:cNvSpPr/>
          <p:nvPr/>
        </p:nvSpPr>
        <p:spPr>
          <a:xfrm>
            <a:off x="762000" y="386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hardware local</a:t>
            </a:r>
          </a:p>
        </p:txBody>
      </p:sp>
      <p:sp>
        <p:nvSpPr>
          <p:cNvPr id="6118" name="Desc 03"/>
          <p:cNvSpPr/>
          <p:nvPr/>
        </p:nvSpPr>
        <p:spPr>
          <a:xfrm>
            <a:off x="762000" y="4114800"/>
            <a:ext cx="368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Latencia de inferencia y uso de memoria (RAM / VRAM).</a:t>
            </a:r>
          </a:p>
        </p:txBody>
      </p:sp>
      <p:sp>
        <p:nvSpPr>
          <p:cNvPr id="6119" name="Regla 04"/>
          <p:cNvSpPr/>
          <p:nvPr/>
        </p:nvSpPr>
        <p:spPr>
          <a:xfrm>
            <a:off x="4699000" y="3175000"/>
            <a:ext cx="3683000" cy="12700"/>
          </a:xfrm>
          <a:prstGeom prst="rect">
            <a:avLst/>
          </a:prstGeom>
          <a:solidFill>
            <a:srgbClr val="24435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20" name="Num 04"/>
          <p:cNvSpPr/>
          <p:nvPr/>
        </p:nvSpPr>
        <p:spPr>
          <a:xfrm>
            <a:off x="4699000" y="3302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04</a:t>
            </a:r>
          </a:p>
        </p:txBody>
      </p:sp>
      <p:sp>
        <p:nvSpPr>
          <p:cNvPr id="6121" name="Modulo 04"/>
          <p:cNvSpPr/>
          <p:nvPr/>
        </p:nvSpPr>
        <p:spPr>
          <a:xfrm>
            <a:off x="4699000" y="3581400"/>
            <a:ext cx="368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500" b="1" spc="40" dirty="0">
                <a:solidFill>
                  <a:srgbClr val="FFFFFF"/>
                </a:solidFill>
              </a:rPr>
              <a:t>CONSISTENCIA</a:t>
            </a:r>
          </a:p>
        </p:txBody>
      </p:sp>
      <p:sp>
        <p:nvSpPr>
          <p:cNvPr id="6122" name="Etq 04"/>
          <p:cNvSpPr/>
          <p:nvPr/>
        </p:nvSpPr>
        <p:spPr>
          <a:xfrm>
            <a:off x="4699000" y="3860800"/>
            <a:ext cx="368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0" dirty="0">
                <a:solidFill>
                  <a:srgbClr val="2ED3E8"/>
                </a:solidFill>
              </a:rPr>
              <a:t>múltiples ejecuciones</a:t>
            </a:r>
          </a:p>
        </p:txBody>
      </p:sp>
      <p:sp>
        <p:nvSpPr>
          <p:cNvPr id="6123" name="Desc 04"/>
          <p:cNvSpPr/>
          <p:nvPr/>
        </p:nvSpPr>
        <p:spPr>
          <a:xfrm>
            <a:off x="4699000" y="4114800"/>
            <a:ext cx="3683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Variabilidad entre ejecuciones: se reporta dispersión, no un valor único.</a:t>
            </a:r>
          </a:p>
        </p:txBody>
      </p:sp>
      <p:sp>
        <p:nvSpPr>
          <p:cNvPr id="6124" name="Etq Verificacion"/>
          <p:cNvSpPr/>
          <p:nvPr/>
        </p:nvSpPr>
        <p:spPr>
          <a:xfrm>
            <a:off x="762000" y="4800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5A7290"/>
                </a:solidFill>
              </a:rPr>
              <a:t>VERIFICACIÓN DE EVIDENCIA</a:t>
            </a:r>
          </a:p>
        </p:txBody>
      </p:sp>
      <p:sp>
        <p:nvSpPr>
          <p:cNvPr id="6125" name="Chip Respuesta"/>
          <p:cNvSpPr/>
          <p:nvPr/>
        </p:nvSpPr>
        <p:spPr>
          <a:xfrm>
            <a:off x="762000" y="5080000"/>
            <a:ext cx="1905000" cy="3556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FFFFFF"/>
                </a:solidFill>
              </a:rPr>
              <a:t>RESPUESTA</a:t>
            </a:r>
          </a:p>
        </p:txBody>
      </p:sp>
      <p:sp>
        <p:nvSpPr>
          <p:cNvPr id="6126" name="FL Respuesta"/>
          <p:cNvSpPr/>
          <p:nvPr/>
        </p:nvSpPr>
        <p:spPr>
          <a:xfrm>
            <a:off x="2667000" y="5257800"/>
            <a:ext cx="381000" cy="127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27" name="Chip Pregunta"/>
          <p:cNvSpPr/>
          <p:nvPr/>
        </p:nvSpPr>
        <p:spPr>
          <a:xfrm>
            <a:off x="3048000" y="5080000"/>
            <a:ext cx="2286000" cy="3556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1" spc="40" dirty="0">
                <a:solidFill>
                  <a:srgbClr val="2ED3E8"/>
                </a:solidFill>
              </a:rPr>
              <a:t>¿EXISTE EVIDENCIA?</a:t>
            </a:r>
          </a:p>
        </p:txBody>
      </p:sp>
      <p:sp>
        <p:nvSpPr>
          <p:cNvPr id="6128" name="FL Salida"/>
          <p:cNvSpPr/>
          <p:nvPr/>
        </p:nvSpPr>
        <p:spPr>
          <a:xfrm>
            <a:off x="5334000" y="5257800"/>
            <a:ext cx="254000" cy="127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29" name="Bus Ramas"/>
          <p:cNvSpPr/>
          <p:nvPr/>
        </p:nvSpPr>
        <p:spPr>
          <a:xfrm>
            <a:off x="5588000" y="5029200"/>
            <a:ext cx="12700" cy="5080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30" name="FL Rama Si"/>
          <p:cNvSpPr/>
          <p:nvPr/>
        </p:nvSpPr>
        <p:spPr>
          <a:xfrm>
            <a:off x="5588000" y="5029200"/>
            <a:ext cx="381000" cy="127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31" name="FL Rama No"/>
          <p:cNvSpPr/>
          <p:nvPr/>
        </p:nvSpPr>
        <p:spPr>
          <a:xfrm>
            <a:off x="5588000" y="5537200"/>
            <a:ext cx="381000" cy="127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6132" name="Etq Si"/>
          <p:cNvSpPr/>
          <p:nvPr/>
        </p:nvSpPr>
        <p:spPr>
          <a:xfrm>
            <a:off x="5613400" y="48260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60" dirty="0">
                <a:solidFill>
                  <a:srgbClr val="2ED3E8"/>
                </a:solidFill>
              </a:rPr>
              <a:t>SÍ</a:t>
            </a:r>
          </a:p>
        </p:txBody>
      </p:sp>
      <p:sp>
        <p:nvSpPr>
          <p:cNvPr id="6133" name="Etq No"/>
          <p:cNvSpPr/>
          <p:nvPr/>
        </p:nvSpPr>
        <p:spPr>
          <a:xfrm>
            <a:off x="5613400" y="5511800"/>
            <a:ext cx="330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60" dirty="0">
                <a:solidFill>
                  <a:srgbClr val="5A7290"/>
                </a:solidFill>
              </a:rPr>
              <a:t>NO</a:t>
            </a:r>
          </a:p>
        </p:txBody>
      </p:sp>
      <p:sp>
        <p:nvSpPr>
          <p:cNvPr id="6134" name="Chip Respaldada"/>
          <p:cNvSpPr/>
          <p:nvPr/>
        </p:nvSpPr>
        <p:spPr>
          <a:xfrm>
            <a:off x="5969000" y="4851400"/>
            <a:ext cx="2286000" cy="3556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FFFFFF"/>
                </a:solidFill>
              </a:rPr>
              <a:t>RESPALDADA</a:t>
            </a:r>
          </a:p>
        </p:txBody>
      </p:sp>
      <p:sp>
        <p:nvSpPr>
          <p:cNvPr id="6135" name="Chip Posible Alucinacion"/>
          <p:cNvSpPr/>
          <p:nvPr/>
        </p:nvSpPr>
        <p:spPr>
          <a:xfrm>
            <a:off x="5969000" y="5359400"/>
            <a:ext cx="2286000" cy="3556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9FB3C8"/>
                </a:solidFill>
              </a:rPr>
              <a:t>POSIBLE ALUCINACIÓN</a:t>
            </a:r>
          </a:p>
        </p:txBody>
      </p:sp>
      <p:sp>
        <p:nvSpPr>
          <p:cNvPr id="990" name="Linea Speaker"/>
          <p:cNvSpPr/>
          <p:nvPr/>
        </p:nvSpPr>
        <p:spPr>
          <a:xfrm>
            <a:off x="8763000" y="1524000"/>
            <a:ext cx="12700" cy="4572000"/>
          </a:xfrm>
          <a:prstGeom prst="rect">
            <a:avLst/>
          </a:prstGeom>
          <a:solidFill>
            <a:srgbClr val="24435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991" name="Etq Speaker"/>
          <p:cNvSpPr/>
          <p:nvPr/>
        </p:nvSpPr>
        <p:spPr>
          <a:xfrm>
            <a:off x="9017000" y="1524000"/>
            <a:ext cx="2413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80" dirty="0">
                <a:solidFill>
                  <a:srgbClr val="5A7290"/>
                </a:solidFill>
              </a:rPr>
              <a:t>SPEAKER</a:t>
            </a:r>
          </a:p>
        </p:txBody>
      </p:sp>
      <p:sp>
        <p:nvSpPr>
          <p:cNvPr id="992" name="PH VIDEO SPEAKER"/>
          <p:cNvSpPr/>
          <p:nvPr/>
        </p:nvSpPr>
        <p:spPr>
          <a:xfrm>
            <a:off x="9017000" y="1803400"/>
            <a:ext cx="2413000" cy="42926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VIDEO SPEAKER ]</a:t>
            </a:r>
          </a:p>
          <a:p>
            <a:pPr algn="ctr">
              <a:lnSpc>
                <a:spcPct val="110000"/>
              </a:lnSpc>
              <a:buNone/>
            </a:pPr>
            <a:r>
              <a:rPr lang="es-CL" sz="1400" b="0" spc="0" dirty="0">
                <a:solidFill>
                  <a:srgbClr val="5A7290"/>
                </a:solidFill>
              </a:rPr>
              <a:t>proporción 9:16</a:t>
            </a:r>
          </a:p>
        </p:txBody>
      </p:sp>
    </p:spTree>
    <p:extLst>
      <p:ext uri="{BB962C8B-B14F-4D97-AF65-F5344CB8AC3E}">
        <p14:creationId xmlns:p14="http://schemas.microsoft.com/office/powerpoint/2010/main" val="3072738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0100">
        <p159:morph option="byObject"/>
      </p:transition>
    </mc:Choice>
    <mc:Fallback xmlns="">
      <p:transition spd="slow" advTm="60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255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50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53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610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4" dur="350" fill="hold"/>
                                        <p:tgtEl>
                                          <p:spTgt spid="6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236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257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mph" presetSubtype="0" fill="hold" nodeType="withEffect">
                                  <p:stCondLst>
                                    <p:cond delay="17065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2" dur="300" fill="hold"/>
                                        <p:tgtEl>
                                          <p:spTgt spid="6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55" presetClass="emph" presetSubtype="0" fill="hold" nodeType="withEffect">
                                  <p:stCondLst>
                                    <p:cond delay="17065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4" dur="300" fill="hold"/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55" presetClass="emph" presetSubtype="0" fill="hold" nodeType="withEffect">
                                  <p:stCondLst>
                                    <p:cond delay="17065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6" dur="300" fill="hold"/>
                                        <p:tgtEl>
                                          <p:spTgt spid="6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55" presetClass="emph" presetSubtype="0" fill="hold" nodeType="withEffect">
                                  <p:stCondLst>
                                    <p:cond delay="17065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28" dur="300" fill="hold"/>
                                        <p:tgtEl>
                                          <p:spTgt spid="6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55" presetClass="emph" presetSubtype="0" fill="hold" nodeType="withEffect">
                                  <p:stCondLst>
                                    <p:cond delay="17065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30" dur="300" fill="hold"/>
                                        <p:tgtEl>
                                          <p:spTgt spid="6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7365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250"/>
                                        <p:tgtEl>
                                          <p:spTgt spid="6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7565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8266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611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40" dur="350" fill="hold"/>
                                        <p:tgtEl>
                                          <p:spTgt spid="6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9347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0568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mph" presetSubtype="0" fill="hold" nodeType="withEffect">
                                  <p:stCondLst>
                                    <p:cond delay="30918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48" dur="300" fill="hold"/>
                                        <p:tgtEl>
                                          <p:spTgt spid="6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9" presetID="55" presetClass="emph" presetSubtype="0" fill="hold" nodeType="withEffect">
                                  <p:stCondLst>
                                    <p:cond delay="30918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50" dur="300" fill="hold"/>
                                        <p:tgtEl>
                                          <p:spTgt spid="6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1" presetID="55" presetClass="emph" presetSubtype="0" fill="hold" nodeType="withEffect">
                                  <p:stCondLst>
                                    <p:cond delay="30918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52" dur="300" fill="hold"/>
                                        <p:tgtEl>
                                          <p:spTgt spid="6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55" presetClass="emph" presetSubtype="0" fill="hold" nodeType="withEffect">
                                  <p:stCondLst>
                                    <p:cond delay="30918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54" dur="300" fill="hold"/>
                                        <p:tgtEl>
                                          <p:spTgt spid="6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5" presetID="55" presetClass="emph" presetSubtype="0" fill="hold" nodeType="withEffect">
                                  <p:stCondLst>
                                    <p:cond delay="30918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56" dur="300" fill="hold"/>
                                        <p:tgtEl>
                                          <p:spTgt spid="6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31218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250"/>
                                        <p:tgtEl>
                                          <p:spTgt spid="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314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31999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6116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66" dur="350" fill="hold"/>
                                        <p:tgtEl>
                                          <p:spTgt spid="6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33059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4641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mph" presetSubtype="0" fill="hold" nodeType="withEffect">
                                  <p:stCondLst>
                                    <p:cond delay="40926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4" dur="300" fill="hold"/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5" presetID="55" presetClass="emph" presetSubtype="0" fill="hold" nodeType="withEffect">
                                  <p:stCondLst>
                                    <p:cond delay="40926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6" dur="300" fill="hold"/>
                                        <p:tgtEl>
                                          <p:spTgt spid="6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7" presetID="55" presetClass="emph" presetSubtype="0" fill="hold" nodeType="withEffect">
                                  <p:stCondLst>
                                    <p:cond delay="40926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78" dur="300" fill="hold"/>
                                        <p:tgtEl>
                                          <p:spTgt spid="6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9" presetID="55" presetClass="emph" presetSubtype="0" fill="hold" nodeType="withEffect">
                                  <p:stCondLst>
                                    <p:cond delay="40926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0" dur="300" fill="hold"/>
                                        <p:tgtEl>
                                          <p:spTgt spid="6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1" presetID="55" presetClass="emph" presetSubtype="0" fill="hold" nodeType="withEffect">
                                  <p:stCondLst>
                                    <p:cond delay="40926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82" dur="300" fill="hold"/>
                                        <p:tgtEl>
                                          <p:spTgt spid="6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41226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250"/>
                                        <p:tgtEl>
                                          <p:spTgt spid="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41426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42367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612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92" dur="350" fill="hold"/>
                                        <p:tgtEl>
                                          <p:spTgt spid="6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45209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47791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0" dur="300" fill="hold"/>
                                        <p:tgtEl>
                                          <p:spTgt spid="6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1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2" dur="300" fill="hold"/>
                                        <p:tgtEl>
                                          <p:spTgt spid="6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3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4" dur="300" fill="hold"/>
                                        <p:tgtEl>
                                          <p:spTgt spid="6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5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6" dur="300" fill="hold"/>
                                        <p:tgtEl>
                                          <p:spTgt spid="6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7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08" dur="300" fill="hold"/>
                                        <p:tgtEl>
                                          <p:spTgt spid="6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09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0" dur="300" fill="hold"/>
                                        <p:tgtEl>
                                          <p:spTgt spid="6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1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2" dur="300" fill="hold"/>
                                        <p:tgtEl>
                                          <p:spTgt spid="6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3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4" dur="300" fill="hold"/>
                                        <p:tgtEl>
                                          <p:spTgt spid="6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5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6" dur="300" fill="hold"/>
                                        <p:tgtEl>
                                          <p:spTgt spid="6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7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18" dur="300" fill="hold"/>
                                        <p:tgtEl>
                                          <p:spTgt spid="6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9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0" dur="300" fill="hold"/>
                                        <p:tgtEl>
                                          <p:spTgt spid="6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1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2" dur="300" fill="hold"/>
                                        <p:tgtEl>
                                          <p:spTgt spid="6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3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4" dur="300" fill="hold"/>
                                        <p:tgtEl>
                                          <p:spTgt spid="6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5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6" dur="300" fill="hold"/>
                                        <p:tgtEl>
                                          <p:spTgt spid="6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7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28" dur="300" fill="hold"/>
                                        <p:tgtEl>
                                          <p:spTgt spid="6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9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0" dur="300" fill="hold"/>
                                        <p:tgtEl>
                                          <p:spTgt spid="61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1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2" dur="300" fill="hold"/>
                                        <p:tgtEl>
                                          <p:spTgt spid="6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3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4" dur="300" fill="hold"/>
                                        <p:tgtEl>
                                          <p:spTgt spid="6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5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6" dur="300" fill="hold"/>
                                        <p:tgtEl>
                                          <p:spTgt spid="6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7" presetID="55" presetClass="emph" presetSubtype="0" fill="hold" nodeType="withEffect">
                                  <p:stCondLst>
                                    <p:cond delay="51274"/>
                                  </p:stCondLst>
                                  <p:childTnLst>
                                    <p:anim calcmode="lin" valueType="num">
                                      <p:cBhvr override="childStyle">
                                        <p:cTn id="138" dur="300" fill="hold"/>
                                        <p:tgtEl>
                                          <p:spTgt spid="6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51574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51964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50"/>
                                        <p:tgtEl>
                                          <p:spTgt spid="612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45" dur="350" fill="hold"/>
                                        <p:tgtEl>
                                          <p:spTgt spid="6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52744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250"/>
                                        <p:tgtEl>
                                          <p:spTgt spid="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53394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612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52" dur="350" fill="hold"/>
                                        <p:tgtEl>
                                          <p:spTgt spid="6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54174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250"/>
                                        <p:tgtEl>
                                          <p:spTgt spid="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1" fill="hold" nodeType="withEffect">
                                  <p:stCondLst>
                                    <p:cond delay="54694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250"/>
                                        <p:tgtEl>
                                          <p:spTgt spid="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55344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250"/>
                                        <p:tgtEl>
                                          <p:spTgt spid="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55344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55734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50"/>
                                        <p:tgtEl>
                                          <p:spTgt spid="6134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68" dur="350" fill="hold"/>
                                        <p:tgtEl>
                                          <p:spTgt spid="6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56514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1" dur="250"/>
                                        <p:tgtEl>
                                          <p:spTgt spid="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56514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300"/>
                                        <p:tgtEl>
                                          <p:spTgt spid="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56904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50"/>
                                        <p:tgtEl>
                                          <p:spTgt spid="613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78" dur="350" fill="hold"/>
                                        <p:tgtEl>
                                          <p:spTgt spid="6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1" name="Kicker"/>
          <p:cNvSpPr/>
          <p:nvPr/>
        </p:nvSpPr>
        <p:spPr>
          <a:xfrm>
            <a:off x="762000" y="8382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CIERRE · PROPUESTA DE TESIS</a:t>
            </a:r>
          </a:p>
        </p:txBody>
      </p:sp>
      <p:sp>
        <p:nvSpPr>
          <p:cNvPr id="101" name="Titulo"/>
          <p:cNvSpPr/>
          <p:nvPr/>
        </p:nvSpPr>
        <p:spPr>
          <a:xfrm>
            <a:off x="762000" y="11684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3200" b="1" spc="0" dirty="0">
                <a:solidFill>
                  <a:srgbClr val="FFFFFF"/>
                </a:solidFill>
              </a:rPr>
              <a:t>Producir la comparación, no ganarla.</a:t>
            </a:r>
          </a:p>
        </p:txBody>
      </p:sp>
      <p:sp>
        <p:nvSpPr>
          <p:cNvPr id="7103" name="Subtitulo"/>
          <p:cNvSpPr/>
          <p:nvPr/>
        </p:nvSpPr>
        <p:spPr>
          <a:xfrm>
            <a:off x="762000" y="1854200"/>
            <a:ext cx="6858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CL" sz="1600" b="0" spc="0" dirty="0">
                <a:solidFill>
                  <a:srgbClr val="9FB3C8"/>
                </a:solidFill>
              </a:rPr>
              <a:t>Todos los resultados posibles son informativos.</a:t>
            </a:r>
          </a:p>
        </p:txBody>
      </p:sp>
      <p:sp>
        <p:nvSpPr>
          <p:cNvPr id="7104" name="Regla"/>
          <p:cNvSpPr/>
          <p:nvPr/>
        </p:nvSpPr>
        <p:spPr>
          <a:xfrm>
            <a:off x="762000" y="2590800"/>
            <a:ext cx="279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7105" name="Sintesis 1"/>
          <p:cNvSpPr/>
          <p:nvPr/>
        </p:nvSpPr>
        <p:spPr>
          <a:xfrm>
            <a:off x="762000" y="2768600"/>
            <a:ext cx="38100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FFFFFF"/>
                </a:solidFill>
              </a:rPr>
              <a:t>TEXTO NO ESTRUCTURADO</a:t>
            </a:r>
          </a:p>
        </p:txBody>
      </p:sp>
      <p:sp>
        <p:nvSpPr>
          <p:cNvPr id="7106" name="FL Sintesis 1"/>
          <p:cNvSpPr/>
          <p:nvPr/>
        </p:nvSpPr>
        <p:spPr>
          <a:xfrm>
            <a:off x="2667000" y="3149600"/>
            <a:ext cx="12700" cy="1778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7107" name="Sintesis 2"/>
          <p:cNvSpPr/>
          <p:nvPr/>
        </p:nvSpPr>
        <p:spPr>
          <a:xfrm>
            <a:off x="762000" y="3327400"/>
            <a:ext cx="38100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FFFFFF"/>
                </a:solidFill>
              </a:rPr>
              <a:t>DECISIONES ESTRUCTURADAS</a:t>
            </a:r>
          </a:p>
        </p:txBody>
      </p:sp>
      <p:sp>
        <p:nvSpPr>
          <p:cNvPr id="7108" name="FL Sintesis 2"/>
          <p:cNvSpPr/>
          <p:nvPr/>
        </p:nvSpPr>
        <p:spPr>
          <a:xfrm>
            <a:off x="2667000" y="3708400"/>
            <a:ext cx="12700" cy="1778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7109" name="Sintesis 3"/>
          <p:cNvSpPr/>
          <p:nvPr/>
        </p:nvSpPr>
        <p:spPr>
          <a:xfrm>
            <a:off x="762000" y="3886200"/>
            <a:ext cx="38100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4435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FFFFFF"/>
                </a:solidFill>
              </a:rPr>
              <a:t>EVOLUCIÓN + EVIDENCIA</a:t>
            </a:r>
          </a:p>
        </p:txBody>
      </p:sp>
      <p:sp>
        <p:nvSpPr>
          <p:cNvPr id="7110" name="FL Sintesis 3"/>
          <p:cNvSpPr/>
          <p:nvPr/>
        </p:nvSpPr>
        <p:spPr>
          <a:xfrm>
            <a:off x="2667000" y="4267200"/>
            <a:ext cx="12700" cy="177800"/>
          </a:xfrm>
          <a:prstGeom prst="rect">
            <a:avLst/>
          </a:prstGeom>
          <a:solidFill>
            <a:srgbClr val="5A7290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7111" name="Sintesis 4"/>
          <p:cNvSpPr/>
          <p:nvPr/>
        </p:nvSpPr>
        <p:spPr>
          <a:xfrm>
            <a:off x="762000" y="4445000"/>
            <a:ext cx="3810000" cy="381000"/>
          </a:xfrm>
          <a:prstGeom prst="roundRect">
            <a:avLst/>
          </a:prstGeom>
          <a:solidFill>
            <a:srgbClr val="112536"/>
          </a:solidFill>
          <a:ln w="12700">
            <a:solidFill>
              <a:srgbClr val="2ED3E8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1" spc="40" dirty="0">
                <a:solidFill>
                  <a:srgbClr val="2ED3E8"/>
                </a:solidFill>
              </a:rPr>
              <a:t>EVALUACIÓN EXPERIMENTAL</a:t>
            </a:r>
          </a:p>
        </p:txBody>
      </p:sp>
      <p:sp>
        <p:nvSpPr>
          <p:cNvPr id="7112" name="Condiciones"/>
          <p:cNvSpPr/>
          <p:nvPr/>
        </p:nvSpPr>
        <p:spPr>
          <a:xfrm>
            <a:off x="762000" y="4978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s-CL" sz="1400" b="0" spc="60" dirty="0">
                <a:solidFill>
                  <a:srgbClr val="9FB3C8"/>
                </a:solidFill>
              </a:rPr>
              <a:t>RAG · BASE MANUAL · BASE AUTOMÁTICA</a:t>
            </a:r>
          </a:p>
        </p:txBody>
      </p:sp>
      <p:sp>
        <p:nvSpPr>
          <p:cNvPr id="7113" name="Punto OpenKOS"/>
          <p:cNvSpPr/>
          <p:nvPr/>
        </p:nvSpPr>
        <p:spPr>
          <a:xfrm>
            <a:off x="762000" y="5842000"/>
            <a:ext cx="76200" cy="76200"/>
          </a:xfrm>
          <a:prstGeom prst="ellipse">
            <a:avLst/>
          </a:prstGeom>
          <a:solidFill>
            <a:srgbClr val="2ED3E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7114" name="OpenKOS"/>
          <p:cNvSpPr/>
          <p:nvPr/>
        </p:nvSpPr>
        <p:spPr>
          <a:xfrm>
            <a:off x="939800" y="57404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1" spc="60" dirty="0">
                <a:solidFill>
                  <a:srgbClr val="FFFFFF"/>
                </a:solidFill>
              </a:rPr>
              <a:t>OpenKOS</a:t>
            </a:r>
          </a:p>
        </p:txBody>
      </p:sp>
      <p:sp>
        <p:nvSpPr>
          <p:cNvPr id="7115" name="Atributos"/>
          <p:cNvSpPr/>
          <p:nvPr/>
        </p:nvSpPr>
        <p:spPr>
          <a:xfrm>
            <a:off x="1905000" y="5740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40" dirty="0">
                <a:solidFill>
                  <a:srgbClr val="9FB3C8"/>
                </a:solidFill>
              </a:rPr>
              <a:t>demostración práctica del enfoque</a:t>
            </a:r>
          </a:p>
        </p:txBody>
      </p:sp>
      <p:sp>
        <p:nvSpPr>
          <p:cNvPr id="103" name="Numero"/>
          <p:cNvSpPr/>
          <p:nvPr/>
        </p:nvSpPr>
        <p:spPr>
          <a:xfrm>
            <a:off x="10617200" y="6477000"/>
            <a:ext cx="81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[ 07 ]</a:t>
            </a:r>
          </a:p>
        </p:txBody>
      </p:sp>
      <p:sp>
        <p:nvSpPr>
          <p:cNvPr id="990" name="Linea Speaker"/>
          <p:cNvSpPr/>
          <p:nvPr/>
        </p:nvSpPr>
        <p:spPr>
          <a:xfrm>
            <a:off x="8432800" y="736600"/>
            <a:ext cx="12700" cy="5422900"/>
          </a:xfrm>
          <a:prstGeom prst="rect">
            <a:avLst/>
          </a:prstGeom>
          <a:solidFill>
            <a:srgbClr val="24435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992" name="PH VIDEO SPEAKER"/>
          <p:cNvSpPr/>
          <p:nvPr/>
        </p:nvSpPr>
        <p:spPr>
          <a:xfrm>
            <a:off x="8636000" y="736600"/>
            <a:ext cx="3048000" cy="5422900"/>
          </a:xfrm>
          <a:prstGeom prst="roundRect">
            <a:avLst/>
          </a:prstGeom>
          <a:solidFill>
            <a:srgbClr val="0E1F31"/>
          </a:solidFill>
          <a:ln w="15875">
            <a:solidFill>
              <a:srgbClr val="1D5C9E"/>
            </a:solidFill>
          </a:ln>
        </p:spPr>
        <p:txBody>
          <a:bodyPr wrap="square" lIns="76200" tIns="25400" rIns="76200" bIns="2540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s-CL" sz="1400" b="1" spc="0" dirty="0">
                <a:solidFill>
                  <a:srgbClr val="2ED3E8"/>
                </a:solidFill>
              </a:rPr>
              <a:t>[ VIDEO SPEAKER ]</a:t>
            </a:r>
          </a:p>
          <a:p>
            <a:pPr algn="ctr">
              <a:lnSpc>
                <a:spcPct val="110000"/>
              </a:lnSpc>
              <a:buNone/>
            </a:pPr>
            <a:r>
              <a:rPr lang="es-CL" sz="1400" b="0" spc="0" dirty="0">
                <a:solidFill>
                  <a:srgbClr val="5A7290"/>
                </a:solidFill>
              </a:rPr>
              <a:t>proporción 9:16</a:t>
            </a:r>
          </a:p>
        </p:txBody>
      </p:sp>
      <p:sp>
        <p:nvSpPr>
          <p:cNvPr id="7120" name="Etq Protocolo"/>
          <p:cNvSpPr/>
          <p:nvPr/>
        </p:nvSpPr>
        <p:spPr>
          <a:xfrm>
            <a:off x="4826000" y="27686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PROTOCOLO PREDEFINIDO</a:t>
            </a:r>
          </a:p>
        </p:txBody>
      </p:sp>
      <p:sp>
        <p:nvSpPr>
          <p:cNvPr id="7121" name="Texto Protocolo"/>
          <p:cNvSpPr/>
          <p:nvPr/>
        </p:nvSpPr>
        <p:spPr>
          <a:xfrm>
            <a:off x="4826000" y="3048000"/>
            <a:ext cx="330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Métricas, emparejamiento y umbrales se registran con fecha verificable antes de ejecutar los experimentos.</a:t>
            </a:r>
          </a:p>
        </p:txBody>
      </p:sp>
      <p:sp>
        <p:nvSpPr>
          <p:cNvPr id="7122" name="Etq Resultados"/>
          <p:cNvSpPr/>
          <p:nvPr/>
        </p:nvSpPr>
        <p:spPr>
          <a:xfrm>
            <a:off x="4826000" y="39624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200" b="0" spc="120" dirty="0">
                <a:solidFill>
                  <a:srgbClr val="2ED3E8"/>
                </a:solidFill>
              </a:rPr>
              <a:t>RESULTADOS INFORMATIVOS</a:t>
            </a:r>
          </a:p>
        </p:txBody>
      </p:sp>
      <p:sp>
        <p:nvSpPr>
          <p:cNvPr id="7123" name="Texto Resultados"/>
          <p:cNvSpPr/>
          <p:nvPr/>
        </p:nvSpPr>
        <p:spPr>
          <a:xfrm>
            <a:off x="4826000" y="4241800"/>
            <a:ext cx="3302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CL" sz="1400" b="0" spc="0" dirty="0">
                <a:solidFill>
                  <a:srgbClr val="9FB3C8"/>
                </a:solidFill>
              </a:rPr>
              <a:t>Base estructurada &gt; RAG · = RAG · RAG &gt; base estructurada · métodos clásicos suficientes.</a:t>
            </a:r>
          </a:p>
        </p:txBody>
      </p:sp>
    </p:spTree>
    <p:extLst>
      <p:ext uri="{BB962C8B-B14F-4D97-AF65-F5344CB8AC3E}">
        <p14:creationId xmlns:p14="http://schemas.microsoft.com/office/powerpoint/2010/main" val="3788670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8270">
        <p159:morph option="byObject"/>
      </p:transition>
    </mc:Choice>
    <mc:Fallback xmlns="">
      <p:transition spd="slow" advTm="4827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328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8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9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300"/>
                                        <p:tgtEl>
                                          <p:spTgt spid="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133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105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17" dur="400" fill="hold"/>
                                        <p:tgtEl>
                                          <p:spTgt spid="7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1163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250"/>
                                        <p:tgtEl>
                                          <p:spTgt spid="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173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107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24" dur="400" fill="hold"/>
                                        <p:tgtEl>
                                          <p:spTgt spid="7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2129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1594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109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31" dur="400" fill="hold"/>
                                        <p:tgtEl>
                                          <p:spTgt spid="7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2468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50"/>
                                        <p:tgtEl>
                                          <p:spTgt spid="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49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711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38" dur="400" fill="hold"/>
                                        <p:tgtEl>
                                          <p:spTgt spid="7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28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2002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2152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43744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7608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7120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54" dur="400" fill="hold"/>
                                        <p:tgtEl>
                                          <p:spTgt spid="7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2790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7121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58" dur="400" fill="hold"/>
                                        <p:tgtEl>
                                          <p:spTgt spid="7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2531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7122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62" dur="400" fill="hold"/>
                                        <p:tgtEl>
                                          <p:spTgt spid="7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2831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7123"/>
                                        </p:tgtEl>
                                      </p:cBhvr>
                                    </p:animEffect>
                                    <p:animMotion origin="layout" path="M 0.032 0 L 0 0 E" pathEditMode="relative" rAng="0" ptsTypes="">
                                      <p:cBhvr additive="base">
                                        <p:cTn id="66" dur="400" fill="hold"/>
                                        <p:tgtEl>
                                          <p:spTgt spid="7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gla"/>
          <p:cNvSpPr/>
          <p:nvPr/>
        </p:nvSpPr>
        <p:spPr>
          <a:xfrm>
            <a:off x="762000" y="2641600"/>
            <a:ext cx="1524000" cy="12700"/>
          </a:xfrm>
          <a:prstGeom prst="rect">
            <a:avLst/>
          </a:prstGeom>
          <a:solidFill>
            <a:srgbClr val="2ED3E8"/>
          </a:solidFill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endParaRPr lang="es-CL"/>
          </a:p>
        </p:txBody>
      </p:sp>
      <p:sp>
        <p:nvSpPr>
          <p:cNvPr id="104" name="Titulo"/>
          <p:cNvSpPr/>
          <p:nvPr/>
        </p:nvSpPr>
        <p:spPr>
          <a:xfrm>
            <a:off x="762000" y="29464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4800" b="1" spc="0" dirty="0">
                <a:solidFill>
                  <a:srgbClr val="FFFFFF"/>
                </a:solidFill>
              </a:rPr>
              <a:t>Muchas gracias</a:t>
            </a:r>
          </a:p>
        </p:txBody>
      </p:sp>
      <p:sp>
        <p:nvSpPr>
          <p:cNvPr id="105" name="Subtitulo"/>
          <p:cNvSpPr/>
          <p:nvPr/>
        </p:nvSpPr>
        <p:spPr>
          <a:xfrm>
            <a:off x="762000" y="4038600"/>
            <a:ext cx="812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800" b="0" spc="0" dirty="0">
                <a:solidFill>
                  <a:srgbClr val="9FB3C8"/>
                </a:solidFill>
              </a:rPr>
              <a:t>OpenKOS · Propuesta de tesis</a:t>
            </a:r>
          </a:p>
        </p:txBody>
      </p:sp>
      <p:sp>
        <p:nvSpPr>
          <p:cNvPr id="101" name="Institucion"/>
          <p:cNvSpPr/>
          <p:nvPr/>
        </p:nvSpPr>
        <p:spPr>
          <a:xfrm>
            <a:off x="762000" y="4724400"/>
            <a:ext cx="787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25400" rIns="0" bIns="2540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CL" sz="1400" b="0" spc="120" dirty="0">
                <a:solidFill>
                  <a:srgbClr val="9FB3C8"/>
                </a:solidFill>
              </a:rPr>
              <a:t>PONTIFICIA UNIVERSIDAD CATÓLICA DE CHILE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FFB5E9-1AB8-FFAD-5586-7C18B4DF9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10383"/>
            <a:ext cx="2345939" cy="135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18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000">
        <p159:morph option="byObject"/>
      </p:transition>
    </mc:Choice>
    <mc:Fallback xmlns=""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Tema de Office [1786728636078]">
  <a:themeElements>
    <a:clrScheme name="Office">
      <a:dk1>
        <a:srgbClr val="FFFFFF"/>
      </a:dk1>
      <a:lt1>
        <a:srgbClr val="0A1524"/>
      </a:lt1>
      <a:dk2>
        <a:srgbClr val="E8EEF5"/>
      </a:dk2>
      <a:lt2>
        <a:srgbClr val="132A3F"/>
      </a:lt2>
      <a:accent1>
        <a:srgbClr val="1D5C9E"/>
      </a:accent1>
      <a:accent2>
        <a:srgbClr val="2ED3E8"/>
      </a:accent2>
      <a:accent3>
        <a:srgbClr val="9FB3C8"/>
      </a:accent3>
      <a:accent4>
        <a:srgbClr val="12406E"/>
      </a:accent4>
      <a:accent5>
        <a:srgbClr val="5A7290"/>
      </a:accent5>
      <a:accent6>
        <a:srgbClr val="FFFFFF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AA7338-8913-B44A-AD4F-5AB92437D7D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77dd580-c01b-495b-b9ec-c95d26127eb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7143</Words>
  <Application>Microsoft Macintosh PowerPoint</Application>
  <PresentationFormat>Panorámica</PresentationFormat>
  <Paragraphs>601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Segoe UI</vt:lpstr>
      <vt:lpstr>Segoe UI Semibold</vt:lpstr>
      <vt:lpstr>Tema de Office [1786728636078]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Adolfo Martínez Barra</dc:creator>
  <cp:lastModifiedBy>gustavo adolfo Martínez Barra</cp:lastModifiedBy>
  <cp:revision>19</cp:revision>
  <dcterms:created xsi:type="dcterms:W3CDTF">2026-08-14T17:25:11Z</dcterms:created>
  <dcterms:modified xsi:type="dcterms:W3CDTF">2026-08-23T21:02:22Z</dcterms:modified>
</cp:coreProperties>
</file>