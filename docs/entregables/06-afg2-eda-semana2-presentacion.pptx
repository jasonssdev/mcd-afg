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webextensions/taskpanes.xml" ContentType="application/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6.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microsoft.com/office/2011/relationships/webextensiontaskpanes" Target="ppt/webextensions/taskpanes.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Values</c:v>
                </c:pt>
              </c:strCache>
            </c:strRef>
          </c:tx>
          <c:spPr>
            <a:solidFill>
              <a:srgbClr val="9aa3ae"/>
            </a:solidFill>
            <a:ln w="0">
              <a:noFill/>
            </a:ln>
          </c:spPr>
          <c:invertIfNegative val="0"/>
          <c:dPt>
            <c:idx val="4"/>
            <c:invertIfNegative val="0"/>
            <c:spPr>
              <a:solidFill>
                <a:srgbClr val="0176de"/>
              </a:solidFill>
              <a:ln w="0">
                <a:noFill/>
              </a:ln>
            </c:spPr>
          </c:dPt>
          <c:dLbls>
            <c:numFmt formatCode="#,##0" sourceLinked="0"/>
            <c:dLbl>
              <c:idx val="4"/>
              <c:numFmt formatCode="#,##0" sourceLinked="0"/>
              <c:txPr>
                <a:bodyPr wrap="none"/>
                <a:lstStyle/>
                <a:p>
                  <a:pPr>
                    <a:defRPr b="1" sz="1400" strike="noStrike" u="none">
                      <a:solidFill>
                        <a:srgbClr val="1a1e2b"/>
                      </a:solidFill>
                      <a:uFillTx/>
                      <a:latin typeface="Calibri"/>
                    </a:defRPr>
                  </a:pPr>
                </a:p>
              </c:txPr>
              <c:dLblPos val="outEnd"/>
              <c:showLegendKey val="0"/>
              <c:showVal val="1"/>
              <c:showCatName val="0"/>
              <c:showSerName val="0"/>
              <c:showPercent val="0"/>
              <c:separator>; </c:separator>
            </c:dLbl>
            <c:txPr>
              <a:bodyPr wrap="none"/>
              <a:lstStyle/>
              <a:p>
                <a:pPr>
                  <a:defRPr b="1" sz="1400" strike="noStrike" u="none">
                    <a:solidFill>
                      <a:srgbClr val="1a1e2b"/>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Pares de decisiones</c:v>
                </c:pt>
                <c:pt idx="1">
                  <c:v>Decisiones</c:v>
                </c:pt>
                <c:pt idx="2">
                  <c:v>Hablantes-reunión</c:v>
                </c:pt>
                <c:pt idx="3">
                  <c:v>Reuniones</c:v>
                </c:pt>
                <c:pt idx="4">
                  <c:v>Series</c:v>
                </c:pt>
              </c:strCache>
            </c:strRef>
          </c:cat>
          <c:val>
            <c:numRef>
              <c:f>0</c:f>
              <c:numCache>
                <c:formatCode>General</c:formatCode>
                <c:ptCount val="5"/>
                <c:pt idx="0">
                  <c:v>3071</c:v>
                </c:pt>
                <c:pt idx="1">
                  <c:v>343</c:v>
                </c:pt>
                <c:pt idx="2">
                  <c:v>224</c:v>
                </c:pt>
                <c:pt idx="3">
                  <c:v>56</c:v>
                </c:pt>
                <c:pt idx="4">
                  <c:v>14</c:v>
                </c:pt>
              </c:numCache>
            </c:numRef>
          </c:val>
        </c:ser>
        <c:gapWidth val="50"/>
        <c:overlap val="0"/>
        <c:axId val="70705969"/>
        <c:axId val="10732061"/>
      </c:barChart>
      <c:catAx>
        <c:axId val="70705969"/>
        <c:scaling>
          <c:orientation val="minMax"/>
        </c:scaling>
        <c:delete val="0"/>
        <c:axPos val="b"/>
        <c:numFmt formatCode="General" sourceLinked="0"/>
        <c:majorTickMark val="none"/>
        <c:minorTickMark val="none"/>
        <c:tickLblPos val="nextTo"/>
        <c:spPr>
          <a:ln w="9360">
            <a:solidFill>
              <a:srgbClr val="c6c7ca"/>
            </a:solidFill>
            <a:round/>
          </a:ln>
        </c:spPr>
        <c:txPr>
          <a:bodyPr/>
          <a:lstStyle/>
          <a:p>
            <a:pPr>
              <a:defRPr b="0" sz="1400" strike="noStrike" u="none">
                <a:solidFill>
                  <a:srgbClr val="1a1e2b"/>
                </a:solidFill>
                <a:uFillTx/>
                <a:latin typeface="Calibri"/>
              </a:defRPr>
            </a:pPr>
          </a:p>
        </c:txPr>
        <c:crossAx val="10732061"/>
        <c:crosses val="autoZero"/>
        <c:auto val="1"/>
        <c:lblAlgn val="ctr"/>
        <c:lblOffset val="100"/>
        <c:noMultiLvlLbl val="0"/>
      </c:catAx>
      <c:valAx>
        <c:axId val="10732061"/>
        <c:scaling>
          <c:orientation val="minMax"/>
          <c:min val="0"/>
        </c:scaling>
        <c:delete val="1"/>
        <c:axPos val="l"/>
        <c:numFmt formatCode="General" sourceLinked="1"/>
        <c:majorTickMark val="none"/>
        <c:minorTickMark val="none"/>
        <c:tickLblPos val="none"/>
        <c:spPr>
          <a:ln w="12600">
            <a:solidFill>
              <a:srgbClr val="8c8c8e"/>
            </a:solidFill>
            <a:round/>
          </a:ln>
        </c:spPr>
        <c:txPr>
          <a:bodyPr/>
          <a:lstStyle/>
          <a:p>
            <a:pPr>
              <a:defRPr b="0" sz="1000" strike="noStrike" u="none">
                <a:solidFill>
                  <a:srgbClr val="1a1e2b"/>
                </a:solidFill>
                <a:uFillTx/>
                <a:latin typeface="Calibri"/>
              </a:defRPr>
            </a:pPr>
          </a:p>
        </c:txPr>
        <c:crossAx val="70705969"/>
        <c:crossBetween val="between"/>
      </c:valAx>
      <c:spPr>
        <a:noFill/>
        <a:ln w="0">
          <a:noFill/>
        </a:ln>
      </c:spPr>
    </c:plotArea>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Values</c:v>
                </c:pt>
              </c:strCache>
            </c:strRef>
          </c:tx>
          <c:spPr>
            <a:solidFill>
              <a:srgbClr val="0176de"/>
            </a:solidFill>
            <a:ln w="0">
              <a:noFill/>
            </a:ln>
          </c:spPr>
          <c:invertIfNegative val="0"/>
          <c:dLbls>
            <c:numFmt formatCode="0.0&quot; %&quot;" sourceLinked="0"/>
            <c:txPr>
              <a:bodyPr wrap="none"/>
              <a:lstStyle/>
              <a:p>
                <a:pPr>
                  <a:defRPr b="1" sz="1400" strike="noStrike" u="none">
                    <a:solidFill>
                      <a:srgbClr val="1a1e2b"/>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Reunión a</c:v>
                </c:pt>
                <c:pt idx="1">
                  <c:v>Reunión b</c:v>
                </c:pt>
                <c:pt idx="2">
                  <c:v>Reunión c</c:v>
                </c:pt>
                <c:pt idx="3">
                  <c:v>Reunión d</c:v>
                </c:pt>
              </c:strCache>
            </c:strRef>
          </c:cat>
          <c:val>
            <c:numRef>
              <c:f>0</c:f>
              <c:numCache>
                <c:formatCode>General</c:formatCode>
                <c:ptCount val="4"/>
                <c:pt idx="0">
                  <c:v>0</c:v>
                </c:pt>
                <c:pt idx="1">
                  <c:v>4.7</c:v>
                </c:pt>
                <c:pt idx="2">
                  <c:v>11.2</c:v>
                </c:pt>
                <c:pt idx="3">
                  <c:v>11.5</c:v>
                </c:pt>
              </c:numCache>
            </c:numRef>
          </c:val>
        </c:ser>
        <c:gapWidth val="50"/>
        <c:overlap val="0"/>
        <c:axId val="78006351"/>
        <c:axId val="30766882"/>
      </c:barChart>
      <c:catAx>
        <c:axId val="78006351"/>
        <c:scaling>
          <c:orientation val="minMax"/>
        </c:scaling>
        <c:delete val="0"/>
        <c:axPos val="b"/>
        <c:numFmt formatCode="General" sourceLinked="0"/>
        <c:majorTickMark val="none"/>
        <c:minorTickMark val="none"/>
        <c:tickLblPos val="nextTo"/>
        <c:spPr>
          <a:ln w="9360">
            <a:solidFill>
              <a:srgbClr val="c6c7ca"/>
            </a:solidFill>
            <a:round/>
          </a:ln>
        </c:spPr>
        <c:txPr>
          <a:bodyPr/>
          <a:lstStyle/>
          <a:p>
            <a:pPr>
              <a:defRPr b="0" sz="1400" strike="noStrike" u="none">
                <a:solidFill>
                  <a:srgbClr val="1a1e2b"/>
                </a:solidFill>
                <a:uFillTx/>
                <a:latin typeface="Calibri"/>
              </a:defRPr>
            </a:pPr>
          </a:p>
        </c:txPr>
        <c:crossAx val="30766882"/>
        <c:crosses val="autoZero"/>
        <c:auto val="1"/>
        <c:lblAlgn val="ctr"/>
        <c:lblOffset val="100"/>
        <c:noMultiLvlLbl val="0"/>
      </c:catAx>
      <c:valAx>
        <c:axId val="30766882"/>
        <c:scaling>
          <c:orientation val="minMax"/>
          <c:min val="0"/>
        </c:scaling>
        <c:delete val="1"/>
        <c:axPos val="l"/>
        <c:numFmt formatCode="General" sourceLinked="1"/>
        <c:majorTickMark val="none"/>
        <c:minorTickMark val="none"/>
        <c:tickLblPos val="none"/>
        <c:spPr>
          <a:ln w="12600">
            <a:solidFill>
              <a:srgbClr val="8c8c8e"/>
            </a:solidFill>
            <a:round/>
          </a:ln>
        </c:spPr>
        <c:txPr>
          <a:bodyPr/>
          <a:lstStyle/>
          <a:p>
            <a:pPr>
              <a:defRPr b="0" sz="1000" strike="noStrike" u="none">
                <a:solidFill>
                  <a:srgbClr val="1a1e2b"/>
                </a:solidFill>
                <a:uFillTx/>
                <a:latin typeface="Calibri"/>
              </a:defRPr>
            </a:pPr>
          </a:p>
        </c:txPr>
        <c:crossAx val="78006351"/>
        <c:crossBetween val="between"/>
      </c:valAx>
      <c:spPr>
        <a:noFill/>
        <a:ln w="0">
          <a:noFill/>
        </a:ln>
      </c:spPr>
    </c:plotArea>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Values</c:v>
                </c:pt>
              </c:strCache>
            </c:strRef>
          </c:tx>
          <c:spPr>
            <a:solidFill>
              <a:srgbClr val="9aa3ae"/>
            </a:solidFill>
            <a:ln w="0">
              <a:noFill/>
            </a:ln>
          </c:spPr>
          <c:invertIfNegative val="0"/>
          <c:dPt>
            <c:idx val="0"/>
            <c:invertIfNegative val="0"/>
            <c:spPr>
              <a:solidFill>
                <a:srgbClr val="0176de"/>
              </a:solidFill>
              <a:ln w="0">
                <a:noFill/>
              </a:ln>
            </c:spPr>
          </c:dPt>
          <c:dLbls>
            <c:numFmt formatCode="#,##0&quot; pares&quot;" sourceLinked="0"/>
            <c:dLbl>
              <c:idx val="0"/>
              <c:numFmt formatCode="#,##0&quot; pares&quot;" sourceLinked="0"/>
              <c:txPr>
                <a:bodyPr wrap="none"/>
                <a:lstStyle/>
                <a:p>
                  <a:pPr>
                    <a:defRPr b="1" sz="1400" strike="noStrike" u="none">
                      <a:solidFill>
                        <a:srgbClr val="1a1e2b"/>
                      </a:solidFill>
                      <a:uFillTx/>
                      <a:latin typeface="Calibri"/>
                    </a:defRPr>
                  </a:pPr>
                </a:p>
              </c:txPr>
              <c:dLblPos val="outEnd"/>
              <c:showLegendKey val="0"/>
              <c:showVal val="1"/>
              <c:showCatName val="0"/>
              <c:showSerName val="0"/>
              <c:showPercent val="0"/>
              <c:separator>; </c:separator>
            </c:dLbl>
            <c:txPr>
              <a:bodyPr wrap="none"/>
              <a:lstStyle/>
              <a:p>
                <a:pPr>
                  <a:defRPr b="1" sz="1400" strike="noStrike" u="none">
                    <a:solidFill>
                      <a:srgbClr val="1a1e2b"/>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Filtro completo</c:v>
                </c:pt>
                <c:pt idx="1">
                  <c:v>Solo coeficiente ≥ 0,30</c:v>
                </c:pt>
                <c:pt idx="2">
                  <c:v>Todos los pares</c:v>
                </c:pt>
              </c:strCache>
            </c:strRef>
          </c:cat>
          <c:val>
            <c:numRef>
              <c:f>0</c:f>
              <c:numCache>
                <c:formatCode>General</c:formatCode>
                <c:ptCount val="3"/>
                <c:pt idx="0">
                  <c:v>92</c:v>
                </c:pt>
                <c:pt idx="1">
                  <c:v>712</c:v>
                </c:pt>
                <c:pt idx="2">
                  <c:v>3071</c:v>
                </c:pt>
              </c:numCache>
            </c:numRef>
          </c:val>
        </c:ser>
        <c:gapWidth val="50"/>
        <c:overlap val="0"/>
        <c:axId val="27546194"/>
        <c:axId val="41978562"/>
      </c:barChart>
      <c:catAx>
        <c:axId val="27546194"/>
        <c:scaling>
          <c:orientation val="minMax"/>
        </c:scaling>
        <c:delete val="0"/>
        <c:axPos val="b"/>
        <c:numFmt formatCode="General" sourceLinked="0"/>
        <c:majorTickMark val="none"/>
        <c:minorTickMark val="none"/>
        <c:tickLblPos val="nextTo"/>
        <c:spPr>
          <a:ln w="9360">
            <a:solidFill>
              <a:srgbClr val="c6c7ca"/>
            </a:solidFill>
            <a:round/>
          </a:ln>
        </c:spPr>
        <c:txPr>
          <a:bodyPr/>
          <a:lstStyle/>
          <a:p>
            <a:pPr>
              <a:defRPr b="0" sz="1400" strike="noStrike" u="none">
                <a:solidFill>
                  <a:srgbClr val="1a1e2b"/>
                </a:solidFill>
                <a:uFillTx/>
                <a:latin typeface="Calibri"/>
              </a:defRPr>
            </a:pPr>
          </a:p>
        </c:txPr>
        <c:crossAx val="41978562"/>
        <c:crosses val="autoZero"/>
        <c:auto val="1"/>
        <c:lblAlgn val="ctr"/>
        <c:lblOffset val="100"/>
        <c:noMultiLvlLbl val="0"/>
      </c:catAx>
      <c:valAx>
        <c:axId val="41978562"/>
        <c:scaling>
          <c:orientation val="minMax"/>
          <c:max val="3900"/>
          <c:min val="0"/>
        </c:scaling>
        <c:delete val="1"/>
        <c:axPos val="l"/>
        <c:numFmt formatCode="General" sourceLinked="1"/>
        <c:majorTickMark val="none"/>
        <c:minorTickMark val="none"/>
        <c:tickLblPos val="none"/>
        <c:spPr>
          <a:ln w="12600">
            <a:solidFill>
              <a:srgbClr val="8c8c8e"/>
            </a:solidFill>
            <a:round/>
          </a:ln>
        </c:spPr>
        <c:txPr>
          <a:bodyPr/>
          <a:lstStyle/>
          <a:p>
            <a:pPr>
              <a:defRPr b="0" sz="1000" strike="noStrike" u="none">
                <a:solidFill>
                  <a:srgbClr val="1a1e2b"/>
                </a:solidFill>
                <a:uFillTx/>
                <a:latin typeface="Calibri"/>
              </a:defRPr>
            </a:pPr>
          </a:p>
        </c:txPr>
        <c:crossAx val="27546194"/>
        <c:crossBetween val="between"/>
      </c:valAx>
      <c:spPr>
        <a:noFill/>
        <a:ln w="0">
          <a:noFill/>
        </a:ln>
      </c:spPr>
    </c:plotArea>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CL" sz="1800" strike="noStrike" u="none">
                <a:solidFill>
                  <a:schemeClr val="dk1"/>
                </a:solidFill>
                <a:effectLst/>
                <a:uFillTx/>
                <a:latin typeface="Calibri"/>
              </a:rPr>
              <a:t>Click to move the slide</a:t>
            </a:r>
            <a:endParaRPr b="0" lang="es-CL" sz="1800" strike="noStrike" u="none">
              <a:solidFill>
                <a:schemeClr val="dk1"/>
              </a:solidFill>
              <a:effectLst/>
              <a:uFillTx/>
              <a:latin typeface="Calibri"/>
            </a:endParaRPr>
          </a:p>
        </p:txBody>
      </p:sp>
      <p:sp>
        <p:nvSpPr>
          <p:cNvPr id="2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22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22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22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A995D0FF-DEA2-4D23-A6FB-6FA7B300637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(Sin locución. Portada en pantalla unos segundos antes de que Jason empiece a hablar.)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Portada completa desde el inicio. Sin animaciones.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Pasar a la cámara de Jason (lámina 2).</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4 s (referencial; manda el ritmo de la locución)</a:t>
            </a: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Hola. Soy Jason Sepúlveda. Junto a Germán Vega y Gustavo Martínez presentamos el avance de nuestro proyecto.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Cuando un equipo se reúne varias veces, sus decisiones cambian de una reunión a otra. Si después alguien le pregunta a un asistente de inteligencia artificial qué se decidió, lo común es que busque los trozos de conversación más parecidos a la pregunta, y puede encontrar la versión antigua. Nuestro proyecto compara esa forma de buscar con una memoria ordenada de las decisiones, que registra cómo cambió cada una. La pregunta es: ¿cuál responde mejor cuando una decisión cambió?</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A: Jason protagonista (video en el recuadro grande). Nombre visible bajo el video. Apoyar con la voz: «Jason Sepúlveda», «Germán Vega», «Gustavo Martínez», «memoria ordenada».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«Saber cuál es la respuesta correcta no es trivial.» → lámina del botón turbo.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36 s (referencial; manda el ritmo de la locución)</a:t>
            </a:r>
            <a:endParaRPr b="0" lang="en-US" sz="2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Saber cuál es la respuesta correcta no es trivial. En un caso real de nuestros datos, un equipo diseña un control remoto en cuatro reuniones. El resumen oficial dice que se eliminó el botón "turbo", pero en la grabación se mantuvo. Por eso hay que conocer muy bien los datos antes de comparar.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Al entrar la lámina: título «¿Se eliminó el botón turbo?».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«El resumen oficial dice que se eliminó el botón "turbo"» → aparece la columna del resumen y el «Sí».</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«pero en la grabación se mantuvo» → aparece la columna de la transcripción y el «No», con el signo ≠.</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«Por eso hay que conocer muy bien los datos» → aparece «Dos fuentes, dos respuestas para la misma decisión».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«Para eso hicimos un análisis exploratorio.»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Las dos cajas muestran afirmaciones, no citas literales: el guion v1.4 no incluye los fragmentos textuales del resumen ni de la transcripción. Si se quiere una cita exacta, tomarla de docs/avances/07-jss-analisis-exploratorio.md («Un caso real para empezar») y verificarla antes de ponerla en pantalla.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20 s (referencial; manda el ritmo de la locución)</a:t>
            </a:r>
            <a:endParaRPr b="0" lang="en-US" sz="20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Para eso hicimos un análisis exploratorio.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D: número de sección 02 + título «Organización de los datos» y video de Jason a la derecha.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«Empiezo por la organización.» → Figura 1.</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5 s (referencial; manda el ritmo de la locución)</a:t>
            </a: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Empiezo por la organización. Usamos reuniones públicas, grabadas y transcritas. Cada equipo se reúne cuatro veces: esas reuniones forman una serie. Tenemos 14 series, 56 reuniones y 343 decisiones. Cada decisión es una frase del resumen, por ejemplo "el control tendrá un botón turbo".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Para saber si una decisión cambió, hay que compararla con otra de una reunión anterior. A cada comparación la llamamos par de decisiones, y hay 3.071. Pocas series, muchísimos pares; como comparten decisiones, el tamaño real de la muestra son las 14 series.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Una advertencia: elegimos esas 14 series por criterio, no al azar, entre 33 posibles, de un solo dominio y con habla actuada. Los resultados no se generalizan más allá de este tipo de reunión.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Revelar en este orden, un clic por idea: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«esas reuniones forman una serie» → 1 serie y sus reuniones a–d.</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«Tenemos 14 series, 56 reuniones y 343 decisiones» → hablantes y «× 14 series».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«hay 3.071» → gráfico de los cinco niveles (misma escala lineal; 14 en azul).</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«Pocas series, muchísimos pares» → lectura bajo el gráfico.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«el tamaño real de la muestra son las 14 series» → «Unidad real de la muestra: n = 14 series».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«Una advertencia» → fila de límites: 14 de 33 series elegibles · un solo dominio · habla actuada.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Video de Jason en la ventana pequeña inferior derecha.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Lámina breve de variables y luego «Germán sigue con la calidad de los datos.»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El gráfico es nativo y editable, construido con las cifras de la figura 1 (figuras/eda-estructura-de-los-datos.png, notebook 11). Si se prefiere la figura original, reemplazarlo sin deformarla.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45 s (referencial; manda el ritmo de la locución)</a:t>
            </a:r>
            <a:endParaRPr b="0" lang="en-US" sz="20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Germán sigue con la calidad de los datos.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Lámina de referencia, sin animación: las siete variables que se usan en el resto del video. Dejarla en pantalla mientras Jason pasa el turno.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Cambio a Germán (separador 03).</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Definiciones tomadas del guion v1.4. No pude verificar los nombres de columna en el código del repo (notebook 03). «Distancia entre reuniones» e «indicador de candidato» no aparecen en el guion, por eso no se incluyeron; si el equipo los usa en el EDA, agregarlos con su definición del repo.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6 s (referencial; manda el ritmo de la locución)</a:t>
            </a:r>
            <a:endParaRPr b="0" lang="en-US" sz="20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Germán Vega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Gracias, Jason. Soy Germán Vega. Hablo de la calidad de los datos.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Revisamos los valores faltantes de las 77 variables del conjunto. Solo tres tienen casillas vacías; dos no afectan nuestro trabajo. La tercera sí importa.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D: número 03 + «Calidad y limpieza» y video de Germán.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«Es la evidencia de una decisión» → Figura 2.</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16 s (referencial; manda el ritmo de la locución)</a:t>
            </a:r>
            <a:endParaRPr b="0" lang="en-US" sz="2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Germán Vega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Es la evidencia de una decisión: las intervenciones de la conversación que la respaldan. De 343 decisiones, 26 no tienen ninguna. No faltan al azar: en la primera reunión no falta ninguna, y desde la tercera, alrededor de 11 de cada 100. Una de ellas es la del botón turbo equivocado. Es una sospecha, no un resultado: con un solo caso no sabemos si todas son errores.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No imputamos esas casillas con un valor estimado: sería inventar un respaldo que no existe. Tampoco borramos nada. Las marcamos y las revisaremos a mano.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«Es la evidencia de una decisión» → gráfico (0,0 % · 4,7 % · 11,2 % · 11,5 %).</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«en la primera reunión no falta ninguna, y desde la tercera, alrededor de 11 de cada 100» → conclusión a la derecha.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«No imputamos… Las marcamos» → «No se imputa ni se borra: se marca».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Video de Germán en la ventana pequeña.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«Aplicamos la misma regla a los valores atípicos» → tabla de técnicas.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Gráfico nativo con los porcentajes de la figura 2 del guion (figuras/eda-decisiones-sin-evidencia-por-posicion.png). Reemplazable por la figura original sin deformarla.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33 s (referencial; manda el ritmo de la locución)</a:t>
            </a:r>
            <a:endParaRPr b="0" lang="en-US" sz="20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Germán Vega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Aplicamos la misma regla a los valores atípicos: reuniones que se alejan mucho del resto. Usamos cuatro técnicas. Dos miran una variable a la vez: el Z-score y la regla de Tukey. Dos miran varias a la vez, como duración, palabras y turnos: LOF, que compara cada reunión con sus vecinas, y MCD, que mide su distancia al centro de los datos. Marcaron 15 de 56 reuniones, pero 12 solo por MCD, que exagera cuando los datos no tienen forma de campana. Solo una, TS3005d, la marcan las cuatro: es la más larga, y comprobamos que es real.</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1 — «Usamos cuatro técnicas» → tabla Z-score · Tukey · LOF · MCD (MCD destacada).</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2 — «Marcaron 15 de 56 reuniones, pero 12 solo por MCD» → columna de resultado: 15 de 56 · 12 · TS3005d.</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Video de Germán en la ventana pequeña.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«No eliminamos, corregimos ni imputamos ninguna fila.»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Verificado en notebook 03 §5: el conjunto multivariado adoptado usa duration_seconds, n_words, n_turns y n_decisions (duración, palabras, turnos y decisiones).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 37 s (referencial; manda el ritmo de la locución)</a:t>
            </a:r>
            <a:endParaRPr b="0" lang="en-US" sz="20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Germán Vega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No eliminamos, corregimos ni imputamos ninguna fila. Pero la estadística solo detecta tamaños raros: la frase equivocada del botón turbo tiene un largo normal, cinco palabras, y ningún método la señala.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También hay 4 frases idénticas y 8 casi idénticas, siempre en reuniones consecutivas. Las conservamos con una marca: son reafirmaciones y sirven para las preguntas de evolución.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«No eliminamos, corregimos ni imputamos ninguna fila» → cifra 0.</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«la frase equivocada del botón turbo tiene un largo normal» → política del EDA.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«4 frases idénticas y 8 casi idénticas» → lista de lo que se marcó (26 de 343 · 15 de 56 · 4 + 8).</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«Ahora, un primer hallazgo.» → Figura 3.</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27 s (referencial; manda el ritmo de la locución)</a:t>
            </a:r>
            <a:endParaRPr b="0" lang="en-US" sz="20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Germán Vega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Ahora, un primer hallazgo. Este es un diagrama de caja. La caja encierra a la mitad central de las reuniones, y la línea gruesa marca la mediana. La primera reunión tiene una mediana de 3,5 decisiones. Las otras tres, 8,0, 6,5 y 7,0: la primera tiene cerca de la mitad.</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Por eso, las preguntas sobre cómo evoluciona una decisión se apoyarán sobre todo en las reuniones b, c y d. Aún no sabemos si esto se debe al diseño del escenario o a un cambio real.</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Gustavo explica cómo elegimos qué pares revisar.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1 — «Ahora, un primer hallazgo» → gráfico (a en azul).</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2 — «la primera tiene cerca de la mitad» → «Mediana 3,5 frente a 8,0 · 6,5 · 7,0 → las preguntas de evolución se apoyan en b, c y d».</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Modo C: gráfico a pantalla completa, sin ventana de cámara. Decir esta parte despacio; señalar con el cursor la reunión a y luego la b.</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«Gustavo explica cómo elegimos qué pares revisar.» → separador 05.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Gráfico reemplazado por el boxplot real extraído de la salida ejecutada de notebooks/03-jss-eda.ipynb. La voz y la visualización ahora están alineadas.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 35 s (referencial; manda el ritmo de la locución)</a:t>
            </a:r>
            <a:endParaRPr b="0" lang="en-US" sz="20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Gustavo Martínez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Gracias, Germán. Soy Gustavo Martínez. Explico el filtro.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Una persona tiene que revisar cada par y decidir si una decisión cambia, revierte o repite a la otra. Son 3.071 pares: unas 77 horas. Casi todos sin relación: "el control será amarillo" frente a "la reunión termina a las cinco".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Si dos decisiones hablan de lo mismo, probablemente comparten palabras. Así que, antes de que una persona mire un par, una regla automática descarta los que casi no comparten. Es un filtro léxico, o blocking, porque solo mira palabras: no da la respuesta, solo decide qué pares vale la pena revisar.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D: número 05 + «Filtro léxico (blocking)» y video de Gustavo. Apoyar con la voz «3.071 pares», «77 horas», «filtro léxico».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«Primero se quitan las palabras vacías…» → lámina del ejemplo.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40 s (referencial; manda el ritmo de la locución)</a:t>
            </a:r>
            <a:endParaRPr b="0" lang="en-US" sz="20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Gustavo Martínez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Primero se quitan las palabras vacías, como "de" o "el"; quedan las palabras de contenido. Luego se calcula el overlap coefficient: palabras compartidas, divididas por las de la frase más corta. ¿Qué parte de la corta está dentro de la larga?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Un ejemplo. Frase larga: "el control tendrá rueda de desplazamiento, pantalla, botón turbo, botón de encendido y carcasa amarilla". Frase corta: "se elimina el botón turbo". La corta tiene tres palabras de contenido y comparte dos. Dos entre tres: 0,67, sobre el umbral de 0,30. Pasa.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Pero con frases muy cortas el coeficiente se infla: "cambiar color" frente a "el color del logo es azul" da 0,50 con una sola palabra en común. Por eso exigimos además dos palabras compartidas.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«Frase larga» → aparece la frase larga.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«Frase corta» → aparece la frase corta.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«comparte dos» → se destacan «botón» y «turbo».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4 — «Dos entre tres» → aparece «2 ÷ 3».</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5 — «0,67» → aparece «= 0,67». Pausa breve.</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6 — «sobre el umbral de 0,30» → medidor con el umbral 0,30.</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7 — «Pasa» → «PASA el filtro» (con el criterio de 2 palabras compartidas).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C: lámina a pantalla completa.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«Resultado: de 3.071 pares quedan 92…» → Figura 4.</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Las dos frases son el ejemplo ilustrativo de docs/avances/07-jss-analisis-exploratorio.md §7.3, no datos literales del corpus (así lo indica la trazabilidad del guion).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55 s (referencial; manda el ritmo de la locución)</a:t>
            </a:r>
            <a:endParaRPr b="0" lang="en-US" sz="2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Gustavo Martínez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Resultado: de 3.071 pares quedan 92, y las horas bajan de unas 77 a unas 2,3. El par del botón turbo se conserva.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«de 3.071 pares» → gráfico y cifra 3.071.</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(sin voz propia; la cifra queda en pantalla, como pide el guion) → 712 con el coeficiente solo.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«quedan 92» → 92 con el filtro completo.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4 — «de unas 77 a unas 2,3» → ≈2,3 h de revisión, frente a ≈77 h.</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Hacer los clics 1–3 seguidos y dejar respirar la cifra de horas.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«Veamos los datos.» → descriptivos.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Gráfico nativo con los conteos de la figura 4 del guion (figuras/eda-embudo-del-filtro-lexico.png). Reemplazable por la figura original sin deformarla.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16 s (referencial; manda el ritmo de la locución)</a:t>
            </a:r>
            <a:endParaRPr b="0" lang="en-US" sz="20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Gustavo Martínez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Veamos los datos. Una reunión dura unos 32 minutos: unas 5.010 palabras, 462 turnos y 6,1 decisiones. Cada decisión tiene unas seis palabras de contenido; lo más común, tres. Y los turnos, una mediana de cuatro palabras.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«Una reunión dura unos 32 minutos» → fila «Una reunión, en promedio».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«Cada decisión tiene unas seis palabras de contenido» → fila de decisión y turno (≈6, moda 3; mediana 4; 31,5 % de una sola, solo en pantalla).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«Pero hay un límite.» → Figura 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18 s (referencial; manda el ritmo de la locución)</a:t>
            </a:r>
            <a:endParaRPr b="0" lang="en-US" sz="20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Gustavo Martínez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Pero hay un límite. Cada punto agrupa pares según el largo de la frase más corta; la altura es cuántos pasan. La línea naranja es el coeficiente solo; la verde, el filtro completo. Con frases de tres palabras, el coeficiente solo deja pasar 42,1 %: basta una palabra en común. El filtro completo, 2,0 %. Desde cuatro palabras, las dos líneas coinciden. El costo: entre frases cortas casi no pasa nada, y las reversiones suelen ser cortas. Además, lo calibramos con un solo par de control. Así que habrá como mucho 92 relaciones, y quizá otras que el filtro dejó fuera.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Jason resume qué sigue.</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1 — «Pero hay un límite» → gráfico.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2 — «Con frases de tres palabras… 42,1 %… 2,0 %» → «42,1 % → 2,0 %».</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Clic 3 — «lo calibramos con un solo par de control» → nota de calibración y «como mucho 92 relaciones».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En voz solo 42,1 % y 2,0 %; 36,6 % y 0,3 % quedan en el gráfico. Este es el punto débil del filtro con frases cortas: no ocultarlo.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«Jason resume qué sigue.» → separador 07.</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Gráfico reemplazado por el gráfico de líneas real extraído de la salida ejecutada de notebooks/03-jss-eda.ipynb. Incluye todos los bins de longitud y alinea la voz con la visualización.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 45 s (referencial; manda el ritmo de la locución)</a:t>
            </a:r>
            <a:endParaRPr b="0" lang="en-US" sz="20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Gracias, Gustavo. Cierro con un último reto y los próximos pasos.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D: número 07 + «Ventana de contexto» y video de Jason.</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«El reto es la context window…»</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6 s (referencial; manda el ritmo de la locución)</a:t>
            </a:r>
            <a:endParaRPr b="0" lang="en-US" sz="20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El reto es la context window: lo máximo que el modelo lee de una vez, unos 12.288 tokens, trozos de palabra: unas 9.452 palabras. Estimamos que las 56 reuniones caben una por una, aunque la mayor ocupa el 96,4 % y seis pasan del 80 %. Ninguna serie completa cabe: cada una es de 1,6 a 2,8 veces la ventana. El modelo tendrá que leerla por partes, y eso condiciona el diseño.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Revelar con cada frase:</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«unos 12.288 tokens… 9.452 palabras» → línea de la ventana.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«la mayor ocupa el 96,4 %» → barra de la reunión más grande: cabe.</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«Ninguna serie completa cabe» → serie más breve ≈1,6 × ventana: no cabe.</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«de 1,6 a 2,8 veces la ventana» → serie más extensa ≈2,8 × ventana.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«eso condiciona el diseño» → frase final bajo el gráfico.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Modo C: sin ventana de cámara.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«Primero, las 26 decisiones sin evidencia…» → próximos pasos.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27 s (referencial; manda el ritmo de la locución)</a:t>
            </a:r>
            <a:endParaRPr b="0" lang="en-US" sz="20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Primero, las 26 decisiones sin evidencia se revisarán a mano. Segundo, las preguntas sobre cambios se apoyarán en las reuniones b, c y d. Tercero, mantendremos el filtro, declararemos que puede perder relaciones entre frases cortas y mediremos cuántas pierde. Esa medida se llama recall: de todas las relaciones reales, qué parte deja pasar el filtro. Para medirla, se anotará una muestra de pares que el filtro rechazó. Cuarto, comprobamos la robustez de los hallazgos.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«Primero» → paso 01.</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«Segundo» → paso 02.</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«Tercero» → paso 03.</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4 — «Cuarto» → paso 04.</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Pasar despacio por los cuatro pasos. Video de Jason en la ventana pequeña.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«Aplicamos Benjamini-Hochberg a 17 pruebas…» → control de robustez.</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33 s (referencial; manda el ritmo de la locución)</a:t>
            </a:r>
            <a:endParaRPr b="0" lang="en-US" sz="20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Aplicamos Benjamini-Hochberg a 17 pruebas: las mismas 9 que eran significativas siguieron siéndolo después del ajuste. Además, como los pares de una misma serie no son independientes, hicimos 5.000 réplicas de bootstrap remuestreando series completas. En el contraste revisado, el intervalo del 95 % fue de 0,0118 a 0,0393 y no incluyó cero. Estos controles refuerzan el EDA, aunque sigue siendo exploratorio.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El éxito del experimento se juzgará con una regla fijada antes de ver los resultados.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Revelar con cada frase:</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«Aplicamos Benjamini-Hochberg a 17 pruebas» → columna izquierda (17 pruebas).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«las mismas 9… siguieron siéndolo» → 9 → 9.</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«5.000 réplicas de bootstrap» → columna derecha.</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«de 0,0118 a 0,0393 y no incluyó cero» → intervalo sobre la recta (≈ 0,0254).</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«Estos controles refuerzan el EDA» → franja inferior.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Control metodológico breve: no detenerse.</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«Todo parte de lo que nos enseñó el botón turbo…» → cierre.</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REVISIÓN EQUIPO: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La franja en pantalla usa el mensaje pedido por el equipo («…pero no lo convierten en un análisis confirmatorio»); la voz del guion dice «aunque sigue siendo exploratorio». Mismo sentido; no cambiar ninguno sin acuerdo.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30 s (referencial; manda el ritmo de la locución)</a:t>
            </a:r>
            <a:endParaRPr b="0" lang="en-US" sz="20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1" lang="es-CL" sz="2000" strike="noStrike" u="none">
                <a:solidFill>
                  <a:srgbClr val="000000"/>
                </a:solidFill>
                <a:effectLst/>
                <a:uFillTx/>
                <a:latin typeface="Arial"/>
              </a:rPr>
              <a:t>SPEAKER:</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Jason Sepúlveda</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GUION: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Todo parte de lo que nos enseñó el botón turbo: los números por sí solos no encuentran un error de sentido. Hay que leer.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CUES VISUALES:</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1 — «Todo parte de lo que nos enseñó el botón turbo» → «¿Se eliminó el botón turbo?» y «Resumen: sí · Transcripción: no».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2 — «los números por sí solos no encuentran un error de sentido» → frase en blanco.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Clic 3 — «Hay que leer.» → «Hay que leer.» en amarillo.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Mirar a cámara en la frase final y dejar 2–3 segundos limpios antes de terminar el video.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TRANSICIÓN:</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Fin del video.</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1" lang="es-CL" sz="2000" strike="noStrike" u="none">
                <a:solidFill>
                  <a:srgbClr val="000000"/>
                </a:solidFill>
                <a:effectLst/>
                <a:uFillTx/>
                <a:latin typeface="Arial"/>
              </a:rPr>
              <a:t>TIEMPO:</a:t>
            </a:r>
            <a:endParaRPr b="0" lang="en-US" sz="2000" strike="noStrike" u="none">
              <a:solidFill>
                <a:srgbClr val="000000"/>
              </a:solidFill>
              <a:effectLst/>
              <a:uFillTx/>
              <a:latin typeface="Arial"/>
            </a:endParaRPr>
          </a:p>
          <a:p>
            <a:pPr indent="0">
              <a:lnSpc>
                <a:spcPct val="100000"/>
              </a:lnSpc>
              <a:buNone/>
            </a:pPr>
            <a:r>
              <a:rPr b="0" lang="es-CL" sz="2000" strike="noStrike" u="none">
                <a:solidFill>
                  <a:srgbClr val="000000"/>
                </a:solidFill>
                <a:effectLst/>
                <a:uFillTx/>
                <a:latin typeface="Arial"/>
              </a:rPr>
              <a:t>≈ 14 s (referencial; manda el ritmo de la locución)</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1 Portada">
    <p:bg>
      <p:bgPr>
        <a:solidFill>
          <a:srgbClr val="ffffff"/>
        </a:solidFill>
      </p:bgPr>
    </p:bg>
    <p:spTree>
      <p:nvGrpSpPr>
        <p:cNvPr id="1" name=""/>
        <p:cNvGrpSpPr/>
        <p:nvPr/>
      </p:nvGrpSpPr>
      <p:grpSpPr>
        <a:xfrm>
          <a:off x="0" y="0"/>
          <a:ext cx="0" cy="0"/>
          <a:chOff x="0" y="0"/>
          <a:chExt cx="0" cy="0"/>
        </a:xfrm>
      </p:grpSpPr>
      <p:pic>
        <p:nvPicPr>
          <p:cNvPr id="0" name="Logo UC" descr="Pontificia Universidad Católica de Chile — UC | CHILE"/>
          <p:cNvPicPr/>
          <p:nvPr/>
        </p:nvPicPr>
        <p:blipFill>
          <a:blip r:embed="rId2"/>
          <a:stretch/>
        </p:blipFill>
        <p:spPr>
          <a:xfrm>
            <a:off x="609480" y="507960"/>
            <a:ext cx="2539800" cy="983880"/>
          </a:xfrm>
          <a:prstGeom prst="rect">
            <a:avLst/>
          </a:prstGeom>
          <a:noFill/>
          <a:ln w="0">
            <a:noFill/>
          </a:ln>
        </p:spPr>
      </p:pic>
      <p:sp>
        <p:nvSpPr>
          <p:cNvPr id="1" name="PlaceHolder 1"/>
          <p:cNvSpPr>
            <a:spLocks noGrp="1"/>
          </p:cNvSpPr>
          <p:nvPr>
            <p:ph type="body"/>
          </p:nvPr>
        </p:nvSpPr>
        <p:spPr>
          <a:xfrm>
            <a:off x="609480" y="2235240"/>
            <a:ext cx="711180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119" strike="noStrike" u="none" cap="all">
                <a:solidFill>
                  <a:srgbClr val="0176de"/>
                </a:solidFill>
                <a:effectLst/>
                <a:uFillTx/>
                <a:latin typeface="Calibri"/>
              </a:rPr>
              <a:t>PROYECTO · TIPO DE ENTREGA</a:t>
            </a:r>
            <a:endParaRPr b="0" lang="es-CL" sz="1400" strike="noStrike" u="none">
              <a:solidFill>
                <a:srgbClr val="1a1e2b"/>
              </a:solidFill>
              <a:effectLst/>
              <a:uFillTx/>
              <a:latin typeface="Calibri"/>
            </a:endParaRPr>
          </a:p>
        </p:txBody>
      </p:sp>
      <p:sp>
        <p:nvSpPr>
          <p:cNvPr id="2" name="PlaceHolder 2"/>
          <p:cNvSpPr>
            <a:spLocks noGrp="1"/>
          </p:cNvSpPr>
          <p:nvPr>
            <p:ph type="title"/>
          </p:nvPr>
        </p:nvSpPr>
        <p:spPr>
          <a:xfrm>
            <a:off x="609480" y="2540160"/>
            <a:ext cx="7111800" cy="1218960"/>
          </a:xfrm>
          <a:prstGeom prst="rect">
            <a:avLst/>
          </a:prstGeom>
          <a:noFill/>
          <a:ln w="0">
            <a:noFill/>
          </a:ln>
        </p:spPr>
        <p:txBody>
          <a:bodyPr lIns="0" rIns="0" tIns="0" bIns="0" anchor="t">
            <a:noAutofit/>
          </a:bodyPr>
          <a:p>
            <a:pPr indent="0" defTabSz="914400">
              <a:lnSpc>
                <a:spcPct val="90000"/>
              </a:lnSpc>
              <a:buNone/>
              <a:tabLst>
                <a:tab algn="l" pos="0"/>
              </a:tabLst>
            </a:pPr>
            <a:r>
              <a:rPr b="1" lang="es-CL" sz="4400" strike="noStrike" u="none">
                <a:solidFill>
                  <a:srgbClr val="1a1e2b"/>
                </a:solidFill>
                <a:effectLst/>
                <a:uFillTx/>
                <a:latin typeface="Calibri"/>
              </a:rPr>
              <a:t>Título de la presentación</a:t>
            </a:r>
            <a:endParaRPr b="0" lang="es-CL" sz="4400" strike="noStrike" u="none">
              <a:solidFill>
                <a:schemeClr val="dk1"/>
              </a:solidFill>
              <a:effectLst/>
              <a:uFillTx/>
              <a:latin typeface="Calibri"/>
            </a:endParaRPr>
          </a:p>
        </p:txBody>
      </p:sp>
      <p:sp>
        <p:nvSpPr>
          <p:cNvPr id="3" name="PlaceHolder 3"/>
          <p:cNvSpPr>
            <a:spLocks noGrp="1"/>
          </p:cNvSpPr>
          <p:nvPr>
            <p:ph type="body"/>
          </p:nvPr>
        </p:nvSpPr>
        <p:spPr>
          <a:xfrm>
            <a:off x="609480" y="3886200"/>
            <a:ext cx="7111800" cy="761760"/>
          </a:xfrm>
          <a:prstGeom prst="rect">
            <a:avLst/>
          </a:prstGeom>
          <a:noFill/>
          <a:ln w="0">
            <a:noFill/>
          </a:ln>
        </p:spPr>
        <p:txBody>
          <a:bodyPr lIns="0" rIns="0" tIns="0" bIns="0" anchor="t">
            <a:noAutofit/>
          </a:bodyPr>
          <a:p>
            <a:pPr indent="0" defTabSz="914400">
              <a:lnSpc>
                <a:spcPct val="95000"/>
              </a:lnSpc>
              <a:buNone/>
              <a:tabLst>
                <a:tab algn="l" pos="0"/>
              </a:tabLst>
            </a:pPr>
            <a:r>
              <a:rPr b="0" lang="es-CL" sz="2000" strike="noStrike" u="none">
                <a:solidFill>
                  <a:srgbClr val="5f6670"/>
                </a:solidFill>
                <a:effectLst/>
                <a:uFillTx/>
                <a:latin typeface="Calibri"/>
              </a:rPr>
              <a:t>Subtítulo: pregunta o alcance en una línea</a:t>
            </a:r>
            <a:endParaRPr b="0" lang="es-CL" sz="2000" strike="noStrike" u="none">
              <a:solidFill>
                <a:srgbClr val="1a1e2b"/>
              </a:solidFill>
              <a:effectLst/>
              <a:uFillTx/>
              <a:latin typeface="Calibri"/>
            </a:endParaRPr>
          </a:p>
        </p:txBody>
      </p:sp>
      <p:sp>
        <p:nvSpPr>
          <p:cNvPr id="4" name="PlaceHolder 4"/>
          <p:cNvSpPr>
            <a:spLocks noGrp="1"/>
          </p:cNvSpPr>
          <p:nvPr>
            <p:ph type="body"/>
          </p:nvPr>
        </p:nvSpPr>
        <p:spPr>
          <a:xfrm>
            <a:off x="609480" y="5486400"/>
            <a:ext cx="711180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600" strike="noStrike" u="none">
                <a:solidFill>
                  <a:srgbClr val="1a1e2b"/>
                </a:solidFill>
                <a:effectLst/>
                <a:uFillTx/>
                <a:latin typeface="Calibri"/>
              </a:rPr>
              <a:t>Presentadores</a:t>
            </a:r>
            <a:endParaRPr b="0" lang="es-CL" sz="1600" strike="noStrike" u="none">
              <a:solidFill>
                <a:srgbClr val="1a1e2b"/>
              </a:solidFill>
              <a:effectLst/>
              <a:uFillTx/>
              <a:latin typeface="Calibri"/>
            </a:endParaRPr>
          </a:p>
        </p:txBody>
      </p:sp>
      <p:sp>
        <p:nvSpPr>
          <p:cNvPr id="5" name="PlaceHolder 5"/>
          <p:cNvSpPr>
            <a:spLocks noGrp="1"/>
          </p:cNvSpPr>
          <p:nvPr>
            <p:ph type="body"/>
          </p:nvPr>
        </p:nvSpPr>
        <p:spPr>
          <a:xfrm>
            <a:off x="609480" y="5816520"/>
            <a:ext cx="7111800" cy="279000"/>
          </a:xfrm>
          <a:prstGeom prst="rect">
            <a:avLst/>
          </a:prstGeom>
          <a:noFill/>
          <a:ln w="0">
            <a:noFill/>
          </a:ln>
        </p:spPr>
        <p:txBody>
          <a:bodyPr lIns="0" rIns="0" tIns="0" bIns="0" anchor="t">
            <a:noAutofit/>
          </a:bodyPr>
          <a:p>
            <a:pPr indent="0" defTabSz="914400">
              <a:lnSpc>
                <a:spcPct val="95000"/>
              </a:lnSpc>
              <a:buNone/>
              <a:tabLst>
                <a:tab algn="l" pos="0"/>
              </a:tabLst>
            </a:pPr>
            <a:r>
              <a:rPr b="0" lang="es-CL" sz="1400" strike="noStrike" u="none">
                <a:solidFill>
                  <a:srgbClr val="5f6670"/>
                </a:solidFill>
                <a:effectLst/>
                <a:uFillTx/>
                <a:latin typeface="Calibri"/>
              </a:rPr>
              <a:t>Curso · Fecha</a:t>
            </a:r>
            <a:endParaRPr b="0" lang="es-CL" sz="1400" strike="noStrike" u="none">
              <a:solidFill>
                <a:srgbClr val="1a1e2b"/>
              </a:solidFill>
              <a:effectLst/>
              <a:uFillTx/>
              <a:latin typeface="Calibri"/>
            </a:endParaRPr>
          </a:p>
        </p:txBody>
      </p:sp>
      <p:sp>
        <p:nvSpPr>
          <p:cNvPr id="6" name="Franja 10"/>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7" name="Franja 11"/>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8" name="Franja 12"/>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9" name="Franja 13"/>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 Control de robustez">
    <p:bg>
      <p:bgPr>
        <a:solidFill>
          <a:srgbClr val="ffffff"/>
        </a:solidFill>
      </p:bgPr>
    </p:bg>
    <p:spTree>
      <p:nvGrpSpPr>
        <p:cNvPr id="1" name=""/>
        <p:cNvGrpSpPr/>
        <p:nvPr/>
      </p:nvGrpSpPr>
      <p:grpSpPr>
        <a:xfrm>
          <a:off x="0" y="0"/>
          <a:ext cx="0" cy="0"/>
          <a:chOff x="0" y="0"/>
          <a:chExt cx="0" cy="0"/>
        </a:xfrm>
      </p:grpSpPr>
      <p:sp>
        <p:nvSpPr>
          <p:cNvPr id="10"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1"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2"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3"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4"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39AD8C03-8163-4206-8480-D01B1905CB44}"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5"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6"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7"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8"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9" name="PlaceHolder 3"/>
          <p:cNvSpPr>
            <a:spLocks noGrp="1"/>
          </p:cNvSpPr>
          <p:nvPr>
            <p:ph type="body"/>
          </p:nvPr>
        </p:nvSpPr>
        <p:spPr>
          <a:xfrm>
            <a:off x="609480" y="180324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COMPROBACIÓN 1</a:t>
            </a:r>
            <a:endParaRPr b="0" lang="es-CL" sz="1400" strike="noStrike" u="none">
              <a:solidFill>
                <a:srgbClr val="1a1e2b"/>
              </a:solidFill>
              <a:effectLst/>
              <a:uFillTx/>
              <a:latin typeface="Calibri"/>
            </a:endParaRPr>
          </a:p>
        </p:txBody>
      </p:sp>
      <p:sp>
        <p:nvSpPr>
          <p:cNvPr id="20" name="PlaceHolder 4"/>
          <p:cNvSpPr>
            <a:spLocks noGrp="1"/>
          </p:cNvSpPr>
          <p:nvPr>
            <p:ph type="body"/>
          </p:nvPr>
        </p:nvSpPr>
        <p:spPr>
          <a:xfrm>
            <a:off x="609480" y="2108160"/>
            <a:ext cx="513036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600" strike="noStrike" u="none">
                <a:solidFill>
                  <a:srgbClr val="5f6670"/>
                </a:solidFill>
                <a:effectLst/>
                <a:uFillTx/>
                <a:latin typeface="Calibri"/>
              </a:rPr>
              <a:t>Pregunta que responde</a:t>
            </a:r>
            <a:endParaRPr b="0" lang="es-CL" sz="1600" strike="noStrike" u="none">
              <a:solidFill>
                <a:srgbClr val="1a1e2b"/>
              </a:solidFill>
              <a:effectLst/>
              <a:uFillTx/>
              <a:latin typeface="Calibri"/>
            </a:endParaRPr>
          </a:p>
        </p:txBody>
      </p:sp>
      <p:sp>
        <p:nvSpPr>
          <p:cNvPr id="21" name="PlaceHolder 5"/>
          <p:cNvSpPr>
            <a:spLocks noGrp="1"/>
          </p:cNvSpPr>
          <p:nvPr>
            <p:ph type="body"/>
          </p:nvPr>
        </p:nvSpPr>
        <p:spPr>
          <a:xfrm>
            <a:off x="609480" y="4648320"/>
            <a:ext cx="5130360" cy="812520"/>
          </a:xfrm>
          <a:prstGeom prst="rect">
            <a:avLst/>
          </a:prstGeom>
          <a:noFill/>
          <a:ln w="0">
            <a:noFill/>
          </a:ln>
        </p:spPr>
        <p:txBody>
          <a:bodyPr lIns="0" rIns="0" tIns="0" bIns="0" anchor="b">
            <a:noAutofit/>
          </a:bodyPr>
          <a:p>
            <a:pPr indent="0" defTabSz="914400">
              <a:lnSpc>
                <a:spcPct val="100000"/>
              </a:lnSpc>
              <a:buNone/>
              <a:tabLst>
                <a:tab algn="l" pos="0"/>
              </a:tabLst>
            </a:pPr>
            <a:r>
              <a:rPr b="1" lang="es-CL" sz="1800" strike="noStrike" u="none">
                <a:solidFill>
                  <a:srgbClr val="1a1e2b"/>
                </a:solidFill>
                <a:effectLst/>
                <a:uFillTx/>
                <a:latin typeface="Calibri"/>
              </a:rPr>
              <a:t>Mensaje de la comprobación</a:t>
            </a:r>
            <a:endParaRPr b="0" lang="es-CL" sz="1800" strike="noStrike" u="none">
              <a:solidFill>
                <a:srgbClr val="1a1e2b"/>
              </a:solidFill>
              <a:effectLst/>
              <a:uFillTx/>
              <a:latin typeface="Calibri"/>
            </a:endParaRPr>
          </a:p>
        </p:txBody>
      </p:sp>
      <p:sp>
        <p:nvSpPr>
          <p:cNvPr id="22" name="Línea 15"/>
          <p:cNvSpPr/>
          <p:nvPr/>
        </p:nvSpPr>
        <p:spPr>
          <a:xfrm>
            <a:off x="6095880" y="1803240"/>
            <a:ext cx="12240" cy="3657240"/>
          </a:xfrm>
          <a:prstGeom prst="rect">
            <a:avLst/>
          </a:prstGeom>
          <a:solidFill>
            <a:srgbClr val="c9ced6"/>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23" name="PlaceHolder 6"/>
          <p:cNvSpPr>
            <a:spLocks noGrp="1"/>
          </p:cNvSpPr>
          <p:nvPr>
            <p:ph type="body"/>
          </p:nvPr>
        </p:nvSpPr>
        <p:spPr>
          <a:xfrm>
            <a:off x="6451560" y="180324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COMPROBACIÓN 2</a:t>
            </a:r>
            <a:endParaRPr b="0" lang="es-CL" sz="1400" strike="noStrike" u="none">
              <a:solidFill>
                <a:srgbClr val="1a1e2b"/>
              </a:solidFill>
              <a:effectLst/>
              <a:uFillTx/>
              <a:latin typeface="Calibri"/>
            </a:endParaRPr>
          </a:p>
        </p:txBody>
      </p:sp>
      <p:sp>
        <p:nvSpPr>
          <p:cNvPr id="24" name="PlaceHolder 7"/>
          <p:cNvSpPr>
            <a:spLocks noGrp="1"/>
          </p:cNvSpPr>
          <p:nvPr>
            <p:ph type="body"/>
          </p:nvPr>
        </p:nvSpPr>
        <p:spPr>
          <a:xfrm>
            <a:off x="6451560" y="2108160"/>
            <a:ext cx="513036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600" strike="noStrike" u="none">
                <a:solidFill>
                  <a:srgbClr val="5f6670"/>
                </a:solidFill>
                <a:effectLst/>
                <a:uFillTx/>
                <a:latin typeface="Calibri"/>
              </a:rPr>
              <a:t>Pregunta que responde</a:t>
            </a:r>
            <a:endParaRPr b="0" lang="es-CL" sz="1600" strike="noStrike" u="none">
              <a:solidFill>
                <a:srgbClr val="1a1e2b"/>
              </a:solidFill>
              <a:effectLst/>
              <a:uFillTx/>
              <a:latin typeface="Calibri"/>
            </a:endParaRPr>
          </a:p>
        </p:txBody>
      </p:sp>
      <p:sp>
        <p:nvSpPr>
          <p:cNvPr id="25" name="PlaceHolder 8"/>
          <p:cNvSpPr>
            <a:spLocks noGrp="1"/>
          </p:cNvSpPr>
          <p:nvPr>
            <p:ph type="body"/>
          </p:nvPr>
        </p:nvSpPr>
        <p:spPr>
          <a:xfrm>
            <a:off x="6451560" y="4648320"/>
            <a:ext cx="5130360" cy="812520"/>
          </a:xfrm>
          <a:prstGeom prst="rect">
            <a:avLst/>
          </a:prstGeom>
          <a:noFill/>
          <a:ln w="0">
            <a:noFill/>
          </a:ln>
        </p:spPr>
        <p:txBody>
          <a:bodyPr lIns="0" rIns="0" tIns="0" bIns="0" anchor="b">
            <a:noAutofit/>
          </a:bodyPr>
          <a:p>
            <a:pPr indent="0" defTabSz="914400">
              <a:lnSpc>
                <a:spcPct val="100000"/>
              </a:lnSpc>
              <a:buNone/>
              <a:tabLst>
                <a:tab algn="l" pos="0"/>
              </a:tabLst>
            </a:pPr>
            <a:r>
              <a:rPr b="1" lang="es-CL" sz="1800" strike="noStrike" u="none">
                <a:solidFill>
                  <a:srgbClr val="1a1e2b"/>
                </a:solidFill>
                <a:effectLst/>
                <a:uFillTx/>
                <a:latin typeface="Calibri"/>
              </a:rPr>
              <a:t>Mensaje de la comprobación</a:t>
            </a:r>
            <a:endParaRPr b="0" lang="es-CL" sz="1800" strike="noStrike" u="none">
              <a:solidFill>
                <a:srgbClr val="1a1e2b"/>
              </a:solidFill>
              <a:effectLst/>
              <a:uFillTx/>
              <a:latin typeface="Calibri"/>
            </a:endParaRPr>
          </a:p>
        </p:txBody>
      </p:sp>
      <p:sp>
        <p:nvSpPr>
          <p:cNvPr id="26" name="PlaceHolder 9"/>
          <p:cNvSpPr>
            <a:spLocks noGrp="1"/>
          </p:cNvSpPr>
          <p:nvPr>
            <p:ph type="body"/>
          </p:nvPr>
        </p:nvSpPr>
        <p:spPr>
          <a:xfrm>
            <a:off x="685800" y="5664240"/>
            <a:ext cx="10896120" cy="583920"/>
          </a:xfrm>
          <a:prstGeom prst="rect">
            <a:avLst/>
          </a:prstGeom>
          <a:solidFill>
            <a:srgbClr val="f3f5f8"/>
          </a:solidFill>
          <a:ln w="0">
            <a:noFill/>
          </a:ln>
        </p:spPr>
        <p:txBody>
          <a:bodyPr lIns="254160" rIns="152280" tIns="0" bIns="0" anchor="ctr">
            <a:noAutofit/>
          </a:bodyPr>
          <a:p>
            <a:pPr indent="0" defTabSz="914400">
              <a:lnSpc>
                <a:spcPct val="95000"/>
              </a:lnSpc>
              <a:buNone/>
              <a:tabLst>
                <a:tab algn="l" pos="0"/>
              </a:tabLst>
            </a:pPr>
            <a:r>
              <a:rPr b="1" lang="es-CL" sz="1600" strike="noStrike" u="none">
                <a:solidFill>
                  <a:srgbClr val="1a1e2b"/>
                </a:solidFill>
                <a:effectLst/>
                <a:uFillTx/>
                <a:latin typeface="Calibri"/>
              </a:rPr>
              <a:t>Alcance: estos controles refuerzan el análisis; no cambian su naturaleza</a:t>
            </a:r>
            <a:endParaRPr b="0" lang="es-CL" sz="1600" strike="noStrike" u="none">
              <a:solidFill>
                <a:srgbClr val="1a1e2b"/>
              </a:solidFill>
              <a:effectLst/>
              <a:uFillTx/>
              <a:latin typeface="Calibri"/>
            </a:endParaRPr>
          </a:p>
        </p:txBody>
      </p:sp>
      <p:sp>
        <p:nvSpPr>
          <p:cNvPr id="27" name="Acento alcance 20"/>
          <p:cNvSpPr/>
          <p:nvPr/>
        </p:nvSpPr>
        <p:spPr>
          <a:xfrm>
            <a:off x="609480" y="5664240"/>
            <a:ext cx="75960" cy="58392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 Próximos pasos">
    <p:bg>
      <p:bgPr>
        <a:solidFill>
          <a:srgbClr val="ffffff"/>
        </a:solidFill>
      </p:bgPr>
    </p:bg>
    <p:spTree>
      <p:nvGrpSpPr>
        <p:cNvPr id="1" name=""/>
        <p:cNvGrpSpPr/>
        <p:nvPr/>
      </p:nvGrpSpPr>
      <p:grpSpPr>
        <a:xfrm>
          <a:off x="0" y="0"/>
          <a:ext cx="0" cy="0"/>
          <a:chOff x="0" y="0"/>
          <a:chExt cx="0" cy="0"/>
        </a:xfrm>
      </p:grpSpPr>
      <p:sp>
        <p:nvSpPr>
          <p:cNvPr id="28" name="Acento 14"/>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29"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30"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31" name="Texto 17"/>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32" name="Texto 18"/>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6E4E0BA2-DE60-47AB-ADA2-2DB5966F435F}"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33" name="Franja 19"/>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34" name="Franja 20"/>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35" name="Franja 21"/>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36" name="Franja 22"/>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37" name="Texto 3"/>
          <p:cNvSpPr/>
          <p:nvPr/>
        </p:nvSpPr>
        <p:spPr>
          <a:xfrm>
            <a:off x="609480" y="1803240"/>
            <a:ext cx="10155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3600" strike="noStrike" u="none">
                <a:solidFill>
                  <a:srgbClr val="0176de"/>
                </a:solidFill>
                <a:effectLst/>
                <a:uFillTx/>
                <a:latin typeface="Calibri"/>
              </a:rPr>
              <a:t>01</a:t>
            </a:r>
            <a:endParaRPr b="0" lang="en-US" sz="3600" strike="noStrike" u="none">
              <a:solidFill>
                <a:srgbClr val="000000"/>
              </a:solidFill>
              <a:effectLst/>
              <a:uFillTx/>
              <a:latin typeface="Arial"/>
            </a:endParaRPr>
          </a:p>
        </p:txBody>
      </p:sp>
      <p:sp>
        <p:nvSpPr>
          <p:cNvPr id="38" name="PlaceHolder 3"/>
          <p:cNvSpPr>
            <a:spLocks noGrp="1"/>
          </p:cNvSpPr>
          <p:nvPr>
            <p:ph type="body"/>
          </p:nvPr>
        </p:nvSpPr>
        <p:spPr>
          <a:xfrm>
            <a:off x="1778040" y="180324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0" lang="es-CL" sz="2000" strike="noStrike" u="none">
                <a:solidFill>
                  <a:srgbClr val="1a1e2b"/>
                </a:solidFill>
                <a:effectLst/>
                <a:uFillTx/>
                <a:latin typeface="Calibri"/>
              </a:rPr>
              <a:t>Acción concreta</a:t>
            </a:r>
            <a:endParaRPr b="0" lang="es-CL" sz="2000" strike="noStrike" u="none">
              <a:solidFill>
                <a:srgbClr val="1a1e2b"/>
              </a:solidFill>
              <a:effectLst/>
              <a:uFillTx/>
              <a:latin typeface="Calibri"/>
            </a:endParaRPr>
          </a:p>
        </p:txBody>
      </p:sp>
      <p:sp>
        <p:nvSpPr>
          <p:cNvPr id="39" name="Línea 5"/>
          <p:cNvSpPr/>
          <p:nvPr/>
        </p:nvSpPr>
        <p:spPr>
          <a:xfrm>
            <a:off x="609480" y="2793960"/>
            <a:ext cx="792432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40" name="Texto 6"/>
          <p:cNvSpPr/>
          <p:nvPr/>
        </p:nvSpPr>
        <p:spPr>
          <a:xfrm>
            <a:off x="609480" y="2870280"/>
            <a:ext cx="10155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3600" strike="noStrike" u="none">
                <a:solidFill>
                  <a:srgbClr val="0176de"/>
                </a:solidFill>
                <a:effectLst/>
                <a:uFillTx/>
                <a:latin typeface="Calibri"/>
              </a:rPr>
              <a:t>02</a:t>
            </a:r>
            <a:endParaRPr b="0" lang="en-US" sz="3600" strike="noStrike" u="none">
              <a:solidFill>
                <a:srgbClr val="000000"/>
              </a:solidFill>
              <a:effectLst/>
              <a:uFillTx/>
              <a:latin typeface="Arial"/>
            </a:endParaRPr>
          </a:p>
        </p:txBody>
      </p:sp>
      <p:sp>
        <p:nvSpPr>
          <p:cNvPr id="41" name="PlaceHolder 4"/>
          <p:cNvSpPr>
            <a:spLocks noGrp="1"/>
          </p:cNvSpPr>
          <p:nvPr>
            <p:ph type="body"/>
          </p:nvPr>
        </p:nvSpPr>
        <p:spPr>
          <a:xfrm>
            <a:off x="1778040" y="287028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0" lang="es-CL" sz="2000" strike="noStrike" u="none">
                <a:solidFill>
                  <a:srgbClr val="1a1e2b"/>
                </a:solidFill>
                <a:effectLst/>
                <a:uFillTx/>
                <a:latin typeface="Calibri"/>
              </a:rPr>
              <a:t>Acción concreta</a:t>
            </a:r>
            <a:endParaRPr b="0" lang="es-CL" sz="2000" strike="noStrike" u="none">
              <a:solidFill>
                <a:srgbClr val="1a1e2b"/>
              </a:solidFill>
              <a:effectLst/>
              <a:uFillTx/>
              <a:latin typeface="Calibri"/>
            </a:endParaRPr>
          </a:p>
        </p:txBody>
      </p:sp>
      <p:sp>
        <p:nvSpPr>
          <p:cNvPr id="42" name="Línea 8"/>
          <p:cNvSpPr/>
          <p:nvPr/>
        </p:nvSpPr>
        <p:spPr>
          <a:xfrm>
            <a:off x="609480" y="3860640"/>
            <a:ext cx="792432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43" name="Texto 9"/>
          <p:cNvSpPr/>
          <p:nvPr/>
        </p:nvSpPr>
        <p:spPr>
          <a:xfrm>
            <a:off x="609480" y="3936960"/>
            <a:ext cx="10155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3600" strike="noStrike" u="none">
                <a:solidFill>
                  <a:srgbClr val="0176de"/>
                </a:solidFill>
                <a:effectLst/>
                <a:uFillTx/>
                <a:latin typeface="Calibri"/>
              </a:rPr>
              <a:t>03</a:t>
            </a:r>
            <a:endParaRPr b="0" lang="en-US" sz="3600" strike="noStrike" u="none">
              <a:solidFill>
                <a:srgbClr val="000000"/>
              </a:solidFill>
              <a:effectLst/>
              <a:uFillTx/>
              <a:latin typeface="Arial"/>
            </a:endParaRPr>
          </a:p>
        </p:txBody>
      </p:sp>
      <p:sp>
        <p:nvSpPr>
          <p:cNvPr id="44" name="PlaceHolder 5"/>
          <p:cNvSpPr>
            <a:spLocks noGrp="1"/>
          </p:cNvSpPr>
          <p:nvPr>
            <p:ph type="body"/>
          </p:nvPr>
        </p:nvSpPr>
        <p:spPr>
          <a:xfrm>
            <a:off x="1778040" y="393696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0" lang="es-CL" sz="2000" strike="noStrike" u="none">
                <a:solidFill>
                  <a:srgbClr val="1a1e2b"/>
                </a:solidFill>
                <a:effectLst/>
                <a:uFillTx/>
                <a:latin typeface="Calibri"/>
              </a:rPr>
              <a:t>Acción concreta</a:t>
            </a:r>
            <a:endParaRPr b="0" lang="es-CL" sz="2000" strike="noStrike" u="none">
              <a:solidFill>
                <a:srgbClr val="1a1e2b"/>
              </a:solidFill>
              <a:effectLst/>
              <a:uFillTx/>
              <a:latin typeface="Calibri"/>
            </a:endParaRPr>
          </a:p>
        </p:txBody>
      </p:sp>
      <p:sp>
        <p:nvSpPr>
          <p:cNvPr id="45" name="Línea 11"/>
          <p:cNvSpPr/>
          <p:nvPr/>
        </p:nvSpPr>
        <p:spPr>
          <a:xfrm>
            <a:off x="609480" y="4927680"/>
            <a:ext cx="792432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46" name="Texto 12"/>
          <p:cNvSpPr/>
          <p:nvPr/>
        </p:nvSpPr>
        <p:spPr>
          <a:xfrm>
            <a:off x="609480" y="5003640"/>
            <a:ext cx="10155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3600" strike="noStrike" u="none">
                <a:solidFill>
                  <a:srgbClr val="0176de"/>
                </a:solidFill>
                <a:effectLst/>
                <a:uFillTx/>
                <a:latin typeface="Calibri"/>
              </a:rPr>
              <a:t>04</a:t>
            </a:r>
            <a:endParaRPr b="0" lang="en-US" sz="3600" strike="noStrike" u="none">
              <a:solidFill>
                <a:srgbClr val="000000"/>
              </a:solidFill>
              <a:effectLst/>
              <a:uFillTx/>
              <a:latin typeface="Arial"/>
            </a:endParaRPr>
          </a:p>
        </p:txBody>
      </p:sp>
      <p:sp>
        <p:nvSpPr>
          <p:cNvPr id="47" name="PlaceHolder 6"/>
          <p:cNvSpPr>
            <a:spLocks noGrp="1"/>
          </p:cNvSpPr>
          <p:nvPr>
            <p:ph type="body"/>
          </p:nvPr>
        </p:nvSpPr>
        <p:spPr>
          <a:xfrm>
            <a:off x="1778040" y="500364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0" lang="es-CL" sz="2000" strike="noStrike" u="none">
                <a:solidFill>
                  <a:srgbClr val="1a1e2b"/>
                </a:solidFill>
                <a:effectLst/>
                <a:uFillTx/>
                <a:latin typeface="Calibri"/>
              </a:rPr>
              <a:t>Acción concreta</a:t>
            </a:r>
            <a:endParaRPr b="0" lang="es-CL" sz="2000" strike="noStrike" u="none">
              <a:solidFill>
                <a:srgbClr val="1a1e2b"/>
              </a:solidFill>
              <a:effectLst/>
              <a:uFillTx/>
              <a:latin typeface="Calibri"/>
            </a:endParaRPr>
          </a:p>
        </p:txBody>
      </p:sp>
      <p:sp>
        <p:nvSpPr>
          <p:cNvPr id="48" name="PlaceHolder 7"/>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3 Cierre">
    <p:bg>
      <p:bgPr>
        <a:solidFill>
          <a:srgbClr val="1a1e2b"/>
        </a:solidFill>
      </p:bgPr>
    </p:bg>
    <p:spTree>
      <p:nvGrpSpPr>
        <p:cNvPr id="1" name=""/>
        <p:cNvGrpSpPr/>
        <p:nvPr/>
      </p:nvGrpSpPr>
      <p:grpSpPr>
        <a:xfrm>
          <a:off x="0" y="0"/>
          <a:ext cx="0" cy="0"/>
          <a:chOff x="0" y="0"/>
          <a:chExt cx="0" cy="0"/>
        </a:xfrm>
      </p:grpSpPr>
      <p:sp>
        <p:nvSpPr>
          <p:cNvPr id="49" name="Banda 3"/>
          <p:cNvSpPr/>
          <p:nvPr/>
        </p:nvSpPr>
        <p:spPr>
          <a:xfrm>
            <a:off x="0" y="5638680"/>
            <a:ext cx="12191760" cy="12189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50" name="PlaceHolder 1"/>
          <p:cNvSpPr>
            <a:spLocks noGrp="1"/>
          </p:cNvSpPr>
          <p:nvPr>
            <p:ph type="body"/>
          </p:nvPr>
        </p:nvSpPr>
        <p:spPr>
          <a:xfrm>
            <a:off x="609480" y="812880"/>
            <a:ext cx="109724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119" strike="noStrike" u="none" cap="all">
                <a:solidFill>
                  <a:srgbClr val="fec60d"/>
                </a:solidFill>
                <a:effectLst/>
                <a:uFillTx/>
                <a:latin typeface="Calibri"/>
              </a:rPr>
              <a:t>VOLVEMOS AL INICIO</a:t>
            </a:r>
            <a:endParaRPr b="0" lang="es-CL" sz="1400" strike="noStrike" u="none">
              <a:solidFill>
                <a:srgbClr val="1a1e2b"/>
              </a:solidFill>
              <a:effectLst/>
              <a:uFillTx/>
              <a:latin typeface="Calibri"/>
            </a:endParaRPr>
          </a:p>
        </p:txBody>
      </p:sp>
      <p:sp>
        <p:nvSpPr>
          <p:cNvPr id="51" name="PlaceHolder 2"/>
          <p:cNvSpPr>
            <a:spLocks noGrp="1"/>
          </p:cNvSpPr>
          <p:nvPr>
            <p:ph type="title"/>
          </p:nvPr>
        </p:nvSpPr>
        <p:spPr>
          <a:xfrm>
            <a:off x="609480" y="1168560"/>
            <a:ext cx="10972440" cy="888480"/>
          </a:xfrm>
          <a:prstGeom prst="rect">
            <a:avLst/>
          </a:prstGeom>
          <a:noFill/>
          <a:ln w="0">
            <a:noFill/>
          </a:ln>
        </p:spPr>
        <p:txBody>
          <a:bodyPr lIns="0" rIns="0" tIns="0" bIns="0" anchor="t">
            <a:noAutofit/>
          </a:bodyPr>
          <a:p>
            <a:pPr indent="0" defTabSz="914400">
              <a:lnSpc>
                <a:spcPct val="90000"/>
              </a:lnSpc>
              <a:buNone/>
              <a:tabLst>
                <a:tab algn="l" pos="0"/>
              </a:tabLst>
            </a:pPr>
            <a:r>
              <a:rPr b="1" lang="es-CL" sz="4000" strike="noStrike" u="none">
                <a:solidFill>
                  <a:srgbClr val="ffffff"/>
                </a:solidFill>
                <a:effectLst/>
                <a:uFillTx/>
                <a:latin typeface="Calibri"/>
              </a:rPr>
              <a:t>Pregunta inicial</a:t>
            </a:r>
            <a:endParaRPr b="0" lang="es-CL" sz="4000" strike="noStrike" u="none">
              <a:solidFill>
                <a:schemeClr val="dk1"/>
              </a:solidFill>
              <a:effectLst/>
              <a:uFillTx/>
              <a:latin typeface="Calibri"/>
            </a:endParaRPr>
          </a:p>
        </p:txBody>
      </p:sp>
      <p:sp>
        <p:nvSpPr>
          <p:cNvPr id="52" name="PlaceHolder 3"/>
          <p:cNvSpPr>
            <a:spLocks noGrp="1"/>
          </p:cNvSpPr>
          <p:nvPr>
            <p:ph type="body"/>
          </p:nvPr>
        </p:nvSpPr>
        <p:spPr>
          <a:xfrm>
            <a:off x="609480" y="2133720"/>
            <a:ext cx="10972440" cy="507600"/>
          </a:xfrm>
          <a:prstGeom prst="rect">
            <a:avLst/>
          </a:prstGeom>
          <a:noFill/>
          <a:ln w="0">
            <a:noFill/>
          </a:ln>
        </p:spPr>
        <p:txBody>
          <a:bodyPr lIns="0" rIns="0" tIns="0" bIns="0" anchor="t">
            <a:noAutofit/>
          </a:bodyPr>
          <a:p>
            <a:pPr indent="0" defTabSz="914400">
              <a:lnSpc>
                <a:spcPct val="95000"/>
              </a:lnSpc>
              <a:buNone/>
              <a:tabLst>
                <a:tab algn="l" pos="0"/>
              </a:tabLst>
            </a:pPr>
            <a:r>
              <a:rPr b="0" lang="es-CL" sz="2200" strike="noStrike" u="none">
                <a:solidFill>
                  <a:srgbClr val="c9d3e0"/>
                </a:solidFill>
                <a:effectLst/>
                <a:uFillTx/>
                <a:latin typeface="Calibri"/>
              </a:rPr>
              <a:t>Respuesta o contraste</a:t>
            </a:r>
            <a:endParaRPr b="0" lang="es-CL" sz="2200" strike="noStrike" u="none">
              <a:solidFill>
                <a:srgbClr val="1a1e2b"/>
              </a:solidFill>
              <a:effectLst/>
              <a:uFillTx/>
              <a:latin typeface="Calibri"/>
            </a:endParaRPr>
          </a:p>
        </p:txBody>
      </p:sp>
      <p:sp>
        <p:nvSpPr>
          <p:cNvPr id="53" name="Acento 7"/>
          <p:cNvSpPr/>
          <p:nvPr/>
        </p:nvSpPr>
        <p:spPr>
          <a:xfrm>
            <a:off x="609480" y="3174840"/>
            <a:ext cx="914040" cy="63000"/>
          </a:xfrm>
          <a:prstGeom prst="rect">
            <a:avLst/>
          </a:prstGeom>
          <a:solidFill>
            <a:srgbClr val="fec60d"/>
          </a:solidFill>
          <a:ln w="0">
            <a:noFill/>
          </a:ln>
        </p:spPr>
        <p:style>
          <a:lnRef idx="0"/>
          <a:fillRef idx="0"/>
          <a:effectRef idx="0"/>
          <a:fontRef idx="minor"/>
        </p:style>
        <p:txBody>
          <a:bodyPr lIns="90000" rIns="90000" tIns="18360" bIns="18360" anchor="t">
            <a:noAutofit/>
          </a:bodyPr>
          <a:p>
            <a:pPr defTabSz="914400">
              <a:lnSpc>
                <a:spcPct val="100000"/>
              </a:lnSpc>
            </a:pPr>
            <a:endParaRPr b="0" lang="es-CL" sz="1800" strike="noStrike" u="none">
              <a:solidFill>
                <a:schemeClr val="dk1"/>
              </a:solidFill>
              <a:effectLst/>
              <a:uFillTx/>
              <a:latin typeface="Calibri"/>
            </a:endParaRPr>
          </a:p>
        </p:txBody>
      </p:sp>
      <p:sp>
        <p:nvSpPr>
          <p:cNvPr id="54" name="PlaceHolder 4"/>
          <p:cNvSpPr>
            <a:spLocks noGrp="1"/>
          </p:cNvSpPr>
          <p:nvPr>
            <p:ph type="body"/>
          </p:nvPr>
        </p:nvSpPr>
        <p:spPr>
          <a:xfrm>
            <a:off x="609480" y="3429000"/>
            <a:ext cx="10972440" cy="1904760"/>
          </a:xfrm>
          <a:prstGeom prst="rect">
            <a:avLst/>
          </a:prstGeom>
          <a:noFill/>
          <a:ln w="0">
            <a:noFill/>
          </a:ln>
        </p:spPr>
        <p:txBody>
          <a:bodyPr lIns="0" rIns="0" tIns="0" bIns="0" anchor="t">
            <a:noAutofit/>
          </a:bodyPr>
          <a:p>
            <a:pPr indent="0" defTabSz="914400">
              <a:lnSpc>
                <a:spcPct val="100000"/>
              </a:lnSpc>
              <a:buNone/>
              <a:tabLst>
                <a:tab algn="l" pos="0"/>
              </a:tabLst>
            </a:pPr>
            <a:r>
              <a:rPr b="1" lang="es-CL" sz="3200" strike="noStrike" u="none">
                <a:solidFill>
                  <a:srgbClr val="ffffff"/>
                </a:solidFill>
                <a:effectLst/>
                <a:uFillTx/>
                <a:latin typeface="Calibri"/>
              </a:rPr>
              <a:t>Mensaje final</a:t>
            </a:r>
            <a:endParaRPr b="0" lang="es-CL" sz="3200" strike="noStrike" u="none">
              <a:solidFill>
                <a:srgbClr val="1a1e2b"/>
              </a:solidFill>
              <a:effectLst/>
              <a:uFillTx/>
              <a:latin typeface="Calibri"/>
            </a:endParaRPr>
          </a:p>
        </p:txBody>
      </p:sp>
      <p:sp>
        <p:nvSpPr>
          <p:cNvPr id="55" name="PlaceHolder 5"/>
          <p:cNvSpPr>
            <a:spLocks noGrp="1"/>
          </p:cNvSpPr>
          <p:nvPr>
            <p:ph type="body"/>
          </p:nvPr>
        </p:nvSpPr>
        <p:spPr>
          <a:xfrm>
            <a:off x="609480" y="5969160"/>
            <a:ext cx="7619760" cy="558360"/>
          </a:xfrm>
          <a:prstGeom prst="rect">
            <a:avLst/>
          </a:prstGeom>
          <a:noFill/>
          <a:ln w="0">
            <a:noFill/>
          </a:ln>
        </p:spPr>
        <p:txBody>
          <a:bodyPr lIns="0" rIns="0" tIns="0" bIns="0" anchor="ctr">
            <a:noAutofit/>
          </a:bodyPr>
          <a:p>
            <a:pPr indent="0" defTabSz="914400">
              <a:lnSpc>
                <a:spcPct val="95000"/>
              </a:lnSpc>
              <a:buNone/>
              <a:tabLst>
                <a:tab algn="l" pos="0"/>
              </a:tabLst>
            </a:pPr>
            <a:r>
              <a:rPr b="0" lang="es-CL" sz="1400" strike="noStrike" u="none">
                <a:solidFill>
                  <a:srgbClr val="1a1e2b"/>
                </a:solidFill>
                <a:effectLst/>
                <a:uFillTx/>
                <a:latin typeface="Calibri"/>
              </a:rPr>
              <a:t>Presentadores · Curso</a:t>
            </a:r>
            <a:endParaRPr b="0" lang="es-CL" sz="1400" strike="noStrike" u="none">
              <a:solidFill>
                <a:srgbClr val="1a1e2b"/>
              </a:solidFill>
              <a:effectLst/>
              <a:uFillTx/>
              <a:latin typeface="Calibri"/>
            </a:endParaRPr>
          </a:p>
        </p:txBody>
      </p:sp>
      <p:pic>
        <p:nvPicPr>
          <p:cNvPr id="56" name="Logo UC" descr="Pontificia Universidad Católica de Chile — UC | CHILE"/>
          <p:cNvPicPr/>
          <p:nvPr/>
        </p:nvPicPr>
        <p:blipFill>
          <a:blip r:embed="rId2"/>
          <a:stretch/>
        </p:blipFill>
        <p:spPr>
          <a:xfrm>
            <a:off x="9550440" y="5892840"/>
            <a:ext cx="2031480" cy="786960"/>
          </a:xfrm>
          <a:prstGeom prst="rect">
            <a:avLst/>
          </a:prstGeom>
          <a:noFill/>
          <a:ln w="0">
            <a:noFill/>
          </a:ln>
        </p:spPr>
      </p:pic>
      <p:sp>
        <p:nvSpPr>
          <p:cNvPr id="57" name="Franja 11"/>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58" name="Franja 12"/>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59" name="Franja 13"/>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60" name="Franja 14"/>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4 C · Figura a pantalla completa">
    <p:bg>
      <p:bgPr>
        <a:solidFill>
          <a:srgbClr val="ffffff"/>
        </a:solidFill>
      </p:bgPr>
    </p:bg>
    <p:spTree>
      <p:nvGrpSpPr>
        <p:cNvPr id="1" name=""/>
        <p:cNvGrpSpPr/>
        <p:nvPr/>
      </p:nvGrpSpPr>
      <p:grpSpPr>
        <a:xfrm>
          <a:off x="0" y="0"/>
          <a:ext cx="0" cy="0"/>
          <a:chOff x="0" y="0"/>
          <a:chExt cx="0" cy="0"/>
        </a:xfrm>
      </p:grpSpPr>
      <p:sp>
        <p:nvSpPr>
          <p:cNvPr id="61"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62"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63"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64"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65"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F14267CE-D711-47DA-B6F7-745B2C65300B}"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66"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67"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68"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69"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70" name="PlaceHolder 3"/>
          <p:cNvSpPr>
            <a:spLocks noGrp="1"/>
          </p:cNvSpPr>
          <p:nvPr>
            <p:ph type="body"/>
          </p:nvPr>
        </p:nvSpPr>
        <p:spPr>
          <a:xfrm>
            <a:off x="609480" y="6070680"/>
            <a:ext cx="10972440" cy="253800"/>
          </a:xfrm>
          <a:prstGeom prst="rect">
            <a:avLst/>
          </a:prstGeom>
          <a:noFill/>
          <a:ln w="0">
            <a:noFill/>
          </a:ln>
        </p:spPr>
        <p:txBody>
          <a:bodyPr lIns="0" rIns="0" tIns="0" bIns="0" anchor="b">
            <a:noAutofit/>
          </a:bodyPr>
          <a:p>
            <a:pPr indent="0" defTabSz="914400">
              <a:lnSpc>
                <a:spcPct val="95000"/>
              </a:lnSpc>
              <a:buNone/>
              <a:tabLst>
                <a:tab algn="l" pos="0"/>
              </a:tabLst>
            </a:pPr>
            <a:r>
              <a:rPr b="0" lang="es-CL" sz="1100" strike="noStrike" u="none">
                <a:solidFill>
                  <a:srgbClr val="5f6670"/>
                </a:solidFill>
                <a:effectLst/>
                <a:uFillTx/>
                <a:latin typeface="Calibri"/>
              </a:rPr>
              <a:t>Leyenda o lectura del diagrama</a:t>
            </a:r>
            <a:endParaRPr b="0" lang="es-CL" sz="1100" strike="noStrike" u="none">
              <a:solidFill>
                <a:srgbClr val="1a1e2b"/>
              </a:solidFill>
              <a:effectLs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5 A · Presentador protagonista">
    <p:bg>
      <p:bgPr>
        <a:solidFill>
          <a:srgbClr val="ffffff"/>
        </a:solidFill>
      </p:bgPr>
    </p:bg>
    <p:spTree>
      <p:nvGrpSpPr>
        <p:cNvPr id="1" name=""/>
        <p:cNvGrpSpPr/>
        <p:nvPr/>
      </p:nvGrpSpPr>
      <p:grpSpPr>
        <a:xfrm>
          <a:off x="0" y="0"/>
          <a:ext cx="0" cy="0"/>
          <a:chOff x="0" y="0"/>
          <a:chExt cx="0" cy="0"/>
        </a:xfrm>
      </p:grpSpPr>
      <p:sp>
        <p:nvSpPr>
          <p:cNvPr id="71" name="Marco video"/>
          <p:cNvSpPr/>
          <p:nvPr/>
        </p:nvSpPr>
        <p:spPr>
          <a:xfrm>
            <a:off x="596880" y="1054080"/>
            <a:ext cx="7644960" cy="4317480"/>
          </a:xfrm>
          <a:prstGeom prst="rect">
            <a:avLst/>
          </a:prstGeom>
          <a:noFill/>
          <a:ln w="9525">
            <a:solidFill>
              <a:srgbClr val="c9ced6"/>
            </a:solidFill>
            <a:round/>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72" name="Acento 3"/>
          <p:cNvSpPr/>
          <p:nvPr/>
        </p:nvSpPr>
        <p:spPr>
          <a:xfrm>
            <a:off x="8636040" y="1219320"/>
            <a:ext cx="507600" cy="50400"/>
          </a:xfrm>
          <a:prstGeom prst="rect">
            <a:avLst/>
          </a:prstGeom>
          <a:solidFill>
            <a:srgbClr val="fec60d"/>
          </a:solidFill>
          <a:ln w="0">
            <a:noFill/>
          </a:ln>
        </p:spPr>
        <p:style>
          <a:lnRef idx="0"/>
          <a:fillRef idx="0"/>
          <a:effectRef idx="0"/>
          <a:fontRef idx="minor"/>
        </p:style>
        <p:txBody>
          <a:bodyPr lIns="90000" rIns="90000" tIns="5760" bIns="5760" anchor="t">
            <a:noAutofit/>
          </a:bodyPr>
          <a:p>
            <a:pPr defTabSz="914400">
              <a:lnSpc>
                <a:spcPct val="100000"/>
              </a:lnSpc>
            </a:pPr>
            <a:endParaRPr b="0" lang="es-CL" sz="1800" strike="noStrike" u="none">
              <a:solidFill>
                <a:schemeClr val="dk1"/>
              </a:solidFill>
              <a:effectLst/>
              <a:uFillTx/>
              <a:latin typeface="Calibri"/>
            </a:endParaRPr>
          </a:p>
        </p:txBody>
      </p:sp>
      <p:sp>
        <p:nvSpPr>
          <p:cNvPr id="73" name="PlaceHolder 1"/>
          <p:cNvSpPr>
            <a:spLocks noGrp="1"/>
          </p:cNvSpPr>
          <p:nvPr>
            <p:ph type="body"/>
          </p:nvPr>
        </p:nvSpPr>
        <p:spPr>
          <a:xfrm>
            <a:off x="8636040" y="1422360"/>
            <a:ext cx="2945880" cy="5076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74" name="PlaceHolder 2"/>
          <p:cNvSpPr>
            <a:spLocks noGrp="1"/>
          </p:cNvSpPr>
          <p:nvPr>
            <p:ph type="title"/>
          </p:nvPr>
        </p:nvSpPr>
        <p:spPr>
          <a:xfrm>
            <a:off x="8636040" y="1981080"/>
            <a:ext cx="2945880" cy="2158560"/>
          </a:xfrm>
          <a:prstGeom prst="rect">
            <a:avLst/>
          </a:prstGeom>
          <a:noFill/>
          <a:ln w="0">
            <a:noFill/>
          </a:ln>
        </p:spPr>
        <p:txBody>
          <a:bodyPr lIns="0" rIns="0" tIns="0" bIns="0" anchor="t">
            <a:noAutofit/>
          </a:bodyPr>
          <a:p>
            <a:pPr indent="0" defTabSz="914400">
              <a:lnSpc>
                <a:spcPct val="92000"/>
              </a:lnSpc>
              <a:buNone/>
              <a:tabLst>
                <a:tab algn="l" pos="0"/>
              </a:tabLst>
            </a:pPr>
            <a:r>
              <a:rPr b="1" lang="es-CL" sz="2800" strike="noStrike" u="none">
                <a:solidFill>
                  <a:srgbClr val="1a1e2b"/>
                </a:solidFill>
                <a:effectLst/>
                <a:uFillTx/>
                <a:latin typeface="Calibri"/>
              </a:rPr>
              <a:t>Título: la conclusión de la diapositiva en una frase</a:t>
            </a:r>
            <a:endParaRPr b="0" lang="es-CL" sz="2800" strike="noStrike" u="none">
              <a:solidFill>
                <a:schemeClr val="dk1"/>
              </a:solidFill>
              <a:effectLst/>
              <a:uFillTx/>
              <a:latin typeface="Calibri"/>
            </a:endParaRPr>
          </a:p>
        </p:txBody>
      </p:sp>
      <p:sp>
        <p:nvSpPr>
          <p:cNvPr id="75"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76"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BF825DBA-FE5A-4A97-AEF2-14AD311C500E}"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77"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78"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79"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80"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81" name="PlaceHolder 3"/>
          <p:cNvSpPr>
            <a:spLocks noGrp="1"/>
          </p:cNvSpPr>
          <p:nvPr>
            <p:ph type="body"/>
          </p:nvPr>
        </p:nvSpPr>
        <p:spPr>
          <a:xfrm>
            <a:off x="609480" y="1066680"/>
            <a:ext cx="7619760" cy="429228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PROTAGONISTA · 16:9</a:t>
            </a:r>
            <a:endParaRPr b="0" lang="es-CL" sz="1400" strike="noStrike" u="none">
              <a:solidFill>
                <a:srgbClr val="1a1e2b"/>
              </a:solidFill>
              <a:effectLst/>
              <a:uFillTx/>
              <a:latin typeface="Calibri"/>
            </a:endParaRPr>
          </a:p>
        </p:txBody>
      </p:sp>
      <p:sp>
        <p:nvSpPr>
          <p:cNvPr id="82" name="PlaceHolder 4"/>
          <p:cNvSpPr>
            <a:spLocks noGrp="1"/>
          </p:cNvSpPr>
          <p:nvPr>
            <p:ph type="body"/>
          </p:nvPr>
        </p:nvSpPr>
        <p:spPr>
          <a:xfrm>
            <a:off x="8636040" y="4191120"/>
            <a:ext cx="2945880" cy="786960"/>
          </a:xfrm>
          <a:prstGeom prst="rect">
            <a:avLst/>
          </a:prstGeom>
          <a:noFill/>
          <a:ln w="0">
            <a:noFill/>
          </a:ln>
        </p:spPr>
        <p:txBody>
          <a:bodyPr lIns="0" rIns="0" tIns="0" bIns="0" anchor="t">
            <a:noAutofit/>
          </a:bodyPr>
          <a:p>
            <a:pPr indent="0" defTabSz="914400">
              <a:lnSpc>
                <a:spcPct val="95000"/>
              </a:lnSpc>
              <a:buNone/>
              <a:tabLst>
                <a:tab algn="l" pos="0"/>
              </a:tabLst>
            </a:pPr>
            <a:r>
              <a:rPr b="0" lang="es-CL" sz="1600" strike="noStrike" u="none">
                <a:solidFill>
                  <a:srgbClr val="5f6670"/>
                </a:solidFill>
                <a:effectLst/>
                <a:uFillTx/>
                <a:latin typeface="Calibri"/>
              </a:rPr>
              <a:t>Apoyo breve (opcional)</a:t>
            </a:r>
            <a:endParaRPr b="0" lang="es-CL" sz="1600" strike="noStrike" u="none">
              <a:solidFill>
                <a:srgbClr val="1a1e2b"/>
              </a:solidFill>
              <a:effectLst/>
              <a:uFillTx/>
              <a:latin typeface="Calibri"/>
            </a:endParaRPr>
          </a:p>
        </p:txBody>
      </p:sp>
      <p:sp>
        <p:nvSpPr>
          <p:cNvPr id="83" name="PlaceHolder 5"/>
          <p:cNvSpPr>
            <a:spLocks noGrp="1"/>
          </p:cNvSpPr>
          <p:nvPr>
            <p:ph type="body"/>
          </p:nvPr>
        </p:nvSpPr>
        <p:spPr>
          <a:xfrm>
            <a:off x="609480" y="5486400"/>
            <a:ext cx="76197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1a1e2b"/>
                </a:solidFill>
                <a:effectLst/>
                <a:uFillTx/>
                <a:latin typeface="Calibri"/>
              </a:rPr>
              <a:t>Nombre del presentador</a:t>
            </a:r>
            <a:endParaRPr b="0" lang="es-CL" sz="1400" strike="noStrike" u="none">
              <a:solidFill>
                <a:srgbClr val="1a1e2b"/>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6 D · Presentador + concepto">
    <p:bg>
      <p:bgPr>
        <a:solidFill>
          <a:srgbClr val="1a1e2b"/>
        </a:solidFill>
      </p:bgPr>
    </p:bg>
    <p:spTree>
      <p:nvGrpSpPr>
        <p:cNvPr id="1" name=""/>
        <p:cNvGrpSpPr/>
        <p:nvPr/>
      </p:nvGrpSpPr>
      <p:grpSpPr>
        <a:xfrm>
          <a:off x="0" y="0"/>
          <a:ext cx="0" cy="0"/>
          <a:chOff x="0" y="0"/>
          <a:chExt cx="0" cy="0"/>
        </a:xfrm>
      </p:grpSpPr>
      <p:sp>
        <p:nvSpPr>
          <p:cNvPr id="84" name="Marco video"/>
          <p:cNvSpPr/>
          <p:nvPr/>
        </p:nvSpPr>
        <p:spPr>
          <a:xfrm>
            <a:off x="4254480" y="1206360"/>
            <a:ext cx="7340400" cy="4140000"/>
          </a:xfrm>
          <a:prstGeom prst="rect">
            <a:avLst/>
          </a:prstGeom>
          <a:noFill/>
          <a:ln w="9525">
            <a:solidFill>
              <a:srgbClr val="3a4256"/>
            </a:solidFill>
            <a:round/>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85" name="PlaceHolder 1"/>
          <p:cNvSpPr>
            <a:spLocks noGrp="1"/>
          </p:cNvSpPr>
          <p:nvPr>
            <p:ph type="body"/>
          </p:nvPr>
        </p:nvSpPr>
        <p:spPr>
          <a:xfrm>
            <a:off x="609480" y="1219320"/>
            <a:ext cx="3352320" cy="1218960"/>
          </a:xfrm>
          <a:prstGeom prst="rect">
            <a:avLst/>
          </a:prstGeom>
          <a:noFill/>
          <a:ln w="0">
            <a:noFill/>
          </a:ln>
        </p:spPr>
        <p:txBody>
          <a:bodyPr lIns="0" rIns="0" tIns="0" bIns="0" anchor="b">
            <a:noAutofit/>
          </a:bodyPr>
          <a:p>
            <a:pPr indent="0" defTabSz="914400">
              <a:lnSpc>
                <a:spcPct val="85000"/>
              </a:lnSpc>
              <a:buNone/>
              <a:tabLst>
                <a:tab algn="l" pos="0"/>
              </a:tabLst>
            </a:pPr>
            <a:r>
              <a:rPr b="1" lang="es-CL" sz="7200" strike="noStrike" u="none">
                <a:solidFill>
                  <a:srgbClr val="fec60d"/>
                </a:solidFill>
                <a:effectLst/>
                <a:uFillTx/>
                <a:latin typeface="Calibri"/>
              </a:rPr>
              <a:t>00</a:t>
            </a:r>
            <a:endParaRPr b="0" lang="es-CL" sz="7200" strike="noStrike" u="none">
              <a:solidFill>
                <a:srgbClr val="1a1e2b"/>
              </a:solidFill>
              <a:effectLst/>
              <a:uFillTx/>
              <a:latin typeface="Calibri"/>
            </a:endParaRPr>
          </a:p>
        </p:txBody>
      </p:sp>
      <p:sp>
        <p:nvSpPr>
          <p:cNvPr id="86" name="Línea 4"/>
          <p:cNvSpPr/>
          <p:nvPr/>
        </p:nvSpPr>
        <p:spPr>
          <a:xfrm>
            <a:off x="609480" y="2590920"/>
            <a:ext cx="3352320" cy="12240"/>
          </a:xfrm>
          <a:prstGeom prst="rect">
            <a:avLst/>
          </a:prstGeom>
          <a:solidFill>
            <a:srgbClr val="3a425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87" name="PlaceHolder 2"/>
          <p:cNvSpPr>
            <a:spLocks noGrp="1"/>
          </p:cNvSpPr>
          <p:nvPr>
            <p:ph type="title"/>
          </p:nvPr>
        </p:nvSpPr>
        <p:spPr>
          <a:xfrm>
            <a:off x="609480" y="2793960"/>
            <a:ext cx="3352320" cy="15742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Nombre de la sección</a:t>
            </a:r>
            <a:endParaRPr b="0" lang="es-CL" sz="3200" strike="noStrike" u="none">
              <a:solidFill>
                <a:schemeClr val="dk1"/>
              </a:solidFill>
              <a:effectLst/>
              <a:uFillTx/>
              <a:latin typeface="Calibri"/>
            </a:endParaRPr>
          </a:p>
        </p:txBody>
      </p:sp>
      <p:sp>
        <p:nvSpPr>
          <p:cNvPr id="88" name="PlaceHolder 3"/>
          <p:cNvSpPr>
            <a:spLocks noGrp="1"/>
          </p:cNvSpPr>
          <p:nvPr>
            <p:ph type="body"/>
          </p:nvPr>
        </p:nvSpPr>
        <p:spPr>
          <a:xfrm>
            <a:off x="609480" y="4191120"/>
            <a:ext cx="335232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800" strike="noStrike" u="none">
                <a:solidFill>
                  <a:srgbClr val="c9d3e0"/>
                </a:solidFill>
                <a:effectLst/>
                <a:uFillTx/>
                <a:latin typeface="Calibri"/>
              </a:rPr>
              <a:t>Qué responde esta sección, en una línea</a:t>
            </a:r>
            <a:endParaRPr b="0" lang="es-CL" sz="1800" strike="noStrike" u="none">
              <a:solidFill>
                <a:srgbClr val="1a1e2b"/>
              </a:solidFill>
              <a:effectLst/>
              <a:uFillTx/>
              <a:latin typeface="Calibri"/>
            </a:endParaRPr>
          </a:p>
        </p:txBody>
      </p:sp>
      <p:sp>
        <p:nvSpPr>
          <p:cNvPr id="89" name="Texto 7"/>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9aa6b8"/>
                </a:solidFill>
                <a:effectLst/>
                <a:uFillTx/>
                <a:latin typeface="Calibri"/>
              </a:rPr>
              <a:t>AFG2 · Video de avance #1 · Análisis exploratorio de datos</a:t>
            </a:r>
            <a:endParaRPr b="0" lang="en-US" sz="1100" strike="noStrike" u="none">
              <a:solidFill>
                <a:srgbClr val="ffffff"/>
              </a:solidFill>
              <a:effectLst/>
              <a:uFillTx/>
              <a:latin typeface="Arial"/>
            </a:endParaRPr>
          </a:p>
        </p:txBody>
      </p:sp>
      <p:sp>
        <p:nvSpPr>
          <p:cNvPr id="90" name="Texto 8"/>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2459468A-ABDA-4A57-B35C-CFD400C07C64}" type="slidenum">
              <a:rPr b="0" lang="es-CL" sz="1100" strike="noStrike" u="none">
                <a:solidFill>
                  <a:srgbClr val="9aa6b8"/>
                </a:solidFill>
                <a:effectLst/>
                <a:uFillTx/>
                <a:latin typeface="Calibri"/>
              </a:rPr>
              <a:t>&lt;number&gt;</a:t>
            </a:fld>
            <a:endParaRPr b="0" lang="en-US" sz="1100" strike="noStrike" u="none">
              <a:solidFill>
                <a:srgbClr val="ffffff"/>
              </a:solidFill>
              <a:effectLst/>
              <a:uFillTx/>
              <a:latin typeface="Arial"/>
            </a:endParaRPr>
          </a:p>
        </p:txBody>
      </p:sp>
      <p:sp>
        <p:nvSpPr>
          <p:cNvPr id="91" name="Franja 9"/>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92" name="Franja 10"/>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93" name="Franja 11"/>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94" name="Franja 12"/>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95" name="PlaceHolder 4"/>
          <p:cNvSpPr>
            <a:spLocks noGrp="1"/>
          </p:cNvSpPr>
          <p:nvPr>
            <p:ph type="body"/>
          </p:nvPr>
        </p:nvSpPr>
        <p:spPr>
          <a:xfrm>
            <a:off x="4267080" y="1219320"/>
            <a:ext cx="7314840" cy="411444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9aa6b8"/>
                </a:solidFill>
                <a:effectLst/>
                <a:uFillTx/>
                <a:latin typeface="Calibri"/>
              </a:rPr>
              <a:t>VIDEO PRESENTADOR · 16:9</a:t>
            </a:r>
            <a:endParaRPr b="0" lang="es-CL" sz="1400" strike="noStrike" u="none">
              <a:solidFill>
                <a:srgbClr val="1a1e2b"/>
              </a:solidFill>
              <a:effectLst/>
              <a:uFillTx/>
              <a:latin typeface="Calibri"/>
            </a:endParaRPr>
          </a:p>
        </p:txBody>
      </p:sp>
      <p:sp>
        <p:nvSpPr>
          <p:cNvPr id="96" name="PlaceHolder 5"/>
          <p:cNvSpPr>
            <a:spLocks noGrp="1"/>
          </p:cNvSpPr>
          <p:nvPr>
            <p:ph type="body"/>
          </p:nvPr>
        </p:nvSpPr>
        <p:spPr>
          <a:xfrm>
            <a:off x="4267080" y="5511960"/>
            <a:ext cx="73148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c9d3e0"/>
                </a:solidFill>
                <a:effectLst/>
                <a:uFillTx/>
                <a:latin typeface="Calibri"/>
              </a:rPr>
              <a:t>Nombre del presentador</a:t>
            </a:r>
            <a:endParaRPr b="0" lang="es-CL" sz="1400" strike="noStrike" u="none">
              <a:solidFill>
                <a:srgbClr val="1a1e2b"/>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3 Cifra o hallazgo principal">
    <p:bg>
      <p:bgPr>
        <a:solidFill>
          <a:srgbClr val="ffffff"/>
        </a:solidFill>
      </p:bgPr>
    </p:bg>
    <p:spTree>
      <p:nvGrpSpPr>
        <p:cNvPr id="1" name=""/>
        <p:cNvGrpSpPr/>
        <p:nvPr/>
      </p:nvGrpSpPr>
      <p:grpSpPr>
        <a:xfrm>
          <a:off x="0" y="0"/>
          <a:ext cx="0" cy="0"/>
          <a:chOff x="0" y="0"/>
          <a:chExt cx="0" cy="0"/>
        </a:xfrm>
      </p:grpSpPr>
      <p:sp>
        <p:nvSpPr>
          <p:cNvPr id="97"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98"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99"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00"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01"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D30774A9-79FD-42F7-B813-72847997F12D}"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02"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03"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04"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05"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06" name="PlaceHolder 3"/>
          <p:cNvSpPr>
            <a:spLocks noGrp="1"/>
          </p:cNvSpPr>
          <p:nvPr>
            <p:ph type="body"/>
          </p:nvPr>
        </p:nvSpPr>
        <p:spPr>
          <a:xfrm>
            <a:off x="609480" y="1854360"/>
            <a:ext cx="6603480" cy="2031480"/>
          </a:xfrm>
          <a:prstGeom prst="rect">
            <a:avLst/>
          </a:prstGeom>
          <a:noFill/>
          <a:ln w="0">
            <a:noFill/>
          </a:ln>
        </p:spPr>
        <p:txBody>
          <a:bodyPr lIns="0" rIns="0" tIns="0" bIns="0" anchor="b">
            <a:noAutofit/>
          </a:bodyPr>
          <a:p>
            <a:pPr indent="0" defTabSz="914400">
              <a:lnSpc>
                <a:spcPct val="85000"/>
              </a:lnSpc>
              <a:buNone/>
              <a:tabLst>
                <a:tab algn="l" pos="0"/>
              </a:tabLst>
            </a:pPr>
            <a:r>
              <a:rPr b="1" lang="es-CL" sz="12000" strike="noStrike" u="none">
                <a:solidFill>
                  <a:srgbClr val="0176de"/>
                </a:solidFill>
                <a:effectLst/>
                <a:uFillTx/>
                <a:latin typeface="Calibri"/>
              </a:rPr>
              <a:t>00</a:t>
            </a:r>
            <a:endParaRPr b="0" lang="es-CL" sz="12000" strike="noStrike" u="none">
              <a:solidFill>
                <a:srgbClr val="1a1e2b"/>
              </a:solidFill>
              <a:effectLst/>
              <a:uFillTx/>
              <a:latin typeface="Calibri"/>
            </a:endParaRPr>
          </a:p>
        </p:txBody>
      </p:sp>
      <p:sp>
        <p:nvSpPr>
          <p:cNvPr id="107" name="Subrayado cifra 13"/>
          <p:cNvSpPr/>
          <p:nvPr/>
        </p:nvSpPr>
        <p:spPr>
          <a:xfrm>
            <a:off x="609480" y="4013280"/>
            <a:ext cx="914040" cy="63000"/>
          </a:xfrm>
          <a:prstGeom prst="rect">
            <a:avLst/>
          </a:prstGeom>
          <a:solidFill>
            <a:srgbClr val="fec60d"/>
          </a:solidFill>
          <a:ln w="0">
            <a:noFill/>
          </a:ln>
        </p:spPr>
        <p:style>
          <a:lnRef idx="0"/>
          <a:fillRef idx="0"/>
          <a:effectRef idx="0"/>
          <a:fontRef idx="minor"/>
        </p:style>
        <p:txBody>
          <a:bodyPr lIns="90000" rIns="90000" tIns="18360" bIns="18360" anchor="t">
            <a:noAutofit/>
          </a:bodyPr>
          <a:p>
            <a:pPr defTabSz="914400">
              <a:lnSpc>
                <a:spcPct val="100000"/>
              </a:lnSpc>
            </a:pPr>
            <a:endParaRPr b="0" lang="es-CL" sz="1800" strike="noStrike" u="none">
              <a:solidFill>
                <a:schemeClr val="dk1"/>
              </a:solidFill>
              <a:effectLst/>
              <a:uFillTx/>
              <a:latin typeface="Calibri"/>
            </a:endParaRPr>
          </a:p>
        </p:txBody>
      </p:sp>
      <p:sp>
        <p:nvSpPr>
          <p:cNvPr id="108" name="PlaceHolder 4"/>
          <p:cNvSpPr>
            <a:spLocks noGrp="1"/>
          </p:cNvSpPr>
          <p:nvPr>
            <p:ph type="body"/>
          </p:nvPr>
        </p:nvSpPr>
        <p:spPr>
          <a:xfrm>
            <a:off x="609480" y="4241880"/>
            <a:ext cx="6603480" cy="914040"/>
          </a:xfrm>
          <a:prstGeom prst="rect">
            <a:avLst/>
          </a:prstGeom>
          <a:noFill/>
          <a:ln w="0">
            <a:noFill/>
          </a:ln>
        </p:spPr>
        <p:txBody>
          <a:bodyPr lIns="0" rIns="0" tIns="0" bIns="0" anchor="t">
            <a:noAutofit/>
          </a:bodyPr>
          <a:p>
            <a:pPr indent="0" defTabSz="914400">
              <a:lnSpc>
                <a:spcPct val="95000"/>
              </a:lnSpc>
              <a:buNone/>
              <a:tabLst>
                <a:tab algn="l" pos="0"/>
              </a:tabLst>
            </a:pPr>
            <a:r>
              <a:rPr b="1" lang="es-CL" sz="2400" strike="noStrike" u="none">
                <a:solidFill>
                  <a:srgbClr val="1a1e2b"/>
                </a:solidFill>
                <a:effectLst/>
                <a:uFillTx/>
                <a:latin typeface="Calibri"/>
              </a:rPr>
              <a:t>Qué mide la cifra</a:t>
            </a:r>
            <a:endParaRPr b="0" lang="es-CL" sz="2400" strike="noStrike" u="none">
              <a:solidFill>
                <a:srgbClr val="1a1e2b"/>
              </a:solidFill>
              <a:effectLst/>
              <a:uFillTx/>
              <a:latin typeface="Calibri"/>
            </a:endParaRPr>
          </a:p>
        </p:txBody>
      </p:sp>
      <p:sp>
        <p:nvSpPr>
          <p:cNvPr id="109" name="PlaceHolder 5"/>
          <p:cNvSpPr>
            <a:spLocks noGrp="1"/>
          </p:cNvSpPr>
          <p:nvPr>
            <p:ph type="body"/>
          </p:nvPr>
        </p:nvSpPr>
        <p:spPr>
          <a:xfrm>
            <a:off x="609480" y="5232240"/>
            <a:ext cx="660348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600" strike="noStrike" u="none">
                <a:solidFill>
                  <a:srgbClr val="5f6670"/>
                </a:solidFill>
                <a:effectLst/>
                <a:uFillTx/>
                <a:latin typeface="Calibri"/>
              </a:rPr>
              <a:t>Contexto o comparación de la cifra</a:t>
            </a:r>
            <a:endParaRPr b="0" lang="es-CL" sz="1600" strike="noStrike" u="none">
              <a:solidFill>
                <a:srgbClr val="1a1e2b"/>
              </a:solidFill>
              <a:effectLst/>
              <a:uFillTx/>
              <a:latin typeface="Calibri"/>
            </a:endParaRPr>
          </a:p>
        </p:txBody>
      </p:sp>
      <p:sp>
        <p:nvSpPr>
          <p:cNvPr id="110" name="Línea 16"/>
          <p:cNvSpPr/>
          <p:nvPr/>
        </p:nvSpPr>
        <p:spPr>
          <a:xfrm>
            <a:off x="7620120" y="1905120"/>
            <a:ext cx="12240" cy="4190760"/>
          </a:xfrm>
          <a:prstGeom prst="rect">
            <a:avLst/>
          </a:prstGeom>
          <a:solidFill>
            <a:srgbClr val="c9ced6"/>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11" name="PlaceHolder 6"/>
          <p:cNvSpPr>
            <a:spLocks noGrp="1"/>
          </p:cNvSpPr>
          <p:nvPr>
            <p:ph type="body"/>
          </p:nvPr>
        </p:nvSpPr>
        <p:spPr>
          <a:xfrm>
            <a:off x="8026560" y="1905120"/>
            <a:ext cx="3555720" cy="2285640"/>
          </a:xfrm>
          <a:prstGeom prst="rect">
            <a:avLst/>
          </a:prstGeom>
          <a:noFill/>
          <a:ln w="0">
            <a:noFill/>
          </a:ln>
        </p:spPr>
        <p:txBody>
          <a:bodyPr lIns="0" rIns="0" tIns="0" bIns="0" anchor="t">
            <a:noAutofit/>
          </a:bodyPr>
          <a:p>
            <a:pPr indent="0" defTabSz="914400">
              <a:lnSpc>
                <a:spcPct val="105000"/>
              </a:lnSpc>
              <a:spcAft>
                <a:spcPts val="901"/>
              </a:spcAft>
              <a:buNone/>
              <a:tabLst>
                <a:tab algn="l" pos="0"/>
              </a:tabLst>
            </a:pPr>
            <a:r>
              <a:rPr b="0" lang="es-CL" sz="1800" strike="noStrike" u="none">
                <a:solidFill>
                  <a:srgbClr val="1a1e2b"/>
                </a:solidFill>
                <a:effectLst/>
                <a:uFillTx/>
                <a:latin typeface="Calibri"/>
              </a:rPr>
              <a:t>Por qué importa (2–3 líneas)</a:t>
            </a:r>
            <a:endParaRPr b="0" lang="es-CL" sz="1800" strike="noStrike" u="none">
              <a:solidFill>
                <a:srgbClr val="1a1e2b"/>
              </a:solidFill>
              <a:effectLst/>
              <a:uFillTx/>
              <a:latin typeface="Calibri"/>
            </a:endParaRPr>
          </a:p>
        </p:txBody>
      </p:sp>
      <p:sp>
        <p:nvSpPr>
          <p:cNvPr id="112" name="PlaceHolder 7"/>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4 Gráfico grande + conclusión">
    <p:bg>
      <p:bgPr>
        <a:solidFill>
          <a:srgbClr val="ffffff"/>
        </a:solidFill>
      </p:bgPr>
    </p:bg>
    <p:spTree>
      <p:nvGrpSpPr>
        <p:cNvPr id="1" name=""/>
        <p:cNvGrpSpPr/>
        <p:nvPr/>
      </p:nvGrpSpPr>
      <p:grpSpPr>
        <a:xfrm>
          <a:off x="0" y="0"/>
          <a:ext cx="0" cy="0"/>
          <a:chOff x="0" y="0"/>
          <a:chExt cx="0" cy="0"/>
        </a:xfrm>
      </p:grpSpPr>
      <p:sp>
        <p:nvSpPr>
          <p:cNvPr id="113"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14"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15"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16"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17"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F0A9799E-65A1-4752-A8F9-B7ED21DB96F6}"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18"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19"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20"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21"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22" name="PlaceHolder 3"/>
          <p:cNvSpPr>
            <a:spLocks noGrp="1"/>
          </p:cNvSpPr>
          <p:nvPr>
            <p:ph type="body"/>
          </p:nvPr>
        </p:nvSpPr>
        <p:spPr>
          <a:xfrm>
            <a:off x="609480" y="6070680"/>
            <a:ext cx="792432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 nota de la figura</a:t>
            </a:r>
            <a:endParaRPr b="0" lang="es-CL" sz="1100" strike="noStrike" u="none">
              <a:solidFill>
                <a:srgbClr val="1a1e2b"/>
              </a:solidFill>
              <a:effectLst/>
              <a:uFillTx/>
              <a:latin typeface="Calibri"/>
            </a:endParaRPr>
          </a:p>
        </p:txBody>
      </p:sp>
      <p:sp>
        <p:nvSpPr>
          <p:cNvPr id="123" name="Acento conclusión 13"/>
          <p:cNvSpPr/>
          <p:nvPr/>
        </p:nvSpPr>
        <p:spPr>
          <a:xfrm>
            <a:off x="8940960" y="1803240"/>
            <a:ext cx="507600" cy="50400"/>
          </a:xfrm>
          <a:prstGeom prst="rect">
            <a:avLst/>
          </a:prstGeom>
          <a:solidFill>
            <a:srgbClr val="fec60d"/>
          </a:solidFill>
          <a:ln w="0">
            <a:noFill/>
          </a:ln>
        </p:spPr>
        <p:style>
          <a:lnRef idx="0"/>
          <a:fillRef idx="0"/>
          <a:effectRef idx="0"/>
          <a:fontRef idx="minor"/>
        </p:style>
        <p:txBody>
          <a:bodyPr lIns="90000" rIns="90000" tIns="5760" bIns="5760" anchor="t">
            <a:noAutofit/>
          </a:bodyPr>
          <a:p>
            <a:pPr defTabSz="914400">
              <a:lnSpc>
                <a:spcPct val="100000"/>
              </a:lnSpc>
            </a:pPr>
            <a:endParaRPr b="0" lang="es-CL" sz="1800" strike="noStrike" u="none">
              <a:solidFill>
                <a:schemeClr val="dk1"/>
              </a:solidFill>
              <a:effectLst/>
              <a:uFillTx/>
              <a:latin typeface="Calibri"/>
            </a:endParaRPr>
          </a:p>
        </p:txBody>
      </p:sp>
      <p:sp>
        <p:nvSpPr>
          <p:cNvPr id="124" name="PlaceHolder 4"/>
          <p:cNvSpPr>
            <a:spLocks noGrp="1"/>
          </p:cNvSpPr>
          <p:nvPr>
            <p:ph type="body"/>
          </p:nvPr>
        </p:nvSpPr>
        <p:spPr>
          <a:xfrm>
            <a:off x="8940960" y="1981080"/>
            <a:ext cx="2641320" cy="1422000"/>
          </a:xfrm>
          <a:prstGeom prst="rect">
            <a:avLst/>
          </a:prstGeom>
          <a:noFill/>
          <a:ln w="0">
            <a:noFill/>
          </a:ln>
        </p:spPr>
        <p:txBody>
          <a:bodyPr lIns="0" rIns="0" tIns="0" bIns="0" anchor="t">
            <a:noAutofit/>
          </a:bodyPr>
          <a:p>
            <a:pPr indent="0" defTabSz="914400">
              <a:lnSpc>
                <a:spcPct val="100000"/>
              </a:lnSpc>
              <a:buNone/>
              <a:tabLst>
                <a:tab algn="l" pos="0"/>
              </a:tabLst>
            </a:pPr>
            <a:r>
              <a:rPr b="1" lang="es-CL" sz="2000" strike="noStrike" u="none">
                <a:solidFill>
                  <a:srgbClr val="1a1e2b"/>
                </a:solidFill>
                <a:effectLst/>
                <a:uFillTx/>
                <a:latin typeface="Calibri"/>
              </a:rPr>
              <a:t>Conclusión breve que la figura demuestra</a:t>
            </a:r>
            <a:endParaRPr b="0" lang="es-CL" sz="2000" strike="noStrike" u="none">
              <a:solidFill>
                <a:srgbClr val="1a1e2b"/>
              </a:solidFill>
              <a:effectLst/>
              <a:uFillTx/>
              <a:latin typeface="Calibri"/>
            </a:endParaRPr>
          </a:p>
        </p:txBody>
      </p:sp>
      <p:sp>
        <p:nvSpPr>
          <p:cNvPr id="125" name="PlaceHolder 5"/>
          <p:cNvSpPr>
            <a:spLocks noGrp="1"/>
          </p:cNvSpPr>
          <p:nvPr>
            <p:ph type="body"/>
          </p:nvPr>
        </p:nvSpPr>
        <p:spPr>
          <a:xfrm>
            <a:off x="8940960" y="3505320"/>
            <a:ext cx="2641320" cy="609120"/>
          </a:xfrm>
          <a:prstGeom prst="rect">
            <a:avLst/>
          </a:prstGeom>
          <a:noFill/>
          <a:ln w="0">
            <a:noFill/>
          </a:ln>
        </p:spPr>
        <p:txBody>
          <a:bodyPr lIns="0" rIns="0" tIns="0" bIns="0" anchor="b">
            <a:noAutofit/>
          </a:bodyPr>
          <a:p>
            <a:pPr indent="0" defTabSz="914400">
              <a:lnSpc>
                <a:spcPct val="105000"/>
              </a:lnSpc>
              <a:buNone/>
              <a:tabLst>
                <a:tab algn="l" pos="0"/>
              </a:tabLst>
            </a:pPr>
            <a:r>
              <a:rPr b="0" lang="es-CL" sz="1400" strike="noStrike" u="none">
                <a:solidFill>
                  <a:srgbClr val="5f6670"/>
                </a:solidFill>
                <a:effectLst/>
                <a:uFillTx/>
                <a:latin typeface="Calibri"/>
              </a:rPr>
              <a:t>Matiz o advertencia de lectura</a:t>
            </a:r>
            <a:endParaRPr b="0" lang="es-CL" sz="1400" strike="noStrike" u="none">
              <a:solidFill>
                <a:srgbClr val="1a1e2b"/>
              </a:solidFill>
              <a:effectLst/>
              <a:uFillTx/>
              <a:latin typeface="Calibri"/>
            </a:endParaRPr>
          </a:p>
        </p:txBody>
      </p:sp>
      <p:sp>
        <p:nvSpPr>
          <p:cNvPr id="126" name="PlaceHolder 6"/>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5 Gráfico + cifras destacadas">
    <p:bg>
      <p:bgPr>
        <a:solidFill>
          <a:srgbClr val="ffffff"/>
        </a:solidFill>
      </p:bgPr>
    </p:bg>
    <p:spTree>
      <p:nvGrpSpPr>
        <p:cNvPr id="1" name=""/>
        <p:cNvGrpSpPr/>
        <p:nvPr/>
      </p:nvGrpSpPr>
      <p:grpSpPr>
        <a:xfrm>
          <a:off x="0" y="0"/>
          <a:ext cx="0" cy="0"/>
          <a:chOff x="0" y="0"/>
          <a:chExt cx="0" cy="0"/>
        </a:xfrm>
      </p:grpSpPr>
      <p:sp>
        <p:nvSpPr>
          <p:cNvPr id="127" name="Acento 11"/>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28"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29"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30" name="Texto 14"/>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31" name="Texto 15"/>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D4A9EE1F-272B-417B-A98B-9004D4D2D9CE}"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32" name="Franja 16"/>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33" name="Franja 17"/>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34" name="Franja 18"/>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35" name="Franja 19"/>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36" name="PlaceHolder 3"/>
          <p:cNvSpPr>
            <a:spLocks noGrp="1"/>
          </p:cNvSpPr>
          <p:nvPr>
            <p:ph type="body"/>
          </p:nvPr>
        </p:nvSpPr>
        <p:spPr>
          <a:xfrm>
            <a:off x="609480" y="6070680"/>
            <a:ext cx="731484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 nota de la figura</a:t>
            </a:r>
            <a:endParaRPr b="0" lang="es-CL" sz="1100" strike="noStrike" u="none">
              <a:solidFill>
                <a:srgbClr val="1a1e2b"/>
              </a:solidFill>
              <a:effectLst/>
              <a:uFillTx/>
              <a:latin typeface="Calibri"/>
            </a:endParaRPr>
          </a:p>
        </p:txBody>
      </p:sp>
      <p:sp>
        <p:nvSpPr>
          <p:cNvPr id="137" name="PlaceHolder 4"/>
          <p:cNvSpPr>
            <a:spLocks noGrp="1"/>
          </p:cNvSpPr>
          <p:nvPr>
            <p:ph type="body"/>
          </p:nvPr>
        </p:nvSpPr>
        <p:spPr>
          <a:xfrm>
            <a:off x="8331120" y="1727280"/>
            <a:ext cx="3250800" cy="71100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00</a:t>
            </a:r>
            <a:endParaRPr b="0" lang="es-CL" sz="4000" strike="noStrike" u="none">
              <a:solidFill>
                <a:srgbClr val="1a1e2b"/>
              </a:solidFill>
              <a:effectLst/>
              <a:uFillTx/>
              <a:latin typeface="Calibri"/>
            </a:endParaRPr>
          </a:p>
        </p:txBody>
      </p:sp>
      <p:sp>
        <p:nvSpPr>
          <p:cNvPr id="138" name="PlaceHolder 5"/>
          <p:cNvSpPr>
            <a:spLocks noGrp="1"/>
          </p:cNvSpPr>
          <p:nvPr>
            <p:ph type="body"/>
          </p:nvPr>
        </p:nvSpPr>
        <p:spPr>
          <a:xfrm>
            <a:off x="8331120" y="2489040"/>
            <a:ext cx="325080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Qué representa</a:t>
            </a:r>
            <a:endParaRPr b="0" lang="es-CL" sz="1400" strike="noStrike" u="none">
              <a:solidFill>
                <a:srgbClr val="1a1e2b"/>
              </a:solidFill>
              <a:effectLst/>
              <a:uFillTx/>
              <a:latin typeface="Calibri"/>
            </a:endParaRPr>
          </a:p>
        </p:txBody>
      </p:sp>
      <p:sp>
        <p:nvSpPr>
          <p:cNvPr id="139" name="PlaceHolder 6"/>
          <p:cNvSpPr>
            <a:spLocks noGrp="1"/>
          </p:cNvSpPr>
          <p:nvPr>
            <p:ph type="body"/>
          </p:nvPr>
        </p:nvSpPr>
        <p:spPr>
          <a:xfrm>
            <a:off x="8331120" y="3174840"/>
            <a:ext cx="3250800" cy="71100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00</a:t>
            </a:r>
            <a:endParaRPr b="0" lang="es-CL" sz="4000" strike="noStrike" u="none">
              <a:solidFill>
                <a:srgbClr val="1a1e2b"/>
              </a:solidFill>
              <a:effectLst/>
              <a:uFillTx/>
              <a:latin typeface="Calibri"/>
            </a:endParaRPr>
          </a:p>
        </p:txBody>
      </p:sp>
      <p:sp>
        <p:nvSpPr>
          <p:cNvPr id="140" name="PlaceHolder 7"/>
          <p:cNvSpPr>
            <a:spLocks noGrp="1"/>
          </p:cNvSpPr>
          <p:nvPr>
            <p:ph type="body"/>
          </p:nvPr>
        </p:nvSpPr>
        <p:spPr>
          <a:xfrm>
            <a:off x="8331120" y="3936960"/>
            <a:ext cx="325080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Qué representa</a:t>
            </a:r>
            <a:endParaRPr b="0" lang="es-CL" sz="1400" strike="noStrike" u="none">
              <a:solidFill>
                <a:srgbClr val="1a1e2b"/>
              </a:solidFill>
              <a:effectLst/>
              <a:uFillTx/>
              <a:latin typeface="Calibri"/>
            </a:endParaRPr>
          </a:p>
        </p:txBody>
      </p:sp>
      <p:sp>
        <p:nvSpPr>
          <p:cNvPr id="141" name="PlaceHolder 8"/>
          <p:cNvSpPr>
            <a:spLocks noGrp="1"/>
          </p:cNvSpPr>
          <p:nvPr>
            <p:ph type="body"/>
          </p:nvPr>
        </p:nvSpPr>
        <p:spPr>
          <a:xfrm>
            <a:off x="8331120" y="4622760"/>
            <a:ext cx="3250800" cy="71100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00</a:t>
            </a:r>
            <a:endParaRPr b="0" lang="es-CL" sz="4000" strike="noStrike" u="none">
              <a:solidFill>
                <a:srgbClr val="1a1e2b"/>
              </a:solidFill>
              <a:effectLst/>
              <a:uFillTx/>
              <a:latin typeface="Calibri"/>
            </a:endParaRPr>
          </a:p>
        </p:txBody>
      </p:sp>
      <p:sp>
        <p:nvSpPr>
          <p:cNvPr id="142" name="PlaceHolder 9"/>
          <p:cNvSpPr>
            <a:spLocks noGrp="1"/>
          </p:cNvSpPr>
          <p:nvPr>
            <p:ph type="body"/>
          </p:nvPr>
        </p:nvSpPr>
        <p:spPr>
          <a:xfrm>
            <a:off x="8331120" y="5384880"/>
            <a:ext cx="325080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Qué representa</a:t>
            </a:r>
            <a:endParaRPr b="0" lang="es-CL" sz="1400" strike="noStrike" u="none">
              <a:solidFill>
                <a:srgbClr val="1a1e2b"/>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6 Comparación antes / después">
    <p:bg>
      <p:bgPr>
        <a:solidFill>
          <a:srgbClr val="ffffff"/>
        </a:solidFill>
      </p:bgPr>
    </p:bg>
    <p:spTree>
      <p:nvGrpSpPr>
        <p:cNvPr id="1" name=""/>
        <p:cNvGrpSpPr/>
        <p:nvPr/>
      </p:nvGrpSpPr>
      <p:grpSpPr>
        <a:xfrm>
          <a:off x="0" y="0"/>
          <a:ext cx="0" cy="0"/>
          <a:chOff x="0" y="0"/>
          <a:chExt cx="0" cy="0"/>
        </a:xfrm>
      </p:grpSpPr>
      <p:sp>
        <p:nvSpPr>
          <p:cNvPr id="143"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44"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45"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46"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47"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359F2A8E-D0A6-4F69-81B7-1F3A7C1B0FEC}"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48"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49"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50"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51"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52" name="PlaceHolder 3"/>
          <p:cNvSpPr>
            <a:spLocks noGrp="1"/>
          </p:cNvSpPr>
          <p:nvPr>
            <p:ph type="body"/>
          </p:nvPr>
        </p:nvSpPr>
        <p:spPr>
          <a:xfrm>
            <a:off x="609480" y="185436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5f6670"/>
                </a:solidFill>
                <a:effectLst/>
                <a:uFillTx/>
                <a:latin typeface="Calibri"/>
              </a:rPr>
              <a:t>ANTES / A</a:t>
            </a:r>
            <a:endParaRPr b="0" lang="es-CL" sz="1400" strike="noStrike" u="none">
              <a:solidFill>
                <a:srgbClr val="1a1e2b"/>
              </a:solidFill>
              <a:effectLst/>
              <a:uFillTx/>
              <a:latin typeface="Calibri"/>
            </a:endParaRPr>
          </a:p>
        </p:txBody>
      </p:sp>
      <p:sp>
        <p:nvSpPr>
          <p:cNvPr id="153" name="PlaceHolder 4"/>
          <p:cNvSpPr>
            <a:spLocks noGrp="1"/>
          </p:cNvSpPr>
          <p:nvPr>
            <p:ph type="body"/>
          </p:nvPr>
        </p:nvSpPr>
        <p:spPr>
          <a:xfrm>
            <a:off x="609480" y="2209680"/>
            <a:ext cx="5130360" cy="2158560"/>
          </a:xfrm>
          <a:prstGeom prst="rect">
            <a:avLst/>
          </a:prstGeom>
          <a:noFill/>
          <a:ln w="0">
            <a:noFill/>
          </a:ln>
        </p:spPr>
        <p:txBody>
          <a:bodyPr lIns="0" rIns="0" tIns="0" bIns="0" anchor="t">
            <a:noAutofit/>
          </a:bodyPr>
          <a:p>
            <a:pPr indent="0" defTabSz="914400">
              <a:lnSpc>
                <a:spcPct val="95000"/>
              </a:lnSpc>
              <a:buNone/>
              <a:tabLst>
                <a:tab algn="l" pos="0"/>
              </a:tabLst>
            </a:pPr>
            <a:r>
              <a:rPr b="1" lang="es-CL" sz="3200" strike="noStrike" u="none">
                <a:solidFill>
                  <a:srgbClr val="1a1e2b"/>
                </a:solidFill>
                <a:effectLst/>
                <a:uFillTx/>
                <a:latin typeface="Calibri"/>
              </a:rPr>
              <a:t>Valor o afirmación A</a:t>
            </a:r>
            <a:endParaRPr b="0" lang="es-CL" sz="3200" strike="noStrike" u="none">
              <a:solidFill>
                <a:srgbClr val="1a1e2b"/>
              </a:solidFill>
              <a:effectLst/>
              <a:uFillTx/>
              <a:latin typeface="Calibri"/>
            </a:endParaRPr>
          </a:p>
        </p:txBody>
      </p:sp>
      <p:sp>
        <p:nvSpPr>
          <p:cNvPr id="154" name="PlaceHolder 5"/>
          <p:cNvSpPr>
            <a:spLocks noGrp="1"/>
          </p:cNvSpPr>
          <p:nvPr>
            <p:ph type="body"/>
          </p:nvPr>
        </p:nvSpPr>
        <p:spPr>
          <a:xfrm>
            <a:off x="609480" y="4444920"/>
            <a:ext cx="5130360" cy="1015560"/>
          </a:xfrm>
          <a:prstGeom prst="rect">
            <a:avLst/>
          </a:prstGeom>
          <a:noFill/>
          <a:ln w="0">
            <a:noFill/>
          </a:ln>
        </p:spPr>
        <p:txBody>
          <a:bodyPr lIns="0" rIns="0" tIns="0" bIns="0" anchor="t">
            <a:noAutofit/>
          </a:bodyPr>
          <a:p>
            <a:pPr indent="0" defTabSz="914400">
              <a:lnSpc>
                <a:spcPct val="105000"/>
              </a:lnSpc>
              <a:buNone/>
              <a:tabLst>
                <a:tab algn="l" pos="0"/>
              </a:tabLst>
            </a:pPr>
            <a:r>
              <a:rPr b="0" lang="es-CL" sz="1600" strike="noStrike" u="none">
                <a:solidFill>
                  <a:srgbClr val="5f6670"/>
                </a:solidFill>
                <a:effectLst/>
                <a:uFillTx/>
                <a:latin typeface="Calibri"/>
              </a:rPr>
              <a:t>Detalle A</a:t>
            </a:r>
            <a:endParaRPr b="0" lang="es-CL" sz="1600" strike="noStrike" u="none">
              <a:solidFill>
                <a:srgbClr val="1a1e2b"/>
              </a:solidFill>
              <a:effectLst/>
              <a:uFillTx/>
              <a:latin typeface="Calibri"/>
            </a:endParaRPr>
          </a:p>
        </p:txBody>
      </p:sp>
      <p:sp>
        <p:nvSpPr>
          <p:cNvPr id="155" name="Línea 15"/>
          <p:cNvSpPr/>
          <p:nvPr/>
        </p:nvSpPr>
        <p:spPr>
          <a:xfrm>
            <a:off x="6095880" y="1854360"/>
            <a:ext cx="12240" cy="3606480"/>
          </a:xfrm>
          <a:prstGeom prst="rect">
            <a:avLst/>
          </a:prstGeom>
          <a:solidFill>
            <a:srgbClr val="c9ced6"/>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56" name="PlaceHolder 6"/>
          <p:cNvSpPr>
            <a:spLocks noGrp="1"/>
          </p:cNvSpPr>
          <p:nvPr>
            <p:ph type="body"/>
          </p:nvPr>
        </p:nvSpPr>
        <p:spPr>
          <a:xfrm>
            <a:off x="6451560" y="185436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DESPUÉS / B</a:t>
            </a:r>
            <a:endParaRPr b="0" lang="es-CL" sz="1400" strike="noStrike" u="none">
              <a:solidFill>
                <a:srgbClr val="1a1e2b"/>
              </a:solidFill>
              <a:effectLst/>
              <a:uFillTx/>
              <a:latin typeface="Calibri"/>
            </a:endParaRPr>
          </a:p>
        </p:txBody>
      </p:sp>
      <p:sp>
        <p:nvSpPr>
          <p:cNvPr id="157" name="PlaceHolder 7"/>
          <p:cNvSpPr>
            <a:spLocks noGrp="1"/>
          </p:cNvSpPr>
          <p:nvPr>
            <p:ph type="body"/>
          </p:nvPr>
        </p:nvSpPr>
        <p:spPr>
          <a:xfrm>
            <a:off x="6451560" y="2209680"/>
            <a:ext cx="5130360" cy="2158560"/>
          </a:xfrm>
          <a:prstGeom prst="rect">
            <a:avLst/>
          </a:prstGeom>
          <a:noFill/>
          <a:ln w="0">
            <a:noFill/>
          </a:ln>
        </p:spPr>
        <p:txBody>
          <a:bodyPr lIns="0" rIns="0" tIns="0" bIns="0" anchor="t">
            <a:noAutofit/>
          </a:bodyPr>
          <a:p>
            <a:pPr indent="0" defTabSz="914400">
              <a:lnSpc>
                <a:spcPct val="95000"/>
              </a:lnSpc>
              <a:buNone/>
              <a:tabLst>
                <a:tab algn="l" pos="0"/>
              </a:tabLst>
            </a:pPr>
            <a:r>
              <a:rPr b="1" lang="es-CL" sz="3200" strike="noStrike" u="none">
                <a:solidFill>
                  <a:srgbClr val="0176de"/>
                </a:solidFill>
                <a:effectLst/>
                <a:uFillTx/>
                <a:latin typeface="Calibri"/>
              </a:rPr>
              <a:t>Valor o afirmación B</a:t>
            </a:r>
            <a:endParaRPr b="0" lang="es-CL" sz="3200" strike="noStrike" u="none">
              <a:solidFill>
                <a:srgbClr val="1a1e2b"/>
              </a:solidFill>
              <a:effectLst/>
              <a:uFillTx/>
              <a:latin typeface="Calibri"/>
            </a:endParaRPr>
          </a:p>
        </p:txBody>
      </p:sp>
      <p:sp>
        <p:nvSpPr>
          <p:cNvPr id="158" name="PlaceHolder 8"/>
          <p:cNvSpPr>
            <a:spLocks noGrp="1"/>
          </p:cNvSpPr>
          <p:nvPr>
            <p:ph type="body"/>
          </p:nvPr>
        </p:nvSpPr>
        <p:spPr>
          <a:xfrm>
            <a:off x="6451560" y="4444920"/>
            <a:ext cx="5130360" cy="1015560"/>
          </a:xfrm>
          <a:prstGeom prst="rect">
            <a:avLst/>
          </a:prstGeom>
          <a:noFill/>
          <a:ln w="0">
            <a:noFill/>
          </a:ln>
        </p:spPr>
        <p:txBody>
          <a:bodyPr lIns="0" rIns="0" tIns="0" bIns="0" anchor="t">
            <a:noAutofit/>
          </a:bodyPr>
          <a:p>
            <a:pPr indent="0" defTabSz="914400">
              <a:lnSpc>
                <a:spcPct val="105000"/>
              </a:lnSpc>
              <a:buNone/>
              <a:tabLst>
                <a:tab algn="l" pos="0"/>
              </a:tabLst>
            </a:pPr>
            <a:r>
              <a:rPr b="0" lang="es-CL" sz="1600" strike="noStrike" u="none">
                <a:solidFill>
                  <a:srgbClr val="5f6670"/>
                </a:solidFill>
                <a:effectLst/>
                <a:uFillTx/>
                <a:latin typeface="Calibri"/>
              </a:rPr>
              <a:t>Detalle B</a:t>
            </a:r>
            <a:endParaRPr b="0" lang="es-CL" sz="1600" strike="noStrike" u="none">
              <a:solidFill>
                <a:srgbClr val="1a1e2b"/>
              </a:solidFill>
              <a:effectLst/>
              <a:uFillTx/>
              <a:latin typeface="Calibri"/>
            </a:endParaRPr>
          </a:p>
        </p:txBody>
      </p:sp>
      <p:sp>
        <p:nvSpPr>
          <p:cNvPr id="159" name="Línea 19"/>
          <p:cNvSpPr/>
          <p:nvPr/>
        </p:nvSpPr>
        <p:spPr>
          <a:xfrm>
            <a:off x="609480" y="561348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160" name="PlaceHolder 9"/>
          <p:cNvSpPr>
            <a:spLocks noGrp="1"/>
          </p:cNvSpPr>
          <p:nvPr>
            <p:ph type="body"/>
          </p:nvPr>
        </p:nvSpPr>
        <p:spPr>
          <a:xfrm>
            <a:off x="609480" y="5740560"/>
            <a:ext cx="10972440" cy="507600"/>
          </a:xfrm>
          <a:prstGeom prst="rect">
            <a:avLst/>
          </a:prstGeom>
          <a:noFill/>
          <a:ln w="0">
            <a:noFill/>
          </a:ln>
        </p:spPr>
        <p:txBody>
          <a:bodyPr lIns="0" rIns="0" tIns="0" bIns="0" anchor="ctr">
            <a:noAutofit/>
          </a:bodyPr>
          <a:p>
            <a:pPr indent="0" defTabSz="914400">
              <a:lnSpc>
                <a:spcPct val="95000"/>
              </a:lnSpc>
              <a:buNone/>
              <a:tabLst>
                <a:tab algn="l" pos="0"/>
              </a:tabLst>
            </a:pPr>
            <a:r>
              <a:rPr b="1" lang="es-CL" sz="1800" strike="noStrike" u="none">
                <a:solidFill>
                  <a:srgbClr val="1a1e2b"/>
                </a:solidFill>
                <a:effectLst/>
                <a:uFillTx/>
                <a:latin typeface="Calibri"/>
              </a:rPr>
              <a:t>Qué cambia entre A y B</a:t>
            </a:r>
            <a:endParaRPr b="0" lang="es-CL" sz="1800" strike="noStrike" u="none">
              <a:solidFill>
                <a:srgbClr val="1a1e2b"/>
              </a:solidFill>
              <a:effectLst/>
              <a:uFillTx/>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7 Diagrama o proceso">
    <p:bg>
      <p:bgPr>
        <a:solidFill>
          <a:srgbClr val="ffffff"/>
        </a:solidFill>
      </p:bgPr>
    </p:bg>
    <p:spTree>
      <p:nvGrpSpPr>
        <p:cNvPr id="1" name=""/>
        <p:cNvGrpSpPr/>
        <p:nvPr/>
      </p:nvGrpSpPr>
      <p:grpSpPr>
        <a:xfrm>
          <a:off x="0" y="0"/>
          <a:ext cx="0" cy="0"/>
          <a:chOff x="0" y="0"/>
          <a:chExt cx="0" cy="0"/>
        </a:xfrm>
      </p:grpSpPr>
      <p:sp>
        <p:nvSpPr>
          <p:cNvPr id="161"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62"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63"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64"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65"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5A628285-0F27-4958-9CA5-5B8DC9B2BC55}"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66"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67"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68"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69"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70" name="PlaceHolder 3"/>
          <p:cNvSpPr>
            <a:spLocks noGrp="1"/>
          </p:cNvSpPr>
          <p:nvPr>
            <p:ph type="body"/>
          </p:nvPr>
        </p:nvSpPr>
        <p:spPr>
          <a:xfrm>
            <a:off x="609480" y="5816520"/>
            <a:ext cx="10972440" cy="431280"/>
          </a:xfrm>
          <a:prstGeom prst="rect">
            <a:avLst/>
          </a:prstGeom>
          <a:noFill/>
          <a:ln w="0">
            <a:noFill/>
          </a:ln>
        </p:spPr>
        <p:txBody>
          <a:bodyPr lIns="0" rIns="0" tIns="0" bIns="0" anchor="b">
            <a:noAutofit/>
          </a:bodyPr>
          <a:p>
            <a:pPr indent="0" defTabSz="914400">
              <a:lnSpc>
                <a:spcPct val="95000"/>
              </a:lnSpc>
              <a:buNone/>
              <a:tabLst>
                <a:tab algn="l" pos="0"/>
              </a:tabLst>
            </a:pPr>
            <a:r>
              <a:rPr b="0" lang="es-CL" sz="1600" strike="noStrike" u="none">
                <a:solidFill>
                  <a:srgbClr val="5f6670"/>
                </a:solidFill>
                <a:effectLst/>
                <a:uFillTx/>
                <a:latin typeface="Calibri"/>
              </a:rPr>
              <a:t>Leyenda o lectura del diagrama</a:t>
            </a:r>
            <a:endParaRPr b="0" lang="es-CL" sz="1600" strike="noStrike" u="none">
              <a:solidFill>
                <a:srgbClr val="1a1e2b"/>
              </a:solidFill>
              <a:effectLst/>
              <a:uFillTx/>
              <a:latin typeface="Calibri"/>
            </a:endParaRPr>
          </a:p>
        </p:txBody>
      </p:sp>
      <p:sp>
        <p:nvSpPr>
          <p:cNvPr id="171" name="PlaceHolder 4"/>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8 Tabla metodológica">
    <p:bg>
      <p:bgPr>
        <a:solidFill>
          <a:srgbClr val="ffffff"/>
        </a:solidFill>
      </p:bgPr>
    </p:bg>
    <p:spTree>
      <p:nvGrpSpPr>
        <p:cNvPr id="1" name=""/>
        <p:cNvGrpSpPr/>
        <p:nvPr/>
      </p:nvGrpSpPr>
      <p:grpSpPr>
        <a:xfrm>
          <a:off x="0" y="0"/>
          <a:ext cx="0" cy="0"/>
          <a:chOff x="0" y="0"/>
          <a:chExt cx="0" cy="0"/>
        </a:xfrm>
      </p:grpSpPr>
      <p:sp>
        <p:nvSpPr>
          <p:cNvPr id="172"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73"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74"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75"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76"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6578CC42-2548-4895-BCEE-ABFA6C801F5E}"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77"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78"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79"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80"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81" name="PlaceHolder 3"/>
          <p:cNvSpPr>
            <a:spLocks noGrp="1"/>
          </p:cNvSpPr>
          <p:nvPr>
            <p:ph type="body"/>
          </p:nvPr>
        </p:nvSpPr>
        <p:spPr>
          <a:xfrm>
            <a:off x="609480" y="6070680"/>
            <a:ext cx="736560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 nota de la tabla</a:t>
            </a:r>
            <a:endParaRPr b="0" lang="es-CL" sz="1100" strike="noStrike" u="none">
              <a:solidFill>
                <a:srgbClr val="1a1e2b"/>
              </a:solidFill>
              <a:effectLst/>
              <a:uFillTx/>
              <a:latin typeface="Calibri"/>
            </a:endParaRPr>
          </a:p>
        </p:txBody>
      </p:sp>
      <p:sp>
        <p:nvSpPr>
          <p:cNvPr id="182" name="Acento 13"/>
          <p:cNvSpPr/>
          <p:nvPr/>
        </p:nvSpPr>
        <p:spPr>
          <a:xfrm>
            <a:off x="8432640" y="1803240"/>
            <a:ext cx="507600" cy="50400"/>
          </a:xfrm>
          <a:prstGeom prst="rect">
            <a:avLst/>
          </a:prstGeom>
          <a:solidFill>
            <a:srgbClr val="fec60d"/>
          </a:solidFill>
          <a:ln w="0">
            <a:noFill/>
          </a:ln>
        </p:spPr>
        <p:style>
          <a:lnRef idx="0"/>
          <a:fillRef idx="0"/>
          <a:effectRef idx="0"/>
          <a:fontRef idx="minor"/>
        </p:style>
        <p:txBody>
          <a:bodyPr lIns="90000" rIns="90000" tIns="5760" bIns="5760" anchor="t">
            <a:noAutofit/>
          </a:bodyPr>
          <a:p>
            <a:pPr defTabSz="914400">
              <a:lnSpc>
                <a:spcPct val="100000"/>
              </a:lnSpc>
            </a:pPr>
            <a:endParaRPr b="0" lang="es-CL" sz="1800" strike="noStrike" u="none">
              <a:solidFill>
                <a:schemeClr val="dk1"/>
              </a:solidFill>
              <a:effectLst/>
              <a:uFillTx/>
              <a:latin typeface="Calibri"/>
            </a:endParaRPr>
          </a:p>
        </p:txBody>
      </p:sp>
      <p:sp>
        <p:nvSpPr>
          <p:cNvPr id="183" name="PlaceHolder 4"/>
          <p:cNvSpPr>
            <a:spLocks noGrp="1"/>
          </p:cNvSpPr>
          <p:nvPr>
            <p:ph type="body"/>
          </p:nvPr>
        </p:nvSpPr>
        <p:spPr>
          <a:xfrm>
            <a:off x="8432640" y="1981080"/>
            <a:ext cx="3149280" cy="30456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RESULTADO</a:t>
            </a:r>
            <a:endParaRPr b="0" lang="es-CL" sz="1400" strike="noStrike" u="none">
              <a:solidFill>
                <a:srgbClr val="1a1e2b"/>
              </a:solidFill>
              <a:effectLst/>
              <a:uFillTx/>
              <a:latin typeface="Calibri"/>
            </a:endParaRPr>
          </a:p>
        </p:txBody>
      </p:sp>
      <p:sp>
        <p:nvSpPr>
          <p:cNvPr id="184" name="PlaceHolder 5"/>
          <p:cNvSpPr>
            <a:spLocks noGrp="1"/>
          </p:cNvSpPr>
          <p:nvPr>
            <p:ph type="body"/>
          </p:nvPr>
        </p:nvSpPr>
        <p:spPr>
          <a:xfrm>
            <a:off x="8432640" y="2362320"/>
            <a:ext cx="3149280" cy="1828440"/>
          </a:xfrm>
          <a:prstGeom prst="rect">
            <a:avLst/>
          </a:prstGeom>
          <a:noFill/>
          <a:ln w="0">
            <a:noFill/>
          </a:ln>
        </p:spPr>
        <p:txBody>
          <a:bodyPr lIns="0" rIns="0" tIns="0" bIns="0" anchor="t">
            <a:noAutofit/>
          </a:bodyPr>
          <a:p>
            <a:pPr indent="0" defTabSz="914400">
              <a:lnSpc>
                <a:spcPct val="105000"/>
              </a:lnSpc>
              <a:spcAft>
                <a:spcPts val="1001"/>
              </a:spcAft>
              <a:buNone/>
              <a:tabLst>
                <a:tab algn="l" pos="0"/>
              </a:tabLst>
            </a:pPr>
            <a:r>
              <a:rPr b="0" lang="es-CL" sz="1800" strike="noStrike" u="none">
                <a:solidFill>
                  <a:srgbClr val="1a1e2b"/>
                </a:solidFill>
                <a:effectLst/>
                <a:uFillTx/>
                <a:latin typeface="Calibri"/>
              </a:rPr>
              <a:t>Lo que la tabla permite concluir</a:t>
            </a:r>
            <a:endParaRPr b="0" lang="es-CL" sz="1800" strike="noStrike" u="none">
              <a:solidFill>
                <a:srgbClr val="1a1e2b"/>
              </a:solidFill>
              <a:effectLst/>
              <a:uFillTx/>
              <a:latin typeface="Calibri"/>
            </a:endParaRPr>
          </a:p>
        </p:txBody>
      </p:sp>
      <p:sp>
        <p:nvSpPr>
          <p:cNvPr id="185" name="PlaceHolder 6"/>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09 Ejemplo paso a paso">
    <p:bg>
      <p:bgPr>
        <a:solidFill>
          <a:srgbClr val="ffffff"/>
        </a:solidFill>
      </p:bgPr>
    </p:bg>
    <p:spTree>
      <p:nvGrpSpPr>
        <p:cNvPr id="1" name=""/>
        <p:cNvGrpSpPr/>
        <p:nvPr/>
      </p:nvGrpSpPr>
      <p:grpSpPr>
        <a:xfrm>
          <a:off x="0" y="0"/>
          <a:ext cx="0" cy="0"/>
          <a:chOff x="0" y="0"/>
          <a:chExt cx="0" cy="0"/>
        </a:xfrm>
      </p:grpSpPr>
      <p:sp>
        <p:nvSpPr>
          <p:cNvPr id="186" name="Acento 17"/>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87"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188"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189" name="Texto 20"/>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190" name="Texto 21"/>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13DC8C8F-87F0-4A46-B3DD-357FC0E14EAA}"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191" name="Franja 22"/>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92" name="Franja 23"/>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93" name="Franja 24"/>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94" name="Franja 25"/>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195" name="Riel 26"/>
          <p:cNvSpPr/>
          <p:nvPr/>
        </p:nvSpPr>
        <p:spPr>
          <a:xfrm>
            <a:off x="2793960" y="1803240"/>
            <a:ext cx="25200" cy="4140000"/>
          </a:xfrm>
          <a:prstGeom prst="rect">
            <a:avLst/>
          </a:prstGeom>
          <a:solidFill>
            <a:srgbClr val="0176de"/>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196" name="PlaceHolder 3"/>
          <p:cNvSpPr>
            <a:spLocks noGrp="1"/>
          </p:cNvSpPr>
          <p:nvPr>
            <p:ph type="body"/>
          </p:nvPr>
        </p:nvSpPr>
        <p:spPr>
          <a:xfrm>
            <a:off x="609480" y="1752480"/>
            <a:ext cx="2158560" cy="7617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pc="79" strike="noStrike" u="none" cap="all">
                <a:solidFill>
                  <a:srgbClr val="0176de"/>
                </a:solidFill>
                <a:effectLst/>
                <a:uFillTx/>
                <a:latin typeface="Calibri"/>
              </a:rPr>
              <a:t>1 · PASO</a:t>
            </a:r>
            <a:endParaRPr b="0" lang="es-CL" sz="1400" strike="noStrike" u="none">
              <a:solidFill>
                <a:srgbClr val="1a1e2b"/>
              </a:solidFill>
              <a:effectLst/>
              <a:uFillTx/>
              <a:latin typeface="Calibri"/>
            </a:endParaRPr>
          </a:p>
        </p:txBody>
      </p:sp>
      <p:sp>
        <p:nvSpPr>
          <p:cNvPr id="197" name="PlaceHolder 4"/>
          <p:cNvSpPr>
            <a:spLocks noGrp="1"/>
          </p:cNvSpPr>
          <p:nvPr>
            <p:ph type="body"/>
          </p:nvPr>
        </p:nvSpPr>
        <p:spPr>
          <a:xfrm>
            <a:off x="2946240" y="1752480"/>
            <a:ext cx="8635680" cy="761760"/>
          </a:xfrm>
          <a:prstGeom prst="rect">
            <a:avLst/>
          </a:prstGeom>
          <a:noFill/>
          <a:ln w="0">
            <a:noFill/>
          </a:ln>
        </p:spPr>
        <p:txBody>
          <a:bodyPr lIns="0" rIns="0" tIns="0" bIns="0" anchor="ctr">
            <a:noAutofit/>
          </a:bodyPr>
          <a:p>
            <a:pPr indent="0" defTabSz="914400">
              <a:lnSpc>
                <a:spcPct val="100000"/>
              </a:lnSpc>
              <a:buNone/>
              <a:tabLst>
                <a:tab algn="l" pos="0"/>
              </a:tabLst>
            </a:pPr>
            <a:r>
              <a:rPr b="0" lang="es-CL" sz="1800" strike="noStrike" u="none">
                <a:solidFill>
                  <a:srgbClr val="1a1e2b"/>
                </a:solidFill>
                <a:effectLst/>
                <a:uFillTx/>
                <a:latin typeface="Calibri"/>
              </a:rPr>
              <a:t>Contenido del paso</a:t>
            </a:r>
            <a:endParaRPr b="0" lang="es-CL" sz="1800" strike="noStrike" u="none">
              <a:solidFill>
                <a:srgbClr val="1a1e2b"/>
              </a:solidFill>
              <a:effectLst/>
              <a:uFillTx/>
              <a:latin typeface="Calibri"/>
            </a:endParaRPr>
          </a:p>
        </p:txBody>
      </p:sp>
      <p:sp>
        <p:nvSpPr>
          <p:cNvPr id="198" name="Línea 5"/>
          <p:cNvSpPr/>
          <p:nvPr/>
        </p:nvSpPr>
        <p:spPr>
          <a:xfrm>
            <a:off x="609480" y="256536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199" name="PlaceHolder 5"/>
          <p:cNvSpPr>
            <a:spLocks noGrp="1"/>
          </p:cNvSpPr>
          <p:nvPr>
            <p:ph type="body"/>
          </p:nvPr>
        </p:nvSpPr>
        <p:spPr>
          <a:xfrm>
            <a:off x="609480" y="2616120"/>
            <a:ext cx="2158560" cy="7617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pc="79" strike="noStrike" u="none" cap="all">
                <a:solidFill>
                  <a:srgbClr val="0176de"/>
                </a:solidFill>
                <a:effectLst/>
                <a:uFillTx/>
                <a:latin typeface="Calibri"/>
              </a:rPr>
              <a:t>2 · PASO</a:t>
            </a:r>
            <a:endParaRPr b="0" lang="es-CL" sz="1400" strike="noStrike" u="none">
              <a:solidFill>
                <a:srgbClr val="1a1e2b"/>
              </a:solidFill>
              <a:effectLst/>
              <a:uFillTx/>
              <a:latin typeface="Calibri"/>
            </a:endParaRPr>
          </a:p>
        </p:txBody>
      </p:sp>
      <p:sp>
        <p:nvSpPr>
          <p:cNvPr id="200" name="PlaceHolder 6"/>
          <p:cNvSpPr>
            <a:spLocks noGrp="1"/>
          </p:cNvSpPr>
          <p:nvPr>
            <p:ph type="body"/>
          </p:nvPr>
        </p:nvSpPr>
        <p:spPr>
          <a:xfrm>
            <a:off x="2946240" y="2616120"/>
            <a:ext cx="8635680" cy="761760"/>
          </a:xfrm>
          <a:prstGeom prst="rect">
            <a:avLst/>
          </a:prstGeom>
          <a:noFill/>
          <a:ln w="0">
            <a:noFill/>
          </a:ln>
        </p:spPr>
        <p:txBody>
          <a:bodyPr lIns="0" rIns="0" tIns="0" bIns="0" anchor="ctr">
            <a:noAutofit/>
          </a:bodyPr>
          <a:p>
            <a:pPr indent="0" defTabSz="914400">
              <a:lnSpc>
                <a:spcPct val="100000"/>
              </a:lnSpc>
              <a:buNone/>
              <a:tabLst>
                <a:tab algn="l" pos="0"/>
              </a:tabLst>
            </a:pPr>
            <a:r>
              <a:rPr b="0" lang="es-CL" sz="1800" strike="noStrike" u="none">
                <a:solidFill>
                  <a:srgbClr val="1a1e2b"/>
                </a:solidFill>
                <a:effectLst/>
                <a:uFillTx/>
                <a:latin typeface="Calibri"/>
              </a:rPr>
              <a:t>Contenido del paso</a:t>
            </a:r>
            <a:endParaRPr b="0" lang="es-CL" sz="1800" strike="noStrike" u="none">
              <a:solidFill>
                <a:srgbClr val="1a1e2b"/>
              </a:solidFill>
              <a:effectLst/>
              <a:uFillTx/>
              <a:latin typeface="Calibri"/>
            </a:endParaRPr>
          </a:p>
        </p:txBody>
      </p:sp>
      <p:sp>
        <p:nvSpPr>
          <p:cNvPr id="201" name="Línea 8"/>
          <p:cNvSpPr/>
          <p:nvPr/>
        </p:nvSpPr>
        <p:spPr>
          <a:xfrm>
            <a:off x="609480" y="342900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202" name="PlaceHolder 7"/>
          <p:cNvSpPr>
            <a:spLocks noGrp="1"/>
          </p:cNvSpPr>
          <p:nvPr>
            <p:ph type="body"/>
          </p:nvPr>
        </p:nvSpPr>
        <p:spPr>
          <a:xfrm>
            <a:off x="609480" y="3479760"/>
            <a:ext cx="2158560" cy="7617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pc="79" strike="noStrike" u="none" cap="all">
                <a:solidFill>
                  <a:srgbClr val="0176de"/>
                </a:solidFill>
                <a:effectLst/>
                <a:uFillTx/>
                <a:latin typeface="Calibri"/>
              </a:rPr>
              <a:t>3 · PASO</a:t>
            </a:r>
            <a:endParaRPr b="0" lang="es-CL" sz="1400" strike="noStrike" u="none">
              <a:solidFill>
                <a:srgbClr val="1a1e2b"/>
              </a:solidFill>
              <a:effectLst/>
              <a:uFillTx/>
              <a:latin typeface="Calibri"/>
            </a:endParaRPr>
          </a:p>
        </p:txBody>
      </p:sp>
      <p:sp>
        <p:nvSpPr>
          <p:cNvPr id="203" name="PlaceHolder 8"/>
          <p:cNvSpPr>
            <a:spLocks noGrp="1"/>
          </p:cNvSpPr>
          <p:nvPr>
            <p:ph type="body"/>
          </p:nvPr>
        </p:nvSpPr>
        <p:spPr>
          <a:xfrm>
            <a:off x="2946240" y="3479760"/>
            <a:ext cx="8635680" cy="761760"/>
          </a:xfrm>
          <a:prstGeom prst="rect">
            <a:avLst/>
          </a:prstGeom>
          <a:noFill/>
          <a:ln w="0">
            <a:noFill/>
          </a:ln>
        </p:spPr>
        <p:txBody>
          <a:bodyPr lIns="0" rIns="0" tIns="0" bIns="0" anchor="ctr">
            <a:noAutofit/>
          </a:bodyPr>
          <a:p>
            <a:pPr indent="0" defTabSz="914400">
              <a:lnSpc>
                <a:spcPct val="100000"/>
              </a:lnSpc>
              <a:buNone/>
              <a:tabLst>
                <a:tab algn="l" pos="0"/>
              </a:tabLst>
            </a:pPr>
            <a:r>
              <a:rPr b="0" lang="es-CL" sz="1800" strike="noStrike" u="none">
                <a:solidFill>
                  <a:srgbClr val="1a1e2b"/>
                </a:solidFill>
                <a:effectLst/>
                <a:uFillTx/>
                <a:latin typeface="Calibri"/>
              </a:rPr>
              <a:t>Contenido del paso</a:t>
            </a:r>
            <a:endParaRPr b="0" lang="es-CL" sz="1800" strike="noStrike" u="none">
              <a:solidFill>
                <a:srgbClr val="1a1e2b"/>
              </a:solidFill>
              <a:effectLst/>
              <a:uFillTx/>
              <a:latin typeface="Calibri"/>
            </a:endParaRPr>
          </a:p>
        </p:txBody>
      </p:sp>
      <p:sp>
        <p:nvSpPr>
          <p:cNvPr id="204" name="Línea 11"/>
          <p:cNvSpPr/>
          <p:nvPr/>
        </p:nvSpPr>
        <p:spPr>
          <a:xfrm>
            <a:off x="609480" y="429264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205" name="PlaceHolder 9"/>
          <p:cNvSpPr>
            <a:spLocks noGrp="1"/>
          </p:cNvSpPr>
          <p:nvPr>
            <p:ph type="body"/>
          </p:nvPr>
        </p:nvSpPr>
        <p:spPr>
          <a:xfrm>
            <a:off x="609480" y="4343400"/>
            <a:ext cx="2158560" cy="7617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pc="79" strike="noStrike" u="none" cap="all">
                <a:solidFill>
                  <a:srgbClr val="0176de"/>
                </a:solidFill>
                <a:effectLst/>
                <a:uFillTx/>
                <a:latin typeface="Calibri"/>
              </a:rPr>
              <a:t>4 · PASO</a:t>
            </a:r>
            <a:endParaRPr b="0" lang="es-CL" sz="1400" strike="noStrike" u="none">
              <a:solidFill>
                <a:srgbClr val="1a1e2b"/>
              </a:solidFill>
              <a:effectLst/>
              <a:uFillTx/>
              <a:latin typeface="Calibri"/>
            </a:endParaRPr>
          </a:p>
        </p:txBody>
      </p:sp>
      <p:sp>
        <p:nvSpPr>
          <p:cNvPr id="206" name="PlaceHolder 10"/>
          <p:cNvSpPr>
            <a:spLocks noGrp="1"/>
          </p:cNvSpPr>
          <p:nvPr>
            <p:ph type="body"/>
          </p:nvPr>
        </p:nvSpPr>
        <p:spPr>
          <a:xfrm>
            <a:off x="2946240" y="4343400"/>
            <a:ext cx="8635680" cy="761760"/>
          </a:xfrm>
          <a:prstGeom prst="rect">
            <a:avLst/>
          </a:prstGeom>
          <a:noFill/>
          <a:ln w="0">
            <a:noFill/>
          </a:ln>
        </p:spPr>
        <p:txBody>
          <a:bodyPr lIns="0" rIns="0" tIns="0" bIns="0" anchor="ctr">
            <a:noAutofit/>
          </a:bodyPr>
          <a:p>
            <a:pPr indent="0" defTabSz="914400">
              <a:lnSpc>
                <a:spcPct val="100000"/>
              </a:lnSpc>
              <a:buNone/>
              <a:tabLst>
                <a:tab algn="l" pos="0"/>
              </a:tabLst>
            </a:pPr>
            <a:r>
              <a:rPr b="0" lang="es-CL" sz="1800" strike="noStrike" u="none">
                <a:solidFill>
                  <a:srgbClr val="1a1e2b"/>
                </a:solidFill>
                <a:effectLst/>
                <a:uFillTx/>
                <a:latin typeface="Calibri"/>
              </a:rPr>
              <a:t>Contenido del paso</a:t>
            </a:r>
            <a:endParaRPr b="0" lang="es-CL" sz="1800" strike="noStrike" u="none">
              <a:solidFill>
                <a:srgbClr val="1a1e2b"/>
              </a:solidFill>
              <a:effectLst/>
              <a:uFillTx/>
              <a:latin typeface="Calibri"/>
            </a:endParaRPr>
          </a:p>
        </p:txBody>
      </p:sp>
      <p:sp>
        <p:nvSpPr>
          <p:cNvPr id="207" name="Línea 14"/>
          <p:cNvSpPr/>
          <p:nvPr/>
        </p:nvSpPr>
        <p:spPr>
          <a:xfrm>
            <a:off x="609480" y="515628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208" name="PlaceHolder 11"/>
          <p:cNvSpPr>
            <a:spLocks noGrp="1"/>
          </p:cNvSpPr>
          <p:nvPr>
            <p:ph type="body"/>
          </p:nvPr>
        </p:nvSpPr>
        <p:spPr>
          <a:xfrm>
            <a:off x="609480" y="5207040"/>
            <a:ext cx="2158560" cy="7617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pc="79" strike="noStrike" u="none" cap="all">
                <a:solidFill>
                  <a:srgbClr val="0176de"/>
                </a:solidFill>
                <a:effectLst/>
                <a:uFillTx/>
                <a:latin typeface="Calibri"/>
              </a:rPr>
              <a:t>5 · PASO</a:t>
            </a:r>
            <a:endParaRPr b="0" lang="es-CL" sz="1400" strike="noStrike" u="none">
              <a:solidFill>
                <a:srgbClr val="1a1e2b"/>
              </a:solidFill>
              <a:effectLst/>
              <a:uFillTx/>
              <a:latin typeface="Calibri"/>
            </a:endParaRPr>
          </a:p>
        </p:txBody>
      </p:sp>
      <p:sp>
        <p:nvSpPr>
          <p:cNvPr id="209" name="PlaceHolder 12"/>
          <p:cNvSpPr>
            <a:spLocks noGrp="1"/>
          </p:cNvSpPr>
          <p:nvPr>
            <p:ph type="body"/>
          </p:nvPr>
        </p:nvSpPr>
        <p:spPr>
          <a:xfrm>
            <a:off x="2946240" y="5207040"/>
            <a:ext cx="8635680" cy="761760"/>
          </a:xfrm>
          <a:prstGeom prst="rect">
            <a:avLst/>
          </a:prstGeom>
          <a:noFill/>
          <a:ln w="0">
            <a:noFill/>
          </a:ln>
        </p:spPr>
        <p:txBody>
          <a:bodyPr lIns="0" rIns="0" tIns="0" bIns="0" anchor="ctr">
            <a:noAutofit/>
          </a:bodyPr>
          <a:p>
            <a:pPr indent="0" defTabSz="914400">
              <a:lnSpc>
                <a:spcPct val="100000"/>
              </a:lnSpc>
              <a:buNone/>
              <a:tabLst>
                <a:tab algn="l" pos="0"/>
              </a:tabLst>
            </a:pPr>
            <a:r>
              <a:rPr b="0" lang="es-CL" sz="1800" strike="noStrike" u="none">
                <a:solidFill>
                  <a:srgbClr val="1a1e2b"/>
                </a:solidFill>
                <a:effectLst/>
                <a:uFillTx/>
                <a:latin typeface="Calibri"/>
              </a:rPr>
              <a:t>Contenido del paso</a:t>
            </a:r>
            <a:endParaRPr b="0" lang="es-CL" sz="1800" strike="noStrike" u="none">
              <a:solidFill>
                <a:srgbClr val="1a1e2b"/>
              </a:solidFill>
              <a:effectLst/>
              <a:uFillTx/>
              <a:latin typeface="Calibri"/>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 Limitación / advertencia">
    <p:bg>
      <p:bgPr>
        <a:solidFill>
          <a:srgbClr val="ffffff"/>
        </a:solidFill>
      </p:bgPr>
    </p:bg>
    <p:spTree>
      <p:nvGrpSpPr>
        <p:cNvPr id="1" name=""/>
        <p:cNvGrpSpPr/>
        <p:nvPr/>
      </p:nvGrpSpPr>
      <p:grpSpPr>
        <a:xfrm>
          <a:off x="0" y="0"/>
          <a:ext cx="0" cy="0"/>
          <a:chOff x="0" y="0"/>
          <a:chExt cx="0" cy="0"/>
        </a:xfrm>
      </p:grpSpPr>
      <p:sp>
        <p:nvSpPr>
          <p:cNvPr id="210" name="Acento 3"/>
          <p:cNvSpPr/>
          <p:nvPr/>
        </p:nvSpPr>
        <p:spPr>
          <a:xfrm>
            <a:off x="0" y="444600"/>
            <a:ext cx="101160" cy="482400"/>
          </a:xfrm>
          <a:prstGeom prst="rect">
            <a:avLst/>
          </a:prstGeom>
          <a:solidFill>
            <a:srgbClr val="fec60d"/>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211" name="PlaceHolder 1"/>
          <p:cNvSpPr>
            <a:spLocks noGrp="1"/>
          </p:cNvSpPr>
          <p:nvPr>
            <p:ph type="body"/>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SECCIÓN · TEMA</a:t>
            </a:r>
            <a:endParaRPr b="0" lang="es-CL" sz="1200" strike="noStrike" u="none">
              <a:solidFill>
                <a:srgbClr val="1a1e2b"/>
              </a:solidFill>
              <a:effectLst/>
              <a:uFillTx/>
              <a:latin typeface="Calibri"/>
            </a:endParaRPr>
          </a:p>
        </p:txBody>
      </p:sp>
      <p:sp>
        <p:nvSpPr>
          <p:cNvPr id="212"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Título: la conclusión de la diapositiva en una frase</a:t>
            </a:r>
            <a:endParaRPr b="0" lang="es-CL" sz="3000" strike="noStrike" u="none">
              <a:solidFill>
                <a:schemeClr val="dk1"/>
              </a:solidFill>
              <a:effectLst/>
              <a:uFillTx/>
              <a:latin typeface="Calibri"/>
            </a:endParaRPr>
          </a:p>
        </p:txBody>
      </p:sp>
      <p:sp>
        <p:nvSpPr>
          <p:cNvPr id="213" name="Texto 6"/>
          <p:cNvSpPr/>
          <p:nvPr/>
        </p:nvSpPr>
        <p:spPr>
          <a:xfrm>
            <a:off x="609480" y="6311880"/>
            <a:ext cx="81277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100" strike="noStrike" u="none">
                <a:solidFill>
                  <a:srgbClr val="5f6670"/>
                </a:solidFill>
                <a:effectLst/>
                <a:uFillTx/>
                <a:latin typeface="Calibri"/>
              </a:rPr>
              <a:t>AFG2 · Video de avance #1 · Análisis exploratorio de datos</a:t>
            </a:r>
            <a:endParaRPr b="0" lang="en-US" sz="1100" strike="noStrike" u="none">
              <a:solidFill>
                <a:srgbClr val="000000"/>
              </a:solidFill>
              <a:effectLst/>
              <a:uFillTx/>
              <a:latin typeface="Arial"/>
            </a:endParaRPr>
          </a:p>
        </p:txBody>
      </p:sp>
      <p:sp>
        <p:nvSpPr>
          <p:cNvPr id="214" name="Texto 7"/>
          <p:cNvSpPr/>
          <p:nvPr/>
        </p:nvSpPr>
        <p:spPr>
          <a:xfrm>
            <a:off x="10820520" y="6311880"/>
            <a:ext cx="7617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pPr>
            <a:fld id="{6308EFC2-953C-4470-BF1F-CC85510AA9A0}" type="slidenum">
              <a:rPr b="0" lang="es-CL" sz="1100" strike="noStrike" u="none">
                <a:solidFill>
                  <a:srgbClr val="5f6670"/>
                </a:solidFill>
                <a:effectLst/>
                <a:uFillTx/>
                <a:latin typeface="Calibri"/>
              </a:rPr>
              <a:t>&lt;number&gt;</a:t>
            </a:fld>
            <a:endParaRPr b="0" lang="en-US" sz="1100" strike="noStrike" u="none">
              <a:solidFill>
                <a:srgbClr val="000000"/>
              </a:solidFill>
              <a:effectLst/>
              <a:uFillTx/>
              <a:latin typeface="Arial"/>
            </a:endParaRPr>
          </a:p>
        </p:txBody>
      </p:sp>
      <p:sp>
        <p:nvSpPr>
          <p:cNvPr id="215" name="Franja 8"/>
          <p:cNvSpPr/>
          <p:nvPr/>
        </p:nvSpPr>
        <p:spPr>
          <a:xfrm>
            <a:off x="9144000" y="6781680"/>
            <a:ext cx="761760" cy="75960"/>
          </a:xfrm>
          <a:prstGeom prst="rect">
            <a:avLst/>
          </a:prstGeom>
          <a:solidFill>
            <a:srgbClr val="fec60d"/>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216" name="Franja 9"/>
          <p:cNvSpPr/>
          <p:nvPr/>
        </p:nvSpPr>
        <p:spPr>
          <a:xfrm>
            <a:off x="9906120" y="6781680"/>
            <a:ext cx="761760" cy="75960"/>
          </a:xfrm>
          <a:prstGeom prst="rect">
            <a:avLst/>
          </a:prstGeom>
          <a:solidFill>
            <a:srgbClr val="55565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217" name="Franja 10"/>
          <p:cNvSpPr/>
          <p:nvPr/>
        </p:nvSpPr>
        <p:spPr>
          <a:xfrm>
            <a:off x="10667880" y="6781680"/>
            <a:ext cx="761760" cy="75960"/>
          </a:xfrm>
          <a:prstGeom prst="rect">
            <a:avLst/>
          </a:prstGeom>
          <a:solidFill>
            <a:srgbClr val="0047ba"/>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218" name="Franja 11"/>
          <p:cNvSpPr/>
          <p:nvPr/>
        </p:nvSpPr>
        <p:spPr>
          <a:xfrm>
            <a:off x="11430000" y="6781680"/>
            <a:ext cx="761760" cy="75960"/>
          </a:xfrm>
          <a:prstGeom prst="rect">
            <a:avLst/>
          </a:prstGeom>
          <a:solidFill>
            <a:srgbClr val="04c9fb"/>
          </a:solidFill>
          <a:ln w="0">
            <a:noFill/>
          </a:ln>
        </p:spPr>
        <p:style>
          <a:lnRef idx="0"/>
          <a:fillRef idx="0"/>
          <a:effectRef idx="0"/>
          <a:fontRef idx="minor"/>
        </p:style>
        <p:txBody>
          <a:bodyPr lIns="90000" rIns="90000" tIns="31320" bIns="31320" anchor="t">
            <a:noAutofit/>
          </a:bodyPr>
          <a:p>
            <a:pPr defTabSz="914400">
              <a:lnSpc>
                <a:spcPct val="100000"/>
              </a:lnSpc>
            </a:pPr>
            <a:endParaRPr b="0" lang="es-CL" sz="1800" strike="noStrike" u="none">
              <a:solidFill>
                <a:schemeClr val="dk1"/>
              </a:solidFill>
              <a:effectLst/>
              <a:uFillTx/>
              <a:latin typeface="Calibri"/>
            </a:endParaRPr>
          </a:p>
        </p:txBody>
      </p:sp>
      <p:sp>
        <p:nvSpPr>
          <p:cNvPr id="219" name="Marca advertencia 12"/>
          <p:cNvSpPr/>
          <p:nvPr/>
        </p:nvSpPr>
        <p:spPr>
          <a:xfrm>
            <a:off x="7010280" y="1803240"/>
            <a:ext cx="75960" cy="2437920"/>
          </a:xfrm>
          <a:prstGeom prst="rect">
            <a:avLst/>
          </a:prstGeom>
          <a:solidFill>
            <a:srgbClr val="e0464b"/>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220" name="PlaceHolder 3"/>
          <p:cNvSpPr>
            <a:spLocks noGrp="1"/>
          </p:cNvSpPr>
          <p:nvPr>
            <p:ph type="body"/>
          </p:nvPr>
        </p:nvSpPr>
        <p:spPr>
          <a:xfrm>
            <a:off x="7264440" y="1803240"/>
            <a:ext cx="431748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119" strike="noStrike" u="none" cap="all">
                <a:solidFill>
                  <a:srgbClr val="b3261e"/>
                </a:solidFill>
                <a:effectLst/>
                <a:uFillTx/>
                <a:latin typeface="Calibri"/>
              </a:rPr>
              <a:t>LIMITACIÓN</a:t>
            </a:r>
            <a:endParaRPr b="0" lang="es-CL" sz="1400" strike="noStrike" u="none">
              <a:solidFill>
                <a:srgbClr val="1a1e2b"/>
              </a:solidFill>
              <a:effectLst/>
              <a:uFillTx/>
              <a:latin typeface="Calibri"/>
            </a:endParaRPr>
          </a:p>
        </p:txBody>
      </p:sp>
      <p:sp>
        <p:nvSpPr>
          <p:cNvPr id="221" name="PlaceHolder 4"/>
          <p:cNvSpPr>
            <a:spLocks noGrp="1"/>
          </p:cNvSpPr>
          <p:nvPr>
            <p:ph type="body"/>
          </p:nvPr>
        </p:nvSpPr>
        <p:spPr>
          <a:xfrm>
            <a:off x="7264440" y="2158920"/>
            <a:ext cx="4317480" cy="1422000"/>
          </a:xfrm>
          <a:prstGeom prst="rect">
            <a:avLst/>
          </a:prstGeom>
          <a:noFill/>
          <a:ln w="0">
            <a:noFill/>
          </a:ln>
        </p:spPr>
        <p:txBody>
          <a:bodyPr lIns="0" rIns="0" tIns="0" bIns="0" anchor="t">
            <a:noAutofit/>
          </a:bodyPr>
          <a:p>
            <a:pPr indent="0" defTabSz="914400">
              <a:lnSpc>
                <a:spcPct val="95000"/>
              </a:lnSpc>
              <a:buNone/>
              <a:tabLst>
                <a:tab algn="l" pos="0"/>
              </a:tabLst>
            </a:pPr>
            <a:r>
              <a:rPr b="1" lang="es-CL" sz="2400" strike="noStrike" u="none">
                <a:solidFill>
                  <a:srgbClr val="1a1e2b"/>
                </a:solidFill>
                <a:effectLst/>
                <a:uFillTx/>
                <a:latin typeface="Calibri"/>
              </a:rPr>
              <a:t>La limitación en una frase</a:t>
            </a:r>
            <a:endParaRPr b="0" lang="es-CL" sz="2400" strike="noStrike" u="none">
              <a:solidFill>
                <a:srgbClr val="1a1e2b"/>
              </a:solidFill>
              <a:effectLst/>
              <a:uFillTx/>
              <a:latin typeface="Calibri"/>
            </a:endParaRPr>
          </a:p>
        </p:txBody>
      </p:sp>
      <p:sp>
        <p:nvSpPr>
          <p:cNvPr id="222" name="PlaceHolder 5"/>
          <p:cNvSpPr>
            <a:spLocks noGrp="1"/>
          </p:cNvSpPr>
          <p:nvPr>
            <p:ph type="body"/>
          </p:nvPr>
        </p:nvSpPr>
        <p:spPr>
          <a:xfrm>
            <a:off x="7264440" y="3683160"/>
            <a:ext cx="4317480" cy="558360"/>
          </a:xfrm>
          <a:prstGeom prst="rect">
            <a:avLst/>
          </a:prstGeom>
          <a:noFill/>
          <a:ln w="0">
            <a:noFill/>
          </a:ln>
        </p:spPr>
        <p:txBody>
          <a:bodyPr lIns="0" rIns="0" tIns="0" bIns="0" anchor="t">
            <a:noAutofit/>
          </a:bodyPr>
          <a:p>
            <a:pPr indent="0" defTabSz="914400">
              <a:lnSpc>
                <a:spcPct val="105000"/>
              </a:lnSpc>
              <a:spcAft>
                <a:spcPts val="799"/>
              </a:spcAft>
              <a:buNone/>
              <a:tabLst>
                <a:tab algn="l" pos="0"/>
              </a:tabLst>
            </a:pPr>
            <a:r>
              <a:rPr b="0" lang="es-CL" sz="1600" strike="noStrike" u="none">
                <a:solidFill>
                  <a:srgbClr val="1a1e2b"/>
                </a:solidFill>
                <a:effectLst/>
                <a:uFillTx/>
                <a:latin typeface="Calibri"/>
              </a:rPr>
              <a:t>Evidencia y consecuencia</a:t>
            </a:r>
            <a:endParaRPr b="0" lang="es-CL" sz="1600" strike="noStrike" u="none">
              <a:solidFill>
                <a:srgbClr val="1a1e2b"/>
              </a:solidFill>
              <a:effectLst/>
              <a:uFillTx/>
              <a:latin typeface="Calibri"/>
            </a:endParaRPr>
          </a:p>
        </p:txBody>
      </p:sp>
      <p:sp>
        <p:nvSpPr>
          <p:cNvPr id="223" name="PlaceHolder 6"/>
          <p:cNvSpPr>
            <a:spLocks noGrp="1"/>
          </p:cNvSpPr>
          <p:nvPr>
            <p:ph type="body"/>
          </p:nvPr>
        </p:nvSpPr>
        <p:spPr>
          <a:xfrm>
            <a:off x="609480" y="6070680"/>
            <a:ext cx="599400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 nota de la figura</a:t>
            </a:r>
            <a:endParaRPr b="0" lang="es-CL" sz="1100" strike="noStrike" u="none">
              <a:solidFill>
                <a:srgbClr val="1a1e2b"/>
              </a:solidFill>
              <a:effectLst/>
              <a:uFillTx/>
              <a:latin typeface="Calibri"/>
            </a:endParaRPr>
          </a:p>
        </p:txBody>
      </p:sp>
      <p:sp>
        <p:nvSpPr>
          <p:cNvPr id="224" name="PlaceHolder 7"/>
          <p:cNvSpPr>
            <a:spLocks noGrp="1"/>
          </p:cNvSpPr>
          <p:nvPr>
            <p:ph type="body"/>
          </p:nvPr>
        </p:nvSpPr>
        <p:spPr>
          <a:xfrm>
            <a:off x="8940960" y="4406760"/>
            <a:ext cx="2641320" cy="14857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1" lang="es-CL" sz="1400" strike="noStrike" u="none">
                <a:solidFill>
                  <a:srgbClr val="5f6670"/>
                </a:solidFill>
                <a:effectLst/>
                <a:uFillTx/>
                <a:latin typeface="Calibri"/>
              </a:rPr>
              <a:t>VIDEO PRESENTADOR · 16:9</a:t>
            </a:r>
            <a:endParaRPr b="0" lang="es-CL" sz="1400" strike="noStrike" u="none">
              <a:solidFill>
                <a:srgbClr val="1a1e2b"/>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6.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7.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chart" Target="../charts/chart1.xml"/><Relationship Id="rId5" Type="http://schemas.openxmlformats.org/officeDocument/2006/relationships/slideLayout" Target="../slideLayouts/slideLayout12.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7.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chart" Target="../charts/chart2.xml"/><Relationship Id="rId5" Type="http://schemas.openxmlformats.org/officeDocument/2006/relationships/slideLayout" Target="../slideLayouts/slideLayout9.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13.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8.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7.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0.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slideLayout" Target="../slideLayouts/slideLayout15.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7.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12.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video" Target="" TargetMode="External"/><Relationship Id="rId2" Type="http://schemas.microsoft.com/office/2007/relationships/media" Target="" TargetMode="External"/><Relationship Id="rId3" Type="http://schemas.openxmlformats.org/officeDocument/2006/relationships/image" Target="../media/image2.png"/><Relationship Id="rId4" Type="http://schemas.openxmlformats.org/officeDocument/2006/relationships/slideLayout" Target="../slideLayouts/slideLayout3.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Fila destacada 606"/>
          <p:cNvSpPr/>
          <p:nvPr/>
        </p:nvSpPr>
        <p:spPr>
          <a:xfrm>
            <a:off x="8128080" y="3060720"/>
            <a:ext cx="3454200" cy="151920"/>
          </a:xfrm>
          <a:prstGeom prst="rect">
            <a:avLst/>
          </a:prstGeom>
          <a:solidFill>
            <a:srgbClr val="e8f1fc"/>
          </a:solidFill>
          <a:ln w="0">
            <a:noFill/>
          </a:ln>
        </p:spPr>
        <p:style>
          <a:lnRef idx="0"/>
          <a:fillRef idx="0"/>
          <a:effectRef idx="0"/>
          <a:fontRef idx="minor"/>
        </p:style>
        <p:txBody>
          <a:bodyPr lIns="90000" rIns="90000" tIns="45000" bIns="45000" anchor="t">
            <a:noAutofit/>
          </a:bodyPr>
          <a:p>
            <a:pPr defTabSz="914400">
              <a:lnSpc>
                <a:spcPct val="100000"/>
              </a:lnSpc>
            </a:pPr>
            <a:endParaRPr b="0" lang="es-CL" sz="1800" strike="noStrike" u="none">
              <a:solidFill>
                <a:schemeClr val="dk1"/>
              </a:solidFill>
              <a:effectLst/>
              <a:uFillTx/>
              <a:latin typeface="Calibri"/>
            </a:endParaRPr>
          </a:p>
        </p:txBody>
      </p:sp>
      <p:sp>
        <p:nvSpPr>
          <p:cNvPr id="232" name="PlaceHolder 1"/>
          <p:cNvSpPr>
            <a:spLocks noGrp="1"/>
          </p:cNvSpPr>
          <p:nvPr>
            <p:ph type="title"/>
          </p:nvPr>
        </p:nvSpPr>
        <p:spPr>
          <a:xfrm>
            <a:off x="609480" y="2463840"/>
            <a:ext cx="7365600" cy="1650600"/>
          </a:xfrm>
          <a:prstGeom prst="rect">
            <a:avLst/>
          </a:prstGeom>
          <a:noFill/>
          <a:ln w="0">
            <a:noFill/>
          </a:ln>
        </p:spPr>
        <p:txBody>
          <a:bodyPr lIns="0" rIns="0" tIns="0" bIns="0" anchor="t">
            <a:noAutofit/>
          </a:bodyPr>
          <a:p>
            <a:pPr indent="0" defTabSz="914400">
              <a:lnSpc>
                <a:spcPct val="88000"/>
              </a:lnSpc>
              <a:buNone/>
              <a:tabLst>
                <a:tab algn="l" pos="0"/>
              </a:tabLst>
            </a:pPr>
            <a:r>
              <a:rPr b="1" lang="es-CL" sz="5400" strike="noStrike" u="none">
                <a:solidFill>
                  <a:srgbClr val="1a1e2b"/>
                </a:solidFill>
                <a:effectLst/>
                <a:uFillTx/>
                <a:latin typeface="Calibri"/>
              </a:rPr>
              <a:t>Análisis exploratorio</a:t>
            </a:r>
            <a:br>
              <a:rPr sz="5400"/>
            </a:br>
            <a:r>
              <a:rPr b="1" lang="es-CL" sz="5400" strike="noStrike" u="none">
                <a:solidFill>
                  <a:srgbClr val="1a1e2b"/>
                </a:solidFill>
                <a:effectLst/>
                <a:uFillTx/>
                <a:latin typeface="Calibri"/>
              </a:rPr>
              <a:t>de datos</a:t>
            </a:r>
            <a:endParaRPr b="0" lang="es-CL" sz="5400" strike="noStrike" u="none">
              <a:solidFill>
                <a:schemeClr val="dk1"/>
              </a:solidFill>
              <a:effectLst/>
              <a:uFillTx/>
              <a:latin typeface="Calibri"/>
            </a:endParaRPr>
          </a:p>
        </p:txBody>
      </p:sp>
      <p:sp>
        <p:nvSpPr>
          <p:cNvPr id="233" name="PlaceHolder 2"/>
          <p:cNvSpPr>
            <a:spLocks noGrp="1"/>
          </p:cNvSpPr>
          <p:nvPr>
            <p:ph/>
          </p:nvPr>
        </p:nvSpPr>
        <p:spPr>
          <a:xfrm>
            <a:off x="609480" y="2133720"/>
            <a:ext cx="71118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300" spc="119" strike="noStrike" u="none" cap="all">
                <a:solidFill>
                  <a:srgbClr val="0176de"/>
                </a:solidFill>
                <a:effectLst/>
                <a:uFillTx/>
                <a:latin typeface="Calibri"/>
              </a:rPr>
              <a:t>Proyecto AFG2 · Video de avance #1 · Semana 2</a:t>
            </a:r>
            <a:endParaRPr b="0" lang="es-CL" sz="1300" strike="noStrike" u="none">
              <a:solidFill>
                <a:srgbClr val="1a1e2b"/>
              </a:solidFill>
              <a:effectLst/>
              <a:uFillTx/>
              <a:latin typeface="Calibri"/>
            </a:endParaRPr>
          </a:p>
        </p:txBody>
      </p:sp>
      <p:sp>
        <p:nvSpPr>
          <p:cNvPr id="234" name="PlaceHolder 3"/>
          <p:cNvSpPr>
            <a:spLocks noGrp="1"/>
          </p:cNvSpPr>
          <p:nvPr>
            <p:ph/>
          </p:nvPr>
        </p:nvSpPr>
        <p:spPr>
          <a:xfrm>
            <a:off x="609480" y="4470480"/>
            <a:ext cx="6349680" cy="711000"/>
          </a:xfrm>
          <a:prstGeom prst="rect">
            <a:avLst/>
          </a:prstGeom>
          <a:noFill/>
          <a:ln w="0">
            <a:noFill/>
          </a:ln>
        </p:spPr>
        <p:txBody>
          <a:bodyPr lIns="0" rIns="0" tIns="0" bIns="0" anchor="t">
            <a:noAutofit/>
          </a:bodyPr>
          <a:p>
            <a:pPr indent="0" defTabSz="914400">
              <a:lnSpc>
                <a:spcPct val="105000"/>
              </a:lnSpc>
              <a:buNone/>
              <a:tabLst>
                <a:tab algn="l" pos="0"/>
              </a:tabLst>
            </a:pPr>
            <a:r>
              <a:rPr b="0" lang="es-CL" sz="1800" strike="noStrike" u="none">
                <a:solidFill>
                  <a:srgbClr val="5f6670"/>
                </a:solidFill>
                <a:effectLst/>
                <a:uFillTx/>
                <a:latin typeface="Calibri"/>
              </a:rPr>
              <a:t>Cómo cambian las decisiones de una organización a lo largo de varias reuniones</a:t>
            </a:r>
            <a:endParaRPr b="0" lang="es-CL" sz="1800" strike="noStrike" u="none">
              <a:solidFill>
                <a:srgbClr val="1a1e2b"/>
              </a:solidFill>
              <a:effectLst/>
              <a:uFillTx/>
              <a:latin typeface="Calibri"/>
            </a:endParaRPr>
          </a:p>
        </p:txBody>
      </p:sp>
      <p:sp>
        <p:nvSpPr>
          <p:cNvPr id="235" name="PlaceHolder 4"/>
          <p:cNvSpPr>
            <a:spLocks noGrp="1"/>
          </p:cNvSpPr>
          <p:nvPr>
            <p:ph/>
          </p:nvPr>
        </p:nvSpPr>
        <p:spPr>
          <a:xfrm>
            <a:off x="609480" y="5842080"/>
            <a:ext cx="7111800" cy="279000"/>
          </a:xfrm>
          <a:prstGeom prst="rect">
            <a:avLst/>
          </a:prstGeom>
          <a:noFill/>
          <a:ln w="0">
            <a:noFill/>
          </a:ln>
        </p:spPr>
        <p:txBody>
          <a:bodyPr lIns="0" rIns="0" tIns="0" bIns="0" anchor="ctr">
            <a:noAutofit/>
          </a:bodyPr>
          <a:p>
            <a:pPr indent="0" defTabSz="914400">
              <a:lnSpc>
                <a:spcPct val="95000"/>
              </a:lnSpc>
              <a:buNone/>
              <a:tabLst>
                <a:tab algn="l" pos="0"/>
              </a:tabLst>
            </a:pPr>
            <a:r>
              <a:rPr b="1" lang="es-CL" sz="1500" strike="noStrike" u="none">
                <a:solidFill>
                  <a:srgbClr val="1a1e2b"/>
                </a:solidFill>
                <a:effectLst/>
                <a:uFillTx/>
                <a:latin typeface="Calibri"/>
              </a:rPr>
              <a:t>Jason Sepúlveda  ·  Germán Vega  ·  Gustavo Martínez</a:t>
            </a:r>
            <a:endParaRPr b="0" lang="es-CL" sz="1500" strike="noStrike" u="none">
              <a:solidFill>
                <a:srgbClr val="1a1e2b"/>
              </a:solidFill>
              <a:effectLst/>
              <a:uFillTx/>
              <a:latin typeface="Calibri"/>
            </a:endParaRPr>
          </a:p>
        </p:txBody>
      </p:sp>
      <p:sp>
        <p:nvSpPr>
          <p:cNvPr id="236" name="Línea superior 600"/>
          <p:cNvSpPr/>
          <p:nvPr/>
        </p:nvSpPr>
        <p:spPr>
          <a:xfrm>
            <a:off x="609480" y="172728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237" name="Acento 601"/>
          <p:cNvSpPr/>
          <p:nvPr/>
        </p:nvSpPr>
        <p:spPr>
          <a:xfrm>
            <a:off x="609480" y="4241880"/>
            <a:ext cx="812520" cy="50400"/>
          </a:xfrm>
          <a:prstGeom prst="rect">
            <a:avLst/>
          </a:prstGeom>
          <a:solidFill>
            <a:srgbClr val="fec60d"/>
          </a:solidFill>
          <a:ln w="0">
            <a:noFill/>
          </a:ln>
        </p:spPr>
        <p:style>
          <a:lnRef idx="0"/>
          <a:fillRef idx="0"/>
          <a:effectRef idx="0"/>
          <a:fontRef idx="minor"/>
        </p:style>
        <p:txBody>
          <a:bodyPr lIns="90000" rIns="90000" tIns="5760" bIns="5760" anchor="t">
            <a:noAutofit/>
          </a:bodyPr>
          <a:p>
            <a:pPr defTabSz="914400">
              <a:lnSpc>
                <a:spcPct val="100000"/>
              </a:lnSpc>
            </a:pPr>
            <a:endParaRPr b="0" lang="es-CL" sz="1800" strike="noStrike" u="none">
              <a:solidFill>
                <a:schemeClr val="dk1"/>
              </a:solidFill>
              <a:effectLst/>
              <a:uFillTx/>
              <a:latin typeface="Calibri"/>
            </a:endParaRPr>
          </a:p>
        </p:txBody>
      </p:sp>
      <p:sp>
        <p:nvSpPr>
          <p:cNvPr id="238" name="Reunión 602"/>
          <p:cNvSpPr/>
          <p:nvPr/>
        </p:nvSpPr>
        <p:spPr>
          <a:xfrm>
            <a:off x="8788320" y="1905120"/>
            <a:ext cx="507600" cy="20268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pPr>
            <a:r>
              <a:rPr b="1" lang="es-CL" sz="1300" strike="noStrike" u="none">
                <a:solidFill>
                  <a:srgbClr val="0176de"/>
                </a:solidFill>
                <a:effectLst/>
                <a:uFillTx/>
                <a:latin typeface="Calibri"/>
              </a:rPr>
              <a:t>a</a:t>
            </a:r>
            <a:endParaRPr b="0" lang="en-US" sz="1300" strike="noStrike" u="none">
              <a:solidFill>
                <a:srgbClr val="000000"/>
              </a:solidFill>
              <a:effectLst/>
              <a:uFillTx/>
              <a:latin typeface="Arial"/>
            </a:endParaRPr>
          </a:p>
        </p:txBody>
      </p:sp>
      <p:sp>
        <p:nvSpPr>
          <p:cNvPr id="239" name="Reunión 603"/>
          <p:cNvSpPr/>
          <p:nvPr/>
        </p:nvSpPr>
        <p:spPr>
          <a:xfrm>
            <a:off x="9499680" y="1905120"/>
            <a:ext cx="507600" cy="20268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pPr>
            <a:r>
              <a:rPr b="1" lang="es-CL" sz="1300" strike="noStrike" u="none">
                <a:solidFill>
                  <a:srgbClr val="5f6670"/>
                </a:solidFill>
                <a:effectLst/>
                <a:uFillTx/>
                <a:latin typeface="Calibri"/>
              </a:rPr>
              <a:t>b</a:t>
            </a:r>
            <a:endParaRPr b="0" lang="en-US" sz="1300" strike="noStrike" u="none">
              <a:solidFill>
                <a:srgbClr val="000000"/>
              </a:solidFill>
              <a:effectLst/>
              <a:uFillTx/>
              <a:latin typeface="Arial"/>
            </a:endParaRPr>
          </a:p>
        </p:txBody>
      </p:sp>
      <p:sp>
        <p:nvSpPr>
          <p:cNvPr id="240" name="Reunión 604"/>
          <p:cNvSpPr/>
          <p:nvPr/>
        </p:nvSpPr>
        <p:spPr>
          <a:xfrm>
            <a:off x="10210680" y="1905120"/>
            <a:ext cx="507600" cy="20268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pPr>
            <a:r>
              <a:rPr b="1" lang="es-CL" sz="1300" strike="noStrike" u="none">
                <a:solidFill>
                  <a:srgbClr val="5f6670"/>
                </a:solidFill>
                <a:effectLst/>
                <a:uFillTx/>
                <a:latin typeface="Calibri"/>
              </a:rPr>
              <a:t>c</a:t>
            </a:r>
            <a:endParaRPr b="0" lang="en-US" sz="1300" strike="noStrike" u="none">
              <a:solidFill>
                <a:srgbClr val="000000"/>
              </a:solidFill>
              <a:effectLst/>
              <a:uFillTx/>
              <a:latin typeface="Arial"/>
            </a:endParaRPr>
          </a:p>
        </p:txBody>
      </p:sp>
      <p:sp>
        <p:nvSpPr>
          <p:cNvPr id="241" name="Reunión 605"/>
          <p:cNvSpPr/>
          <p:nvPr/>
        </p:nvSpPr>
        <p:spPr>
          <a:xfrm>
            <a:off x="10922040" y="1905120"/>
            <a:ext cx="507600" cy="20268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pPr>
            <a:r>
              <a:rPr b="1" lang="es-CL" sz="1300" strike="noStrike" u="none">
                <a:solidFill>
                  <a:srgbClr val="5f6670"/>
                </a:solidFill>
                <a:effectLst/>
                <a:uFillTx/>
                <a:latin typeface="Calibri"/>
              </a:rPr>
              <a:t>d</a:t>
            </a:r>
            <a:endParaRPr b="0" lang="en-US" sz="1300" strike="noStrike" u="none">
              <a:solidFill>
                <a:srgbClr val="000000"/>
              </a:solidFill>
              <a:effectLst/>
              <a:uFillTx/>
              <a:latin typeface="Arial"/>
            </a:endParaRPr>
          </a:p>
        </p:txBody>
      </p:sp>
      <p:sp>
        <p:nvSpPr>
          <p:cNvPr id="242" name="Punto 607"/>
          <p:cNvSpPr/>
          <p:nvPr/>
        </p:nvSpPr>
        <p:spPr>
          <a:xfrm>
            <a:off x="8991720" y="22352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3" name="Punto 608"/>
          <p:cNvSpPr/>
          <p:nvPr/>
        </p:nvSpPr>
        <p:spPr>
          <a:xfrm>
            <a:off x="9702720" y="22352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4" name="Punto 609"/>
          <p:cNvSpPr/>
          <p:nvPr/>
        </p:nvSpPr>
        <p:spPr>
          <a:xfrm>
            <a:off x="10414080" y="22352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5" name="Punto 610"/>
          <p:cNvSpPr/>
          <p:nvPr/>
        </p:nvSpPr>
        <p:spPr>
          <a:xfrm>
            <a:off x="11125080" y="22352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6" name="Punto 611"/>
          <p:cNvSpPr/>
          <p:nvPr/>
        </p:nvSpPr>
        <p:spPr>
          <a:xfrm>
            <a:off x="8991720" y="2444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7" name="Punto 612"/>
          <p:cNvSpPr/>
          <p:nvPr/>
        </p:nvSpPr>
        <p:spPr>
          <a:xfrm>
            <a:off x="9702720" y="2444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8" name="Punto 613"/>
          <p:cNvSpPr/>
          <p:nvPr/>
        </p:nvSpPr>
        <p:spPr>
          <a:xfrm>
            <a:off x="10414080" y="2444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49" name="Punto 614"/>
          <p:cNvSpPr/>
          <p:nvPr/>
        </p:nvSpPr>
        <p:spPr>
          <a:xfrm>
            <a:off x="11125080" y="2444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0" name="Punto 615"/>
          <p:cNvSpPr/>
          <p:nvPr/>
        </p:nvSpPr>
        <p:spPr>
          <a:xfrm>
            <a:off x="8991720" y="2654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1" name="Punto 616"/>
          <p:cNvSpPr/>
          <p:nvPr/>
        </p:nvSpPr>
        <p:spPr>
          <a:xfrm>
            <a:off x="9702720" y="2654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2" name="Punto 617"/>
          <p:cNvSpPr/>
          <p:nvPr/>
        </p:nvSpPr>
        <p:spPr>
          <a:xfrm>
            <a:off x="10414080" y="2654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3" name="Punto 618"/>
          <p:cNvSpPr/>
          <p:nvPr/>
        </p:nvSpPr>
        <p:spPr>
          <a:xfrm>
            <a:off x="11125080" y="2654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4" name="Punto 619"/>
          <p:cNvSpPr/>
          <p:nvPr/>
        </p:nvSpPr>
        <p:spPr>
          <a:xfrm>
            <a:off x="8991720" y="2863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5" name="Punto 620"/>
          <p:cNvSpPr/>
          <p:nvPr/>
        </p:nvSpPr>
        <p:spPr>
          <a:xfrm>
            <a:off x="9702720" y="2863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6" name="Punto 621"/>
          <p:cNvSpPr/>
          <p:nvPr/>
        </p:nvSpPr>
        <p:spPr>
          <a:xfrm>
            <a:off x="10414080" y="2863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7" name="Punto 622"/>
          <p:cNvSpPr/>
          <p:nvPr/>
        </p:nvSpPr>
        <p:spPr>
          <a:xfrm>
            <a:off x="11125080" y="2863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8" name="Punto 623"/>
          <p:cNvSpPr/>
          <p:nvPr/>
        </p:nvSpPr>
        <p:spPr>
          <a:xfrm>
            <a:off x="8991720" y="3073320"/>
            <a:ext cx="101160" cy="101160"/>
          </a:xfrm>
          <a:prstGeom prst="ellipse">
            <a:avLst/>
          </a:prstGeom>
          <a:solidFill>
            <a:srgbClr val="0176de"/>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59" name="Punto 624"/>
          <p:cNvSpPr/>
          <p:nvPr/>
        </p:nvSpPr>
        <p:spPr>
          <a:xfrm>
            <a:off x="9702720" y="3073320"/>
            <a:ext cx="101160" cy="101160"/>
          </a:xfrm>
          <a:prstGeom prst="ellipse">
            <a:avLst/>
          </a:prstGeom>
          <a:solidFill>
            <a:srgbClr val="0176de"/>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0" name="Punto 625"/>
          <p:cNvSpPr/>
          <p:nvPr/>
        </p:nvSpPr>
        <p:spPr>
          <a:xfrm>
            <a:off x="10414080" y="3073320"/>
            <a:ext cx="101160" cy="101160"/>
          </a:xfrm>
          <a:prstGeom prst="ellipse">
            <a:avLst/>
          </a:prstGeom>
          <a:solidFill>
            <a:srgbClr val="0176de"/>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1" name="Punto 626"/>
          <p:cNvSpPr/>
          <p:nvPr/>
        </p:nvSpPr>
        <p:spPr>
          <a:xfrm>
            <a:off x="11125080" y="3073320"/>
            <a:ext cx="101160" cy="101160"/>
          </a:xfrm>
          <a:prstGeom prst="ellipse">
            <a:avLst/>
          </a:prstGeom>
          <a:solidFill>
            <a:srgbClr val="0176de"/>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2" name="Punto 627"/>
          <p:cNvSpPr/>
          <p:nvPr/>
        </p:nvSpPr>
        <p:spPr>
          <a:xfrm>
            <a:off x="8991720" y="3282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3" name="Punto 628"/>
          <p:cNvSpPr/>
          <p:nvPr/>
        </p:nvSpPr>
        <p:spPr>
          <a:xfrm>
            <a:off x="9702720" y="3282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4" name="Punto 629"/>
          <p:cNvSpPr/>
          <p:nvPr/>
        </p:nvSpPr>
        <p:spPr>
          <a:xfrm>
            <a:off x="10414080" y="3282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5" name="Punto 630"/>
          <p:cNvSpPr/>
          <p:nvPr/>
        </p:nvSpPr>
        <p:spPr>
          <a:xfrm>
            <a:off x="11125080" y="3282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6" name="Punto 631"/>
          <p:cNvSpPr/>
          <p:nvPr/>
        </p:nvSpPr>
        <p:spPr>
          <a:xfrm>
            <a:off x="8991720" y="3492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7" name="Punto 632"/>
          <p:cNvSpPr/>
          <p:nvPr/>
        </p:nvSpPr>
        <p:spPr>
          <a:xfrm>
            <a:off x="9702720" y="3492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8" name="Punto 633"/>
          <p:cNvSpPr/>
          <p:nvPr/>
        </p:nvSpPr>
        <p:spPr>
          <a:xfrm>
            <a:off x="10414080" y="3492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69" name="Punto 634"/>
          <p:cNvSpPr/>
          <p:nvPr/>
        </p:nvSpPr>
        <p:spPr>
          <a:xfrm>
            <a:off x="11125080" y="3492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0" name="Punto 635"/>
          <p:cNvSpPr/>
          <p:nvPr/>
        </p:nvSpPr>
        <p:spPr>
          <a:xfrm>
            <a:off x="8991720" y="37018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1" name="Punto 636"/>
          <p:cNvSpPr/>
          <p:nvPr/>
        </p:nvSpPr>
        <p:spPr>
          <a:xfrm>
            <a:off x="9702720" y="37018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2" name="Punto 637"/>
          <p:cNvSpPr/>
          <p:nvPr/>
        </p:nvSpPr>
        <p:spPr>
          <a:xfrm>
            <a:off x="10414080" y="37018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3" name="Punto 638"/>
          <p:cNvSpPr/>
          <p:nvPr/>
        </p:nvSpPr>
        <p:spPr>
          <a:xfrm>
            <a:off x="11125080" y="37018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4" name="Punto 639"/>
          <p:cNvSpPr/>
          <p:nvPr/>
        </p:nvSpPr>
        <p:spPr>
          <a:xfrm>
            <a:off x="8991720" y="3911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5" name="Punto 640"/>
          <p:cNvSpPr/>
          <p:nvPr/>
        </p:nvSpPr>
        <p:spPr>
          <a:xfrm>
            <a:off x="9702720" y="3911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6" name="Punto 641"/>
          <p:cNvSpPr/>
          <p:nvPr/>
        </p:nvSpPr>
        <p:spPr>
          <a:xfrm>
            <a:off x="10414080" y="3911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7" name="Punto 642"/>
          <p:cNvSpPr/>
          <p:nvPr/>
        </p:nvSpPr>
        <p:spPr>
          <a:xfrm>
            <a:off x="11125080" y="39117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8" name="Punto 643"/>
          <p:cNvSpPr/>
          <p:nvPr/>
        </p:nvSpPr>
        <p:spPr>
          <a:xfrm>
            <a:off x="8991720" y="4121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79" name="Punto 644"/>
          <p:cNvSpPr/>
          <p:nvPr/>
        </p:nvSpPr>
        <p:spPr>
          <a:xfrm>
            <a:off x="9702720" y="4121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0" name="Punto 645"/>
          <p:cNvSpPr/>
          <p:nvPr/>
        </p:nvSpPr>
        <p:spPr>
          <a:xfrm>
            <a:off x="10414080" y="4121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1" name="Punto 646"/>
          <p:cNvSpPr/>
          <p:nvPr/>
        </p:nvSpPr>
        <p:spPr>
          <a:xfrm>
            <a:off x="11125080" y="412128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2" name="Punto 647"/>
          <p:cNvSpPr/>
          <p:nvPr/>
        </p:nvSpPr>
        <p:spPr>
          <a:xfrm>
            <a:off x="8991720" y="4330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3" name="Punto 648"/>
          <p:cNvSpPr/>
          <p:nvPr/>
        </p:nvSpPr>
        <p:spPr>
          <a:xfrm>
            <a:off x="9702720" y="4330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4" name="Punto 649"/>
          <p:cNvSpPr/>
          <p:nvPr/>
        </p:nvSpPr>
        <p:spPr>
          <a:xfrm>
            <a:off x="10414080" y="4330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5" name="Punto 650"/>
          <p:cNvSpPr/>
          <p:nvPr/>
        </p:nvSpPr>
        <p:spPr>
          <a:xfrm>
            <a:off x="11125080" y="433080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6" name="Punto 651"/>
          <p:cNvSpPr/>
          <p:nvPr/>
        </p:nvSpPr>
        <p:spPr>
          <a:xfrm>
            <a:off x="8991720" y="454032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7" name="Punto 652"/>
          <p:cNvSpPr/>
          <p:nvPr/>
        </p:nvSpPr>
        <p:spPr>
          <a:xfrm>
            <a:off x="9702720" y="454032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8" name="Punto 653"/>
          <p:cNvSpPr/>
          <p:nvPr/>
        </p:nvSpPr>
        <p:spPr>
          <a:xfrm>
            <a:off x="10414080" y="454032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89" name="Punto 654"/>
          <p:cNvSpPr/>
          <p:nvPr/>
        </p:nvSpPr>
        <p:spPr>
          <a:xfrm>
            <a:off x="11125080" y="454032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0" name="Punto 655"/>
          <p:cNvSpPr/>
          <p:nvPr/>
        </p:nvSpPr>
        <p:spPr>
          <a:xfrm>
            <a:off x="8991720" y="4749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1" name="Punto 656"/>
          <p:cNvSpPr/>
          <p:nvPr/>
        </p:nvSpPr>
        <p:spPr>
          <a:xfrm>
            <a:off x="9702720" y="4749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2" name="Punto 657"/>
          <p:cNvSpPr/>
          <p:nvPr/>
        </p:nvSpPr>
        <p:spPr>
          <a:xfrm>
            <a:off x="10414080" y="4749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3" name="Punto 658"/>
          <p:cNvSpPr/>
          <p:nvPr/>
        </p:nvSpPr>
        <p:spPr>
          <a:xfrm>
            <a:off x="11125080" y="474984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4" name="Punto 659"/>
          <p:cNvSpPr/>
          <p:nvPr/>
        </p:nvSpPr>
        <p:spPr>
          <a:xfrm>
            <a:off x="8991720" y="4959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5" name="Punto 660"/>
          <p:cNvSpPr/>
          <p:nvPr/>
        </p:nvSpPr>
        <p:spPr>
          <a:xfrm>
            <a:off x="9702720" y="4959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6" name="Punto 661"/>
          <p:cNvSpPr/>
          <p:nvPr/>
        </p:nvSpPr>
        <p:spPr>
          <a:xfrm>
            <a:off x="10414080" y="4959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7" name="Punto 662"/>
          <p:cNvSpPr/>
          <p:nvPr/>
        </p:nvSpPr>
        <p:spPr>
          <a:xfrm>
            <a:off x="11125080" y="4959360"/>
            <a:ext cx="101160" cy="101160"/>
          </a:xfrm>
          <a:prstGeom prst="ellipse">
            <a:avLst/>
          </a:prstGeom>
          <a:solidFill>
            <a:srgbClr val="d5dce6"/>
          </a:solidFill>
          <a:ln w="0">
            <a:noFill/>
          </a:ln>
        </p:spPr>
        <p:style>
          <a:lnRef idx="0"/>
          <a:fillRef idx="0"/>
          <a:effectRef idx="0"/>
          <a:fontRef idx="minor"/>
        </p:style>
        <p:txBody>
          <a:bodyPr lIns="90000" rIns="90000" tIns="26640" bIns="26640" anchor="t">
            <a:noAutofit/>
          </a:bodyPr>
          <a:p>
            <a:pPr defTabSz="914400">
              <a:lnSpc>
                <a:spcPct val="100000"/>
              </a:lnSpc>
            </a:pPr>
            <a:endParaRPr b="0" lang="es-CL" sz="1800" strike="noStrike" u="none">
              <a:solidFill>
                <a:schemeClr val="dk1"/>
              </a:solidFill>
              <a:effectLst/>
              <a:uFillTx/>
              <a:latin typeface="Calibri"/>
            </a:endParaRPr>
          </a:p>
        </p:txBody>
      </p:sp>
      <p:sp>
        <p:nvSpPr>
          <p:cNvPr id="298" name="Etiqueta serie 663"/>
          <p:cNvSpPr/>
          <p:nvPr/>
        </p:nvSpPr>
        <p:spPr>
          <a:xfrm>
            <a:off x="8178840" y="3022560"/>
            <a:ext cx="761760" cy="202680"/>
          </a:xfrm>
          <a:prstGeom prst="rect">
            <a:avLst/>
          </a:prstGeom>
          <a:noFill/>
          <a:ln w="0">
            <a:noFill/>
          </a:ln>
        </p:spPr>
        <p:style>
          <a:lnRef idx="0"/>
          <a:fillRef idx="0"/>
          <a:effectRef idx="0"/>
          <a:fontRef idx="minor"/>
        </p:style>
        <p:txBody>
          <a:bodyPr lIns="0" rIns="0" tIns="0" bIns="0" anchor="ctr">
            <a:noAutofit/>
          </a:bodyPr>
          <a:p>
            <a:pPr defTabSz="914400">
              <a:lnSpc>
                <a:spcPct val="95000"/>
              </a:lnSpc>
            </a:pPr>
            <a:r>
              <a:rPr b="1" lang="es-CL" sz="1100" strike="noStrike" u="none">
                <a:solidFill>
                  <a:srgbClr val="0176de"/>
                </a:solidFill>
                <a:effectLst/>
                <a:uFillTx/>
                <a:latin typeface="Calibri"/>
              </a:rPr>
              <a:t>1 serie</a:t>
            </a:r>
            <a:endParaRPr b="0" lang="en-US" sz="1100" strike="noStrike" u="none">
              <a:solidFill>
                <a:srgbClr val="000000"/>
              </a:solidFill>
              <a:effectLst/>
              <a:uFillTx/>
              <a:latin typeface="Arial"/>
            </a:endParaRPr>
          </a:p>
        </p:txBody>
      </p:sp>
      <p:sp>
        <p:nvSpPr>
          <p:cNvPr id="299" name="Nota retícula 664"/>
          <p:cNvSpPr/>
          <p:nvPr/>
        </p:nvSpPr>
        <p:spPr>
          <a:xfrm>
            <a:off x="8178840" y="5257800"/>
            <a:ext cx="3403080" cy="228240"/>
          </a:xfrm>
          <a:prstGeom prst="rect">
            <a:avLst/>
          </a:prstGeom>
          <a:noFill/>
          <a:ln w="0">
            <a:noFill/>
          </a:ln>
        </p:spPr>
        <p:style>
          <a:lnRef idx="0"/>
          <a:fillRef idx="0"/>
          <a:effectRef idx="0"/>
          <a:fontRef idx="minor"/>
        </p:style>
        <p:txBody>
          <a:bodyPr lIns="0" rIns="0" tIns="0" bIns="0" anchor="t">
            <a:noAutofit/>
          </a:bodyPr>
          <a:p>
            <a:pPr algn="r" defTabSz="914400">
              <a:lnSpc>
                <a:spcPct val="95000"/>
              </a:lnSpc>
            </a:pPr>
            <a:r>
              <a:rPr b="0" lang="es-CL" sz="1200" strike="noStrike" u="none">
                <a:solidFill>
                  <a:srgbClr val="5f6670"/>
                </a:solidFill>
                <a:effectLst/>
                <a:uFillTx/>
                <a:latin typeface="Calibri"/>
              </a:rPr>
              <a:t>14 series × 4 reuniones = 56 reuniones</a:t>
            </a:r>
            <a:endParaRPr b="0" lang="en-US" sz="1200" strike="noStrike" u="none">
              <a:solidFill>
                <a:srgbClr val="000000"/>
              </a:solidFill>
              <a:effectLst/>
              <a:uFillTx/>
              <a:latin typeface="Arial"/>
            </a:endParaRPr>
          </a:p>
        </p:txBody>
      </p:sp>
      <p:sp>
        <p:nvSpPr>
          <p:cNvPr id="300" name="Línea inferior 665"/>
          <p:cNvSpPr/>
          <p:nvPr/>
        </p:nvSpPr>
        <p:spPr>
          <a:xfrm>
            <a:off x="609480" y="5664240"/>
            <a:ext cx="10972440" cy="12240"/>
          </a:xfrm>
          <a:prstGeom prst="rect">
            <a:avLst/>
          </a:prstGeom>
          <a:solidFill>
            <a:srgbClr val="c9ced6"/>
          </a:solidFill>
          <a:ln w="0">
            <a:noFill/>
          </a:ln>
        </p:spPr>
        <p:style>
          <a:lnRef idx="0"/>
          <a:fillRef idx="0"/>
          <a:effectRef idx="0"/>
          <a:fontRef idx="minor"/>
        </p:style>
        <p:txBody>
          <a:bodyPr lIns="90000" rIns="90000" tIns="-32400" bIns="-32400" anchor="t">
            <a:noAutofit/>
          </a:bodyPr>
          <a:p>
            <a:pPr defTabSz="914400">
              <a:lnSpc>
                <a:spcPct val="100000"/>
              </a:lnSpc>
            </a:pPr>
            <a:endParaRPr b="0" lang="es-CL" sz="1800" strike="noStrike" u="none">
              <a:solidFill>
                <a:schemeClr val="dk1"/>
              </a:solidFill>
              <a:effectLst/>
              <a:uFillTx/>
              <a:latin typeface="Calibri"/>
            </a:endParaRPr>
          </a:p>
        </p:txBody>
      </p:sp>
      <p:sp>
        <p:nvSpPr>
          <p:cNvPr id="301" name="Institución 666"/>
          <p:cNvSpPr/>
          <p:nvPr/>
        </p:nvSpPr>
        <p:spPr>
          <a:xfrm>
            <a:off x="7772400" y="5842080"/>
            <a:ext cx="3809520" cy="279000"/>
          </a:xfrm>
          <a:prstGeom prst="rect">
            <a:avLst/>
          </a:prstGeom>
          <a:noFill/>
          <a:ln w="0">
            <a:noFill/>
          </a:ln>
        </p:spPr>
        <p:style>
          <a:lnRef idx="0"/>
          <a:fillRef idx="0"/>
          <a:effectRef idx="0"/>
          <a:fontRef idx="minor"/>
        </p:style>
        <p:txBody>
          <a:bodyPr lIns="0" rIns="0" tIns="0" bIns="0" anchor="ctr">
            <a:noAutofit/>
          </a:bodyPr>
          <a:p>
            <a:pPr algn="r" defTabSz="914400">
              <a:lnSpc>
                <a:spcPct val="95000"/>
              </a:lnSpc>
            </a:pPr>
            <a:r>
              <a:rPr b="0" lang="es-CL" sz="1200" strike="noStrike" u="none">
                <a:solidFill>
                  <a:srgbClr val="5f6670"/>
                </a:solidFill>
                <a:effectLst/>
                <a:uFillTx/>
                <a:latin typeface="Calibri"/>
              </a:rPr>
              <a:t>Pontificia Universidad Católica de Chile</a:t>
            </a:r>
            <a:endParaRPr b="0" lang="en-US" sz="1200" strike="noStrike" u="none">
              <a:solidFill>
                <a:srgbClr val="000000"/>
              </a:solidFill>
              <a:effectLst/>
              <a:uFillTx/>
              <a:latin typeface="Arial"/>
            </a:endParaRPr>
          </a:p>
        </p:txBody>
      </p:sp>
    </p:spTree>
  </p:cSld>
  <p:transition spd="med" advTm="4000">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p:nvPr>
        </p:nvSpPr>
        <p:spPr>
          <a:xfrm>
            <a:off x="8636040" y="1422360"/>
            <a:ext cx="2945880" cy="5076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01 · Contexto y problema</a:t>
            </a:r>
            <a:endParaRPr b="0" lang="es-CL" sz="1200" strike="noStrike" u="none">
              <a:solidFill>
                <a:srgbClr val="1a1e2b"/>
              </a:solidFill>
              <a:effectLst/>
              <a:uFillTx/>
              <a:latin typeface="Calibri"/>
            </a:endParaRPr>
          </a:p>
        </p:txBody>
      </p:sp>
      <p:sp>
        <p:nvSpPr>
          <p:cNvPr id="303" name="PlaceHolder 2"/>
          <p:cNvSpPr>
            <a:spLocks noGrp="1"/>
          </p:cNvSpPr>
          <p:nvPr>
            <p:ph type="title"/>
          </p:nvPr>
        </p:nvSpPr>
        <p:spPr>
          <a:xfrm>
            <a:off x="8636040" y="1981080"/>
            <a:ext cx="2945880" cy="2158560"/>
          </a:xfrm>
          <a:prstGeom prst="rect">
            <a:avLst/>
          </a:prstGeom>
          <a:noFill/>
          <a:ln w="0">
            <a:noFill/>
          </a:ln>
        </p:spPr>
        <p:txBody>
          <a:bodyPr lIns="0" rIns="0" tIns="0" bIns="0" anchor="t">
            <a:noAutofit/>
          </a:bodyPr>
          <a:p>
            <a:pPr indent="0" defTabSz="914400">
              <a:lnSpc>
                <a:spcPct val="92000"/>
              </a:lnSpc>
              <a:buNone/>
              <a:tabLst>
                <a:tab algn="l" pos="0"/>
              </a:tabLst>
            </a:pPr>
            <a:r>
              <a:rPr b="1" lang="es-CL" sz="2800" strike="noStrike" u="none">
                <a:solidFill>
                  <a:srgbClr val="1a1e2b"/>
                </a:solidFill>
                <a:effectLst/>
                <a:uFillTx/>
                <a:latin typeface="Calibri"/>
              </a:rPr>
              <a:t>Antes de evaluar los métodos, hay que conocer bien los datos</a:t>
            </a:r>
            <a:endParaRPr b="0" lang="es-CL" sz="2800" strike="noStrike" u="none">
              <a:solidFill>
                <a:schemeClr val="dk1"/>
              </a:solidFill>
              <a:effectLst/>
              <a:uFillTx/>
              <a:latin typeface="Calibri"/>
            </a:endParaRPr>
          </a:p>
        </p:txBody>
      </p:sp>
      <p:pic>
        <p:nvPicPr>
          <p:cNvPr id="304" name="" descr="">
            <a:hlinkClick r:id="" action="ppaction://media"/>
          </p:cNvPr>
          <p:cNvPicPr/>
          <p:nvPr>
            <a:videoFile r:link="rId1"/>
            <p:extLst>
              <p:ext uri="{DAA4B4D4-6D71-4841-9C94-3DE7FCFB9230}">
                <p14:media r:link="rId2"/>
              </p:ext>
            </p:extLst>
          </p:nvPr>
        </p:nvPicPr>
        <p:blipFill>
          <a:blip r:embed="rId3"/>
          <a:stretch>
            <a:fillRect/>
          </a:stretch>
        </p:blipFill>
        <p:spPr>
          <a:xfrm>
            <a:off x="609480" y="1066680"/>
            <a:ext cx="7619760" cy="4292280"/>
          </a:xfrm>
          <a:prstGeom prst="rect">
            <a:avLst/>
          </a:prstGeom>
          <a:ln w="0">
            <a:noFill/>
          </a:ln>
        </p:spPr>
      </p:pic>
      <p:sp>
        <p:nvSpPr>
          <p:cNvPr id="305" name="PlaceHolder 3"/>
          <p:cNvSpPr>
            <a:spLocks noGrp="1"/>
          </p:cNvSpPr>
          <p:nvPr>
            <p:ph/>
          </p:nvPr>
        </p:nvSpPr>
        <p:spPr>
          <a:xfrm>
            <a:off x="8636040" y="4191120"/>
            <a:ext cx="2945880" cy="786960"/>
          </a:xfrm>
          <a:prstGeom prst="rect">
            <a:avLst/>
          </a:prstGeom>
          <a:noFill/>
          <a:ln w="0">
            <a:noFill/>
          </a:ln>
        </p:spPr>
        <p:txBody>
          <a:bodyPr lIns="0" rIns="0" tIns="0" bIns="0" anchor="t">
            <a:noAutofit/>
          </a:bodyPr>
          <a:p>
            <a:pPr indent="0" defTabSz="914400">
              <a:lnSpc>
                <a:spcPct val="95000"/>
              </a:lnSpc>
              <a:buNone/>
              <a:tabLst>
                <a:tab algn="l" pos="0"/>
              </a:tabLst>
            </a:pPr>
            <a:r>
              <a:rPr b="0" lang="es-CL" sz="1600" strike="noStrike" u="none">
                <a:solidFill>
                  <a:srgbClr val="5f6670"/>
                </a:solidFill>
                <a:effectLst/>
                <a:uFillTx/>
                <a:latin typeface="Calibri"/>
              </a:rPr>
              <a:t>Este video: análisis exploratorio de datos (EDA) de AFG2</a:t>
            </a:r>
            <a:endParaRPr b="0" lang="es-CL" sz="1600" strike="noStrike" u="none">
              <a:solidFill>
                <a:srgbClr val="1a1e2b"/>
              </a:solidFill>
              <a:effectLst/>
              <a:uFillTx/>
              <a:latin typeface="Calibri"/>
            </a:endParaRPr>
          </a:p>
        </p:txBody>
      </p:sp>
      <p:sp>
        <p:nvSpPr>
          <p:cNvPr id="306" name="PlaceHolder 4"/>
          <p:cNvSpPr>
            <a:spLocks noGrp="1"/>
          </p:cNvSpPr>
          <p:nvPr>
            <p:ph/>
          </p:nvPr>
        </p:nvSpPr>
        <p:spPr>
          <a:xfrm>
            <a:off x="609480" y="5486400"/>
            <a:ext cx="76197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1a1e2b"/>
                </a:solidFill>
                <a:effectLst/>
                <a:uFillTx/>
                <a:latin typeface="Calibri"/>
              </a:rPr>
              <a:t>Jason Sepúlveda</a:t>
            </a:r>
            <a:endParaRPr b="0" lang="es-CL" sz="1400" strike="noStrike" u="none">
              <a:solidFill>
                <a:srgbClr val="1a1e2b"/>
              </a:solidFill>
              <a:effectLst/>
              <a:uFillTx/>
              <a:latin typeface="Calibri"/>
            </a:endParaRPr>
          </a:p>
        </p:txBody>
      </p:sp>
      <p:sp>
        <p:nvSpPr>
          <p:cNvPr id="307" name="Progreso 1"/>
          <p:cNvSpPr/>
          <p:nvPr/>
        </p:nvSpPr>
        <p:spPr>
          <a:xfrm>
            <a:off x="1013472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08" name="Progreso 2"/>
          <p:cNvSpPr/>
          <p:nvPr/>
        </p:nvSpPr>
        <p:spPr>
          <a:xfrm>
            <a:off x="103204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09" name="Progreso 3"/>
          <p:cNvSpPr/>
          <p:nvPr/>
        </p:nvSpPr>
        <p:spPr>
          <a:xfrm>
            <a:off x="105062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10"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11"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12"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13"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14"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36000">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01 · Contexto y problema</a:t>
            </a:r>
            <a:endParaRPr b="0" lang="es-CL" sz="1200" strike="noStrike" u="none">
              <a:solidFill>
                <a:srgbClr val="1a1e2b"/>
              </a:solidFill>
              <a:effectLst/>
              <a:uFillTx/>
              <a:latin typeface="Calibri"/>
            </a:endParaRPr>
          </a:p>
        </p:txBody>
      </p:sp>
      <p:sp>
        <p:nvSpPr>
          <p:cNvPr id="316"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¿Se eliminó el botón turbo?</a:t>
            </a:r>
            <a:endParaRPr b="0" lang="es-CL" sz="3000" strike="noStrike" u="none">
              <a:solidFill>
                <a:schemeClr val="dk1"/>
              </a:solidFill>
              <a:effectLst/>
              <a:uFillTx/>
              <a:latin typeface="Calibri"/>
            </a:endParaRPr>
          </a:p>
        </p:txBody>
      </p:sp>
      <p:sp>
        <p:nvSpPr>
          <p:cNvPr id="317" name="Etiqueta A 600"/>
          <p:cNvSpPr/>
          <p:nvPr/>
        </p:nvSpPr>
        <p:spPr>
          <a:xfrm>
            <a:off x="609480" y="1778040"/>
            <a:ext cx="51303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pc="99" strike="noStrike" u="none" cap="all">
                <a:solidFill>
                  <a:srgbClr val="5f6670"/>
                </a:solidFill>
                <a:effectLst/>
                <a:uFillTx/>
                <a:latin typeface="Calibri"/>
              </a:rPr>
              <a:t>Según el resumen</a:t>
            </a:r>
            <a:endParaRPr b="0" lang="en-US" sz="1400" strike="noStrike" u="none">
              <a:solidFill>
                <a:srgbClr val="000000"/>
              </a:solidFill>
              <a:effectLst/>
              <a:uFillTx/>
              <a:latin typeface="Arial"/>
            </a:endParaRPr>
          </a:p>
        </p:txBody>
      </p:sp>
      <p:sp>
        <p:nvSpPr>
          <p:cNvPr id="318" name="Documento resumen 601"/>
          <p:cNvSpPr/>
          <p:nvPr/>
        </p:nvSpPr>
        <p:spPr>
          <a:xfrm>
            <a:off x="609480" y="2133720"/>
            <a:ext cx="5130360" cy="1854000"/>
          </a:xfrm>
          <a:prstGeom prst="roundRect">
            <a:avLst>
              <a:gd name="adj" fmla="val 4000"/>
            </a:avLst>
          </a:prstGeom>
          <a:solidFill>
            <a:srgbClr val="f3f5f8"/>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19" name="Tipo doc A 602"/>
          <p:cNvSpPr/>
          <p:nvPr/>
        </p:nvSpPr>
        <p:spPr>
          <a:xfrm>
            <a:off x="812880" y="2286000"/>
            <a:ext cx="3809520" cy="202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79" strike="noStrike" u="none" cap="all">
                <a:solidFill>
                  <a:srgbClr val="5f6670"/>
                </a:solidFill>
                <a:effectLst/>
                <a:uFillTx/>
                <a:latin typeface="Calibri"/>
              </a:rPr>
              <a:t>Resumen · texto breve</a:t>
            </a:r>
            <a:endParaRPr b="0" lang="en-US" sz="1200" strike="noStrike" u="none">
              <a:solidFill>
                <a:srgbClr val="000000"/>
              </a:solidFill>
              <a:effectLst/>
              <a:uFillTx/>
              <a:latin typeface="Arial"/>
            </a:endParaRPr>
          </a:p>
        </p:txBody>
      </p:sp>
      <p:sp>
        <p:nvSpPr>
          <p:cNvPr id="320" name="Línea de texto 603"/>
          <p:cNvSpPr/>
          <p:nvPr/>
        </p:nvSpPr>
        <p:spPr>
          <a:xfrm>
            <a:off x="812880" y="2616120"/>
            <a:ext cx="431748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1" name="Línea de texto 604"/>
          <p:cNvSpPr/>
          <p:nvPr/>
        </p:nvSpPr>
        <p:spPr>
          <a:xfrm>
            <a:off x="812880" y="2793960"/>
            <a:ext cx="380952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2" name="Cita A 605"/>
          <p:cNvSpPr/>
          <p:nvPr/>
        </p:nvSpPr>
        <p:spPr>
          <a:xfrm>
            <a:off x="762120" y="2997360"/>
            <a:ext cx="4825800" cy="507600"/>
          </a:xfrm>
          <a:prstGeom prst="rect">
            <a:avLst/>
          </a:prstGeom>
          <a:solidFill>
            <a:srgbClr val="fff4cc"/>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3" name="Marca cita A 606"/>
          <p:cNvSpPr/>
          <p:nvPr/>
        </p:nvSpPr>
        <p:spPr>
          <a:xfrm>
            <a:off x="762120" y="2997360"/>
            <a:ext cx="50400" cy="507600"/>
          </a:xfrm>
          <a:prstGeom prst="rect">
            <a:avLst/>
          </a:prstGeom>
          <a:solidFill>
            <a:srgbClr val="fec60d"/>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4" name="Pendiente A 607"/>
          <p:cNvSpPr/>
          <p:nvPr/>
        </p:nvSpPr>
        <p:spPr>
          <a:xfrm>
            <a:off x="939960" y="2997360"/>
            <a:ext cx="4597200" cy="50760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600" strike="noStrike" u="none">
                <a:solidFill>
                  <a:srgbClr val="1a1e2b"/>
                </a:solidFill>
                <a:effectLst/>
                <a:uFillTx/>
                <a:latin typeface="Calibri"/>
              </a:rPr>
              <a:t>El resumen oficial afirma que el botón turbo </a:t>
            </a:r>
            <a:r>
              <a:rPr b="1" lang="es-CL" sz="1600" strike="noStrike" u="none">
                <a:solidFill>
                  <a:srgbClr val="1a1e2b"/>
                </a:solidFill>
                <a:effectLst/>
                <a:uFillTx/>
                <a:latin typeface="Calibri"/>
              </a:rPr>
              <a:t>se eliminó</a:t>
            </a:r>
            <a:r>
              <a:rPr b="0" lang="es-CL" sz="1600" strike="noStrike" u="none">
                <a:solidFill>
                  <a:srgbClr val="1a1e2b"/>
                </a:solidFill>
                <a:effectLst/>
                <a:uFillTx/>
                <a:latin typeface="Calibri"/>
              </a:rPr>
              <a:t>.</a:t>
            </a:r>
            <a:endParaRPr b="0" lang="en-US" sz="1600" strike="noStrike" u="none">
              <a:solidFill>
                <a:srgbClr val="000000"/>
              </a:solidFill>
              <a:effectLst/>
              <a:uFillTx/>
              <a:latin typeface="Arial"/>
            </a:endParaRPr>
          </a:p>
        </p:txBody>
      </p:sp>
      <p:sp>
        <p:nvSpPr>
          <p:cNvPr id="325" name="Línea de texto 608"/>
          <p:cNvSpPr/>
          <p:nvPr/>
        </p:nvSpPr>
        <p:spPr>
          <a:xfrm>
            <a:off x="812880" y="3683160"/>
            <a:ext cx="406368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6" name="Respuesta A 609"/>
          <p:cNvSpPr/>
          <p:nvPr/>
        </p:nvSpPr>
        <p:spPr>
          <a:xfrm>
            <a:off x="609480" y="4140360"/>
            <a:ext cx="5130360" cy="1218960"/>
          </a:xfrm>
          <a:prstGeom prst="rect">
            <a:avLst/>
          </a:prstGeom>
          <a:noFill/>
          <a:ln w="0">
            <a:noFill/>
          </a:ln>
        </p:spPr>
        <p:style>
          <a:lnRef idx="0"/>
          <a:fillRef idx="0"/>
          <a:effectRef idx="0"/>
          <a:fontRef idx="minor"/>
        </p:style>
        <p:txBody>
          <a:bodyPr lIns="0" rIns="0" tIns="0" bIns="0" anchor="ctr">
            <a:noAutofit/>
          </a:bodyPr>
          <a:p>
            <a:pPr defTabSz="914400">
              <a:lnSpc>
                <a:spcPct val="85000"/>
              </a:lnSpc>
            </a:pPr>
            <a:r>
              <a:rPr b="1" lang="es-CL" sz="8000" strike="noStrike" u="none">
                <a:solidFill>
                  <a:srgbClr val="1a1e2b"/>
                </a:solidFill>
                <a:effectLst/>
                <a:uFillTx/>
                <a:latin typeface="Calibri"/>
              </a:rPr>
              <a:t>Sí</a:t>
            </a:r>
            <a:endParaRPr b="0" lang="en-US" sz="8000" strike="noStrike" u="none">
              <a:solidFill>
                <a:srgbClr val="000000"/>
              </a:solidFill>
              <a:effectLst/>
              <a:uFillTx/>
              <a:latin typeface="Arial"/>
            </a:endParaRPr>
          </a:p>
        </p:txBody>
      </p:sp>
      <p:sp>
        <p:nvSpPr>
          <p:cNvPr id="327" name="Etiqueta B 610"/>
          <p:cNvSpPr/>
          <p:nvPr/>
        </p:nvSpPr>
        <p:spPr>
          <a:xfrm>
            <a:off x="6451560" y="1778040"/>
            <a:ext cx="51303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pc="99" strike="noStrike" u="none" cap="all">
                <a:solidFill>
                  <a:srgbClr val="0176de"/>
                </a:solidFill>
                <a:effectLst/>
                <a:uFillTx/>
                <a:latin typeface="Calibri"/>
              </a:rPr>
              <a:t>Según la transcripción</a:t>
            </a:r>
            <a:endParaRPr b="0" lang="en-US" sz="1400" strike="noStrike" u="none">
              <a:solidFill>
                <a:srgbClr val="000000"/>
              </a:solidFill>
              <a:effectLst/>
              <a:uFillTx/>
              <a:latin typeface="Arial"/>
            </a:endParaRPr>
          </a:p>
        </p:txBody>
      </p:sp>
      <p:sp>
        <p:nvSpPr>
          <p:cNvPr id="328" name="Documento transcripción 611"/>
          <p:cNvSpPr/>
          <p:nvPr/>
        </p:nvSpPr>
        <p:spPr>
          <a:xfrm>
            <a:off x="6451560" y="2133720"/>
            <a:ext cx="5130360" cy="1854000"/>
          </a:xfrm>
          <a:prstGeom prst="roundRect">
            <a:avLst>
              <a:gd name="adj" fmla="val 4000"/>
            </a:avLst>
          </a:prstGeom>
          <a:solidFill>
            <a:srgbClr val="f3f5f8"/>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29" name="Tipo doc B 612"/>
          <p:cNvSpPr/>
          <p:nvPr/>
        </p:nvSpPr>
        <p:spPr>
          <a:xfrm>
            <a:off x="6654960" y="2286000"/>
            <a:ext cx="4317480" cy="202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79" strike="noStrike" u="none" cap="all">
                <a:solidFill>
                  <a:srgbClr val="5f6670"/>
                </a:solidFill>
                <a:effectLst/>
                <a:uFillTx/>
                <a:latin typeface="Calibri"/>
              </a:rPr>
              <a:t>Transcripción · texto completo</a:t>
            </a:r>
            <a:endParaRPr b="0" lang="en-US" sz="1200" strike="noStrike" u="none">
              <a:solidFill>
                <a:srgbClr val="000000"/>
              </a:solidFill>
              <a:effectLst/>
              <a:uFillTx/>
              <a:latin typeface="Arial"/>
            </a:endParaRPr>
          </a:p>
        </p:txBody>
      </p:sp>
      <p:sp>
        <p:nvSpPr>
          <p:cNvPr id="330" name="Línea de texto 613"/>
          <p:cNvSpPr/>
          <p:nvPr/>
        </p:nvSpPr>
        <p:spPr>
          <a:xfrm>
            <a:off x="6654960" y="2565360"/>
            <a:ext cx="457164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1" name="Línea de texto 614"/>
          <p:cNvSpPr/>
          <p:nvPr/>
        </p:nvSpPr>
        <p:spPr>
          <a:xfrm>
            <a:off x="6654960" y="2692440"/>
            <a:ext cx="419076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2" name="Línea de texto 615"/>
          <p:cNvSpPr/>
          <p:nvPr/>
        </p:nvSpPr>
        <p:spPr>
          <a:xfrm>
            <a:off x="6654960" y="2819520"/>
            <a:ext cx="444456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3" name="Cita B 616"/>
          <p:cNvSpPr/>
          <p:nvPr/>
        </p:nvSpPr>
        <p:spPr>
          <a:xfrm>
            <a:off x="6603840" y="2971800"/>
            <a:ext cx="4825800" cy="507600"/>
          </a:xfrm>
          <a:prstGeom prst="rect">
            <a:avLst/>
          </a:prstGeom>
          <a:solidFill>
            <a:srgbClr val="e6f1fc"/>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4" name="Marca cita B 617"/>
          <p:cNvSpPr/>
          <p:nvPr/>
        </p:nvSpPr>
        <p:spPr>
          <a:xfrm>
            <a:off x="6603840" y="2971800"/>
            <a:ext cx="50400" cy="507600"/>
          </a:xfrm>
          <a:prstGeom prst="rect">
            <a:avLst/>
          </a:prstGeom>
          <a:solidFill>
            <a:srgbClr val="0176d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5" name="Pendiente B 618"/>
          <p:cNvSpPr/>
          <p:nvPr/>
        </p:nvSpPr>
        <p:spPr>
          <a:xfrm>
            <a:off x="6781680" y="2971800"/>
            <a:ext cx="4597200" cy="50760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600" strike="noStrike" u="none">
                <a:solidFill>
                  <a:srgbClr val="1a1e2b"/>
                </a:solidFill>
                <a:effectLst/>
                <a:uFillTx/>
                <a:latin typeface="Calibri"/>
              </a:rPr>
              <a:t>En la grabación, el botón turbo </a:t>
            </a:r>
            <a:r>
              <a:rPr b="1" lang="es-CL" sz="1600" strike="noStrike" u="none">
                <a:solidFill>
                  <a:srgbClr val="1a1e2b"/>
                </a:solidFill>
                <a:effectLst/>
                <a:uFillTx/>
                <a:latin typeface="Calibri"/>
              </a:rPr>
              <a:t>se mantuvo</a:t>
            </a:r>
            <a:r>
              <a:rPr b="0" lang="es-CL" sz="1600" strike="noStrike" u="none">
                <a:solidFill>
                  <a:srgbClr val="1a1e2b"/>
                </a:solidFill>
                <a:effectLst/>
                <a:uFillTx/>
                <a:latin typeface="Calibri"/>
              </a:rPr>
              <a:t>.</a:t>
            </a:r>
            <a:endParaRPr b="0" lang="en-US" sz="1600" strike="noStrike" u="none">
              <a:solidFill>
                <a:srgbClr val="000000"/>
              </a:solidFill>
              <a:effectLst/>
              <a:uFillTx/>
              <a:latin typeface="Arial"/>
            </a:endParaRPr>
          </a:p>
        </p:txBody>
      </p:sp>
      <p:sp>
        <p:nvSpPr>
          <p:cNvPr id="336" name="Línea de texto 619"/>
          <p:cNvSpPr/>
          <p:nvPr/>
        </p:nvSpPr>
        <p:spPr>
          <a:xfrm>
            <a:off x="6654960" y="3606840"/>
            <a:ext cx="431748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7" name="Línea de texto 620"/>
          <p:cNvSpPr/>
          <p:nvPr/>
        </p:nvSpPr>
        <p:spPr>
          <a:xfrm>
            <a:off x="6654960" y="3733920"/>
            <a:ext cx="469872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8" name="Línea de texto 621"/>
          <p:cNvSpPr/>
          <p:nvPr/>
        </p:nvSpPr>
        <p:spPr>
          <a:xfrm>
            <a:off x="6654960" y="3860640"/>
            <a:ext cx="3809520" cy="63000"/>
          </a:xfrm>
          <a:prstGeom prst="rect">
            <a:avLst/>
          </a:prstGeom>
          <a:solidFill>
            <a:srgbClr val="d5dbe3"/>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39" name="Respuesta B 622"/>
          <p:cNvSpPr/>
          <p:nvPr/>
        </p:nvSpPr>
        <p:spPr>
          <a:xfrm>
            <a:off x="6451560" y="4140360"/>
            <a:ext cx="5130360" cy="1218960"/>
          </a:xfrm>
          <a:prstGeom prst="rect">
            <a:avLst/>
          </a:prstGeom>
          <a:noFill/>
          <a:ln w="0">
            <a:noFill/>
          </a:ln>
        </p:spPr>
        <p:style>
          <a:lnRef idx="0"/>
          <a:fillRef idx="0"/>
          <a:effectRef idx="0"/>
          <a:fontRef idx="minor"/>
        </p:style>
        <p:txBody>
          <a:bodyPr lIns="0" rIns="0" tIns="0" bIns="0" anchor="ctr">
            <a:noAutofit/>
          </a:bodyPr>
          <a:p>
            <a:pPr defTabSz="914400">
              <a:lnSpc>
                <a:spcPct val="85000"/>
              </a:lnSpc>
            </a:pPr>
            <a:r>
              <a:rPr b="1" lang="es-CL" sz="8000" strike="noStrike" u="none">
                <a:solidFill>
                  <a:srgbClr val="0176de"/>
                </a:solidFill>
                <a:effectLst/>
                <a:uFillTx/>
                <a:latin typeface="Calibri"/>
              </a:rPr>
              <a:t>No</a:t>
            </a:r>
            <a:endParaRPr b="0" lang="en-US" sz="8000" strike="noStrike" u="none">
              <a:solidFill>
                <a:srgbClr val="000000"/>
              </a:solidFill>
              <a:effectLst/>
              <a:uFillTx/>
              <a:latin typeface="Arial"/>
            </a:endParaRPr>
          </a:p>
        </p:txBody>
      </p:sp>
      <p:sp>
        <p:nvSpPr>
          <p:cNvPr id="340" name="Contraste 623"/>
          <p:cNvSpPr/>
          <p:nvPr/>
        </p:nvSpPr>
        <p:spPr>
          <a:xfrm>
            <a:off x="5867280" y="2832120"/>
            <a:ext cx="456840" cy="456840"/>
          </a:xfrm>
          <a:prstGeom prst="ellipse">
            <a:avLst/>
          </a:prstGeom>
          <a:solidFill>
            <a:srgbClr val="fec60d"/>
          </a:solidFill>
          <a:ln w="0">
            <a:noFill/>
          </a:ln>
        </p:spPr>
        <p:style>
          <a:lnRef idx="0"/>
          <a:fillRef idx="0"/>
          <a:effectRef idx="0"/>
          <a:fontRef idx="minor"/>
        </p:style>
        <p:txBody>
          <a:bodyPr lIns="0" rIns="0" tIns="0" bIns="0" anchor="ctr">
            <a:noAutofit/>
          </a:bodyPr>
          <a:p>
            <a:pPr algn="ctr" defTabSz="914400">
              <a:lnSpc>
                <a:spcPct val="100000"/>
              </a:lnSpc>
            </a:pPr>
            <a:r>
              <a:rPr b="1" lang="es-CL" sz="2200" strike="noStrike" u="none">
                <a:solidFill>
                  <a:srgbClr val="1a1e2b"/>
                </a:solidFill>
                <a:effectLst/>
                <a:uFillTx/>
                <a:latin typeface="Calibri"/>
              </a:rPr>
              <a:t>≠</a:t>
            </a:r>
            <a:endParaRPr b="0" lang="en-US" sz="2200" strike="noStrike" u="none">
              <a:solidFill>
                <a:srgbClr val="000000"/>
              </a:solidFill>
              <a:effectLst/>
              <a:uFillTx/>
              <a:latin typeface="Arial"/>
            </a:endParaRPr>
          </a:p>
        </p:txBody>
      </p:sp>
      <p:sp>
        <p:nvSpPr>
          <p:cNvPr id="341" name="Conclusión 625"/>
          <p:cNvSpPr/>
          <p:nvPr/>
        </p:nvSpPr>
        <p:spPr>
          <a:xfrm>
            <a:off x="609480" y="5740560"/>
            <a:ext cx="10972440" cy="43128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2000" strike="noStrike" u="none">
                <a:solidFill>
                  <a:srgbClr val="1a1e2b"/>
                </a:solidFill>
                <a:effectLst/>
                <a:uFillTx/>
                <a:latin typeface="Calibri"/>
              </a:rPr>
              <a:t>Dos fuentes, dos respuestas para la misma decisión</a:t>
            </a:r>
            <a:endParaRPr b="0" lang="en-US" sz="2000" strike="noStrike" u="none">
              <a:solidFill>
                <a:srgbClr val="000000"/>
              </a:solidFill>
              <a:effectLst/>
              <a:uFillTx/>
              <a:latin typeface="Arial"/>
            </a:endParaRPr>
          </a:p>
        </p:txBody>
      </p:sp>
      <p:sp>
        <p:nvSpPr>
          <p:cNvPr id="342" name="Progreso 1"/>
          <p:cNvSpPr/>
          <p:nvPr/>
        </p:nvSpPr>
        <p:spPr>
          <a:xfrm>
            <a:off x="1013472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3" name="Progreso 2"/>
          <p:cNvSpPr/>
          <p:nvPr/>
        </p:nvSpPr>
        <p:spPr>
          <a:xfrm>
            <a:off x="103204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4" name="Progreso 3"/>
          <p:cNvSpPr/>
          <p:nvPr/>
        </p:nvSpPr>
        <p:spPr>
          <a:xfrm>
            <a:off x="105062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5"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6"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7"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8"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349"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20000">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317"/>
                                        </p:tgtEl>
                                        <p:attrNameLst>
                                          <p:attrName>style.visibility</p:attrName>
                                        </p:attrNameLst>
                                      </p:cBhvr>
                                      <p:to>
                                        <p:strVal val="visible"/>
                                      </p:to>
                                    </p:set>
                                    <p:animEffect filter="fade" transition="in">
                                      <p:cBhvr additive="repl">
                                        <p:cTn id="7" dur="500"/>
                                        <p:tgtEl>
                                          <p:spTgt spid="317"/>
                                        </p:tgtEl>
                                      </p:cBhvr>
                                    </p:animEffect>
                                  </p:childTnLst>
                                </p:cTn>
                              </p:par>
                              <p:par>
                                <p:cTn id="8" nodeType="withEffect" fill="hold" presetClass="entr" presetID="10">
                                  <p:stCondLst>
                                    <p:cond delay="0"/>
                                  </p:stCondLst>
                                  <p:childTnLst>
                                    <p:set>
                                      <p:cBhvr>
                                        <p:cTn id="9" dur="1" fill="hold">
                                          <p:stCondLst>
                                            <p:cond delay="0"/>
                                          </p:stCondLst>
                                        </p:cTn>
                                        <p:tgtEl>
                                          <p:spTgt spid="318"/>
                                        </p:tgtEl>
                                        <p:attrNameLst>
                                          <p:attrName>style.visibility</p:attrName>
                                        </p:attrNameLst>
                                      </p:cBhvr>
                                      <p:to>
                                        <p:strVal val="visible"/>
                                      </p:to>
                                    </p:set>
                                    <p:animEffect filter="fade" transition="in">
                                      <p:cBhvr additive="repl">
                                        <p:cTn id="10" dur="500"/>
                                        <p:tgtEl>
                                          <p:spTgt spid="318"/>
                                        </p:tgtEl>
                                      </p:cBhvr>
                                    </p:animEffect>
                                  </p:childTnLst>
                                </p:cTn>
                              </p:par>
                              <p:par>
                                <p:cTn id="11" nodeType="withEffect" fill="hold" presetClass="entr" presetID="10">
                                  <p:stCondLst>
                                    <p:cond delay="0"/>
                                  </p:stCondLst>
                                  <p:childTnLst>
                                    <p:set>
                                      <p:cBhvr>
                                        <p:cTn id="12" dur="1" fill="hold">
                                          <p:stCondLst>
                                            <p:cond delay="0"/>
                                          </p:stCondLst>
                                        </p:cTn>
                                        <p:tgtEl>
                                          <p:spTgt spid="319"/>
                                        </p:tgtEl>
                                        <p:attrNameLst>
                                          <p:attrName>style.visibility</p:attrName>
                                        </p:attrNameLst>
                                      </p:cBhvr>
                                      <p:to>
                                        <p:strVal val="visible"/>
                                      </p:to>
                                    </p:set>
                                    <p:animEffect filter="fade" transition="in">
                                      <p:cBhvr additive="repl">
                                        <p:cTn id="13" dur="500"/>
                                        <p:tgtEl>
                                          <p:spTgt spid="319"/>
                                        </p:tgtEl>
                                      </p:cBhvr>
                                    </p:animEffect>
                                  </p:childTnLst>
                                </p:cTn>
                              </p:par>
                              <p:par>
                                <p:cTn id="14" nodeType="withEffect" fill="hold" presetClass="entr" presetID="10">
                                  <p:stCondLst>
                                    <p:cond delay="0"/>
                                  </p:stCondLst>
                                  <p:childTnLst>
                                    <p:set>
                                      <p:cBhvr>
                                        <p:cTn id="15" dur="1" fill="hold">
                                          <p:stCondLst>
                                            <p:cond delay="0"/>
                                          </p:stCondLst>
                                        </p:cTn>
                                        <p:tgtEl>
                                          <p:spTgt spid="320"/>
                                        </p:tgtEl>
                                        <p:attrNameLst>
                                          <p:attrName>style.visibility</p:attrName>
                                        </p:attrNameLst>
                                      </p:cBhvr>
                                      <p:to>
                                        <p:strVal val="visible"/>
                                      </p:to>
                                    </p:set>
                                    <p:animEffect filter="fade" transition="in">
                                      <p:cBhvr additive="repl">
                                        <p:cTn id="16" dur="500"/>
                                        <p:tgtEl>
                                          <p:spTgt spid="320"/>
                                        </p:tgtEl>
                                      </p:cBhvr>
                                    </p:animEffect>
                                  </p:childTnLst>
                                </p:cTn>
                              </p:par>
                              <p:par>
                                <p:cTn id="17" nodeType="withEffect" fill="hold" presetClass="entr" presetID="10">
                                  <p:stCondLst>
                                    <p:cond delay="0"/>
                                  </p:stCondLst>
                                  <p:childTnLst>
                                    <p:set>
                                      <p:cBhvr>
                                        <p:cTn id="18" dur="1" fill="hold">
                                          <p:stCondLst>
                                            <p:cond delay="0"/>
                                          </p:stCondLst>
                                        </p:cTn>
                                        <p:tgtEl>
                                          <p:spTgt spid="321"/>
                                        </p:tgtEl>
                                        <p:attrNameLst>
                                          <p:attrName>style.visibility</p:attrName>
                                        </p:attrNameLst>
                                      </p:cBhvr>
                                      <p:to>
                                        <p:strVal val="visible"/>
                                      </p:to>
                                    </p:set>
                                    <p:animEffect filter="fade" transition="in">
                                      <p:cBhvr additive="repl">
                                        <p:cTn id="19" dur="500"/>
                                        <p:tgtEl>
                                          <p:spTgt spid="321"/>
                                        </p:tgtEl>
                                      </p:cBhvr>
                                    </p:animEffect>
                                  </p:childTnLst>
                                </p:cTn>
                              </p:par>
                              <p:par>
                                <p:cTn id="20" nodeType="withEffect" fill="hold" presetClass="entr" presetID="10">
                                  <p:stCondLst>
                                    <p:cond delay="0"/>
                                  </p:stCondLst>
                                  <p:childTnLst>
                                    <p:set>
                                      <p:cBhvr>
                                        <p:cTn id="21" dur="1" fill="hold">
                                          <p:stCondLst>
                                            <p:cond delay="0"/>
                                          </p:stCondLst>
                                        </p:cTn>
                                        <p:tgtEl>
                                          <p:spTgt spid="322"/>
                                        </p:tgtEl>
                                        <p:attrNameLst>
                                          <p:attrName>style.visibility</p:attrName>
                                        </p:attrNameLst>
                                      </p:cBhvr>
                                      <p:to>
                                        <p:strVal val="visible"/>
                                      </p:to>
                                    </p:set>
                                    <p:animEffect filter="fade" transition="in">
                                      <p:cBhvr additive="repl">
                                        <p:cTn id="22" dur="500"/>
                                        <p:tgtEl>
                                          <p:spTgt spid="322"/>
                                        </p:tgtEl>
                                      </p:cBhvr>
                                    </p:animEffect>
                                  </p:childTnLst>
                                </p:cTn>
                              </p:par>
                              <p:par>
                                <p:cTn id="23" nodeType="withEffect" fill="hold" presetClass="entr" presetID="10">
                                  <p:stCondLst>
                                    <p:cond delay="0"/>
                                  </p:stCondLst>
                                  <p:childTnLst>
                                    <p:set>
                                      <p:cBhvr>
                                        <p:cTn id="24" dur="1" fill="hold">
                                          <p:stCondLst>
                                            <p:cond delay="0"/>
                                          </p:stCondLst>
                                        </p:cTn>
                                        <p:tgtEl>
                                          <p:spTgt spid="323"/>
                                        </p:tgtEl>
                                        <p:attrNameLst>
                                          <p:attrName>style.visibility</p:attrName>
                                        </p:attrNameLst>
                                      </p:cBhvr>
                                      <p:to>
                                        <p:strVal val="visible"/>
                                      </p:to>
                                    </p:set>
                                    <p:animEffect filter="fade" transition="in">
                                      <p:cBhvr additive="repl">
                                        <p:cTn id="25" dur="500"/>
                                        <p:tgtEl>
                                          <p:spTgt spid="323"/>
                                        </p:tgtEl>
                                      </p:cBhvr>
                                    </p:animEffect>
                                  </p:childTnLst>
                                </p:cTn>
                              </p:par>
                              <p:par>
                                <p:cTn id="26" nodeType="withEffect" fill="hold" presetClass="entr" presetID="10">
                                  <p:stCondLst>
                                    <p:cond delay="0"/>
                                  </p:stCondLst>
                                  <p:childTnLst>
                                    <p:set>
                                      <p:cBhvr>
                                        <p:cTn id="27" dur="1" fill="hold">
                                          <p:stCondLst>
                                            <p:cond delay="0"/>
                                          </p:stCondLst>
                                        </p:cTn>
                                        <p:tgtEl>
                                          <p:spTgt spid="324"/>
                                        </p:tgtEl>
                                        <p:attrNameLst>
                                          <p:attrName>style.visibility</p:attrName>
                                        </p:attrNameLst>
                                      </p:cBhvr>
                                      <p:to>
                                        <p:strVal val="visible"/>
                                      </p:to>
                                    </p:set>
                                    <p:animEffect filter="fade" transition="in">
                                      <p:cBhvr additive="repl">
                                        <p:cTn id="28" dur="500"/>
                                        <p:tgtEl>
                                          <p:spTgt spid="324"/>
                                        </p:tgtEl>
                                      </p:cBhvr>
                                    </p:animEffect>
                                  </p:childTnLst>
                                </p:cTn>
                              </p:par>
                              <p:par>
                                <p:cTn id="29" nodeType="withEffect" fill="hold" presetClass="entr" presetID="10">
                                  <p:stCondLst>
                                    <p:cond delay="0"/>
                                  </p:stCondLst>
                                  <p:childTnLst>
                                    <p:set>
                                      <p:cBhvr>
                                        <p:cTn id="30" dur="1" fill="hold">
                                          <p:stCondLst>
                                            <p:cond delay="0"/>
                                          </p:stCondLst>
                                        </p:cTn>
                                        <p:tgtEl>
                                          <p:spTgt spid="325"/>
                                        </p:tgtEl>
                                        <p:attrNameLst>
                                          <p:attrName>style.visibility</p:attrName>
                                        </p:attrNameLst>
                                      </p:cBhvr>
                                      <p:to>
                                        <p:strVal val="visible"/>
                                      </p:to>
                                    </p:set>
                                    <p:animEffect filter="fade" transition="in">
                                      <p:cBhvr additive="repl">
                                        <p:cTn id="31" dur="500"/>
                                        <p:tgtEl>
                                          <p:spTgt spid="325"/>
                                        </p:tgtEl>
                                      </p:cBhvr>
                                    </p:animEffect>
                                  </p:childTnLst>
                                </p:cTn>
                              </p:par>
                              <p:par>
                                <p:cTn id="32" nodeType="withEffect" fill="hold" presetClass="entr" presetID="10">
                                  <p:stCondLst>
                                    <p:cond delay="0"/>
                                  </p:stCondLst>
                                  <p:childTnLst>
                                    <p:set>
                                      <p:cBhvr>
                                        <p:cTn id="33" dur="1" fill="hold">
                                          <p:stCondLst>
                                            <p:cond delay="0"/>
                                          </p:stCondLst>
                                        </p:cTn>
                                        <p:tgtEl>
                                          <p:spTgt spid="326"/>
                                        </p:tgtEl>
                                        <p:attrNameLst>
                                          <p:attrName>style.visibility</p:attrName>
                                        </p:attrNameLst>
                                      </p:cBhvr>
                                      <p:to>
                                        <p:strVal val="visible"/>
                                      </p:to>
                                    </p:set>
                                    <p:animEffect filter="fade" transition="in">
                                      <p:cBhvr additive="repl">
                                        <p:cTn id="34" dur="500"/>
                                        <p:tgtEl>
                                          <p:spTgt spid="326"/>
                                        </p:tgtEl>
                                      </p:cBhvr>
                                    </p:animEffec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0">
                                  <p:stCondLst>
                                    <p:cond delay="0"/>
                                  </p:stCondLst>
                                  <p:childTnLst>
                                    <p:set>
                                      <p:cBhvr>
                                        <p:cTn id="38" dur="1" fill="hold">
                                          <p:stCondLst>
                                            <p:cond delay="0"/>
                                          </p:stCondLst>
                                        </p:cTn>
                                        <p:tgtEl>
                                          <p:spTgt spid="327"/>
                                        </p:tgtEl>
                                        <p:attrNameLst>
                                          <p:attrName>style.visibility</p:attrName>
                                        </p:attrNameLst>
                                      </p:cBhvr>
                                      <p:to>
                                        <p:strVal val="visible"/>
                                      </p:to>
                                    </p:set>
                                    <p:animEffect filter="fade" transition="in">
                                      <p:cBhvr additive="repl">
                                        <p:cTn id="39" dur="500"/>
                                        <p:tgtEl>
                                          <p:spTgt spid="327"/>
                                        </p:tgtEl>
                                      </p:cBhvr>
                                    </p:animEffect>
                                  </p:childTnLst>
                                </p:cTn>
                              </p:par>
                              <p:par>
                                <p:cTn id="40" nodeType="withEffect" fill="hold" presetClass="entr" presetID="10">
                                  <p:stCondLst>
                                    <p:cond delay="0"/>
                                  </p:stCondLst>
                                  <p:childTnLst>
                                    <p:set>
                                      <p:cBhvr>
                                        <p:cTn id="41" dur="1" fill="hold">
                                          <p:stCondLst>
                                            <p:cond delay="0"/>
                                          </p:stCondLst>
                                        </p:cTn>
                                        <p:tgtEl>
                                          <p:spTgt spid="328"/>
                                        </p:tgtEl>
                                        <p:attrNameLst>
                                          <p:attrName>style.visibility</p:attrName>
                                        </p:attrNameLst>
                                      </p:cBhvr>
                                      <p:to>
                                        <p:strVal val="visible"/>
                                      </p:to>
                                    </p:set>
                                    <p:animEffect filter="fade" transition="in">
                                      <p:cBhvr additive="repl">
                                        <p:cTn id="42" dur="500"/>
                                        <p:tgtEl>
                                          <p:spTgt spid="328"/>
                                        </p:tgtEl>
                                      </p:cBhvr>
                                    </p:animEffect>
                                  </p:childTnLst>
                                </p:cTn>
                              </p:par>
                              <p:par>
                                <p:cTn id="43" nodeType="withEffect" fill="hold" presetClass="entr" presetID="10">
                                  <p:stCondLst>
                                    <p:cond delay="0"/>
                                  </p:stCondLst>
                                  <p:childTnLst>
                                    <p:set>
                                      <p:cBhvr>
                                        <p:cTn id="44" dur="1" fill="hold">
                                          <p:stCondLst>
                                            <p:cond delay="0"/>
                                          </p:stCondLst>
                                        </p:cTn>
                                        <p:tgtEl>
                                          <p:spTgt spid="329"/>
                                        </p:tgtEl>
                                        <p:attrNameLst>
                                          <p:attrName>style.visibility</p:attrName>
                                        </p:attrNameLst>
                                      </p:cBhvr>
                                      <p:to>
                                        <p:strVal val="visible"/>
                                      </p:to>
                                    </p:set>
                                    <p:animEffect filter="fade" transition="in">
                                      <p:cBhvr additive="repl">
                                        <p:cTn id="45" dur="500"/>
                                        <p:tgtEl>
                                          <p:spTgt spid="329"/>
                                        </p:tgtEl>
                                      </p:cBhvr>
                                    </p:animEffect>
                                  </p:childTnLst>
                                </p:cTn>
                              </p:par>
                              <p:par>
                                <p:cTn id="46" nodeType="withEffect" fill="hold" presetClass="entr" presetID="10">
                                  <p:stCondLst>
                                    <p:cond delay="0"/>
                                  </p:stCondLst>
                                  <p:childTnLst>
                                    <p:set>
                                      <p:cBhvr>
                                        <p:cTn id="47" dur="1" fill="hold">
                                          <p:stCondLst>
                                            <p:cond delay="0"/>
                                          </p:stCondLst>
                                        </p:cTn>
                                        <p:tgtEl>
                                          <p:spTgt spid="330"/>
                                        </p:tgtEl>
                                        <p:attrNameLst>
                                          <p:attrName>style.visibility</p:attrName>
                                        </p:attrNameLst>
                                      </p:cBhvr>
                                      <p:to>
                                        <p:strVal val="visible"/>
                                      </p:to>
                                    </p:set>
                                    <p:animEffect filter="fade" transition="in">
                                      <p:cBhvr additive="repl">
                                        <p:cTn id="48" dur="500"/>
                                        <p:tgtEl>
                                          <p:spTgt spid="330"/>
                                        </p:tgtEl>
                                      </p:cBhvr>
                                    </p:animEffect>
                                  </p:childTnLst>
                                </p:cTn>
                              </p:par>
                              <p:par>
                                <p:cTn id="49" nodeType="withEffect" fill="hold" presetClass="entr" presetID="10">
                                  <p:stCondLst>
                                    <p:cond delay="0"/>
                                  </p:stCondLst>
                                  <p:childTnLst>
                                    <p:set>
                                      <p:cBhvr>
                                        <p:cTn id="50" dur="1" fill="hold">
                                          <p:stCondLst>
                                            <p:cond delay="0"/>
                                          </p:stCondLst>
                                        </p:cTn>
                                        <p:tgtEl>
                                          <p:spTgt spid="331"/>
                                        </p:tgtEl>
                                        <p:attrNameLst>
                                          <p:attrName>style.visibility</p:attrName>
                                        </p:attrNameLst>
                                      </p:cBhvr>
                                      <p:to>
                                        <p:strVal val="visible"/>
                                      </p:to>
                                    </p:set>
                                    <p:animEffect filter="fade" transition="in">
                                      <p:cBhvr additive="repl">
                                        <p:cTn id="51" dur="500"/>
                                        <p:tgtEl>
                                          <p:spTgt spid="331"/>
                                        </p:tgtEl>
                                      </p:cBhvr>
                                    </p:animEffect>
                                  </p:childTnLst>
                                </p:cTn>
                              </p:par>
                              <p:par>
                                <p:cTn id="52" nodeType="withEffect" fill="hold" presetClass="entr" presetID="10">
                                  <p:stCondLst>
                                    <p:cond delay="0"/>
                                  </p:stCondLst>
                                  <p:childTnLst>
                                    <p:set>
                                      <p:cBhvr>
                                        <p:cTn id="53" dur="1" fill="hold">
                                          <p:stCondLst>
                                            <p:cond delay="0"/>
                                          </p:stCondLst>
                                        </p:cTn>
                                        <p:tgtEl>
                                          <p:spTgt spid="332"/>
                                        </p:tgtEl>
                                        <p:attrNameLst>
                                          <p:attrName>style.visibility</p:attrName>
                                        </p:attrNameLst>
                                      </p:cBhvr>
                                      <p:to>
                                        <p:strVal val="visible"/>
                                      </p:to>
                                    </p:set>
                                    <p:animEffect filter="fade" transition="in">
                                      <p:cBhvr additive="repl">
                                        <p:cTn id="54" dur="500"/>
                                        <p:tgtEl>
                                          <p:spTgt spid="332"/>
                                        </p:tgtEl>
                                      </p:cBhvr>
                                    </p:animEffect>
                                  </p:childTnLst>
                                </p:cTn>
                              </p:par>
                              <p:par>
                                <p:cTn id="55" nodeType="withEffect" fill="hold" presetClass="entr" presetID="10">
                                  <p:stCondLst>
                                    <p:cond delay="0"/>
                                  </p:stCondLst>
                                  <p:childTnLst>
                                    <p:set>
                                      <p:cBhvr>
                                        <p:cTn id="56" dur="1" fill="hold">
                                          <p:stCondLst>
                                            <p:cond delay="0"/>
                                          </p:stCondLst>
                                        </p:cTn>
                                        <p:tgtEl>
                                          <p:spTgt spid="333"/>
                                        </p:tgtEl>
                                        <p:attrNameLst>
                                          <p:attrName>style.visibility</p:attrName>
                                        </p:attrNameLst>
                                      </p:cBhvr>
                                      <p:to>
                                        <p:strVal val="visible"/>
                                      </p:to>
                                    </p:set>
                                    <p:animEffect filter="fade" transition="in">
                                      <p:cBhvr additive="repl">
                                        <p:cTn id="57" dur="500"/>
                                        <p:tgtEl>
                                          <p:spTgt spid="333"/>
                                        </p:tgtEl>
                                      </p:cBhvr>
                                    </p:animEffect>
                                  </p:childTnLst>
                                </p:cTn>
                              </p:par>
                              <p:par>
                                <p:cTn id="58" nodeType="withEffect" fill="hold" presetClass="entr" presetID="10">
                                  <p:stCondLst>
                                    <p:cond delay="0"/>
                                  </p:stCondLst>
                                  <p:childTnLst>
                                    <p:set>
                                      <p:cBhvr>
                                        <p:cTn id="59" dur="1" fill="hold">
                                          <p:stCondLst>
                                            <p:cond delay="0"/>
                                          </p:stCondLst>
                                        </p:cTn>
                                        <p:tgtEl>
                                          <p:spTgt spid="334"/>
                                        </p:tgtEl>
                                        <p:attrNameLst>
                                          <p:attrName>style.visibility</p:attrName>
                                        </p:attrNameLst>
                                      </p:cBhvr>
                                      <p:to>
                                        <p:strVal val="visible"/>
                                      </p:to>
                                    </p:set>
                                    <p:animEffect filter="fade" transition="in">
                                      <p:cBhvr additive="repl">
                                        <p:cTn id="60" dur="500"/>
                                        <p:tgtEl>
                                          <p:spTgt spid="334"/>
                                        </p:tgtEl>
                                      </p:cBhvr>
                                    </p:animEffect>
                                  </p:childTnLst>
                                </p:cTn>
                              </p:par>
                              <p:par>
                                <p:cTn id="61" nodeType="withEffect" fill="hold" presetClass="entr" presetID="10">
                                  <p:stCondLst>
                                    <p:cond delay="0"/>
                                  </p:stCondLst>
                                  <p:childTnLst>
                                    <p:set>
                                      <p:cBhvr>
                                        <p:cTn id="62" dur="1" fill="hold">
                                          <p:stCondLst>
                                            <p:cond delay="0"/>
                                          </p:stCondLst>
                                        </p:cTn>
                                        <p:tgtEl>
                                          <p:spTgt spid="335"/>
                                        </p:tgtEl>
                                        <p:attrNameLst>
                                          <p:attrName>style.visibility</p:attrName>
                                        </p:attrNameLst>
                                      </p:cBhvr>
                                      <p:to>
                                        <p:strVal val="visible"/>
                                      </p:to>
                                    </p:set>
                                    <p:animEffect filter="fade" transition="in">
                                      <p:cBhvr additive="repl">
                                        <p:cTn id="63" dur="500"/>
                                        <p:tgtEl>
                                          <p:spTgt spid="335"/>
                                        </p:tgtEl>
                                      </p:cBhvr>
                                    </p:animEffect>
                                  </p:childTnLst>
                                </p:cTn>
                              </p:par>
                              <p:par>
                                <p:cTn id="64" nodeType="withEffect" fill="hold" presetClass="entr" presetID="10">
                                  <p:stCondLst>
                                    <p:cond delay="0"/>
                                  </p:stCondLst>
                                  <p:childTnLst>
                                    <p:set>
                                      <p:cBhvr>
                                        <p:cTn id="65" dur="1" fill="hold">
                                          <p:stCondLst>
                                            <p:cond delay="0"/>
                                          </p:stCondLst>
                                        </p:cTn>
                                        <p:tgtEl>
                                          <p:spTgt spid="336"/>
                                        </p:tgtEl>
                                        <p:attrNameLst>
                                          <p:attrName>style.visibility</p:attrName>
                                        </p:attrNameLst>
                                      </p:cBhvr>
                                      <p:to>
                                        <p:strVal val="visible"/>
                                      </p:to>
                                    </p:set>
                                    <p:animEffect filter="fade" transition="in">
                                      <p:cBhvr additive="repl">
                                        <p:cTn id="66" dur="500"/>
                                        <p:tgtEl>
                                          <p:spTgt spid="336"/>
                                        </p:tgtEl>
                                      </p:cBhvr>
                                    </p:animEffect>
                                  </p:childTnLst>
                                </p:cTn>
                              </p:par>
                              <p:par>
                                <p:cTn id="67" nodeType="withEffect" fill="hold" presetClass="entr" presetID="10">
                                  <p:stCondLst>
                                    <p:cond delay="0"/>
                                  </p:stCondLst>
                                  <p:childTnLst>
                                    <p:set>
                                      <p:cBhvr>
                                        <p:cTn id="68" dur="1" fill="hold">
                                          <p:stCondLst>
                                            <p:cond delay="0"/>
                                          </p:stCondLst>
                                        </p:cTn>
                                        <p:tgtEl>
                                          <p:spTgt spid="337"/>
                                        </p:tgtEl>
                                        <p:attrNameLst>
                                          <p:attrName>style.visibility</p:attrName>
                                        </p:attrNameLst>
                                      </p:cBhvr>
                                      <p:to>
                                        <p:strVal val="visible"/>
                                      </p:to>
                                    </p:set>
                                    <p:animEffect filter="fade" transition="in">
                                      <p:cBhvr additive="repl">
                                        <p:cTn id="69" dur="500"/>
                                        <p:tgtEl>
                                          <p:spTgt spid="337"/>
                                        </p:tgtEl>
                                      </p:cBhvr>
                                    </p:animEffect>
                                  </p:childTnLst>
                                </p:cTn>
                              </p:par>
                              <p:par>
                                <p:cTn id="70" nodeType="withEffect" fill="hold" presetClass="entr" presetID="10">
                                  <p:stCondLst>
                                    <p:cond delay="0"/>
                                  </p:stCondLst>
                                  <p:childTnLst>
                                    <p:set>
                                      <p:cBhvr>
                                        <p:cTn id="71" dur="1" fill="hold">
                                          <p:stCondLst>
                                            <p:cond delay="0"/>
                                          </p:stCondLst>
                                        </p:cTn>
                                        <p:tgtEl>
                                          <p:spTgt spid="338"/>
                                        </p:tgtEl>
                                        <p:attrNameLst>
                                          <p:attrName>style.visibility</p:attrName>
                                        </p:attrNameLst>
                                      </p:cBhvr>
                                      <p:to>
                                        <p:strVal val="visible"/>
                                      </p:to>
                                    </p:set>
                                    <p:animEffect filter="fade" transition="in">
                                      <p:cBhvr additive="repl">
                                        <p:cTn id="72" dur="500"/>
                                        <p:tgtEl>
                                          <p:spTgt spid="338"/>
                                        </p:tgtEl>
                                      </p:cBhvr>
                                    </p:animEffect>
                                  </p:childTnLst>
                                </p:cTn>
                              </p:par>
                              <p:par>
                                <p:cTn id="73" nodeType="withEffect" fill="hold" presetClass="entr" presetID="10">
                                  <p:stCondLst>
                                    <p:cond delay="0"/>
                                  </p:stCondLst>
                                  <p:childTnLst>
                                    <p:set>
                                      <p:cBhvr>
                                        <p:cTn id="74" dur="1" fill="hold">
                                          <p:stCondLst>
                                            <p:cond delay="0"/>
                                          </p:stCondLst>
                                        </p:cTn>
                                        <p:tgtEl>
                                          <p:spTgt spid="339"/>
                                        </p:tgtEl>
                                        <p:attrNameLst>
                                          <p:attrName>style.visibility</p:attrName>
                                        </p:attrNameLst>
                                      </p:cBhvr>
                                      <p:to>
                                        <p:strVal val="visible"/>
                                      </p:to>
                                    </p:set>
                                    <p:animEffect filter="fade" transition="in">
                                      <p:cBhvr additive="repl">
                                        <p:cTn id="75" dur="500"/>
                                        <p:tgtEl>
                                          <p:spTgt spid="339"/>
                                        </p:tgtEl>
                                      </p:cBhvr>
                                    </p:animEffect>
                                  </p:childTnLst>
                                </p:cTn>
                              </p:par>
                            </p:childTnLst>
                          </p:cTn>
                        </p:par>
                      </p:childTnLst>
                    </p:cTn>
                  </p:par>
                  <p:par>
                    <p:cTn id="76" fill="hold">
                      <p:stCondLst>
                        <p:cond delay="indefinite"/>
                      </p:stCondLst>
                      <p:childTnLst>
                        <p:par>
                          <p:cTn id="77" fill="hold">
                            <p:stCondLst>
                              <p:cond delay="0"/>
                            </p:stCondLst>
                            <p:childTnLst>
                              <p:par>
                                <p:cTn id="78" nodeType="clickEffect" fill="hold" presetClass="entr" presetID="10">
                                  <p:stCondLst>
                                    <p:cond delay="0"/>
                                  </p:stCondLst>
                                  <p:childTnLst>
                                    <p:set>
                                      <p:cBhvr>
                                        <p:cTn id="79" dur="1" fill="hold">
                                          <p:stCondLst>
                                            <p:cond delay="0"/>
                                          </p:stCondLst>
                                        </p:cTn>
                                        <p:tgtEl>
                                          <p:spTgt spid="340"/>
                                        </p:tgtEl>
                                        <p:attrNameLst>
                                          <p:attrName>style.visibility</p:attrName>
                                        </p:attrNameLst>
                                      </p:cBhvr>
                                      <p:to>
                                        <p:strVal val="visible"/>
                                      </p:to>
                                    </p:set>
                                    <p:animEffect filter="fade" transition="in">
                                      <p:cBhvr additive="repl">
                                        <p:cTn id="80" dur="500"/>
                                        <p:tgtEl>
                                          <p:spTgt spid="340"/>
                                        </p:tgtEl>
                                      </p:cBhvr>
                                    </p:animEffect>
                                  </p:childTnLst>
                                </p:cTn>
                              </p:par>
                              <p:par>
                                <p:cTn id="81" nodeType="withEffect" fill="hold" presetClass="entr" presetID="10">
                                  <p:stCondLst>
                                    <p:cond delay="0"/>
                                  </p:stCondLst>
                                  <p:childTnLst>
                                    <p:set>
                                      <p:cBhvr>
                                        <p:cTn id="82" dur="1" fill="hold">
                                          <p:stCondLst>
                                            <p:cond delay="0"/>
                                          </p:stCondLst>
                                        </p:cTn>
                                        <p:tgtEl>
                                          <p:spTgt spid="341"/>
                                        </p:tgtEl>
                                        <p:attrNameLst>
                                          <p:attrName>style.visibility</p:attrName>
                                        </p:attrNameLst>
                                      </p:cBhvr>
                                      <p:to>
                                        <p:strVal val="visible"/>
                                      </p:to>
                                    </p:set>
                                    <p:animEffect filter="fade" transition="in">
                                      <p:cBhvr additive="repl">
                                        <p:cTn id="83"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p:nvPr>
        </p:nvSpPr>
        <p:spPr>
          <a:xfrm>
            <a:off x="609480" y="1219320"/>
            <a:ext cx="3352320" cy="1218960"/>
          </a:xfrm>
          <a:prstGeom prst="rect">
            <a:avLst/>
          </a:prstGeom>
          <a:noFill/>
          <a:ln w="0">
            <a:noFill/>
          </a:ln>
        </p:spPr>
        <p:txBody>
          <a:bodyPr lIns="0" rIns="0" tIns="0" bIns="0" anchor="b">
            <a:noAutofit/>
          </a:bodyPr>
          <a:p>
            <a:pPr indent="0" defTabSz="914400">
              <a:lnSpc>
                <a:spcPct val="85000"/>
              </a:lnSpc>
              <a:buNone/>
              <a:tabLst>
                <a:tab algn="l" pos="0"/>
              </a:tabLst>
            </a:pPr>
            <a:r>
              <a:rPr b="1" lang="es-CL" sz="7200" strike="noStrike" u="none">
                <a:solidFill>
                  <a:srgbClr val="fec60d"/>
                </a:solidFill>
                <a:effectLst/>
                <a:uFillTx/>
                <a:latin typeface="Calibri"/>
              </a:rPr>
              <a:t>02</a:t>
            </a:r>
            <a:endParaRPr b="0" lang="es-CL" sz="7200" strike="noStrike" u="none">
              <a:solidFill>
                <a:srgbClr val="1a1e2b"/>
              </a:solidFill>
              <a:effectLst/>
              <a:uFillTx/>
              <a:latin typeface="Calibri"/>
            </a:endParaRPr>
          </a:p>
        </p:txBody>
      </p:sp>
      <p:sp>
        <p:nvSpPr>
          <p:cNvPr id="351" name="PlaceHolder 2"/>
          <p:cNvSpPr>
            <a:spLocks noGrp="1"/>
          </p:cNvSpPr>
          <p:nvPr>
            <p:ph type="title"/>
          </p:nvPr>
        </p:nvSpPr>
        <p:spPr>
          <a:xfrm>
            <a:off x="609480" y="2793960"/>
            <a:ext cx="3352320" cy="13204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Organización de los datos</a:t>
            </a:r>
            <a:endParaRPr b="0" lang="es-CL" sz="3200" strike="noStrike" u="none">
              <a:solidFill>
                <a:schemeClr val="dk1"/>
              </a:solidFill>
              <a:effectLst/>
              <a:uFillTx/>
              <a:latin typeface="Calibri"/>
            </a:endParaRPr>
          </a:p>
        </p:txBody>
      </p:sp>
      <p:sp>
        <p:nvSpPr>
          <p:cNvPr id="352" name="PlaceHolder 3"/>
          <p:cNvSpPr>
            <a:spLocks noGrp="1"/>
          </p:cNvSpPr>
          <p:nvPr>
            <p:ph/>
          </p:nvPr>
        </p:nvSpPr>
        <p:spPr>
          <a:xfrm>
            <a:off x="609480" y="4191120"/>
            <a:ext cx="335232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800" strike="noStrike" u="none">
                <a:solidFill>
                  <a:srgbClr val="c9d3e0"/>
                </a:solidFill>
                <a:effectLst/>
                <a:uFillTx/>
                <a:latin typeface="Calibri"/>
              </a:rPr>
              <a:t>Qué unidad tiene realmente la muestra y cuánto pesa cada nivel</a:t>
            </a:r>
            <a:endParaRPr b="0" lang="es-CL" sz="1800" strike="noStrike" u="none">
              <a:solidFill>
                <a:srgbClr val="1a1e2b"/>
              </a:solidFill>
              <a:effectLst/>
              <a:uFillTx/>
              <a:latin typeface="Calibri"/>
            </a:endParaRPr>
          </a:p>
        </p:txBody>
      </p:sp>
      <p:pic>
        <p:nvPicPr>
          <p:cNvPr id="353" name="" descr="">
            <a:hlinkClick r:id="" action="ppaction://media"/>
          </p:cNvPr>
          <p:cNvPicPr/>
          <p:nvPr>
            <a:videoFile r:link="rId1"/>
            <p:extLst>
              <p:ext uri="{DAA4B4D4-6D71-4841-9C94-3DE7FCFB9230}">
                <p14:media r:link="rId2"/>
              </p:ext>
            </p:extLst>
          </p:nvPr>
        </p:nvPicPr>
        <p:blipFill>
          <a:blip r:embed="rId3"/>
          <a:stretch>
            <a:fillRect/>
          </a:stretch>
        </p:blipFill>
        <p:spPr>
          <a:xfrm>
            <a:off x="4267080" y="1219320"/>
            <a:ext cx="7314840" cy="4114440"/>
          </a:xfrm>
          <a:prstGeom prst="rect">
            <a:avLst/>
          </a:prstGeom>
          <a:ln w="0">
            <a:noFill/>
          </a:ln>
        </p:spPr>
      </p:pic>
      <p:sp>
        <p:nvSpPr>
          <p:cNvPr id="354" name="PlaceHolder 4"/>
          <p:cNvSpPr>
            <a:spLocks noGrp="1"/>
          </p:cNvSpPr>
          <p:nvPr>
            <p:ph/>
          </p:nvPr>
        </p:nvSpPr>
        <p:spPr>
          <a:xfrm>
            <a:off x="4267080" y="5511960"/>
            <a:ext cx="73148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c9d3e0"/>
                </a:solidFill>
                <a:effectLst/>
                <a:uFillTx/>
                <a:latin typeface="Calibri"/>
              </a:rPr>
              <a:t>Jason Sepúlveda</a:t>
            </a:r>
            <a:endParaRPr b="0" lang="es-CL" sz="1400" strike="noStrike" u="none">
              <a:solidFill>
                <a:srgbClr val="1a1e2b"/>
              </a:solidFill>
              <a:effectLst/>
              <a:uFillTx/>
              <a:latin typeface="Calibri"/>
            </a:endParaRPr>
          </a:p>
        </p:txBody>
      </p:sp>
      <p:sp>
        <p:nvSpPr>
          <p:cNvPr id="355" name="Progreso etiqueta"/>
          <p:cNvSpPr/>
          <p:nvPr/>
        </p:nvSpPr>
        <p:spPr>
          <a:xfrm>
            <a:off x="609480" y="5435640"/>
            <a:ext cx="3352320" cy="168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s-CL" sz="1100" strike="noStrike" u="none">
                <a:solidFill>
                  <a:srgbClr val="9aa6b8"/>
                </a:solidFill>
                <a:effectLst/>
                <a:uFillTx/>
                <a:latin typeface="Calibri"/>
              </a:rPr>
              <a:t>SECCIÓN 02 DE 08</a:t>
            </a:r>
            <a:endParaRPr b="0" lang="en-US" sz="1100" strike="noStrike" u="none">
              <a:solidFill>
                <a:srgbClr val="ffffff"/>
              </a:solidFill>
              <a:effectLst/>
              <a:uFillTx/>
              <a:latin typeface="Arial"/>
            </a:endParaRPr>
          </a:p>
        </p:txBody>
      </p:sp>
      <p:sp>
        <p:nvSpPr>
          <p:cNvPr id="356" name="Progreso 1"/>
          <p:cNvSpPr/>
          <p:nvPr/>
        </p:nvSpPr>
        <p:spPr>
          <a:xfrm>
            <a:off x="60948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57" name="Progreso 2"/>
          <p:cNvSpPr/>
          <p:nvPr/>
        </p:nvSpPr>
        <p:spPr>
          <a:xfrm>
            <a:off x="1035000" y="5740560"/>
            <a:ext cx="374400" cy="50400"/>
          </a:xfrm>
          <a:prstGeom prst="rect">
            <a:avLst/>
          </a:prstGeom>
          <a:solidFill>
            <a:srgbClr val="fec60d"/>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58" name="Progreso 3"/>
          <p:cNvSpPr/>
          <p:nvPr/>
        </p:nvSpPr>
        <p:spPr>
          <a:xfrm>
            <a:off x="146052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59" name="Progreso 4"/>
          <p:cNvSpPr/>
          <p:nvPr/>
        </p:nvSpPr>
        <p:spPr>
          <a:xfrm>
            <a:off x="188604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60" name="Progreso 5"/>
          <p:cNvSpPr/>
          <p:nvPr/>
        </p:nvSpPr>
        <p:spPr>
          <a:xfrm>
            <a:off x="23115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61" name="Progreso 6"/>
          <p:cNvSpPr/>
          <p:nvPr/>
        </p:nvSpPr>
        <p:spPr>
          <a:xfrm>
            <a:off x="273672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62" name="Progreso 7"/>
          <p:cNvSpPr/>
          <p:nvPr/>
        </p:nvSpPr>
        <p:spPr>
          <a:xfrm>
            <a:off x="316224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363" name="Progreso 8"/>
          <p:cNvSpPr/>
          <p:nvPr/>
        </p:nvSpPr>
        <p:spPr>
          <a:xfrm>
            <a:off x="35877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5000">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02 · Organización de los datos</a:t>
            </a:r>
            <a:endParaRPr b="0" lang="es-CL" sz="1200" strike="noStrike" u="none">
              <a:solidFill>
                <a:srgbClr val="1a1e2b"/>
              </a:solidFill>
              <a:effectLst/>
              <a:uFillTx/>
              <a:latin typeface="Calibri"/>
            </a:endParaRPr>
          </a:p>
        </p:txBody>
      </p:sp>
      <p:sp>
        <p:nvSpPr>
          <p:cNvPr id="365"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Pocas series, muchos pares: la unidad real de la muestra es la serie</a:t>
            </a:r>
            <a:endParaRPr b="0" lang="es-CL" sz="3000" strike="noStrike" u="none">
              <a:solidFill>
                <a:schemeClr val="dk1"/>
              </a:solidFill>
              <a:effectLst/>
              <a:uFillTx/>
              <a:latin typeface="Calibri"/>
            </a:endParaRPr>
          </a:p>
        </p:txBody>
      </p:sp>
      <p:sp>
        <p:nvSpPr>
          <p:cNvPr id="366" name="PlaceHolder 3"/>
          <p:cNvSpPr>
            <a:spLocks noGrp="1"/>
          </p:cNvSpPr>
          <p:nvPr>
            <p:ph/>
          </p:nvPr>
        </p:nvSpPr>
        <p:spPr>
          <a:xfrm>
            <a:off x="609480" y="5816520"/>
            <a:ext cx="10972440" cy="431280"/>
          </a:xfrm>
          <a:prstGeom prst="rect">
            <a:avLst/>
          </a:prstGeom>
          <a:noFill/>
          <a:ln w="0">
            <a:noFill/>
          </a:ln>
        </p:spPr>
        <p:txBody>
          <a:bodyPr lIns="0" rIns="0" tIns="0" bIns="0" anchor="b">
            <a:noAutofit/>
          </a:bodyPr>
          <a:p>
            <a:pPr indent="0" defTabSz="914400">
              <a:lnSpc>
                <a:spcPct val="95000"/>
              </a:lnSpc>
              <a:buNone/>
              <a:tabLst>
                <a:tab algn="l" pos="0"/>
              </a:tabLst>
            </a:pPr>
            <a:r>
              <a:rPr b="0" lang="es-CL" sz="1200" strike="noStrike" u="none">
                <a:solidFill>
                  <a:srgbClr val="5f6670"/>
                </a:solidFill>
                <a:effectLst/>
                <a:uFillTx/>
                <a:latin typeface="Calibri"/>
              </a:rPr>
              <a:t>Fuente: EDA de AFG2 (figura 1 del notebook 11).</a:t>
            </a:r>
            <a:endParaRPr b="0" lang="es-CL" sz="1200" strike="noStrike" u="none">
              <a:solidFill>
                <a:srgbClr val="1a1e2b"/>
              </a:solidFill>
              <a:effectLst/>
              <a:uFillTx/>
              <a:latin typeface="Calibri"/>
            </a:endParaRPr>
          </a:p>
        </p:txBody>
      </p:sp>
      <p:pic>
        <p:nvPicPr>
          <p:cNvPr id="367"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sp>
        <p:nvSpPr>
          <p:cNvPr id="368" name="Etiqueta anatomía 600"/>
          <p:cNvSpPr/>
          <p:nvPr/>
        </p:nvSpPr>
        <p:spPr>
          <a:xfrm>
            <a:off x="609480" y="177804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Anatomía de una serie</a:t>
            </a:r>
            <a:endParaRPr b="0" lang="en-US" sz="1200" strike="noStrike" u="none">
              <a:solidFill>
                <a:srgbClr val="000000"/>
              </a:solidFill>
              <a:effectLst/>
              <a:uFillTx/>
              <a:latin typeface="Arial"/>
            </a:endParaRPr>
          </a:p>
        </p:txBody>
      </p:sp>
      <p:sp>
        <p:nvSpPr>
          <p:cNvPr id="369" name="Nodo serie 601"/>
          <p:cNvSpPr/>
          <p:nvPr/>
        </p:nvSpPr>
        <p:spPr>
          <a:xfrm>
            <a:off x="609480" y="2616120"/>
            <a:ext cx="1269720" cy="711000"/>
          </a:xfrm>
          <a:prstGeom prst="roundRect">
            <a:avLst>
              <a:gd name="adj" fmla="val 10000"/>
            </a:avLst>
          </a:prstGeom>
          <a:solidFill>
            <a:srgbClr val="1a1e2b"/>
          </a:solidFill>
          <a:ln w="0">
            <a:noFill/>
          </a:ln>
        </p:spPr>
        <p:style>
          <a:lnRef idx="0"/>
          <a:fillRef idx="0"/>
          <a:effectRef idx="0"/>
          <a:fontRef idx="minor"/>
        </p:style>
        <p:txBody>
          <a:bodyPr lIns="0" rIns="0" tIns="0" bIns="0" anchor="ctr">
            <a:noAutofit/>
          </a:bodyPr>
          <a:p>
            <a:pPr algn="ctr" defTabSz="914400">
              <a:lnSpc>
                <a:spcPct val="100000"/>
              </a:lnSpc>
            </a:pPr>
            <a:r>
              <a:rPr b="1" lang="es-CL" sz="1800" strike="noStrike" u="none">
                <a:solidFill>
                  <a:srgbClr val="ffffff"/>
                </a:solidFill>
                <a:effectLst/>
                <a:uFillTx/>
                <a:latin typeface="Calibri"/>
              </a:rPr>
              <a:t>1 serie</a:t>
            </a:r>
            <a:endParaRPr b="0" lang="en-US" sz="1800" strike="noStrike" u="none">
              <a:solidFill>
                <a:srgbClr val="ffffff"/>
              </a:solidFill>
              <a:effectLst/>
              <a:uFillTx/>
              <a:latin typeface="Arial"/>
            </a:endParaRPr>
          </a:p>
        </p:txBody>
      </p:sp>
      <p:sp>
        <p:nvSpPr>
          <p:cNvPr id="370" name="Conector 602"/>
          <p:cNvSpPr/>
          <p:nvPr/>
        </p:nvSpPr>
        <p:spPr>
          <a:xfrm>
            <a:off x="1879560" y="2959200"/>
            <a:ext cx="253800" cy="1872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1" name="Conector 603"/>
          <p:cNvSpPr/>
          <p:nvPr/>
        </p:nvSpPr>
        <p:spPr>
          <a:xfrm>
            <a:off x="2133720" y="2311560"/>
            <a:ext cx="18720" cy="132048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2" name="Conector 604"/>
          <p:cNvSpPr/>
          <p:nvPr/>
        </p:nvSpPr>
        <p:spPr>
          <a:xfrm>
            <a:off x="2133720" y="2298600"/>
            <a:ext cx="279000" cy="1872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3" name="Nodo reunión a 605"/>
          <p:cNvSpPr/>
          <p:nvPr/>
        </p:nvSpPr>
        <p:spPr>
          <a:xfrm>
            <a:off x="2413080" y="2108160"/>
            <a:ext cx="1396800" cy="406080"/>
          </a:xfrm>
          <a:prstGeom prst="roundRect">
            <a:avLst>
              <a:gd name="adj" fmla="val 20000"/>
            </a:avLst>
          </a:prstGeom>
          <a:solidFill>
            <a:srgbClr val="ffffff"/>
          </a:solidFill>
          <a:ln w="15875">
            <a:solidFill>
              <a:srgbClr val="0176de"/>
            </a:solidFill>
            <a:round/>
          </a:ln>
        </p:spPr>
        <p:style>
          <a:lnRef idx="0"/>
          <a:fillRef idx="0"/>
          <a:effectRef idx="0"/>
          <a:fontRef idx="minor"/>
        </p:style>
        <p:txBody>
          <a:bodyPr lIns="0" rIns="0" tIns="0" bIns="0" anchor="ctr">
            <a:noAutofit/>
          </a:bodyPr>
          <a:p>
            <a:pPr algn="ctr" defTabSz="914400">
              <a:lnSpc>
                <a:spcPct val="100000"/>
              </a:lnSpc>
            </a:pPr>
            <a:r>
              <a:rPr b="1" lang="es-CL" sz="1600" strike="noStrike" u="none">
                <a:solidFill>
                  <a:srgbClr val="1a1e2b"/>
                </a:solidFill>
                <a:effectLst/>
                <a:uFillTx/>
                <a:latin typeface="Calibri"/>
              </a:rPr>
              <a:t>Reunión a</a:t>
            </a:r>
            <a:endParaRPr b="0" lang="en-US" sz="1600" strike="noStrike" u="none">
              <a:solidFill>
                <a:srgbClr val="000000"/>
              </a:solidFill>
              <a:effectLst/>
              <a:uFillTx/>
              <a:latin typeface="Arial"/>
            </a:endParaRPr>
          </a:p>
        </p:txBody>
      </p:sp>
      <p:sp>
        <p:nvSpPr>
          <p:cNvPr id="374" name="Conector 606"/>
          <p:cNvSpPr/>
          <p:nvPr/>
        </p:nvSpPr>
        <p:spPr>
          <a:xfrm>
            <a:off x="3809880" y="2298600"/>
            <a:ext cx="202680" cy="1872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5" name="Hablante 607"/>
          <p:cNvSpPr/>
          <p:nvPr/>
        </p:nvSpPr>
        <p:spPr>
          <a:xfrm>
            <a:off x="4089240" y="223524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6" name="Hablante 608"/>
          <p:cNvSpPr/>
          <p:nvPr/>
        </p:nvSpPr>
        <p:spPr>
          <a:xfrm>
            <a:off x="4317840" y="223524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7" name="Hablante 609"/>
          <p:cNvSpPr/>
          <p:nvPr/>
        </p:nvSpPr>
        <p:spPr>
          <a:xfrm>
            <a:off x="4546440" y="223524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8" name="Hablante 610"/>
          <p:cNvSpPr/>
          <p:nvPr/>
        </p:nvSpPr>
        <p:spPr>
          <a:xfrm>
            <a:off x="4775040" y="223524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79" name="Conector 611"/>
          <p:cNvSpPr/>
          <p:nvPr/>
        </p:nvSpPr>
        <p:spPr>
          <a:xfrm>
            <a:off x="2133720" y="2806560"/>
            <a:ext cx="279000" cy="1872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0" name="Nodo reunión b 612"/>
          <p:cNvSpPr/>
          <p:nvPr/>
        </p:nvSpPr>
        <p:spPr>
          <a:xfrm>
            <a:off x="2413080" y="2616120"/>
            <a:ext cx="1396800" cy="406080"/>
          </a:xfrm>
          <a:prstGeom prst="roundRect">
            <a:avLst>
              <a:gd name="adj" fmla="val 20000"/>
            </a:avLst>
          </a:prstGeom>
          <a:solidFill>
            <a:srgbClr val="ffffff"/>
          </a:solidFill>
          <a:ln w="15875">
            <a:solidFill>
              <a:srgbClr val="0176de"/>
            </a:solidFill>
            <a:round/>
          </a:ln>
        </p:spPr>
        <p:style>
          <a:lnRef idx="0"/>
          <a:fillRef idx="0"/>
          <a:effectRef idx="0"/>
          <a:fontRef idx="minor"/>
        </p:style>
        <p:txBody>
          <a:bodyPr lIns="0" rIns="0" tIns="0" bIns="0" anchor="ctr">
            <a:noAutofit/>
          </a:bodyPr>
          <a:p>
            <a:pPr algn="ctr" defTabSz="914400">
              <a:lnSpc>
                <a:spcPct val="100000"/>
              </a:lnSpc>
            </a:pPr>
            <a:r>
              <a:rPr b="1" lang="es-CL" sz="1600" strike="noStrike" u="none">
                <a:solidFill>
                  <a:srgbClr val="1a1e2b"/>
                </a:solidFill>
                <a:effectLst/>
                <a:uFillTx/>
                <a:latin typeface="Calibri"/>
              </a:rPr>
              <a:t>Reunión b</a:t>
            </a:r>
            <a:endParaRPr b="0" lang="en-US" sz="1600" strike="noStrike" u="none">
              <a:solidFill>
                <a:srgbClr val="000000"/>
              </a:solidFill>
              <a:effectLst/>
              <a:uFillTx/>
              <a:latin typeface="Arial"/>
            </a:endParaRPr>
          </a:p>
        </p:txBody>
      </p:sp>
      <p:sp>
        <p:nvSpPr>
          <p:cNvPr id="381" name="Conector 613"/>
          <p:cNvSpPr/>
          <p:nvPr/>
        </p:nvSpPr>
        <p:spPr>
          <a:xfrm>
            <a:off x="3809880" y="2806560"/>
            <a:ext cx="202680" cy="1872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2" name="Hablante 614"/>
          <p:cNvSpPr/>
          <p:nvPr/>
        </p:nvSpPr>
        <p:spPr>
          <a:xfrm>
            <a:off x="4089240" y="274320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3" name="Hablante 615"/>
          <p:cNvSpPr/>
          <p:nvPr/>
        </p:nvSpPr>
        <p:spPr>
          <a:xfrm>
            <a:off x="4317840" y="274320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4" name="Hablante 616"/>
          <p:cNvSpPr/>
          <p:nvPr/>
        </p:nvSpPr>
        <p:spPr>
          <a:xfrm>
            <a:off x="4546440" y="274320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5" name="Hablante 617"/>
          <p:cNvSpPr/>
          <p:nvPr/>
        </p:nvSpPr>
        <p:spPr>
          <a:xfrm>
            <a:off x="4775040" y="274320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6" name="Conector 618"/>
          <p:cNvSpPr/>
          <p:nvPr/>
        </p:nvSpPr>
        <p:spPr>
          <a:xfrm>
            <a:off x="2133720" y="3314880"/>
            <a:ext cx="279000" cy="1872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7" name="Nodo reunión c 619"/>
          <p:cNvSpPr/>
          <p:nvPr/>
        </p:nvSpPr>
        <p:spPr>
          <a:xfrm>
            <a:off x="2413080" y="3124080"/>
            <a:ext cx="1396800" cy="406080"/>
          </a:xfrm>
          <a:prstGeom prst="roundRect">
            <a:avLst>
              <a:gd name="adj" fmla="val 20000"/>
            </a:avLst>
          </a:prstGeom>
          <a:solidFill>
            <a:srgbClr val="ffffff"/>
          </a:solidFill>
          <a:ln w="15875">
            <a:solidFill>
              <a:srgbClr val="0176de"/>
            </a:solidFill>
            <a:round/>
          </a:ln>
        </p:spPr>
        <p:style>
          <a:lnRef idx="0"/>
          <a:fillRef idx="0"/>
          <a:effectRef idx="0"/>
          <a:fontRef idx="minor"/>
        </p:style>
        <p:txBody>
          <a:bodyPr lIns="0" rIns="0" tIns="0" bIns="0" anchor="ctr">
            <a:noAutofit/>
          </a:bodyPr>
          <a:p>
            <a:pPr algn="ctr" defTabSz="914400">
              <a:lnSpc>
                <a:spcPct val="100000"/>
              </a:lnSpc>
            </a:pPr>
            <a:r>
              <a:rPr b="1" lang="es-CL" sz="1600" strike="noStrike" u="none">
                <a:solidFill>
                  <a:srgbClr val="1a1e2b"/>
                </a:solidFill>
                <a:effectLst/>
                <a:uFillTx/>
                <a:latin typeface="Calibri"/>
              </a:rPr>
              <a:t>Reunión c</a:t>
            </a:r>
            <a:endParaRPr b="0" lang="en-US" sz="1600" strike="noStrike" u="none">
              <a:solidFill>
                <a:srgbClr val="000000"/>
              </a:solidFill>
              <a:effectLst/>
              <a:uFillTx/>
              <a:latin typeface="Arial"/>
            </a:endParaRPr>
          </a:p>
        </p:txBody>
      </p:sp>
      <p:sp>
        <p:nvSpPr>
          <p:cNvPr id="388" name="Conector 620"/>
          <p:cNvSpPr/>
          <p:nvPr/>
        </p:nvSpPr>
        <p:spPr>
          <a:xfrm>
            <a:off x="3809880" y="3314880"/>
            <a:ext cx="202680" cy="1872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89" name="Hablante 621"/>
          <p:cNvSpPr/>
          <p:nvPr/>
        </p:nvSpPr>
        <p:spPr>
          <a:xfrm>
            <a:off x="4089240" y="325116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0" name="Hablante 622"/>
          <p:cNvSpPr/>
          <p:nvPr/>
        </p:nvSpPr>
        <p:spPr>
          <a:xfrm>
            <a:off x="4317840" y="325116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1" name="Hablante 623"/>
          <p:cNvSpPr/>
          <p:nvPr/>
        </p:nvSpPr>
        <p:spPr>
          <a:xfrm>
            <a:off x="4546440" y="325116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2" name="Hablante 624"/>
          <p:cNvSpPr/>
          <p:nvPr/>
        </p:nvSpPr>
        <p:spPr>
          <a:xfrm>
            <a:off x="4775040" y="325116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3" name="Conector 625"/>
          <p:cNvSpPr/>
          <p:nvPr/>
        </p:nvSpPr>
        <p:spPr>
          <a:xfrm>
            <a:off x="2133720" y="3822840"/>
            <a:ext cx="279000" cy="18720"/>
          </a:xfrm>
          <a:prstGeom prst="rect">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4" name="Nodo reunión d 626"/>
          <p:cNvSpPr/>
          <p:nvPr/>
        </p:nvSpPr>
        <p:spPr>
          <a:xfrm>
            <a:off x="2413080" y="3632040"/>
            <a:ext cx="1396800" cy="406080"/>
          </a:xfrm>
          <a:prstGeom prst="roundRect">
            <a:avLst>
              <a:gd name="adj" fmla="val 20000"/>
            </a:avLst>
          </a:prstGeom>
          <a:solidFill>
            <a:srgbClr val="ffffff"/>
          </a:solidFill>
          <a:ln w="15875">
            <a:solidFill>
              <a:srgbClr val="0176de"/>
            </a:solidFill>
            <a:round/>
          </a:ln>
        </p:spPr>
        <p:style>
          <a:lnRef idx="0"/>
          <a:fillRef idx="0"/>
          <a:effectRef idx="0"/>
          <a:fontRef idx="minor"/>
        </p:style>
        <p:txBody>
          <a:bodyPr lIns="0" rIns="0" tIns="0" bIns="0" anchor="ctr">
            <a:noAutofit/>
          </a:bodyPr>
          <a:p>
            <a:pPr algn="ctr" defTabSz="914400">
              <a:lnSpc>
                <a:spcPct val="100000"/>
              </a:lnSpc>
            </a:pPr>
            <a:r>
              <a:rPr b="1" lang="es-CL" sz="1600" strike="noStrike" u="none">
                <a:solidFill>
                  <a:srgbClr val="1a1e2b"/>
                </a:solidFill>
                <a:effectLst/>
                <a:uFillTx/>
                <a:latin typeface="Calibri"/>
              </a:rPr>
              <a:t>Reunión d</a:t>
            </a:r>
            <a:endParaRPr b="0" lang="en-US" sz="1600" strike="noStrike" u="none">
              <a:solidFill>
                <a:srgbClr val="000000"/>
              </a:solidFill>
              <a:effectLst/>
              <a:uFillTx/>
              <a:latin typeface="Arial"/>
            </a:endParaRPr>
          </a:p>
        </p:txBody>
      </p:sp>
      <p:sp>
        <p:nvSpPr>
          <p:cNvPr id="395" name="Conector 627"/>
          <p:cNvSpPr/>
          <p:nvPr/>
        </p:nvSpPr>
        <p:spPr>
          <a:xfrm>
            <a:off x="3809880" y="3822840"/>
            <a:ext cx="202680" cy="1872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6" name="Hablante 628"/>
          <p:cNvSpPr/>
          <p:nvPr/>
        </p:nvSpPr>
        <p:spPr>
          <a:xfrm>
            <a:off x="4089240" y="375912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7" name="Hablante 629"/>
          <p:cNvSpPr/>
          <p:nvPr/>
        </p:nvSpPr>
        <p:spPr>
          <a:xfrm>
            <a:off x="4317840" y="375912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8" name="Hablante 630"/>
          <p:cNvSpPr/>
          <p:nvPr/>
        </p:nvSpPr>
        <p:spPr>
          <a:xfrm>
            <a:off x="4546440" y="375912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399" name="Hablante 631"/>
          <p:cNvSpPr/>
          <p:nvPr/>
        </p:nvSpPr>
        <p:spPr>
          <a:xfrm>
            <a:off x="4775040" y="3759120"/>
            <a:ext cx="151920" cy="151920"/>
          </a:xfrm>
          <a:prstGeom prst="ellipse">
            <a:avLst/>
          </a:prstGeom>
          <a:solidFill>
            <a:srgbClr val="9aa3a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400" name="Multiplicador 632"/>
          <p:cNvSpPr/>
          <p:nvPr/>
        </p:nvSpPr>
        <p:spPr>
          <a:xfrm>
            <a:off x="609480" y="3403440"/>
            <a:ext cx="1269720" cy="2790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s-CL" sz="1600" strike="noStrike" u="none">
                <a:solidFill>
                  <a:srgbClr val="0176de"/>
                </a:solidFill>
                <a:effectLst/>
                <a:uFillTx/>
                <a:latin typeface="Calibri"/>
              </a:rPr>
              <a:t>× 14 series</a:t>
            </a:r>
            <a:endParaRPr b="0" lang="en-US" sz="1600" strike="noStrike" u="none">
              <a:solidFill>
                <a:srgbClr val="000000"/>
              </a:solidFill>
              <a:effectLst/>
              <a:uFillTx/>
              <a:latin typeface="Arial"/>
            </a:endParaRPr>
          </a:p>
        </p:txBody>
      </p:sp>
      <p:sp>
        <p:nvSpPr>
          <p:cNvPr id="401" name="Nota hablantes 633"/>
          <p:cNvSpPr/>
          <p:nvPr/>
        </p:nvSpPr>
        <p:spPr>
          <a:xfrm>
            <a:off x="2413080" y="4140360"/>
            <a:ext cx="33015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400" strike="noStrike" u="none">
                <a:solidFill>
                  <a:srgbClr val="5f6670"/>
                </a:solidFill>
                <a:effectLst/>
                <a:uFillTx/>
                <a:latin typeface="Calibri"/>
              </a:rPr>
              <a:t>4 hablantes por reunión, en promedio</a:t>
            </a:r>
            <a:endParaRPr b="0" lang="en-US" sz="1400" strike="noStrike" u="none">
              <a:solidFill>
                <a:srgbClr val="000000"/>
              </a:solidFill>
              <a:effectLst/>
              <a:uFillTx/>
              <a:latin typeface="Arial"/>
            </a:endParaRPr>
          </a:p>
        </p:txBody>
      </p:sp>
      <p:sp>
        <p:nvSpPr>
          <p:cNvPr id="402" name="Etiqueta escala 634"/>
          <p:cNvSpPr/>
          <p:nvPr/>
        </p:nvSpPr>
        <p:spPr>
          <a:xfrm>
            <a:off x="5892840" y="1778040"/>
            <a:ext cx="56890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Misma escala lineal</a:t>
            </a:r>
            <a:endParaRPr b="0" lang="en-US" sz="1200" strike="noStrike" u="none">
              <a:solidFill>
                <a:srgbClr val="000000"/>
              </a:solidFill>
              <a:effectLst/>
              <a:uFillTx/>
              <a:latin typeface="Arial"/>
            </a:endParaRPr>
          </a:p>
        </p:txBody>
      </p:sp>
      <p:sp>
        <p:nvSpPr>
          <p:cNvPr id="403" name="Lectura escala 651"/>
          <p:cNvSpPr/>
          <p:nvPr/>
        </p:nvSpPr>
        <p:spPr>
          <a:xfrm>
            <a:off x="5892840" y="4444920"/>
            <a:ext cx="292068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5f6670"/>
                </a:solidFill>
                <a:effectLst/>
                <a:uFillTx/>
                <a:latin typeface="Calibri"/>
              </a:rPr>
              <a:t>Pocas series, muchos pares</a:t>
            </a:r>
            <a:endParaRPr b="0" lang="en-US" sz="1400" strike="noStrike" u="none">
              <a:solidFill>
                <a:srgbClr val="000000"/>
              </a:solidFill>
              <a:effectLst/>
              <a:uFillTx/>
              <a:latin typeface="Arial"/>
            </a:endParaRPr>
          </a:p>
        </p:txBody>
      </p:sp>
      <p:sp>
        <p:nvSpPr>
          <p:cNvPr id="404" name="Acento unidad 652"/>
          <p:cNvSpPr/>
          <p:nvPr/>
        </p:nvSpPr>
        <p:spPr>
          <a:xfrm>
            <a:off x="609480" y="4826160"/>
            <a:ext cx="75960" cy="355320"/>
          </a:xfrm>
          <a:prstGeom prst="rect">
            <a:avLst/>
          </a:prstGeom>
          <a:solidFill>
            <a:srgbClr val="fec60d"/>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405" name="Unidad 653"/>
          <p:cNvSpPr/>
          <p:nvPr/>
        </p:nvSpPr>
        <p:spPr>
          <a:xfrm>
            <a:off x="812880" y="4826160"/>
            <a:ext cx="7619760" cy="3553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2000" strike="noStrike" u="none">
                <a:solidFill>
                  <a:srgbClr val="1a1e2b"/>
                </a:solidFill>
                <a:effectLst/>
                <a:uFillTx/>
                <a:latin typeface="Calibri"/>
              </a:rPr>
              <a:t>Unidad real de la muestra: </a:t>
            </a:r>
            <a:r>
              <a:rPr b="1" lang="es-CL" sz="2000" strike="noStrike" u="none">
                <a:solidFill>
                  <a:srgbClr val="0176de"/>
                </a:solidFill>
                <a:effectLst/>
                <a:uFillTx/>
                <a:latin typeface="Calibri"/>
              </a:rPr>
              <a:t>n = 14 series</a:t>
            </a:r>
            <a:endParaRPr b="0" lang="en-US" sz="2000" strike="noStrike" u="none">
              <a:solidFill>
                <a:srgbClr val="000000"/>
              </a:solidFill>
              <a:effectLst/>
              <a:uFillTx/>
              <a:latin typeface="Arial"/>
            </a:endParaRPr>
          </a:p>
        </p:txBody>
      </p:sp>
      <p:sp>
        <p:nvSpPr>
          <p:cNvPr id="406" name="Etiqueta límites 654"/>
          <p:cNvSpPr/>
          <p:nvPr/>
        </p:nvSpPr>
        <p:spPr>
          <a:xfrm>
            <a:off x="609480" y="5334120"/>
            <a:ext cx="1117080" cy="3045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200" spc="99" strike="noStrike" u="none" cap="all">
                <a:solidFill>
                  <a:srgbClr val="b3261e"/>
                </a:solidFill>
                <a:effectLst/>
                <a:uFillTx/>
                <a:latin typeface="Calibri"/>
              </a:rPr>
              <a:t>Límites</a:t>
            </a:r>
            <a:endParaRPr b="0" lang="en-US" sz="1200" strike="noStrike" u="none">
              <a:solidFill>
                <a:srgbClr val="000000"/>
              </a:solidFill>
              <a:effectLst/>
              <a:uFillTx/>
              <a:latin typeface="Arial"/>
            </a:endParaRPr>
          </a:p>
        </p:txBody>
      </p:sp>
      <p:sp>
        <p:nvSpPr>
          <p:cNvPr id="407" name="Límite 655"/>
          <p:cNvSpPr/>
          <p:nvPr/>
        </p:nvSpPr>
        <p:spPr>
          <a:xfrm>
            <a:off x="1778040" y="5334120"/>
            <a:ext cx="2412720" cy="3045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600" strike="noStrike" u="none">
                <a:solidFill>
                  <a:srgbClr val="1a1e2b"/>
                </a:solidFill>
                <a:effectLst/>
                <a:uFillTx/>
                <a:latin typeface="Calibri"/>
              </a:rPr>
              <a:t>14 de 33 series elegibles</a:t>
            </a:r>
            <a:endParaRPr b="0" lang="en-US" sz="1600" strike="noStrike" u="none">
              <a:solidFill>
                <a:srgbClr val="000000"/>
              </a:solidFill>
              <a:effectLst/>
              <a:uFillTx/>
              <a:latin typeface="Arial"/>
            </a:endParaRPr>
          </a:p>
        </p:txBody>
      </p:sp>
      <p:sp>
        <p:nvSpPr>
          <p:cNvPr id="408" name="Separador 656"/>
          <p:cNvSpPr/>
          <p:nvPr/>
        </p:nvSpPr>
        <p:spPr>
          <a:xfrm>
            <a:off x="4216320" y="5384880"/>
            <a:ext cx="12240" cy="20268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409" name="Límite 657"/>
          <p:cNvSpPr/>
          <p:nvPr/>
        </p:nvSpPr>
        <p:spPr>
          <a:xfrm>
            <a:off x="4394160" y="5334120"/>
            <a:ext cx="1777680" cy="3045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600" strike="noStrike" u="none">
                <a:solidFill>
                  <a:srgbClr val="1a1e2b"/>
                </a:solidFill>
                <a:effectLst/>
                <a:uFillTx/>
                <a:latin typeface="Calibri"/>
              </a:rPr>
              <a:t>Un solo dominio</a:t>
            </a:r>
            <a:endParaRPr b="0" lang="en-US" sz="1600" strike="noStrike" u="none">
              <a:solidFill>
                <a:srgbClr val="000000"/>
              </a:solidFill>
              <a:effectLst/>
              <a:uFillTx/>
              <a:latin typeface="Arial"/>
            </a:endParaRPr>
          </a:p>
        </p:txBody>
      </p:sp>
      <p:sp>
        <p:nvSpPr>
          <p:cNvPr id="410" name="Separador 658"/>
          <p:cNvSpPr/>
          <p:nvPr/>
        </p:nvSpPr>
        <p:spPr>
          <a:xfrm>
            <a:off x="6197760" y="5384880"/>
            <a:ext cx="12240" cy="20268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411" name="Límite 659"/>
          <p:cNvSpPr/>
          <p:nvPr/>
        </p:nvSpPr>
        <p:spPr>
          <a:xfrm>
            <a:off x="6375240" y="5334120"/>
            <a:ext cx="1777680" cy="30456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600" strike="noStrike" u="none">
                <a:solidFill>
                  <a:srgbClr val="1a1e2b"/>
                </a:solidFill>
                <a:effectLst/>
                <a:uFillTx/>
                <a:latin typeface="Calibri"/>
              </a:rPr>
              <a:t>Habla actuada</a:t>
            </a:r>
            <a:endParaRPr b="0" lang="en-US" sz="1600" strike="noStrike" u="none">
              <a:solidFill>
                <a:srgbClr val="000000"/>
              </a:solidFill>
              <a:effectLst/>
              <a:uFillTx/>
              <a:latin typeface="Arial"/>
            </a:endParaRPr>
          </a:p>
        </p:txBody>
      </p:sp>
      <p:graphicFrame>
        <p:nvGraphicFramePr>
          <p:cNvPr id="412" name="Chart"/>
          <p:cNvGraphicFramePr/>
          <p:nvPr/>
        </p:nvGraphicFramePr>
        <p:xfrm>
          <a:off x="5892840" y="2082960"/>
          <a:ext cx="5689080" cy="2285640"/>
        </p:xfrm>
        <a:graphic>
          <a:graphicData uri="http://schemas.openxmlformats.org/drawingml/2006/chart">
            <c:chart xmlns:c="http://schemas.openxmlformats.org/drawingml/2006/chart" xmlns:r="http://schemas.openxmlformats.org/officeDocument/2006/relationships" r:id="rId4"/>
          </a:graphicData>
        </a:graphic>
      </p:graphicFrame>
      <p:sp>
        <p:nvSpPr>
          <p:cNvPr id="413"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4" name="Progreso 2"/>
          <p:cNvSpPr/>
          <p:nvPr/>
        </p:nvSpPr>
        <p:spPr>
          <a:xfrm>
            <a:off x="1032048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5" name="Progreso 3"/>
          <p:cNvSpPr/>
          <p:nvPr/>
        </p:nvSpPr>
        <p:spPr>
          <a:xfrm>
            <a:off x="105062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6"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7"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8"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19"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20"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45000">
    <p:fade/>
  </p:transition>
  <p:timing>
    <p:tnLst>
      <p:par>
        <p:cTn id="84" dur="indefinite" restart="never" nodeType="tmRoot">
          <p:childTnLst>
            <p:seq>
              <p:cTn id="85" dur="indefinite" nodeType="mainSeq">
                <p:childTnLst>
                  <p:par>
                    <p:cTn id="86" fill="hold">
                      <p:stCondLst>
                        <p:cond delay="indefinite"/>
                      </p:stCondLst>
                      <p:childTnLst>
                        <p:par>
                          <p:cTn id="87" fill="hold">
                            <p:stCondLst>
                              <p:cond delay="0"/>
                            </p:stCondLst>
                            <p:childTnLst>
                              <p:par>
                                <p:cTn id="88" nodeType="clickEffect" fill="hold" presetClass="entr" presetID="10">
                                  <p:stCondLst>
                                    <p:cond delay="0"/>
                                  </p:stCondLst>
                                  <p:childTnLst>
                                    <p:set>
                                      <p:cBhvr>
                                        <p:cTn id="89" dur="1" fill="hold">
                                          <p:stCondLst>
                                            <p:cond delay="0"/>
                                          </p:stCondLst>
                                        </p:cTn>
                                        <p:tgtEl>
                                          <p:spTgt spid="368"/>
                                        </p:tgtEl>
                                        <p:attrNameLst>
                                          <p:attrName>style.visibility</p:attrName>
                                        </p:attrNameLst>
                                      </p:cBhvr>
                                      <p:to>
                                        <p:strVal val="visible"/>
                                      </p:to>
                                    </p:set>
                                    <p:animEffect filter="fade" transition="in">
                                      <p:cBhvr additive="repl">
                                        <p:cTn id="90" dur="500"/>
                                        <p:tgtEl>
                                          <p:spTgt spid="368"/>
                                        </p:tgtEl>
                                      </p:cBhvr>
                                    </p:animEffect>
                                  </p:childTnLst>
                                </p:cTn>
                              </p:par>
                              <p:par>
                                <p:cTn id="91" nodeType="withEffect" fill="hold" presetClass="entr" presetID="10">
                                  <p:stCondLst>
                                    <p:cond delay="0"/>
                                  </p:stCondLst>
                                  <p:childTnLst>
                                    <p:set>
                                      <p:cBhvr>
                                        <p:cTn id="92" dur="1" fill="hold">
                                          <p:stCondLst>
                                            <p:cond delay="0"/>
                                          </p:stCondLst>
                                        </p:cTn>
                                        <p:tgtEl>
                                          <p:spTgt spid="369"/>
                                        </p:tgtEl>
                                        <p:attrNameLst>
                                          <p:attrName>style.visibility</p:attrName>
                                        </p:attrNameLst>
                                      </p:cBhvr>
                                      <p:to>
                                        <p:strVal val="visible"/>
                                      </p:to>
                                    </p:set>
                                    <p:animEffect filter="fade" transition="in">
                                      <p:cBhvr additive="repl">
                                        <p:cTn id="93" dur="500"/>
                                        <p:tgtEl>
                                          <p:spTgt spid="369"/>
                                        </p:tgtEl>
                                      </p:cBhvr>
                                    </p:animEffect>
                                  </p:childTnLst>
                                </p:cTn>
                              </p:par>
                              <p:par>
                                <p:cTn id="94" nodeType="withEffect" fill="hold" presetClass="entr" presetID="10">
                                  <p:stCondLst>
                                    <p:cond delay="0"/>
                                  </p:stCondLst>
                                  <p:childTnLst>
                                    <p:set>
                                      <p:cBhvr>
                                        <p:cTn id="95" dur="1" fill="hold">
                                          <p:stCondLst>
                                            <p:cond delay="0"/>
                                          </p:stCondLst>
                                        </p:cTn>
                                        <p:tgtEl>
                                          <p:spTgt spid="370"/>
                                        </p:tgtEl>
                                        <p:attrNameLst>
                                          <p:attrName>style.visibility</p:attrName>
                                        </p:attrNameLst>
                                      </p:cBhvr>
                                      <p:to>
                                        <p:strVal val="visible"/>
                                      </p:to>
                                    </p:set>
                                    <p:animEffect filter="fade" transition="in">
                                      <p:cBhvr additive="repl">
                                        <p:cTn id="96" dur="500"/>
                                        <p:tgtEl>
                                          <p:spTgt spid="370"/>
                                        </p:tgtEl>
                                      </p:cBhvr>
                                    </p:animEffect>
                                  </p:childTnLst>
                                </p:cTn>
                              </p:par>
                              <p:par>
                                <p:cTn id="97" nodeType="withEffect" fill="hold" presetClass="entr" presetID="10">
                                  <p:stCondLst>
                                    <p:cond delay="0"/>
                                  </p:stCondLst>
                                  <p:childTnLst>
                                    <p:set>
                                      <p:cBhvr>
                                        <p:cTn id="98" dur="1" fill="hold">
                                          <p:stCondLst>
                                            <p:cond delay="0"/>
                                          </p:stCondLst>
                                        </p:cTn>
                                        <p:tgtEl>
                                          <p:spTgt spid="371"/>
                                        </p:tgtEl>
                                        <p:attrNameLst>
                                          <p:attrName>style.visibility</p:attrName>
                                        </p:attrNameLst>
                                      </p:cBhvr>
                                      <p:to>
                                        <p:strVal val="visible"/>
                                      </p:to>
                                    </p:set>
                                    <p:animEffect filter="fade" transition="in">
                                      <p:cBhvr additive="repl">
                                        <p:cTn id="99" dur="500"/>
                                        <p:tgtEl>
                                          <p:spTgt spid="371"/>
                                        </p:tgtEl>
                                      </p:cBhvr>
                                    </p:animEffect>
                                  </p:childTnLst>
                                </p:cTn>
                              </p:par>
                              <p:par>
                                <p:cTn id="100" nodeType="withEffect" fill="hold" presetClass="entr" presetID="10">
                                  <p:stCondLst>
                                    <p:cond delay="0"/>
                                  </p:stCondLst>
                                  <p:childTnLst>
                                    <p:set>
                                      <p:cBhvr>
                                        <p:cTn id="101" dur="1" fill="hold">
                                          <p:stCondLst>
                                            <p:cond delay="0"/>
                                          </p:stCondLst>
                                        </p:cTn>
                                        <p:tgtEl>
                                          <p:spTgt spid="372"/>
                                        </p:tgtEl>
                                        <p:attrNameLst>
                                          <p:attrName>style.visibility</p:attrName>
                                        </p:attrNameLst>
                                      </p:cBhvr>
                                      <p:to>
                                        <p:strVal val="visible"/>
                                      </p:to>
                                    </p:set>
                                    <p:animEffect filter="fade" transition="in">
                                      <p:cBhvr additive="repl">
                                        <p:cTn id="102" dur="500"/>
                                        <p:tgtEl>
                                          <p:spTgt spid="372"/>
                                        </p:tgtEl>
                                      </p:cBhvr>
                                    </p:animEffect>
                                  </p:childTnLst>
                                </p:cTn>
                              </p:par>
                              <p:par>
                                <p:cTn id="103" nodeType="withEffect" fill="hold" presetClass="entr" presetID="10">
                                  <p:stCondLst>
                                    <p:cond delay="0"/>
                                  </p:stCondLst>
                                  <p:childTnLst>
                                    <p:set>
                                      <p:cBhvr>
                                        <p:cTn id="104" dur="1" fill="hold">
                                          <p:stCondLst>
                                            <p:cond delay="0"/>
                                          </p:stCondLst>
                                        </p:cTn>
                                        <p:tgtEl>
                                          <p:spTgt spid="373"/>
                                        </p:tgtEl>
                                        <p:attrNameLst>
                                          <p:attrName>style.visibility</p:attrName>
                                        </p:attrNameLst>
                                      </p:cBhvr>
                                      <p:to>
                                        <p:strVal val="visible"/>
                                      </p:to>
                                    </p:set>
                                    <p:animEffect filter="fade" transition="in">
                                      <p:cBhvr additive="repl">
                                        <p:cTn id="105" dur="500"/>
                                        <p:tgtEl>
                                          <p:spTgt spid="373"/>
                                        </p:tgtEl>
                                      </p:cBhvr>
                                    </p:animEffect>
                                  </p:childTnLst>
                                </p:cTn>
                              </p:par>
                              <p:par>
                                <p:cTn id="106" nodeType="withEffect" fill="hold" presetClass="entr" presetID="10">
                                  <p:stCondLst>
                                    <p:cond delay="0"/>
                                  </p:stCondLst>
                                  <p:childTnLst>
                                    <p:set>
                                      <p:cBhvr>
                                        <p:cTn id="107" dur="1" fill="hold">
                                          <p:stCondLst>
                                            <p:cond delay="0"/>
                                          </p:stCondLst>
                                        </p:cTn>
                                        <p:tgtEl>
                                          <p:spTgt spid="379"/>
                                        </p:tgtEl>
                                        <p:attrNameLst>
                                          <p:attrName>style.visibility</p:attrName>
                                        </p:attrNameLst>
                                      </p:cBhvr>
                                      <p:to>
                                        <p:strVal val="visible"/>
                                      </p:to>
                                    </p:set>
                                    <p:animEffect filter="fade" transition="in">
                                      <p:cBhvr additive="repl">
                                        <p:cTn id="108" dur="500"/>
                                        <p:tgtEl>
                                          <p:spTgt spid="379"/>
                                        </p:tgtEl>
                                      </p:cBhvr>
                                    </p:animEffect>
                                  </p:childTnLst>
                                </p:cTn>
                              </p:par>
                              <p:par>
                                <p:cTn id="109" nodeType="withEffect" fill="hold" presetClass="entr" presetID="10">
                                  <p:stCondLst>
                                    <p:cond delay="0"/>
                                  </p:stCondLst>
                                  <p:childTnLst>
                                    <p:set>
                                      <p:cBhvr>
                                        <p:cTn id="110" dur="1" fill="hold">
                                          <p:stCondLst>
                                            <p:cond delay="0"/>
                                          </p:stCondLst>
                                        </p:cTn>
                                        <p:tgtEl>
                                          <p:spTgt spid="380"/>
                                        </p:tgtEl>
                                        <p:attrNameLst>
                                          <p:attrName>style.visibility</p:attrName>
                                        </p:attrNameLst>
                                      </p:cBhvr>
                                      <p:to>
                                        <p:strVal val="visible"/>
                                      </p:to>
                                    </p:set>
                                    <p:animEffect filter="fade" transition="in">
                                      <p:cBhvr additive="repl">
                                        <p:cTn id="111" dur="500"/>
                                        <p:tgtEl>
                                          <p:spTgt spid="380"/>
                                        </p:tgtEl>
                                      </p:cBhvr>
                                    </p:animEffect>
                                  </p:childTnLst>
                                </p:cTn>
                              </p:par>
                              <p:par>
                                <p:cTn id="112" nodeType="withEffect" fill="hold" presetClass="entr" presetID="10">
                                  <p:stCondLst>
                                    <p:cond delay="0"/>
                                  </p:stCondLst>
                                  <p:childTnLst>
                                    <p:set>
                                      <p:cBhvr>
                                        <p:cTn id="113" dur="1" fill="hold">
                                          <p:stCondLst>
                                            <p:cond delay="0"/>
                                          </p:stCondLst>
                                        </p:cTn>
                                        <p:tgtEl>
                                          <p:spTgt spid="386"/>
                                        </p:tgtEl>
                                        <p:attrNameLst>
                                          <p:attrName>style.visibility</p:attrName>
                                        </p:attrNameLst>
                                      </p:cBhvr>
                                      <p:to>
                                        <p:strVal val="visible"/>
                                      </p:to>
                                    </p:set>
                                    <p:animEffect filter="fade" transition="in">
                                      <p:cBhvr additive="repl">
                                        <p:cTn id="114" dur="500"/>
                                        <p:tgtEl>
                                          <p:spTgt spid="386"/>
                                        </p:tgtEl>
                                      </p:cBhvr>
                                    </p:animEffect>
                                  </p:childTnLst>
                                </p:cTn>
                              </p:par>
                              <p:par>
                                <p:cTn id="115" nodeType="withEffect" fill="hold" presetClass="entr" presetID="10">
                                  <p:stCondLst>
                                    <p:cond delay="0"/>
                                  </p:stCondLst>
                                  <p:childTnLst>
                                    <p:set>
                                      <p:cBhvr>
                                        <p:cTn id="116" dur="1" fill="hold">
                                          <p:stCondLst>
                                            <p:cond delay="0"/>
                                          </p:stCondLst>
                                        </p:cTn>
                                        <p:tgtEl>
                                          <p:spTgt spid="387"/>
                                        </p:tgtEl>
                                        <p:attrNameLst>
                                          <p:attrName>style.visibility</p:attrName>
                                        </p:attrNameLst>
                                      </p:cBhvr>
                                      <p:to>
                                        <p:strVal val="visible"/>
                                      </p:to>
                                    </p:set>
                                    <p:animEffect filter="fade" transition="in">
                                      <p:cBhvr additive="repl">
                                        <p:cTn id="117" dur="500"/>
                                        <p:tgtEl>
                                          <p:spTgt spid="387"/>
                                        </p:tgtEl>
                                      </p:cBhvr>
                                    </p:animEffect>
                                  </p:childTnLst>
                                </p:cTn>
                              </p:par>
                              <p:par>
                                <p:cTn id="118" nodeType="withEffect" fill="hold" presetClass="entr" presetID="10">
                                  <p:stCondLst>
                                    <p:cond delay="0"/>
                                  </p:stCondLst>
                                  <p:childTnLst>
                                    <p:set>
                                      <p:cBhvr>
                                        <p:cTn id="119" dur="1" fill="hold">
                                          <p:stCondLst>
                                            <p:cond delay="0"/>
                                          </p:stCondLst>
                                        </p:cTn>
                                        <p:tgtEl>
                                          <p:spTgt spid="393"/>
                                        </p:tgtEl>
                                        <p:attrNameLst>
                                          <p:attrName>style.visibility</p:attrName>
                                        </p:attrNameLst>
                                      </p:cBhvr>
                                      <p:to>
                                        <p:strVal val="visible"/>
                                      </p:to>
                                    </p:set>
                                    <p:animEffect filter="fade" transition="in">
                                      <p:cBhvr additive="repl">
                                        <p:cTn id="120" dur="500"/>
                                        <p:tgtEl>
                                          <p:spTgt spid="393"/>
                                        </p:tgtEl>
                                      </p:cBhvr>
                                    </p:animEffect>
                                  </p:childTnLst>
                                </p:cTn>
                              </p:par>
                              <p:par>
                                <p:cTn id="121" nodeType="withEffect" fill="hold" presetClass="entr" presetID="10">
                                  <p:stCondLst>
                                    <p:cond delay="0"/>
                                  </p:stCondLst>
                                  <p:childTnLst>
                                    <p:set>
                                      <p:cBhvr>
                                        <p:cTn id="122" dur="1" fill="hold">
                                          <p:stCondLst>
                                            <p:cond delay="0"/>
                                          </p:stCondLst>
                                        </p:cTn>
                                        <p:tgtEl>
                                          <p:spTgt spid="394"/>
                                        </p:tgtEl>
                                        <p:attrNameLst>
                                          <p:attrName>style.visibility</p:attrName>
                                        </p:attrNameLst>
                                      </p:cBhvr>
                                      <p:to>
                                        <p:strVal val="visible"/>
                                      </p:to>
                                    </p:set>
                                    <p:animEffect filter="fade" transition="in">
                                      <p:cBhvr additive="repl">
                                        <p:cTn id="123" dur="500"/>
                                        <p:tgtEl>
                                          <p:spTgt spid="394"/>
                                        </p:tgtEl>
                                      </p:cBhvr>
                                    </p:animEffect>
                                  </p:childTnLst>
                                </p:cTn>
                              </p:par>
                              <p:par>
                                <p:cTn id="124" nodeType="withEffect" fill="hold" presetClass="entr" presetID="10">
                                  <p:stCondLst>
                                    <p:cond delay="0"/>
                                  </p:stCondLst>
                                  <p:childTnLst>
                                    <p:set>
                                      <p:cBhvr>
                                        <p:cTn id="125" dur="1" fill="hold">
                                          <p:stCondLst>
                                            <p:cond delay="0"/>
                                          </p:stCondLst>
                                        </p:cTn>
                                        <p:tgtEl>
                                          <p:spTgt spid="400"/>
                                        </p:tgtEl>
                                        <p:attrNameLst>
                                          <p:attrName>style.visibility</p:attrName>
                                        </p:attrNameLst>
                                      </p:cBhvr>
                                      <p:to>
                                        <p:strVal val="visible"/>
                                      </p:to>
                                    </p:set>
                                    <p:animEffect filter="fade" transition="in">
                                      <p:cBhvr additive="repl">
                                        <p:cTn id="126" dur="500"/>
                                        <p:tgtEl>
                                          <p:spTgt spid="400"/>
                                        </p:tgtEl>
                                      </p:cBhvr>
                                    </p:animEffec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10">
                                  <p:stCondLst>
                                    <p:cond delay="0"/>
                                  </p:stCondLst>
                                  <p:childTnLst>
                                    <p:set>
                                      <p:cBhvr>
                                        <p:cTn id="130" dur="1" fill="hold">
                                          <p:stCondLst>
                                            <p:cond delay="0"/>
                                          </p:stCondLst>
                                        </p:cTn>
                                        <p:tgtEl>
                                          <p:spTgt spid="374"/>
                                        </p:tgtEl>
                                        <p:attrNameLst>
                                          <p:attrName>style.visibility</p:attrName>
                                        </p:attrNameLst>
                                      </p:cBhvr>
                                      <p:to>
                                        <p:strVal val="visible"/>
                                      </p:to>
                                    </p:set>
                                    <p:animEffect filter="fade" transition="in">
                                      <p:cBhvr additive="repl">
                                        <p:cTn id="131" dur="500"/>
                                        <p:tgtEl>
                                          <p:spTgt spid="374"/>
                                        </p:tgtEl>
                                      </p:cBhvr>
                                    </p:animEffect>
                                  </p:childTnLst>
                                </p:cTn>
                              </p:par>
                              <p:par>
                                <p:cTn id="132" nodeType="withEffect" fill="hold" presetClass="entr" presetID="10">
                                  <p:stCondLst>
                                    <p:cond delay="0"/>
                                  </p:stCondLst>
                                  <p:childTnLst>
                                    <p:set>
                                      <p:cBhvr>
                                        <p:cTn id="133" dur="1" fill="hold">
                                          <p:stCondLst>
                                            <p:cond delay="0"/>
                                          </p:stCondLst>
                                        </p:cTn>
                                        <p:tgtEl>
                                          <p:spTgt spid="375"/>
                                        </p:tgtEl>
                                        <p:attrNameLst>
                                          <p:attrName>style.visibility</p:attrName>
                                        </p:attrNameLst>
                                      </p:cBhvr>
                                      <p:to>
                                        <p:strVal val="visible"/>
                                      </p:to>
                                    </p:set>
                                    <p:animEffect filter="fade" transition="in">
                                      <p:cBhvr additive="repl">
                                        <p:cTn id="134" dur="500"/>
                                        <p:tgtEl>
                                          <p:spTgt spid="375"/>
                                        </p:tgtEl>
                                      </p:cBhvr>
                                    </p:animEffect>
                                  </p:childTnLst>
                                </p:cTn>
                              </p:par>
                              <p:par>
                                <p:cTn id="135" nodeType="withEffect" fill="hold" presetClass="entr" presetID="10">
                                  <p:stCondLst>
                                    <p:cond delay="0"/>
                                  </p:stCondLst>
                                  <p:childTnLst>
                                    <p:set>
                                      <p:cBhvr>
                                        <p:cTn id="136" dur="1" fill="hold">
                                          <p:stCondLst>
                                            <p:cond delay="0"/>
                                          </p:stCondLst>
                                        </p:cTn>
                                        <p:tgtEl>
                                          <p:spTgt spid="376"/>
                                        </p:tgtEl>
                                        <p:attrNameLst>
                                          <p:attrName>style.visibility</p:attrName>
                                        </p:attrNameLst>
                                      </p:cBhvr>
                                      <p:to>
                                        <p:strVal val="visible"/>
                                      </p:to>
                                    </p:set>
                                    <p:animEffect filter="fade" transition="in">
                                      <p:cBhvr additive="repl">
                                        <p:cTn id="137" dur="500"/>
                                        <p:tgtEl>
                                          <p:spTgt spid="376"/>
                                        </p:tgtEl>
                                      </p:cBhvr>
                                    </p:animEffect>
                                  </p:childTnLst>
                                </p:cTn>
                              </p:par>
                              <p:par>
                                <p:cTn id="138" nodeType="withEffect" fill="hold" presetClass="entr" presetID="10">
                                  <p:stCondLst>
                                    <p:cond delay="0"/>
                                  </p:stCondLst>
                                  <p:childTnLst>
                                    <p:set>
                                      <p:cBhvr>
                                        <p:cTn id="139" dur="1" fill="hold">
                                          <p:stCondLst>
                                            <p:cond delay="0"/>
                                          </p:stCondLst>
                                        </p:cTn>
                                        <p:tgtEl>
                                          <p:spTgt spid="377"/>
                                        </p:tgtEl>
                                        <p:attrNameLst>
                                          <p:attrName>style.visibility</p:attrName>
                                        </p:attrNameLst>
                                      </p:cBhvr>
                                      <p:to>
                                        <p:strVal val="visible"/>
                                      </p:to>
                                    </p:set>
                                    <p:animEffect filter="fade" transition="in">
                                      <p:cBhvr additive="repl">
                                        <p:cTn id="140" dur="500"/>
                                        <p:tgtEl>
                                          <p:spTgt spid="377"/>
                                        </p:tgtEl>
                                      </p:cBhvr>
                                    </p:animEffect>
                                  </p:childTnLst>
                                </p:cTn>
                              </p:par>
                              <p:par>
                                <p:cTn id="141" nodeType="withEffect" fill="hold" presetClass="entr" presetID="10">
                                  <p:stCondLst>
                                    <p:cond delay="0"/>
                                  </p:stCondLst>
                                  <p:childTnLst>
                                    <p:set>
                                      <p:cBhvr>
                                        <p:cTn id="142" dur="1" fill="hold">
                                          <p:stCondLst>
                                            <p:cond delay="0"/>
                                          </p:stCondLst>
                                        </p:cTn>
                                        <p:tgtEl>
                                          <p:spTgt spid="378"/>
                                        </p:tgtEl>
                                        <p:attrNameLst>
                                          <p:attrName>style.visibility</p:attrName>
                                        </p:attrNameLst>
                                      </p:cBhvr>
                                      <p:to>
                                        <p:strVal val="visible"/>
                                      </p:to>
                                    </p:set>
                                    <p:animEffect filter="fade" transition="in">
                                      <p:cBhvr additive="repl">
                                        <p:cTn id="143" dur="500"/>
                                        <p:tgtEl>
                                          <p:spTgt spid="378"/>
                                        </p:tgtEl>
                                      </p:cBhvr>
                                    </p:animEffect>
                                  </p:childTnLst>
                                </p:cTn>
                              </p:par>
                              <p:par>
                                <p:cTn id="144" nodeType="withEffect" fill="hold" presetClass="entr" presetID="10">
                                  <p:stCondLst>
                                    <p:cond delay="0"/>
                                  </p:stCondLst>
                                  <p:childTnLst>
                                    <p:set>
                                      <p:cBhvr>
                                        <p:cTn id="145" dur="1" fill="hold">
                                          <p:stCondLst>
                                            <p:cond delay="0"/>
                                          </p:stCondLst>
                                        </p:cTn>
                                        <p:tgtEl>
                                          <p:spTgt spid="381"/>
                                        </p:tgtEl>
                                        <p:attrNameLst>
                                          <p:attrName>style.visibility</p:attrName>
                                        </p:attrNameLst>
                                      </p:cBhvr>
                                      <p:to>
                                        <p:strVal val="visible"/>
                                      </p:to>
                                    </p:set>
                                    <p:animEffect filter="fade" transition="in">
                                      <p:cBhvr additive="repl">
                                        <p:cTn id="146" dur="500"/>
                                        <p:tgtEl>
                                          <p:spTgt spid="381"/>
                                        </p:tgtEl>
                                      </p:cBhvr>
                                    </p:animEffect>
                                  </p:childTnLst>
                                </p:cTn>
                              </p:par>
                              <p:par>
                                <p:cTn id="147" nodeType="withEffect" fill="hold" presetClass="entr" presetID="10">
                                  <p:stCondLst>
                                    <p:cond delay="0"/>
                                  </p:stCondLst>
                                  <p:childTnLst>
                                    <p:set>
                                      <p:cBhvr>
                                        <p:cTn id="148" dur="1" fill="hold">
                                          <p:stCondLst>
                                            <p:cond delay="0"/>
                                          </p:stCondLst>
                                        </p:cTn>
                                        <p:tgtEl>
                                          <p:spTgt spid="382"/>
                                        </p:tgtEl>
                                        <p:attrNameLst>
                                          <p:attrName>style.visibility</p:attrName>
                                        </p:attrNameLst>
                                      </p:cBhvr>
                                      <p:to>
                                        <p:strVal val="visible"/>
                                      </p:to>
                                    </p:set>
                                    <p:animEffect filter="fade" transition="in">
                                      <p:cBhvr additive="repl">
                                        <p:cTn id="149" dur="500"/>
                                        <p:tgtEl>
                                          <p:spTgt spid="382"/>
                                        </p:tgtEl>
                                      </p:cBhvr>
                                    </p:animEffect>
                                  </p:childTnLst>
                                </p:cTn>
                              </p:par>
                              <p:par>
                                <p:cTn id="150" nodeType="withEffect" fill="hold" presetClass="entr" presetID="10">
                                  <p:stCondLst>
                                    <p:cond delay="0"/>
                                  </p:stCondLst>
                                  <p:childTnLst>
                                    <p:set>
                                      <p:cBhvr>
                                        <p:cTn id="151" dur="1" fill="hold">
                                          <p:stCondLst>
                                            <p:cond delay="0"/>
                                          </p:stCondLst>
                                        </p:cTn>
                                        <p:tgtEl>
                                          <p:spTgt spid="383"/>
                                        </p:tgtEl>
                                        <p:attrNameLst>
                                          <p:attrName>style.visibility</p:attrName>
                                        </p:attrNameLst>
                                      </p:cBhvr>
                                      <p:to>
                                        <p:strVal val="visible"/>
                                      </p:to>
                                    </p:set>
                                    <p:animEffect filter="fade" transition="in">
                                      <p:cBhvr additive="repl">
                                        <p:cTn id="152" dur="500"/>
                                        <p:tgtEl>
                                          <p:spTgt spid="383"/>
                                        </p:tgtEl>
                                      </p:cBhvr>
                                    </p:animEffect>
                                  </p:childTnLst>
                                </p:cTn>
                              </p:par>
                              <p:par>
                                <p:cTn id="153" nodeType="withEffect" fill="hold" presetClass="entr" presetID="10">
                                  <p:stCondLst>
                                    <p:cond delay="0"/>
                                  </p:stCondLst>
                                  <p:childTnLst>
                                    <p:set>
                                      <p:cBhvr>
                                        <p:cTn id="154" dur="1" fill="hold">
                                          <p:stCondLst>
                                            <p:cond delay="0"/>
                                          </p:stCondLst>
                                        </p:cTn>
                                        <p:tgtEl>
                                          <p:spTgt spid="384"/>
                                        </p:tgtEl>
                                        <p:attrNameLst>
                                          <p:attrName>style.visibility</p:attrName>
                                        </p:attrNameLst>
                                      </p:cBhvr>
                                      <p:to>
                                        <p:strVal val="visible"/>
                                      </p:to>
                                    </p:set>
                                    <p:animEffect filter="fade" transition="in">
                                      <p:cBhvr additive="repl">
                                        <p:cTn id="155" dur="500"/>
                                        <p:tgtEl>
                                          <p:spTgt spid="384"/>
                                        </p:tgtEl>
                                      </p:cBhvr>
                                    </p:animEffect>
                                  </p:childTnLst>
                                </p:cTn>
                              </p:par>
                              <p:par>
                                <p:cTn id="156" nodeType="withEffect" fill="hold" presetClass="entr" presetID="10">
                                  <p:stCondLst>
                                    <p:cond delay="0"/>
                                  </p:stCondLst>
                                  <p:childTnLst>
                                    <p:set>
                                      <p:cBhvr>
                                        <p:cTn id="157" dur="1" fill="hold">
                                          <p:stCondLst>
                                            <p:cond delay="0"/>
                                          </p:stCondLst>
                                        </p:cTn>
                                        <p:tgtEl>
                                          <p:spTgt spid="385"/>
                                        </p:tgtEl>
                                        <p:attrNameLst>
                                          <p:attrName>style.visibility</p:attrName>
                                        </p:attrNameLst>
                                      </p:cBhvr>
                                      <p:to>
                                        <p:strVal val="visible"/>
                                      </p:to>
                                    </p:set>
                                    <p:animEffect filter="fade" transition="in">
                                      <p:cBhvr additive="repl">
                                        <p:cTn id="158" dur="500"/>
                                        <p:tgtEl>
                                          <p:spTgt spid="385"/>
                                        </p:tgtEl>
                                      </p:cBhvr>
                                    </p:animEffect>
                                  </p:childTnLst>
                                </p:cTn>
                              </p:par>
                              <p:par>
                                <p:cTn id="159" nodeType="withEffect" fill="hold" presetClass="entr" presetID="10">
                                  <p:stCondLst>
                                    <p:cond delay="0"/>
                                  </p:stCondLst>
                                  <p:childTnLst>
                                    <p:set>
                                      <p:cBhvr>
                                        <p:cTn id="160" dur="1" fill="hold">
                                          <p:stCondLst>
                                            <p:cond delay="0"/>
                                          </p:stCondLst>
                                        </p:cTn>
                                        <p:tgtEl>
                                          <p:spTgt spid="388"/>
                                        </p:tgtEl>
                                        <p:attrNameLst>
                                          <p:attrName>style.visibility</p:attrName>
                                        </p:attrNameLst>
                                      </p:cBhvr>
                                      <p:to>
                                        <p:strVal val="visible"/>
                                      </p:to>
                                    </p:set>
                                    <p:animEffect filter="fade" transition="in">
                                      <p:cBhvr additive="repl">
                                        <p:cTn id="161" dur="500"/>
                                        <p:tgtEl>
                                          <p:spTgt spid="388"/>
                                        </p:tgtEl>
                                      </p:cBhvr>
                                    </p:animEffect>
                                  </p:childTnLst>
                                </p:cTn>
                              </p:par>
                              <p:par>
                                <p:cTn id="162" nodeType="withEffect" fill="hold" presetClass="entr" presetID="10">
                                  <p:stCondLst>
                                    <p:cond delay="0"/>
                                  </p:stCondLst>
                                  <p:childTnLst>
                                    <p:set>
                                      <p:cBhvr>
                                        <p:cTn id="163" dur="1" fill="hold">
                                          <p:stCondLst>
                                            <p:cond delay="0"/>
                                          </p:stCondLst>
                                        </p:cTn>
                                        <p:tgtEl>
                                          <p:spTgt spid="389"/>
                                        </p:tgtEl>
                                        <p:attrNameLst>
                                          <p:attrName>style.visibility</p:attrName>
                                        </p:attrNameLst>
                                      </p:cBhvr>
                                      <p:to>
                                        <p:strVal val="visible"/>
                                      </p:to>
                                    </p:set>
                                    <p:animEffect filter="fade" transition="in">
                                      <p:cBhvr additive="repl">
                                        <p:cTn id="164" dur="500"/>
                                        <p:tgtEl>
                                          <p:spTgt spid="389"/>
                                        </p:tgtEl>
                                      </p:cBhvr>
                                    </p:animEffect>
                                  </p:childTnLst>
                                </p:cTn>
                              </p:par>
                              <p:par>
                                <p:cTn id="165" nodeType="withEffect" fill="hold" presetClass="entr" presetID="10">
                                  <p:stCondLst>
                                    <p:cond delay="0"/>
                                  </p:stCondLst>
                                  <p:childTnLst>
                                    <p:set>
                                      <p:cBhvr>
                                        <p:cTn id="166" dur="1" fill="hold">
                                          <p:stCondLst>
                                            <p:cond delay="0"/>
                                          </p:stCondLst>
                                        </p:cTn>
                                        <p:tgtEl>
                                          <p:spTgt spid="390"/>
                                        </p:tgtEl>
                                        <p:attrNameLst>
                                          <p:attrName>style.visibility</p:attrName>
                                        </p:attrNameLst>
                                      </p:cBhvr>
                                      <p:to>
                                        <p:strVal val="visible"/>
                                      </p:to>
                                    </p:set>
                                    <p:animEffect filter="fade" transition="in">
                                      <p:cBhvr additive="repl">
                                        <p:cTn id="167" dur="500"/>
                                        <p:tgtEl>
                                          <p:spTgt spid="390"/>
                                        </p:tgtEl>
                                      </p:cBhvr>
                                    </p:animEffect>
                                  </p:childTnLst>
                                </p:cTn>
                              </p:par>
                              <p:par>
                                <p:cTn id="168" nodeType="withEffect" fill="hold" presetClass="entr" presetID="10">
                                  <p:stCondLst>
                                    <p:cond delay="0"/>
                                  </p:stCondLst>
                                  <p:childTnLst>
                                    <p:set>
                                      <p:cBhvr>
                                        <p:cTn id="169" dur="1" fill="hold">
                                          <p:stCondLst>
                                            <p:cond delay="0"/>
                                          </p:stCondLst>
                                        </p:cTn>
                                        <p:tgtEl>
                                          <p:spTgt spid="391"/>
                                        </p:tgtEl>
                                        <p:attrNameLst>
                                          <p:attrName>style.visibility</p:attrName>
                                        </p:attrNameLst>
                                      </p:cBhvr>
                                      <p:to>
                                        <p:strVal val="visible"/>
                                      </p:to>
                                    </p:set>
                                    <p:animEffect filter="fade" transition="in">
                                      <p:cBhvr additive="repl">
                                        <p:cTn id="170" dur="500"/>
                                        <p:tgtEl>
                                          <p:spTgt spid="391"/>
                                        </p:tgtEl>
                                      </p:cBhvr>
                                    </p:animEffect>
                                  </p:childTnLst>
                                </p:cTn>
                              </p:par>
                              <p:par>
                                <p:cTn id="171" nodeType="withEffect" fill="hold" presetClass="entr" presetID="10">
                                  <p:stCondLst>
                                    <p:cond delay="0"/>
                                  </p:stCondLst>
                                  <p:childTnLst>
                                    <p:set>
                                      <p:cBhvr>
                                        <p:cTn id="172" dur="1" fill="hold">
                                          <p:stCondLst>
                                            <p:cond delay="0"/>
                                          </p:stCondLst>
                                        </p:cTn>
                                        <p:tgtEl>
                                          <p:spTgt spid="392"/>
                                        </p:tgtEl>
                                        <p:attrNameLst>
                                          <p:attrName>style.visibility</p:attrName>
                                        </p:attrNameLst>
                                      </p:cBhvr>
                                      <p:to>
                                        <p:strVal val="visible"/>
                                      </p:to>
                                    </p:set>
                                    <p:animEffect filter="fade" transition="in">
                                      <p:cBhvr additive="repl">
                                        <p:cTn id="173" dur="500"/>
                                        <p:tgtEl>
                                          <p:spTgt spid="392"/>
                                        </p:tgtEl>
                                      </p:cBhvr>
                                    </p:animEffect>
                                  </p:childTnLst>
                                </p:cTn>
                              </p:par>
                              <p:par>
                                <p:cTn id="174" nodeType="withEffect" fill="hold" presetClass="entr" presetID="10">
                                  <p:stCondLst>
                                    <p:cond delay="0"/>
                                  </p:stCondLst>
                                  <p:childTnLst>
                                    <p:set>
                                      <p:cBhvr>
                                        <p:cTn id="175" dur="1" fill="hold">
                                          <p:stCondLst>
                                            <p:cond delay="0"/>
                                          </p:stCondLst>
                                        </p:cTn>
                                        <p:tgtEl>
                                          <p:spTgt spid="395"/>
                                        </p:tgtEl>
                                        <p:attrNameLst>
                                          <p:attrName>style.visibility</p:attrName>
                                        </p:attrNameLst>
                                      </p:cBhvr>
                                      <p:to>
                                        <p:strVal val="visible"/>
                                      </p:to>
                                    </p:set>
                                    <p:animEffect filter="fade" transition="in">
                                      <p:cBhvr additive="repl">
                                        <p:cTn id="176" dur="500"/>
                                        <p:tgtEl>
                                          <p:spTgt spid="395"/>
                                        </p:tgtEl>
                                      </p:cBhvr>
                                    </p:animEffect>
                                  </p:childTnLst>
                                </p:cTn>
                              </p:par>
                              <p:par>
                                <p:cTn id="177" nodeType="withEffect" fill="hold" presetClass="entr" presetID="10">
                                  <p:stCondLst>
                                    <p:cond delay="0"/>
                                  </p:stCondLst>
                                  <p:childTnLst>
                                    <p:set>
                                      <p:cBhvr>
                                        <p:cTn id="178" dur="1" fill="hold">
                                          <p:stCondLst>
                                            <p:cond delay="0"/>
                                          </p:stCondLst>
                                        </p:cTn>
                                        <p:tgtEl>
                                          <p:spTgt spid="396"/>
                                        </p:tgtEl>
                                        <p:attrNameLst>
                                          <p:attrName>style.visibility</p:attrName>
                                        </p:attrNameLst>
                                      </p:cBhvr>
                                      <p:to>
                                        <p:strVal val="visible"/>
                                      </p:to>
                                    </p:set>
                                    <p:animEffect filter="fade" transition="in">
                                      <p:cBhvr additive="repl">
                                        <p:cTn id="179" dur="500"/>
                                        <p:tgtEl>
                                          <p:spTgt spid="396"/>
                                        </p:tgtEl>
                                      </p:cBhvr>
                                    </p:animEffect>
                                  </p:childTnLst>
                                </p:cTn>
                              </p:par>
                              <p:par>
                                <p:cTn id="180" nodeType="withEffect" fill="hold" presetClass="entr" presetID="10">
                                  <p:stCondLst>
                                    <p:cond delay="0"/>
                                  </p:stCondLst>
                                  <p:childTnLst>
                                    <p:set>
                                      <p:cBhvr>
                                        <p:cTn id="181" dur="1" fill="hold">
                                          <p:stCondLst>
                                            <p:cond delay="0"/>
                                          </p:stCondLst>
                                        </p:cTn>
                                        <p:tgtEl>
                                          <p:spTgt spid="397"/>
                                        </p:tgtEl>
                                        <p:attrNameLst>
                                          <p:attrName>style.visibility</p:attrName>
                                        </p:attrNameLst>
                                      </p:cBhvr>
                                      <p:to>
                                        <p:strVal val="visible"/>
                                      </p:to>
                                    </p:set>
                                    <p:animEffect filter="fade" transition="in">
                                      <p:cBhvr additive="repl">
                                        <p:cTn id="182" dur="500"/>
                                        <p:tgtEl>
                                          <p:spTgt spid="397"/>
                                        </p:tgtEl>
                                      </p:cBhvr>
                                    </p:animEffect>
                                  </p:childTnLst>
                                </p:cTn>
                              </p:par>
                              <p:par>
                                <p:cTn id="183" nodeType="withEffect" fill="hold" presetClass="entr" presetID="10">
                                  <p:stCondLst>
                                    <p:cond delay="0"/>
                                  </p:stCondLst>
                                  <p:childTnLst>
                                    <p:set>
                                      <p:cBhvr>
                                        <p:cTn id="184" dur="1" fill="hold">
                                          <p:stCondLst>
                                            <p:cond delay="0"/>
                                          </p:stCondLst>
                                        </p:cTn>
                                        <p:tgtEl>
                                          <p:spTgt spid="398"/>
                                        </p:tgtEl>
                                        <p:attrNameLst>
                                          <p:attrName>style.visibility</p:attrName>
                                        </p:attrNameLst>
                                      </p:cBhvr>
                                      <p:to>
                                        <p:strVal val="visible"/>
                                      </p:to>
                                    </p:set>
                                    <p:animEffect filter="fade" transition="in">
                                      <p:cBhvr additive="repl">
                                        <p:cTn id="185" dur="500"/>
                                        <p:tgtEl>
                                          <p:spTgt spid="398"/>
                                        </p:tgtEl>
                                      </p:cBhvr>
                                    </p:animEffect>
                                  </p:childTnLst>
                                </p:cTn>
                              </p:par>
                              <p:par>
                                <p:cTn id="186" nodeType="withEffect" fill="hold" presetClass="entr" presetID="10">
                                  <p:stCondLst>
                                    <p:cond delay="0"/>
                                  </p:stCondLst>
                                  <p:childTnLst>
                                    <p:set>
                                      <p:cBhvr>
                                        <p:cTn id="187" dur="1" fill="hold">
                                          <p:stCondLst>
                                            <p:cond delay="0"/>
                                          </p:stCondLst>
                                        </p:cTn>
                                        <p:tgtEl>
                                          <p:spTgt spid="399"/>
                                        </p:tgtEl>
                                        <p:attrNameLst>
                                          <p:attrName>style.visibility</p:attrName>
                                        </p:attrNameLst>
                                      </p:cBhvr>
                                      <p:to>
                                        <p:strVal val="visible"/>
                                      </p:to>
                                    </p:set>
                                    <p:animEffect filter="fade" transition="in">
                                      <p:cBhvr additive="repl">
                                        <p:cTn id="188" dur="500"/>
                                        <p:tgtEl>
                                          <p:spTgt spid="399"/>
                                        </p:tgtEl>
                                      </p:cBhvr>
                                    </p:animEffect>
                                  </p:childTnLst>
                                </p:cTn>
                              </p:par>
                              <p:par>
                                <p:cTn id="189" nodeType="withEffect" fill="hold" presetClass="entr" presetID="10">
                                  <p:stCondLst>
                                    <p:cond delay="0"/>
                                  </p:stCondLst>
                                  <p:childTnLst>
                                    <p:set>
                                      <p:cBhvr>
                                        <p:cTn id="190" dur="1" fill="hold">
                                          <p:stCondLst>
                                            <p:cond delay="0"/>
                                          </p:stCondLst>
                                        </p:cTn>
                                        <p:tgtEl>
                                          <p:spTgt spid="401"/>
                                        </p:tgtEl>
                                        <p:attrNameLst>
                                          <p:attrName>style.visibility</p:attrName>
                                        </p:attrNameLst>
                                      </p:cBhvr>
                                      <p:to>
                                        <p:strVal val="visible"/>
                                      </p:to>
                                    </p:set>
                                    <p:animEffect filter="fade" transition="in">
                                      <p:cBhvr additive="repl">
                                        <p:cTn id="191" dur="500"/>
                                        <p:tgtEl>
                                          <p:spTgt spid="401"/>
                                        </p:tgtEl>
                                      </p:cBhvr>
                                    </p:animEffect>
                                  </p:childTnLst>
                                </p:cTn>
                              </p:par>
                            </p:childTnLst>
                          </p:cTn>
                        </p:par>
                      </p:childTnLst>
                    </p:cTn>
                  </p:par>
                  <p:par>
                    <p:cTn id="192" fill="hold">
                      <p:stCondLst>
                        <p:cond delay="indefinite"/>
                      </p:stCondLst>
                      <p:childTnLst>
                        <p:par>
                          <p:cTn id="193" fill="hold">
                            <p:stCondLst>
                              <p:cond delay="0"/>
                            </p:stCondLst>
                            <p:childTnLst>
                              <p:par>
                                <p:cTn id="194" nodeType="clickEffect" fill="hold" presetClass="entr" presetID="10">
                                  <p:stCondLst>
                                    <p:cond delay="0"/>
                                  </p:stCondLst>
                                  <p:childTnLst>
                                    <p:set>
                                      <p:cBhvr>
                                        <p:cTn id="195" dur="1" fill="hold">
                                          <p:stCondLst>
                                            <p:cond delay="0"/>
                                          </p:stCondLst>
                                        </p:cTn>
                                        <p:tgtEl>
                                          <p:spTgt spid="402"/>
                                        </p:tgtEl>
                                        <p:attrNameLst>
                                          <p:attrName>style.visibility</p:attrName>
                                        </p:attrNameLst>
                                      </p:cBhvr>
                                      <p:to>
                                        <p:strVal val="visible"/>
                                      </p:to>
                                    </p:set>
                                    <p:animEffect filter="fade" transition="in">
                                      <p:cBhvr additive="repl">
                                        <p:cTn id="196" dur="500"/>
                                        <p:tgtEl>
                                          <p:spTgt spid="402"/>
                                        </p:tgtEl>
                                      </p:cBhvr>
                                    </p:animEffect>
                                  </p:childTnLst>
                                </p:cTn>
                              </p:par>
                              <p:par>
                                <p:cTn id="197" nodeType="withEffect" fill="hold" presetClass="entr" presetID="10">
                                  <p:stCondLst>
                                    <p:cond delay="0"/>
                                  </p:stCondLst>
                                  <p:childTnLst>
                                    <p:set>
                                      <p:cBhvr>
                                        <p:cTn id="198" dur="1" fill="hold">
                                          <p:stCondLst>
                                            <p:cond delay="0"/>
                                          </p:stCondLst>
                                        </p:cTn>
                                        <p:tgtEl>
                                          <p:spTgt spid="412"/>
                                        </p:tgtEl>
                                        <p:attrNameLst>
                                          <p:attrName>style.visibility</p:attrName>
                                        </p:attrNameLst>
                                      </p:cBhvr>
                                      <p:to>
                                        <p:strVal val="visible"/>
                                      </p:to>
                                    </p:set>
                                    <p:animEffect filter="fade" transition="in">
                                      <p:cBhvr additive="repl">
                                        <p:cTn id="199" dur="500"/>
                                        <p:tgtEl>
                                          <p:spTgt spid="412"/>
                                        </p:tgtEl>
                                      </p:cBhvr>
                                    </p:animEffect>
                                  </p:childTnLst>
                                </p:cTn>
                              </p:par>
                            </p:childTnLst>
                          </p:cTn>
                        </p:par>
                      </p:childTnLst>
                    </p:cTn>
                  </p:par>
                  <p:par>
                    <p:cTn id="200" fill="hold">
                      <p:stCondLst>
                        <p:cond delay="indefinite"/>
                      </p:stCondLst>
                      <p:childTnLst>
                        <p:par>
                          <p:cTn id="201" fill="hold">
                            <p:stCondLst>
                              <p:cond delay="0"/>
                            </p:stCondLst>
                            <p:childTnLst>
                              <p:par>
                                <p:cTn id="202" nodeType="withEffect" fill="hold" presetClass="entr" presetID="10">
                                  <p:stCondLst>
                                    <p:cond delay="0"/>
                                  </p:stCondLst>
                                  <p:childTnLst>
                                    <p:set>
                                      <p:cBhvr>
                                        <p:cTn id="203" dur="1" fill="hold">
                                          <p:stCondLst>
                                            <p:cond delay="0"/>
                                          </p:stCondLst>
                                        </p:cTn>
                                        <p:tgtEl>
                                          <p:spTgt spid="403"/>
                                        </p:tgtEl>
                                        <p:attrNameLst>
                                          <p:attrName>style.visibility</p:attrName>
                                        </p:attrNameLst>
                                      </p:cBhvr>
                                      <p:to>
                                        <p:strVal val="visible"/>
                                      </p:to>
                                    </p:set>
                                    <p:animEffect filter="fade" transition="in">
                                      <p:cBhvr additive="repl">
                                        <p:cTn id="204" dur="500"/>
                                        <p:tgtEl>
                                          <p:spTgt spid="403"/>
                                        </p:tgtEl>
                                      </p:cBhvr>
                                    </p:animEffec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10">
                                  <p:stCondLst>
                                    <p:cond delay="0"/>
                                  </p:stCondLst>
                                  <p:childTnLst>
                                    <p:set>
                                      <p:cBhvr>
                                        <p:cTn id="208" dur="1" fill="hold">
                                          <p:stCondLst>
                                            <p:cond delay="0"/>
                                          </p:stCondLst>
                                        </p:cTn>
                                        <p:tgtEl>
                                          <p:spTgt spid="404"/>
                                        </p:tgtEl>
                                        <p:attrNameLst>
                                          <p:attrName>style.visibility</p:attrName>
                                        </p:attrNameLst>
                                      </p:cBhvr>
                                      <p:to>
                                        <p:strVal val="visible"/>
                                      </p:to>
                                    </p:set>
                                    <p:animEffect filter="fade" transition="in">
                                      <p:cBhvr additive="repl">
                                        <p:cTn id="209" dur="500"/>
                                        <p:tgtEl>
                                          <p:spTgt spid="404"/>
                                        </p:tgtEl>
                                      </p:cBhvr>
                                    </p:animEffect>
                                  </p:childTnLst>
                                </p:cTn>
                              </p:par>
                              <p:par>
                                <p:cTn id="210" nodeType="withEffect" fill="hold" presetClass="entr" presetID="10">
                                  <p:stCondLst>
                                    <p:cond delay="0"/>
                                  </p:stCondLst>
                                  <p:childTnLst>
                                    <p:set>
                                      <p:cBhvr>
                                        <p:cTn id="211" dur="1" fill="hold">
                                          <p:stCondLst>
                                            <p:cond delay="0"/>
                                          </p:stCondLst>
                                        </p:cTn>
                                        <p:tgtEl>
                                          <p:spTgt spid="405"/>
                                        </p:tgtEl>
                                        <p:attrNameLst>
                                          <p:attrName>style.visibility</p:attrName>
                                        </p:attrNameLst>
                                      </p:cBhvr>
                                      <p:to>
                                        <p:strVal val="visible"/>
                                      </p:to>
                                    </p:set>
                                    <p:animEffect filter="fade" transition="in">
                                      <p:cBhvr additive="repl">
                                        <p:cTn id="212" dur="500"/>
                                        <p:tgtEl>
                                          <p:spTgt spid="405"/>
                                        </p:tgtEl>
                                      </p:cBhvr>
                                    </p:animEffect>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0">
                                  <p:stCondLst>
                                    <p:cond delay="0"/>
                                  </p:stCondLst>
                                  <p:childTnLst>
                                    <p:set>
                                      <p:cBhvr>
                                        <p:cTn id="216" dur="1" fill="hold">
                                          <p:stCondLst>
                                            <p:cond delay="0"/>
                                          </p:stCondLst>
                                        </p:cTn>
                                        <p:tgtEl>
                                          <p:spTgt spid="406"/>
                                        </p:tgtEl>
                                        <p:attrNameLst>
                                          <p:attrName>style.visibility</p:attrName>
                                        </p:attrNameLst>
                                      </p:cBhvr>
                                      <p:to>
                                        <p:strVal val="visible"/>
                                      </p:to>
                                    </p:set>
                                    <p:animEffect filter="fade" transition="in">
                                      <p:cBhvr additive="repl">
                                        <p:cTn id="217" dur="500"/>
                                        <p:tgtEl>
                                          <p:spTgt spid="406"/>
                                        </p:tgtEl>
                                      </p:cBhvr>
                                    </p:animEffect>
                                  </p:childTnLst>
                                </p:cTn>
                              </p:par>
                              <p:par>
                                <p:cTn id="218" nodeType="withEffect" fill="hold" presetClass="entr" presetID="10">
                                  <p:stCondLst>
                                    <p:cond delay="0"/>
                                  </p:stCondLst>
                                  <p:childTnLst>
                                    <p:set>
                                      <p:cBhvr>
                                        <p:cTn id="219" dur="1" fill="hold">
                                          <p:stCondLst>
                                            <p:cond delay="0"/>
                                          </p:stCondLst>
                                        </p:cTn>
                                        <p:tgtEl>
                                          <p:spTgt spid="407"/>
                                        </p:tgtEl>
                                        <p:attrNameLst>
                                          <p:attrName>style.visibility</p:attrName>
                                        </p:attrNameLst>
                                      </p:cBhvr>
                                      <p:to>
                                        <p:strVal val="visible"/>
                                      </p:to>
                                    </p:set>
                                    <p:animEffect filter="fade" transition="in">
                                      <p:cBhvr additive="repl">
                                        <p:cTn id="220" dur="500"/>
                                        <p:tgtEl>
                                          <p:spTgt spid="407"/>
                                        </p:tgtEl>
                                      </p:cBhvr>
                                    </p:animEffect>
                                  </p:childTnLst>
                                </p:cTn>
                              </p:par>
                              <p:par>
                                <p:cTn id="221" nodeType="withEffect" fill="hold" presetClass="entr" presetID="10">
                                  <p:stCondLst>
                                    <p:cond delay="0"/>
                                  </p:stCondLst>
                                  <p:childTnLst>
                                    <p:set>
                                      <p:cBhvr>
                                        <p:cTn id="222" dur="1" fill="hold">
                                          <p:stCondLst>
                                            <p:cond delay="0"/>
                                          </p:stCondLst>
                                        </p:cTn>
                                        <p:tgtEl>
                                          <p:spTgt spid="408"/>
                                        </p:tgtEl>
                                        <p:attrNameLst>
                                          <p:attrName>style.visibility</p:attrName>
                                        </p:attrNameLst>
                                      </p:cBhvr>
                                      <p:to>
                                        <p:strVal val="visible"/>
                                      </p:to>
                                    </p:set>
                                    <p:animEffect filter="fade" transition="in">
                                      <p:cBhvr additive="repl">
                                        <p:cTn id="223" dur="500"/>
                                        <p:tgtEl>
                                          <p:spTgt spid="408"/>
                                        </p:tgtEl>
                                      </p:cBhvr>
                                    </p:animEffect>
                                  </p:childTnLst>
                                </p:cTn>
                              </p:par>
                              <p:par>
                                <p:cTn id="224" nodeType="withEffect" fill="hold" presetClass="entr" presetID="10">
                                  <p:stCondLst>
                                    <p:cond delay="0"/>
                                  </p:stCondLst>
                                  <p:childTnLst>
                                    <p:set>
                                      <p:cBhvr>
                                        <p:cTn id="225" dur="1" fill="hold">
                                          <p:stCondLst>
                                            <p:cond delay="0"/>
                                          </p:stCondLst>
                                        </p:cTn>
                                        <p:tgtEl>
                                          <p:spTgt spid="409"/>
                                        </p:tgtEl>
                                        <p:attrNameLst>
                                          <p:attrName>style.visibility</p:attrName>
                                        </p:attrNameLst>
                                      </p:cBhvr>
                                      <p:to>
                                        <p:strVal val="visible"/>
                                      </p:to>
                                    </p:set>
                                    <p:animEffect filter="fade" transition="in">
                                      <p:cBhvr additive="repl">
                                        <p:cTn id="226" dur="500"/>
                                        <p:tgtEl>
                                          <p:spTgt spid="409"/>
                                        </p:tgtEl>
                                      </p:cBhvr>
                                    </p:animEffect>
                                  </p:childTnLst>
                                </p:cTn>
                              </p:par>
                              <p:par>
                                <p:cTn id="227" nodeType="withEffect" fill="hold" presetClass="entr" presetID="10">
                                  <p:stCondLst>
                                    <p:cond delay="0"/>
                                  </p:stCondLst>
                                  <p:childTnLst>
                                    <p:set>
                                      <p:cBhvr>
                                        <p:cTn id="228" dur="1" fill="hold">
                                          <p:stCondLst>
                                            <p:cond delay="0"/>
                                          </p:stCondLst>
                                        </p:cTn>
                                        <p:tgtEl>
                                          <p:spTgt spid="410"/>
                                        </p:tgtEl>
                                        <p:attrNameLst>
                                          <p:attrName>style.visibility</p:attrName>
                                        </p:attrNameLst>
                                      </p:cBhvr>
                                      <p:to>
                                        <p:strVal val="visible"/>
                                      </p:to>
                                    </p:set>
                                    <p:animEffect filter="fade" transition="in">
                                      <p:cBhvr additive="repl">
                                        <p:cTn id="229" dur="500"/>
                                        <p:tgtEl>
                                          <p:spTgt spid="410"/>
                                        </p:tgtEl>
                                      </p:cBhvr>
                                    </p:animEffect>
                                  </p:childTnLst>
                                </p:cTn>
                              </p:par>
                              <p:par>
                                <p:cTn id="230" nodeType="withEffect" fill="hold" presetClass="entr" presetID="10">
                                  <p:stCondLst>
                                    <p:cond delay="0"/>
                                  </p:stCondLst>
                                  <p:childTnLst>
                                    <p:set>
                                      <p:cBhvr>
                                        <p:cTn id="231" dur="1" fill="hold">
                                          <p:stCondLst>
                                            <p:cond delay="0"/>
                                          </p:stCondLst>
                                        </p:cTn>
                                        <p:tgtEl>
                                          <p:spTgt spid="411"/>
                                        </p:tgtEl>
                                        <p:attrNameLst>
                                          <p:attrName>style.visibility</p:attrName>
                                        </p:attrNameLst>
                                      </p:cBhvr>
                                      <p:to>
                                        <p:strVal val="visible"/>
                                      </p:to>
                                    </p:set>
                                    <p:animEffect filter="fade" transition="in">
                                      <p:cBhvr additive="repl">
                                        <p:cTn id="232" dur="5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02 · Organización de los datos</a:t>
            </a:r>
            <a:endParaRPr b="0" lang="es-CL" sz="1200" strike="noStrike" u="none">
              <a:solidFill>
                <a:srgbClr val="1a1e2b"/>
              </a:solidFill>
              <a:effectLst/>
              <a:uFillTx/>
              <a:latin typeface="Calibri"/>
            </a:endParaRPr>
          </a:p>
        </p:txBody>
      </p:sp>
      <p:sp>
        <p:nvSpPr>
          <p:cNvPr id="422"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Siete variables sostienen todo el análisis exploratorio</a:t>
            </a:r>
            <a:endParaRPr b="0" lang="es-CL" sz="3000" strike="noStrike" u="none">
              <a:solidFill>
                <a:schemeClr val="dk1"/>
              </a:solidFill>
              <a:effectLst/>
              <a:uFillTx/>
              <a:latin typeface="Calibri"/>
            </a:endParaRPr>
          </a:p>
        </p:txBody>
      </p:sp>
      <p:sp>
        <p:nvSpPr>
          <p:cNvPr id="423" name="PlaceHolder 3"/>
          <p:cNvSpPr>
            <a:spLocks noGrp="1"/>
          </p:cNvSpPr>
          <p:nvPr>
            <p:ph/>
          </p:nvPr>
        </p:nvSpPr>
        <p:spPr>
          <a:xfrm>
            <a:off x="609480" y="6070680"/>
            <a:ext cx="10972440" cy="253800"/>
          </a:xfrm>
          <a:prstGeom prst="rect">
            <a:avLst/>
          </a:prstGeom>
          <a:noFill/>
          <a:ln w="0">
            <a:noFill/>
          </a:ln>
        </p:spPr>
        <p:txBody>
          <a:bodyPr lIns="0" rIns="0" tIns="0" bIns="0" anchor="b">
            <a:noAutofit/>
          </a:bodyPr>
          <a:p>
            <a:pPr indent="0" defTabSz="914400">
              <a:lnSpc>
                <a:spcPct val="95000"/>
              </a:lnSpc>
              <a:buNone/>
              <a:tabLst>
                <a:tab algn="l" pos="0"/>
              </a:tabLst>
            </a:pPr>
            <a:r>
              <a:rPr b="0" lang="es-CL" sz="1100" strike="noStrike" u="none">
                <a:solidFill>
                  <a:srgbClr val="5f6670"/>
                </a:solidFill>
                <a:effectLst/>
                <a:uFillTx/>
                <a:latin typeface="Calibri"/>
              </a:rPr>
              <a:t>Definiciones del guion del video (v1.4) y del avance 07 del proyecto.</a:t>
            </a:r>
            <a:endParaRPr b="0" lang="es-CL" sz="1100" strike="noStrike" u="none">
              <a:solidFill>
                <a:srgbClr val="1a1e2b"/>
              </a:solidFill>
              <a:effectLst/>
              <a:uFillTx/>
              <a:latin typeface="Calibri"/>
            </a:endParaRPr>
          </a:p>
        </p:txBody>
      </p:sp>
      <p:sp>
        <p:nvSpPr>
          <p:cNvPr id="424" name="Término 720"/>
          <p:cNvSpPr/>
          <p:nvPr/>
        </p:nvSpPr>
        <p:spPr>
          <a:xfrm>
            <a:off x="609480" y="185436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Serie</a:t>
            </a:r>
            <a:endParaRPr b="0" lang="en-US" sz="1800" strike="noStrike" u="none">
              <a:solidFill>
                <a:srgbClr val="000000"/>
              </a:solidFill>
              <a:effectLst/>
              <a:uFillTx/>
              <a:latin typeface="Arial"/>
            </a:endParaRPr>
          </a:p>
        </p:txBody>
      </p:sp>
      <p:sp>
        <p:nvSpPr>
          <p:cNvPr id="425" name="Definición 721"/>
          <p:cNvSpPr/>
          <p:nvPr/>
        </p:nvSpPr>
        <p:spPr>
          <a:xfrm>
            <a:off x="3708360" y="185436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4 reuniones de un mismo equipo; la unidad real de la muestra</a:t>
            </a:r>
            <a:endParaRPr b="0" lang="en-US" sz="1700" strike="noStrike" u="none">
              <a:solidFill>
                <a:srgbClr val="000000"/>
              </a:solidFill>
              <a:effectLst/>
              <a:uFillTx/>
              <a:latin typeface="Arial"/>
            </a:endParaRPr>
          </a:p>
        </p:txBody>
      </p:sp>
      <p:sp>
        <p:nvSpPr>
          <p:cNvPr id="426" name="Línea 722"/>
          <p:cNvSpPr/>
          <p:nvPr/>
        </p:nvSpPr>
        <p:spPr>
          <a:xfrm>
            <a:off x="609480" y="236232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27" name="Término 723"/>
          <p:cNvSpPr/>
          <p:nvPr/>
        </p:nvSpPr>
        <p:spPr>
          <a:xfrm>
            <a:off x="609480" y="241308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Posición de la reunión</a:t>
            </a:r>
            <a:endParaRPr b="0" lang="en-US" sz="1800" strike="noStrike" u="none">
              <a:solidFill>
                <a:srgbClr val="000000"/>
              </a:solidFill>
              <a:effectLst/>
              <a:uFillTx/>
              <a:latin typeface="Arial"/>
            </a:endParaRPr>
          </a:p>
        </p:txBody>
      </p:sp>
      <p:sp>
        <p:nvSpPr>
          <p:cNvPr id="428" name="Definición 724"/>
          <p:cNvSpPr/>
          <p:nvPr/>
        </p:nvSpPr>
        <p:spPr>
          <a:xfrm>
            <a:off x="3708360" y="241308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a, b, c o d: el lugar de la reunión dentro de su serie</a:t>
            </a:r>
            <a:endParaRPr b="0" lang="en-US" sz="1700" strike="noStrike" u="none">
              <a:solidFill>
                <a:srgbClr val="000000"/>
              </a:solidFill>
              <a:effectLst/>
              <a:uFillTx/>
              <a:latin typeface="Arial"/>
            </a:endParaRPr>
          </a:p>
        </p:txBody>
      </p:sp>
      <p:sp>
        <p:nvSpPr>
          <p:cNvPr id="429" name="Línea 725"/>
          <p:cNvSpPr/>
          <p:nvPr/>
        </p:nvSpPr>
        <p:spPr>
          <a:xfrm>
            <a:off x="609480" y="292104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30" name="Término 726"/>
          <p:cNvSpPr/>
          <p:nvPr/>
        </p:nvSpPr>
        <p:spPr>
          <a:xfrm>
            <a:off x="609480" y="297180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Decisión</a:t>
            </a:r>
            <a:endParaRPr b="0" lang="en-US" sz="1800" strike="noStrike" u="none">
              <a:solidFill>
                <a:srgbClr val="000000"/>
              </a:solidFill>
              <a:effectLst/>
              <a:uFillTx/>
              <a:latin typeface="Arial"/>
            </a:endParaRPr>
          </a:p>
        </p:txBody>
      </p:sp>
      <p:sp>
        <p:nvSpPr>
          <p:cNvPr id="431" name="Definición 727"/>
          <p:cNvSpPr/>
          <p:nvPr/>
        </p:nvSpPr>
        <p:spPr>
          <a:xfrm>
            <a:off x="3708360" y="297180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una frase del resumen; p. ej., «el control tendrá un botón turbo»</a:t>
            </a:r>
            <a:endParaRPr b="0" lang="en-US" sz="1700" strike="noStrike" u="none">
              <a:solidFill>
                <a:srgbClr val="000000"/>
              </a:solidFill>
              <a:effectLst/>
              <a:uFillTx/>
              <a:latin typeface="Arial"/>
            </a:endParaRPr>
          </a:p>
        </p:txBody>
      </p:sp>
      <p:sp>
        <p:nvSpPr>
          <p:cNvPr id="432" name="Línea 728"/>
          <p:cNvSpPr/>
          <p:nvPr/>
        </p:nvSpPr>
        <p:spPr>
          <a:xfrm>
            <a:off x="609480" y="347976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33" name="Término 729"/>
          <p:cNvSpPr/>
          <p:nvPr/>
        </p:nvSpPr>
        <p:spPr>
          <a:xfrm>
            <a:off x="609480" y="353052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Evidencia</a:t>
            </a:r>
            <a:endParaRPr b="0" lang="en-US" sz="1800" strike="noStrike" u="none">
              <a:solidFill>
                <a:srgbClr val="000000"/>
              </a:solidFill>
              <a:effectLst/>
              <a:uFillTx/>
              <a:latin typeface="Arial"/>
            </a:endParaRPr>
          </a:p>
        </p:txBody>
      </p:sp>
      <p:sp>
        <p:nvSpPr>
          <p:cNvPr id="434" name="Definición 730"/>
          <p:cNvSpPr/>
          <p:nvPr/>
        </p:nvSpPr>
        <p:spPr>
          <a:xfrm>
            <a:off x="3708360" y="353052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las intervenciones de la conversación que respaldan una decisión</a:t>
            </a:r>
            <a:endParaRPr b="0" lang="en-US" sz="1700" strike="noStrike" u="none">
              <a:solidFill>
                <a:srgbClr val="000000"/>
              </a:solidFill>
              <a:effectLst/>
              <a:uFillTx/>
              <a:latin typeface="Arial"/>
            </a:endParaRPr>
          </a:p>
        </p:txBody>
      </p:sp>
      <p:sp>
        <p:nvSpPr>
          <p:cNvPr id="435" name="Línea 731"/>
          <p:cNvSpPr/>
          <p:nvPr/>
        </p:nvSpPr>
        <p:spPr>
          <a:xfrm>
            <a:off x="609480" y="403848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36" name="Término 732"/>
          <p:cNvSpPr/>
          <p:nvPr/>
        </p:nvSpPr>
        <p:spPr>
          <a:xfrm>
            <a:off x="609480" y="408924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Par de decisiones</a:t>
            </a:r>
            <a:endParaRPr b="0" lang="en-US" sz="1800" strike="noStrike" u="none">
              <a:solidFill>
                <a:srgbClr val="000000"/>
              </a:solidFill>
              <a:effectLst/>
              <a:uFillTx/>
              <a:latin typeface="Arial"/>
            </a:endParaRPr>
          </a:p>
        </p:txBody>
      </p:sp>
      <p:sp>
        <p:nvSpPr>
          <p:cNvPr id="437" name="Definición 733"/>
          <p:cNvSpPr/>
          <p:nvPr/>
        </p:nvSpPr>
        <p:spPr>
          <a:xfrm>
            <a:off x="3708360" y="408924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una decisión comparada con otra de una reunión anterior</a:t>
            </a:r>
            <a:endParaRPr b="0" lang="en-US" sz="1700" strike="noStrike" u="none">
              <a:solidFill>
                <a:srgbClr val="000000"/>
              </a:solidFill>
              <a:effectLst/>
              <a:uFillTx/>
              <a:latin typeface="Arial"/>
            </a:endParaRPr>
          </a:p>
        </p:txBody>
      </p:sp>
      <p:sp>
        <p:nvSpPr>
          <p:cNvPr id="438" name="Línea 734"/>
          <p:cNvSpPr/>
          <p:nvPr/>
        </p:nvSpPr>
        <p:spPr>
          <a:xfrm>
            <a:off x="609480" y="459756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39" name="Término 735"/>
          <p:cNvSpPr/>
          <p:nvPr/>
        </p:nvSpPr>
        <p:spPr>
          <a:xfrm>
            <a:off x="609480" y="464832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Palabras de contenido</a:t>
            </a:r>
            <a:endParaRPr b="0" lang="en-US" sz="1800" strike="noStrike" u="none">
              <a:solidFill>
                <a:srgbClr val="000000"/>
              </a:solidFill>
              <a:effectLst/>
              <a:uFillTx/>
              <a:latin typeface="Arial"/>
            </a:endParaRPr>
          </a:p>
        </p:txBody>
      </p:sp>
      <p:sp>
        <p:nvSpPr>
          <p:cNvPr id="440" name="Definición 736"/>
          <p:cNvSpPr/>
          <p:nvPr/>
        </p:nvSpPr>
        <p:spPr>
          <a:xfrm>
            <a:off x="3708360" y="464832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las que quedan al quitar palabras vacías, como «de» o «el»</a:t>
            </a:r>
            <a:endParaRPr b="0" lang="en-US" sz="1700" strike="noStrike" u="none">
              <a:solidFill>
                <a:srgbClr val="000000"/>
              </a:solidFill>
              <a:effectLst/>
              <a:uFillTx/>
              <a:latin typeface="Arial"/>
            </a:endParaRPr>
          </a:p>
        </p:txBody>
      </p:sp>
      <p:sp>
        <p:nvSpPr>
          <p:cNvPr id="441" name="Línea 737"/>
          <p:cNvSpPr/>
          <p:nvPr/>
        </p:nvSpPr>
        <p:spPr>
          <a:xfrm>
            <a:off x="609480" y="5156280"/>
            <a:ext cx="10972440" cy="12240"/>
          </a:xfrm>
          <a:prstGeom prst="rect">
            <a:avLst/>
          </a:prstGeom>
          <a:solidFill>
            <a:srgbClr val="e1e5ea"/>
          </a:solidFill>
          <a:ln w="0">
            <a:noFill/>
          </a:ln>
        </p:spPr>
        <p:style>
          <a:lnRef idx="0"/>
          <a:fillRef idx="0"/>
          <a:effectRef idx="0"/>
          <a:fontRef idx="minor"/>
        </p:style>
        <p:txBody>
          <a:bodyPr lIns="0" rIns="0" tIns="0" bIns="0" anchor="ctr">
            <a:noAutofit/>
          </a:bodyPr>
          <a:p>
            <a:pPr defTabSz="914400">
              <a:lnSpc>
                <a:spcPct val="100000"/>
              </a:lnSpc>
            </a:pPr>
            <a:endParaRPr b="0" lang="es-CL" sz="1800" strike="noStrike" u="none">
              <a:solidFill>
                <a:schemeClr val="dk1"/>
              </a:solidFill>
              <a:effectLst/>
              <a:uFillTx/>
              <a:latin typeface="Calibri"/>
            </a:endParaRPr>
          </a:p>
        </p:txBody>
      </p:sp>
      <p:sp>
        <p:nvSpPr>
          <p:cNvPr id="442" name="Término 738"/>
          <p:cNvSpPr/>
          <p:nvPr/>
        </p:nvSpPr>
        <p:spPr>
          <a:xfrm>
            <a:off x="609480" y="5207040"/>
            <a:ext cx="294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1800" strike="noStrike" u="none">
                <a:solidFill>
                  <a:srgbClr val="1a1e2b"/>
                </a:solidFill>
                <a:effectLst/>
                <a:uFillTx/>
                <a:latin typeface="Calibri"/>
              </a:rPr>
              <a:t>Overlap coefficient</a:t>
            </a:r>
            <a:endParaRPr b="0" lang="en-US" sz="1800" strike="noStrike" u="none">
              <a:solidFill>
                <a:srgbClr val="000000"/>
              </a:solidFill>
              <a:effectLst/>
              <a:uFillTx/>
              <a:latin typeface="Arial"/>
            </a:endParaRPr>
          </a:p>
        </p:txBody>
      </p:sp>
      <p:sp>
        <p:nvSpPr>
          <p:cNvPr id="443" name="Definición 739"/>
          <p:cNvSpPr/>
          <p:nvPr/>
        </p:nvSpPr>
        <p:spPr>
          <a:xfrm>
            <a:off x="3708360" y="5207040"/>
            <a:ext cx="787356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0" lang="es-CL" sz="1700" strike="noStrike" u="none">
                <a:solidFill>
                  <a:srgbClr val="1a1e2b"/>
                </a:solidFill>
                <a:effectLst/>
                <a:uFillTx/>
                <a:latin typeface="Calibri"/>
              </a:rPr>
              <a:t>palabras compartidas ÷ palabras de contenido de la frase más corta</a:t>
            </a:r>
            <a:endParaRPr b="0" lang="en-US" sz="1700" strike="noStrike" u="none">
              <a:solidFill>
                <a:srgbClr val="000000"/>
              </a:solidFill>
              <a:effectLst/>
              <a:uFillTx/>
              <a:latin typeface="Arial"/>
            </a:endParaRPr>
          </a:p>
        </p:txBody>
      </p:sp>
      <p:sp>
        <p:nvSpPr>
          <p:cNvPr id="444"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45" name="Progreso 2"/>
          <p:cNvSpPr/>
          <p:nvPr/>
        </p:nvSpPr>
        <p:spPr>
          <a:xfrm>
            <a:off x="1032048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46" name="Progreso 3"/>
          <p:cNvSpPr/>
          <p:nvPr/>
        </p:nvSpPr>
        <p:spPr>
          <a:xfrm>
            <a:off x="105062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47"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48"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49"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50"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51"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p:nvPr>
        </p:nvSpPr>
        <p:spPr>
          <a:xfrm>
            <a:off x="609480" y="1219320"/>
            <a:ext cx="3352320" cy="1218960"/>
          </a:xfrm>
          <a:prstGeom prst="rect">
            <a:avLst/>
          </a:prstGeom>
          <a:noFill/>
          <a:ln w="0">
            <a:noFill/>
          </a:ln>
        </p:spPr>
        <p:txBody>
          <a:bodyPr lIns="0" rIns="0" tIns="0" bIns="0" anchor="b">
            <a:noAutofit/>
          </a:bodyPr>
          <a:p>
            <a:pPr indent="0" defTabSz="914400">
              <a:lnSpc>
                <a:spcPct val="85000"/>
              </a:lnSpc>
              <a:buNone/>
              <a:tabLst>
                <a:tab algn="l" pos="0"/>
              </a:tabLst>
            </a:pPr>
            <a:r>
              <a:rPr b="1" lang="es-CL" sz="7200" strike="noStrike" u="none">
                <a:solidFill>
                  <a:srgbClr val="fec60d"/>
                </a:solidFill>
                <a:effectLst/>
                <a:uFillTx/>
                <a:latin typeface="Calibri"/>
              </a:rPr>
              <a:t>03</a:t>
            </a:r>
            <a:endParaRPr b="0" lang="es-CL" sz="7200" strike="noStrike" u="none">
              <a:solidFill>
                <a:srgbClr val="1a1e2b"/>
              </a:solidFill>
              <a:effectLst/>
              <a:uFillTx/>
              <a:latin typeface="Calibri"/>
            </a:endParaRPr>
          </a:p>
        </p:txBody>
      </p:sp>
      <p:sp>
        <p:nvSpPr>
          <p:cNvPr id="453" name="PlaceHolder 2"/>
          <p:cNvSpPr>
            <a:spLocks noGrp="1"/>
          </p:cNvSpPr>
          <p:nvPr>
            <p:ph type="title"/>
          </p:nvPr>
        </p:nvSpPr>
        <p:spPr>
          <a:xfrm>
            <a:off x="609480" y="2793960"/>
            <a:ext cx="3352320" cy="13204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Calidad y limpieza</a:t>
            </a:r>
            <a:endParaRPr b="0" lang="es-CL" sz="3200" strike="noStrike" u="none">
              <a:solidFill>
                <a:schemeClr val="dk1"/>
              </a:solidFill>
              <a:effectLst/>
              <a:uFillTx/>
              <a:latin typeface="Calibri"/>
            </a:endParaRPr>
          </a:p>
        </p:txBody>
      </p:sp>
      <p:sp>
        <p:nvSpPr>
          <p:cNvPr id="454" name="PlaceHolder 3"/>
          <p:cNvSpPr>
            <a:spLocks noGrp="1"/>
          </p:cNvSpPr>
          <p:nvPr>
            <p:ph/>
          </p:nvPr>
        </p:nvSpPr>
        <p:spPr>
          <a:xfrm>
            <a:off x="609480" y="4191120"/>
            <a:ext cx="335232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800" strike="noStrike" u="none">
                <a:solidFill>
                  <a:srgbClr val="c9d3e0"/>
                </a:solidFill>
                <a:effectLst/>
                <a:uFillTx/>
                <a:latin typeface="Calibri"/>
              </a:rPr>
              <a:t>Qué falta, qué se repite y qué se aparta de lo normal</a:t>
            </a:r>
            <a:endParaRPr b="0" lang="es-CL" sz="1800" strike="noStrike" u="none">
              <a:solidFill>
                <a:srgbClr val="1a1e2b"/>
              </a:solidFill>
              <a:effectLst/>
              <a:uFillTx/>
              <a:latin typeface="Calibri"/>
            </a:endParaRPr>
          </a:p>
        </p:txBody>
      </p:sp>
      <p:pic>
        <p:nvPicPr>
          <p:cNvPr id="455" name="" descr="">
            <a:hlinkClick r:id="" action="ppaction://media"/>
          </p:cNvPr>
          <p:cNvPicPr/>
          <p:nvPr>
            <a:videoFile r:link="rId1"/>
            <p:extLst>
              <p:ext uri="{DAA4B4D4-6D71-4841-9C94-3DE7FCFB9230}">
                <p14:media r:link="rId2"/>
              </p:ext>
            </p:extLst>
          </p:nvPr>
        </p:nvPicPr>
        <p:blipFill>
          <a:blip r:embed="rId3"/>
          <a:stretch>
            <a:fillRect/>
          </a:stretch>
        </p:blipFill>
        <p:spPr>
          <a:xfrm>
            <a:off x="4267080" y="1219320"/>
            <a:ext cx="7314840" cy="4114440"/>
          </a:xfrm>
          <a:prstGeom prst="rect">
            <a:avLst/>
          </a:prstGeom>
          <a:ln w="0">
            <a:noFill/>
          </a:ln>
        </p:spPr>
      </p:pic>
      <p:sp>
        <p:nvSpPr>
          <p:cNvPr id="456" name="PlaceHolder 4"/>
          <p:cNvSpPr>
            <a:spLocks noGrp="1"/>
          </p:cNvSpPr>
          <p:nvPr>
            <p:ph/>
          </p:nvPr>
        </p:nvSpPr>
        <p:spPr>
          <a:xfrm>
            <a:off x="4267080" y="5511960"/>
            <a:ext cx="73148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c9d3e0"/>
                </a:solidFill>
                <a:effectLst/>
                <a:uFillTx/>
                <a:latin typeface="Calibri"/>
              </a:rPr>
              <a:t>Germán Vega</a:t>
            </a:r>
            <a:endParaRPr b="0" lang="es-CL" sz="1400" strike="noStrike" u="none">
              <a:solidFill>
                <a:srgbClr val="1a1e2b"/>
              </a:solidFill>
              <a:effectLst/>
              <a:uFillTx/>
              <a:latin typeface="Calibri"/>
            </a:endParaRPr>
          </a:p>
        </p:txBody>
      </p:sp>
      <p:sp>
        <p:nvSpPr>
          <p:cNvPr id="457" name="Progreso etiqueta"/>
          <p:cNvSpPr/>
          <p:nvPr/>
        </p:nvSpPr>
        <p:spPr>
          <a:xfrm>
            <a:off x="609480" y="5435640"/>
            <a:ext cx="3352320" cy="168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s-CL" sz="1100" strike="noStrike" u="none">
                <a:solidFill>
                  <a:srgbClr val="9aa6b8"/>
                </a:solidFill>
                <a:effectLst/>
                <a:uFillTx/>
                <a:latin typeface="Calibri"/>
              </a:rPr>
              <a:t>SECCIÓN 03 DE 08</a:t>
            </a:r>
            <a:endParaRPr b="0" lang="en-US" sz="1100" strike="noStrike" u="none">
              <a:solidFill>
                <a:srgbClr val="ffffff"/>
              </a:solidFill>
              <a:effectLst/>
              <a:uFillTx/>
              <a:latin typeface="Arial"/>
            </a:endParaRPr>
          </a:p>
        </p:txBody>
      </p:sp>
      <p:sp>
        <p:nvSpPr>
          <p:cNvPr id="458" name="Progreso 1"/>
          <p:cNvSpPr/>
          <p:nvPr/>
        </p:nvSpPr>
        <p:spPr>
          <a:xfrm>
            <a:off x="60948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59" name="Progreso 2"/>
          <p:cNvSpPr/>
          <p:nvPr/>
        </p:nvSpPr>
        <p:spPr>
          <a:xfrm>
            <a:off x="103500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0" name="Progreso 3"/>
          <p:cNvSpPr/>
          <p:nvPr/>
        </p:nvSpPr>
        <p:spPr>
          <a:xfrm>
            <a:off x="1460520" y="5740560"/>
            <a:ext cx="374400" cy="50400"/>
          </a:xfrm>
          <a:prstGeom prst="rect">
            <a:avLst/>
          </a:prstGeom>
          <a:solidFill>
            <a:srgbClr val="fec60d"/>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1" name="Progreso 4"/>
          <p:cNvSpPr/>
          <p:nvPr/>
        </p:nvSpPr>
        <p:spPr>
          <a:xfrm>
            <a:off x="188604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2" name="Progreso 5"/>
          <p:cNvSpPr/>
          <p:nvPr/>
        </p:nvSpPr>
        <p:spPr>
          <a:xfrm>
            <a:off x="23115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3" name="Progreso 6"/>
          <p:cNvSpPr/>
          <p:nvPr/>
        </p:nvSpPr>
        <p:spPr>
          <a:xfrm>
            <a:off x="273672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4" name="Progreso 7"/>
          <p:cNvSpPr/>
          <p:nvPr/>
        </p:nvSpPr>
        <p:spPr>
          <a:xfrm>
            <a:off x="316224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465" name="Progreso 8"/>
          <p:cNvSpPr/>
          <p:nvPr/>
        </p:nvSpPr>
        <p:spPr>
          <a:xfrm>
            <a:off x="35877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16000">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03 · Calidad y limpieza</a:t>
            </a:r>
            <a:endParaRPr b="0" lang="es-CL" sz="1200" strike="noStrike" u="none">
              <a:solidFill>
                <a:srgbClr val="1a1e2b"/>
              </a:solidFill>
              <a:effectLst/>
              <a:uFillTx/>
              <a:latin typeface="Calibri"/>
            </a:endParaRPr>
          </a:p>
        </p:txBody>
      </p:sp>
      <p:sp>
        <p:nvSpPr>
          <p:cNvPr id="467"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26 de 343 decisiones no tienen evidencia asociada</a:t>
            </a:r>
            <a:endParaRPr b="0" lang="es-CL" sz="3000" strike="noStrike" u="none">
              <a:solidFill>
                <a:schemeClr val="dk1"/>
              </a:solidFill>
              <a:effectLst/>
              <a:uFillTx/>
              <a:latin typeface="Calibri"/>
            </a:endParaRPr>
          </a:p>
        </p:txBody>
      </p:sp>
      <p:sp>
        <p:nvSpPr>
          <p:cNvPr id="468" name="PlaceHolder 3"/>
          <p:cNvSpPr>
            <a:spLocks noGrp="1"/>
          </p:cNvSpPr>
          <p:nvPr>
            <p:ph/>
          </p:nvPr>
        </p:nvSpPr>
        <p:spPr>
          <a:xfrm>
            <a:off x="609480" y="6070680"/>
            <a:ext cx="792432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EDA de AFG2 (notebook 03; figura 2 del notebook 11). n = 343 decisiones en 56 reuniones.</a:t>
            </a:r>
            <a:endParaRPr b="0" lang="es-CL" sz="1100" strike="noStrike" u="none">
              <a:solidFill>
                <a:srgbClr val="1a1e2b"/>
              </a:solidFill>
              <a:effectLst/>
              <a:uFillTx/>
              <a:latin typeface="Calibri"/>
            </a:endParaRPr>
          </a:p>
        </p:txBody>
      </p:sp>
      <p:sp>
        <p:nvSpPr>
          <p:cNvPr id="469" name="PlaceHolder 4"/>
          <p:cNvSpPr>
            <a:spLocks noGrp="1"/>
          </p:cNvSpPr>
          <p:nvPr>
            <p:ph/>
          </p:nvPr>
        </p:nvSpPr>
        <p:spPr>
          <a:xfrm>
            <a:off x="8940960" y="1981080"/>
            <a:ext cx="2641320" cy="1574280"/>
          </a:xfrm>
          <a:prstGeom prst="rect">
            <a:avLst/>
          </a:prstGeom>
          <a:noFill/>
          <a:ln w="0">
            <a:noFill/>
          </a:ln>
        </p:spPr>
        <p:txBody>
          <a:bodyPr lIns="0" rIns="0" tIns="0" bIns="0" anchor="t">
            <a:noAutofit/>
          </a:bodyPr>
          <a:p>
            <a:pPr indent="0" defTabSz="914400">
              <a:lnSpc>
                <a:spcPct val="100000"/>
              </a:lnSpc>
              <a:buNone/>
              <a:tabLst>
                <a:tab algn="l" pos="0"/>
              </a:tabLst>
            </a:pPr>
            <a:r>
              <a:rPr b="1" lang="es-CL" sz="2000" strike="noStrike" u="none">
                <a:solidFill>
                  <a:srgbClr val="1a1e2b"/>
                </a:solidFill>
                <a:effectLst/>
                <a:uFillTx/>
                <a:latin typeface="Calibri"/>
              </a:rPr>
              <a:t>En la reunión a no falta ninguna; desde la c, alrededor de 11 de cada 100</a:t>
            </a:r>
            <a:endParaRPr b="0" lang="es-CL" sz="2000" strike="noStrike" u="none">
              <a:solidFill>
                <a:srgbClr val="1a1e2b"/>
              </a:solidFill>
              <a:effectLst/>
              <a:uFillTx/>
              <a:latin typeface="Calibri"/>
            </a:endParaRPr>
          </a:p>
        </p:txBody>
      </p:sp>
      <p:sp>
        <p:nvSpPr>
          <p:cNvPr id="470" name="PlaceHolder 5"/>
          <p:cNvSpPr>
            <a:spLocks noGrp="1"/>
          </p:cNvSpPr>
          <p:nvPr>
            <p:ph/>
          </p:nvPr>
        </p:nvSpPr>
        <p:spPr>
          <a:xfrm>
            <a:off x="8940960" y="3683160"/>
            <a:ext cx="2641320" cy="609120"/>
          </a:xfrm>
          <a:prstGeom prst="rect">
            <a:avLst/>
          </a:prstGeom>
          <a:noFill/>
          <a:ln w="0">
            <a:noFill/>
          </a:ln>
        </p:spPr>
        <p:txBody>
          <a:bodyPr lIns="0" rIns="0" tIns="0" bIns="0" anchor="b">
            <a:noAutofit/>
          </a:bodyPr>
          <a:p>
            <a:pPr indent="0" defTabSz="914400">
              <a:lnSpc>
                <a:spcPct val="105000"/>
              </a:lnSpc>
              <a:buNone/>
              <a:tabLst>
                <a:tab algn="l" pos="0"/>
              </a:tabLst>
            </a:pPr>
            <a:r>
              <a:rPr b="0" lang="es-CL" sz="1400" strike="noStrike" u="none">
                <a:solidFill>
                  <a:srgbClr val="5f6670"/>
                </a:solidFill>
                <a:effectLst/>
                <a:uFillTx/>
                <a:latin typeface="Calibri"/>
              </a:rPr>
              <a:t>No se imputa ni se borra: </a:t>
            </a:r>
            <a:r>
              <a:rPr b="1" lang="es-CL" sz="1400" strike="noStrike" u="none">
                <a:solidFill>
                  <a:srgbClr val="5f6670"/>
                </a:solidFill>
                <a:effectLst/>
                <a:uFillTx/>
                <a:latin typeface="Calibri"/>
              </a:rPr>
              <a:t>se marca</a:t>
            </a:r>
            <a:r>
              <a:rPr b="0" lang="es-CL" sz="1400" strike="noStrike" u="none">
                <a:solidFill>
                  <a:srgbClr val="5f6670"/>
                </a:solidFill>
                <a:effectLst/>
                <a:uFillTx/>
                <a:latin typeface="Calibri"/>
              </a:rPr>
              <a:t> para revisión manual.</a:t>
            </a:r>
            <a:endParaRPr b="0" lang="es-CL" sz="1400" strike="noStrike" u="none">
              <a:solidFill>
                <a:srgbClr val="1a1e2b"/>
              </a:solidFill>
              <a:effectLst/>
              <a:uFillTx/>
              <a:latin typeface="Calibri"/>
            </a:endParaRPr>
          </a:p>
        </p:txBody>
      </p:sp>
      <p:pic>
        <p:nvPicPr>
          <p:cNvPr id="471"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graphicFrame>
        <p:nvGraphicFramePr>
          <p:cNvPr id="472" name="Chart"/>
          <p:cNvGraphicFramePr/>
          <p:nvPr/>
        </p:nvGraphicFramePr>
        <p:xfrm>
          <a:off x="609480" y="2031840"/>
          <a:ext cx="7924320" cy="3860280"/>
        </p:xfrm>
        <a:graphic>
          <a:graphicData uri="http://schemas.openxmlformats.org/drawingml/2006/chart">
            <c:chart xmlns:c="http://schemas.openxmlformats.org/drawingml/2006/chart" xmlns:r="http://schemas.openxmlformats.org/officeDocument/2006/relationships" r:id="rId4"/>
          </a:graphicData>
        </a:graphic>
      </p:graphicFrame>
      <p:sp>
        <p:nvSpPr>
          <p:cNvPr id="473" name="Etiqueta gráfico"/>
          <p:cNvSpPr/>
          <p:nvPr/>
        </p:nvSpPr>
        <p:spPr>
          <a:xfrm>
            <a:off x="609480" y="1752480"/>
            <a:ext cx="792432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5f6670"/>
                </a:solidFill>
                <a:effectLst/>
                <a:uFillTx/>
                <a:latin typeface="Calibri"/>
              </a:rPr>
              <a:t>Decisiones sin evidencia por posición de la reunión, %</a:t>
            </a:r>
            <a:endParaRPr b="0" lang="en-US" sz="1400" strike="noStrike" u="none">
              <a:solidFill>
                <a:srgbClr val="000000"/>
              </a:solidFill>
              <a:effectLst/>
              <a:uFillTx/>
              <a:latin typeface="Arial"/>
            </a:endParaRPr>
          </a:p>
        </p:txBody>
      </p:sp>
      <p:sp>
        <p:nvSpPr>
          <p:cNvPr id="474"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75"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76" name="Progreso 3"/>
          <p:cNvSpPr/>
          <p:nvPr/>
        </p:nvSpPr>
        <p:spPr>
          <a:xfrm>
            <a:off x="1050624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77"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78"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79"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80"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81"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33000">
    <p:fade/>
  </p:transition>
  <p:timing>
    <p:tnLst>
      <p:par>
        <p:cTn id="233" dur="indefinite" restart="never" nodeType="tmRoot">
          <p:childTnLst>
            <p:seq>
              <p:cTn id="234" dur="indefinite" nodeType="mainSeq">
                <p:childTnLst>
                  <p:par>
                    <p:cTn id="235" fill="hold">
                      <p:stCondLst>
                        <p:cond delay="indefinite"/>
                      </p:stCondLst>
                      <p:childTnLst>
                        <p:par>
                          <p:cTn id="236" fill="hold">
                            <p:stCondLst>
                              <p:cond delay="0"/>
                            </p:stCondLst>
                            <p:childTnLst>
                              <p:par>
                                <p:cTn id="237" nodeType="clickEffect" fill="hold" presetClass="entr" presetID="10">
                                  <p:stCondLst>
                                    <p:cond delay="0"/>
                                  </p:stCondLst>
                                  <p:childTnLst>
                                    <p:set>
                                      <p:cBhvr>
                                        <p:cTn id="238" dur="1" fill="hold">
                                          <p:stCondLst>
                                            <p:cond delay="0"/>
                                          </p:stCondLst>
                                        </p:cTn>
                                        <p:tgtEl>
                                          <p:spTgt spid="472"/>
                                        </p:tgtEl>
                                        <p:attrNameLst>
                                          <p:attrName>style.visibility</p:attrName>
                                        </p:attrNameLst>
                                      </p:cBhvr>
                                      <p:to>
                                        <p:strVal val="visible"/>
                                      </p:to>
                                    </p:set>
                                    <p:animEffect filter="fade" transition="in">
                                      <p:cBhvr additive="repl">
                                        <p:cTn id="239" dur="500"/>
                                        <p:tgtEl>
                                          <p:spTgt spid="472"/>
                                        </p:tgtEl>
                                      </p:cBhvr>
                                    </p:animEffect>
                                  </p:childTnLst>
                                </p:cTn>
                              </p:par>
                            </p:childTnLst>
                          </p:cTn>
                        </p:par>
                      </p:childTnLst>
                    </p:cTn>
                  </p:par>
                  <p:par>
                    <p:cTn id="240" fill="hold">
                      <p:stCondLst>
                        <p:cond delay="indefinite"/>
                      </p:stCondLst>
                      <p:childTnLst>
                        <p:par>
                          <p:cTn id="241" fill="hold">
                            <p:stCondLst>
                              <p:cond delay="0"/>
                            </p:stCondLst>
                            <p:childTnLst>
                              <p:par>
                                <p:cTn id="242" nodeType="clickEffect" fill="hold" presetClass="entr" presetID="10">
                                  <p:stCondLst>
                                    <p:cond delay="0"/>
                                  </p:stCondLst>
                                  <p:childTnLst>
                                    <p:set>
                                      <p:cBhvr>
                                        <p:cTn id="243" dur="1" fill="hold">
                                          <p:stCondLst>
                                            <p:cond delay="0"/>
                                          </p:stCondLst>
                                        </p:cTn>
                                        <p:tgtEl>
                                          <p:spTgt spid="469"/>
                                        </p:tgtEl>
                                        <p:attrNameLst>
                                          <p:attrName>style.visibility</p:attrName>
                                        </p:attrNameLst>
                                      </p:cBhvr>
                                      <p:to>
                                        <p:strVal val="visible"/>
                                      </p:to>
                                    </p:set>
                                    <p:animEffect filter="fade" transition="in">
                                      <p:cBhvr additive="repl">
                                        <p:cTn id="244" dur="500"/>
                                        <p:tgtEl>
                                          <p:spTgt spid="469"/>
                                        </p:tgtEl>
                                      </p:cBhvr>
                                    </p:animEffect>
                                  </p:childTnLst>
                                </p:cTn>
                              </p:par>
                            </p:childTnLst>
                          </p:cTn>
                        </p:par>
                      </p:childTnLst>
                    </p:cTn>
                  </p:par>
                  <p:par>
                    <p:cTn id="245" fill="hold">
                      <p:stCondLst>
                        <p:cond delay="indefinite"/>
                      </p:stCondLst>
                      <p:childTnLst>
                        <p:par>
                          <p:cTn id="246" fill="hold">
                            <p:stCondLst>
                              <p:cond delay="0"/>
                            </p:stCondLst>
                            <p:childTnLst>
                              <p:par>
                                <p:cTn id="247" nodeType="clickEffect" fill="hold" presetClass="entr" presetID="10">
                                  <p:stCondLst>
                                    <p:cond delay="0"/>
                                  </p:stCondLst>
                                  <p:childTnLst>
                                    <p:set>
                                      <p:cBhvr>
                                        <p:cTn id="248" dur="1" fill="hold">
                                          <p:stCondLst>
                                            <p:cond delay="0"/>
                                          </p:stCondLst>
                                        </p:cTn>
                                        <p:tgtEl>
                                          <p:spTgt spid="470"/>
                                        </p:tgtEl>
                                        <p:attrNameLst>
                                          <p:attrName>style.visibility</p:attrName>
                                        </p:attrNameLst>
                                      </p:cBhvr>
                                      <p:to>
                                        <p:strVal val="visible"/>
                                      </p:to>
                                    </p:set>
                                    <p:animEffect filter="fade" transition="in">
                                      <p:cBhvr additive="repl">
                                        <p:cTn id="249" dur="5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03 · Calidad y limpieza</a:t>
            </a:r>
            <a:endParaRPr b="0" lang="es-CL" sz="1200" strike="noStrike" u="none">
              <a:solidFill>
                <a:srgbClr val="1a1e2b"/>
              </a:solidFill>
              <a:effectLst/>
              <a:uFillTx/>
              <a:latin typeface="Calibri"/>
            </a:endParaRPr>
          </a:p>
        </p:txBody>
      </p:sp>
      <p:sp>
        <p:nvSpPr>
          <p:cNvPr id="483"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Cuatro técnicas buscan reuniones atípicas; la mayoría de las marcas proviene solo de MCD</a:t>
            </a:r>
            <a:endParaRPr b="0" lang="es-CL" sz="3000" strike="noStrike" u="none">
              <a:solidFill>
                <a:schemeClr val="dk1"/>
              </a:solidFill>
              <a:effectLst/>
              <a:uFillTx/>
              <a:latin typeface="Calibri"/>
            </a:endParaRPr>
          </a:p>
        </p:txBody>
      </p:sp>
      <p:sp>
        <p:nvSpPr>
          <p:cNvPr id="484" name="PlaceHolder 3"/>
          <p:cNvSpPr>
            <a:spLocks noGrp="1"/>
          </p:cNvSpPr>
          <p:nvPr>
            <p:ph/>
          </p:nvPr>
        </p:nvSpPr>
        <p:spPr>
          <a:xfrm>
            <a:off x="609480" y="5460840"/>
            <a:ext cx="736560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Atípicos evaluados por reunión. LOF y MCD usan duración, palabras, turnos y decisiones.</a:t>
            </a:r>
            <a:endParaRPr b="0" lang="es-CL" sz="1100" strike="noStrike" u="none">
              <a:solidFill>
                <a:srgbClr val="1a1e2b"/>
              </a:solidFill>
              <a:effectLst/>
              <a:uFillTx/>
              <a:latin typeface="Calibri"/>
            </a:endParaRPr>
          </a:p>
        </p:txBody>
      </p:sp>
      <p:sp>
        <p:nvSpPr>
          <p:cNvPr id="485" name="PlaceHolder 4"/>
          <p:cNvSpPr>
            <a:spLocks noGrp="1"/>
          </p:cNvSpPr>
          <p:nvPr>
            <p:ph/>
          </p:nvPr>
        </p:nvSpPr>
        <p:spPr>
          <a:xfrm>
            <a:off x="8432640" y="1981080"/>
            <a:ext cx="3149280" cy="30456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Resultado</a:t>
            </a:r>
            <a:endParaRPr b="0" lang="es-CL" sz="1400" strike="noStrike" u="none">
              <a:solidFill>
                <a:srgbClr val="1a1e2b"/>
              </a:solidFill>
              <a:effectLst/>
              <a:uFillTx/>
              <a:latin typeface="Calibri"/>
            </a:endParaRPr>
          </a:p>
        </p:txBody>
      </p:sp>
      <p:sp>
        <p:nvSpPr>
          <p:cNvPr id="486" name="PlaceHolder 5"/>
          <p:cNvSpPr>
            <a:spLocks noGrp="1"/>
          </p:cNvSpPr>
          <p:nvPr>
            <p:ph/>
          </p:nvPr>
        </p:nvSpPr>
        <p:spPr>
          <a:xfrm>
            <a:off x="8432640" y="2362320"/>
            <a:ext cx="3149280" cy="1828440"/>
          </a:xfrm>
          <a:prstGeom prst="rect">
            <a:avLst/>
          </a:prstGeom>
          <a:noFill/>
          <a:ln w="0">
            <a:noFill/>
          </a:ln>
        </p:spPr>
        <p:txBody>
          <a:bodyPr lIns="0" rIns="0" tIns="0" bIns="0" anchor="t">
            <a:noAutofit/>
          </a:bodyPr>
          <a:p>
            <a:pPr indent="0" defTabSz="914400">
              <a:lnSpc>
                <a:spcPct val="105000"/>
              </a:lnSpc>
              <a:spcAft>
                <a:spcPts val="601"/>
              </a:spcAft>
              <a:buNone/>
              <a:tabLst>
                <a:tab algn="l" pos="0"/>
              </a:tabLst>
            </a:pPr>
            <a:r>
              <a:rPr b="1" lang="es-CL" sz="2400" strike="noStrike" u="none">
                <a:solidFill>
                  <a:srgbClr val="0176de"/>
                </a:solidFill>
                <a:effectLst/>
                <a:uFillTx/>
                <a:latin typeface="Calibri"/>
              </a:rPr>
              <a:t>15 de 56</a:t>
            </a:r>
            <a:r>
              <a:rPr b="0" lang="es-CL" sz="1800" strike="noStrike" u="none">
                <a:solidFill>
                  <a:srgbClr val="1a1e2b"/>
                </a:solidFill>
                <a:effectLst/>
                <a:uFillTx/>
                <a:latin typeface="Calibri"/>
              </a:rPr>
              <a:t> reuniones marcadas</a:t>
            </a:r>
            <a:endParaRPr b="0" lang="es-CL" sz="1800" strike="noStrike" u="none">
              <a:solidFill>
                <a:srgbClr val="1a1e2b"/>
              </a:solidFill>
              <a:effectLst/>
              <a:uFillTx/>
              <a:latin typeface="Calibri"/>
            </a:endParaRPr>
          </a:p>
          <a:p>
            <a:pPr indent="0" defTabSz="914400">
              <a:lnSpc>
                <a:spcPct val="105000"/>
              </a:lnSpc>
              <a:spcAft>
                <a:spcPts val="601"/>
              </a:spcAft>
              <a:buNone/>
              <a:tabLst>
                <a:tab algn="l" pos="0"/>
              </a:tabLst>
            </a:pPr>
            <a:r>
              <a:rPr b="1" lang="es-CL" sz="2400" strike="noStrike" u="none">
                <a:solidFill>
                  <a:srgbClr val="0176de"/>
                </a:solidFill>
                <a:effectLst/>
                <a:uFillTx/>
                <a:latin typeface="Calibri"/>
              </a:rPr>
              <a:t>12</a:t>
            </a:r>
            <a:r>
              <a:rPr b="0" lang="es-CL" sz="1800" strike="noStrike" u="none">
                <a:solidFill>
                  <a:srgbClr val="1a1e2b"/>
                </a:solidFill>
                <a:effectLst/>
                <a:uFillTx/>
                <a:latin typeface="Calibri"/>
              </a:rPr>
              <a:t> solo por MCD, que marca de más con datos no normales</a:t>
            </a:r>
            <a:endParaRPr b="0" lang="es-CL" sz="1800" strike="noStrike" u="none">
              <a:solidFill>
                <a:srgbClr val="1a1e2b"/>
              </a:solidFill>
              <a:effectLst/>
              <a:uFillTx/>
              <a:latin typeface="Calibri"/>
            </a:endParaRPr>
          </a:p>
          <a:p>
            <a:pPr indent="0" defTabSz="914400">
              <a:lnSpc>
                <a:spcPct val="105000"/>
              </a:lnSpc>
              <a:spcAft>
                <a:spcPts val="1001"/>
              </a:spcAft>
              <a:buNone/>
              <a:tabLst>
                <a:tab algn="l" pos="0"/>
              </a:tabLst>
            </a:pPr>
            <a:r>
              <a:rPr b="1" lang="es-CL" sz="1800" strike="noStrike" u="none">
                <a:solidFill>
                  <a:srgbClr val="1a1e2b"/>
                </a:solidFill>
                <a:effectLst/>
                <a:uFillTx/>
                <a:latin typeface="Calibri"/>
              </a:rPr>
              <a:t>TS3005d</a:t>
            </a:r>
            <a:r>
              <a:rPr b="0" lang="es-CL" sz="1800" strike="noStrike" u="none">
                <a:solidFill>
                  <a:srgbClr val="1a1e2b"/>
                </a:solidFill>
                <a:effectLst/>
                <a:uFillTx/>
                <a:latin typeface="Calibri"/>
              </a:rPr>
              <a:t>, marcada por las cuatro, es la más larga y es real</a:t>
            </a:r>
            <a:endParaRPr b="0" lang="es-CL" sz="1800" strike="noStrike" u="none">
              <a:solidFill>
                <a:srgbClr val="1a1e2b"/>
              </a:solidFill>
              <a:effectLst/>
              <a:uFillTx/>
              <a:latin typeface="Calibri"/>
            </a:endParaRPr>
          </a:p>
        </p:txBody>
      </p:sp>
      <p:pic>
        <p:nvPicPr>
          <p:cNvPr id="487"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graphicFrame>
        <p:nvGraphicFramePr>
          <p:cNvPr id="488" name="Tabla técnicas"/>
          <p:cNvGraphicFramePr/>
          <p:nvPr/>
        </p:nvGraphicFramePr>
        <p:xfrm>
          <a:off x="609480" y="1803240"/>
          <a:ext cx="7365600" cy="3479400"/>
        </p:xfrm>
        <a:graphic>
          <a:graphicData uri="http://schemas.openxmlformats.org/drawingml/2006/table">
            <a:tbl>
              <a:tblPr/>
              <a:tblGrid>
                <a:gridCol w="2412720"/>
                <a:gridCol w="1523880"/>
                <a:gridCol w="3429000"/>
              </a:tblGrid>
              <a:tr h="431640">
                <a:tc>
                  <a:txBody>
                    <a:bodyPr lIns="126720" rIns="101520" tIns="50760" bIns="50760" anchor="ctr">
                      <a:noAutofit/>
                    </a:bodyPr>
                    <a:p>
                      <a:pPr defTabSz="914400">
                        <a:lnSpc>
                          <a:spcPct val="100000"/>
                        </a:lnSpc>
                      </a:pPr>
                      <a:r>
                        <a:rPr b="1" lang="es-CL" sz="1400" strike="noStrike" u="none">
                          <a:solidFill>
                            <a:srgbClr val="5f6670"/>
                          </a:solidFill>
                          <a:effectLst/>
                          <a:uFillTx/>
                          <a:latin typeface="Calibri"/>
                        </a:rPr>
                        <a:t>Técnica</a:t>
                      </a:r>
                      <a:endParaRPr b="0" lang="en-US" sz="1400" strike="noStrike" u="none">
                        <a:solidFill>
                          <a:srgbClr val="000000"/>
                        </a:solidFill>
                        <a:effectLst/>
                        <a:uFillTx/>
                        <a:latin typeface="Arial"/>
                      </a:endParaRPr>
                    </a:p>
                  </a:txBody>
                  <a:tcPr anchor="ctr" marL="126720" marR="101520">
                    <a:lnL>
                      <a:noFill/>
                    </a:lnL>
                    <a:lnR>
                      <a:noFill/>
                    </a:lnR>
                    <a:lnT>
                      <a:noFill/>
                    </a:lnT>
                    <a:lnB w="18720">
                      <a:solidFill>
                        <a:srgbClr val="1a1e2b"/>
                      </a:solidFill>
                      <a:prstDash val="solid"/>
                    </a:lnB>
                    <a:noFill/>
                  </a:tcPr>
                </a:tc>
                <a:tc>
                  <a:txBody>
                    <a:bodyPr lIns="101520" rIns="101520" tIns="50760" bIns="50760" anchor="ctr">
                      <a:noAutofit/>
                    </a:bodyPr>
                    <a:p>
                      <a:pPr defTabSz="914400">
                        <a:lnSpc>
                          <a:spcPct val="100000"/>
                        </a:lnSpc>
                      </a:pPr>
                      <a:r>
                        <a:rPr b="1" lang="es-CL" sz="1400" strike="noStrike" u="none">
                          <a:solidFill>
                            <a:srgbClr val="5f6670"/>
                          </a:solidFill>
                          <a:effectLst/>
                          <a:uFillTx/>
                          <a:latin typeface="Calibri"/>
                        </a:rPr>
                        <a:t>Mira</a:t>
                      </a:r>
                      <a:endParaRPr b="0" lang="en-US" sz="1400" strike="noStrike" u="none">
                        <a:solidFill>
                          <a:srgbClr val="000000"/>
                        </a:solidFill>
                        <a:effectLst/>
                        <a:uFillTx/>
                        <a:latin typeface="Arial"/>
                      </a:endParaRPr>
                    </a:p>
                  </a:txBody>
                  <a:tcPr anchor="ctr" marL="101520" marR="101520">
                    <a:lnL>
                      <a:noFill/>
                    </a:lnL>
                    <a:lnR>
                      <a:noFill/>
                    </a:lnR>
                    <a:lnT>
                      <a:noFill/>
                    </a:lnT>
                    <a:lnB w="18720">
                      <a:solidFill>
                        <a:srgbClr val="1a1e2b"/>
                      </a:solidFill>
                      <a:prstDash val="solid"/>
                    </a:lnB>
                    <a:noFill/>
                  </a:tcPr>
                </a:tc>
                <a:tc>
                  <a:txBody>
                    <a:bodyPr lIns="101520" rIns="101520" tIns="50760" bIns="50760" anchor="ctr">
                      <a:noAutofit/>
                    </a:bodyPr>
                    <a:p>
                      <a:pPr defTabSz="914400">
                        <a:lnSpc>
                          <a:spcPct val="100000"/>
                        </a:lnSpc>
                      </a:pPr>
                      <a:r>
                        <a:rPr b="1" lang="es-CL" sz="1400" strike="noStrike" u="none">
                          <a:solidFill>
                            <a:srgbClr val="5f6670"/>
                          </a:solidFill>
                          <a:effectLst/>
                          <a:uFillTx/>
                          <a:latin typeface="Calibri"/>
                        </a:rPr>
                        <a:t>Regla</a:t>
                      </a:r>
                      <a:endParaRPr b="0" lang="en-US" sz="1400" strike="noStrike" u="none">
                        <a:solidFill>
                          <a:srgbClr val="000000"/>
                        </a:solidFill>
                        <a:effectLst/>
                        <a:uFillTx/>
                        <a:latin typeface="Arial"/>
                      </a:endParaRPr>
                    </a:p>
                  </a:txBody>
                  <a:tcPr anchor="ctr" marL="101520" marR="101520">
                    <a:lnL>
                      <a:noFill/>
                    </a:lnL>
                    <a:lnR>
                      <a:noFill/>
                    </a:lnR>
                    <a:lnT>
                      <a:noFill/>
                    </a:lnT>
                    <a:lnB w="18720">
                      <a:solidFill>
                        <a:srgbClr val="1a1e2b"/>
                      </a:solidFill>
                      <a:prstDash val="solid"/>
                    </a:lnB>
                    <a:noFill/>
                  </a:tcPr>
                </a:tc>
              </a:tr>
              <a:tr h="761760">
                <a:tc>
                  <a:txBody>
                    <a:bodyPr lIns="126720" rIns="101520" tIns="50760" bIns="50760" anchor="ctr">
                      <a:noAutofit/>
                    </a:bodyPr>
                    <a:p>
                      <a:pPr defTabSz="914400">
                        <a:lnSpc>
                          <a:spcPct val="100000"/>
                        </a:lnSpc>
                      </a:pPr>
                      <a:r>
                        <a:rPr b="1" lang="es-CL" sz="1600" strike="noStrike" u="none">
                          <a:solidFill>
                            <a:srgbClr val="1a1e2b"/>
                          </a:solidFill>
                          <a:effectLst/>
                          <a:uFillTx/>
                          <a:latin typeface="Calibri"/>
                        </a:rPr>
                        <a:t>Z-score</a:t>
                      </a:r>
                      <a:endParaRPr b="0" lang="en-US" sz="1600" strike="noStrike" u="none">
                        <a:solidFill>
                          <a:srgbClr val="000000"/>
                        </a:solidFill>
                        <a:effectLst/>
                        <a:uFillTx/>
                        <a:latin typeface="Arial"/>
                      </a:endParaRPr>
                    </a:p>
                  </a:txBody>
                  <a:tcPr anchor="ctr" marL="126720" marR="101520">
                    <a:lnL>
                      <a:noFill/>
                    </a:lnL>
                    <a:lnR>
                      <a:noFill/>
                    </a:lnR>
                    <a:lnT w="18720">
                      <a:solidFill>
                        <a:srgbClr val="1a1e2b"/>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una variable</a:t>
                      </a:r>
                      <a:endParaRPr b="0" lang="en-US" sz="1600" strike="noStrike" u="none">
                        <a:solidFill>
                          <a:srgbClr val="000000"/>
                        </a:solidFill>
                        <a:effectLst/>
                        <a:uFillTx/>
                        <a:latin typeface="Arial"/>
                      </a:endParaRPr>
                    </a:p>
                  </a:txBody>
                  <a:tcPr anchor="ctr" marL="101520" marR="101520">
                    <a:lnL>
                      <a:noFill/>
                    </a:lnL>
                    <a:lnR>
                      <a:noFill/>
                    </a:lnR>
                    <a:lnT w="18720">
                      <a:solidFill>
                        <a:srgbClr val="1a1e2b"/>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más de 3 desviaciones estándar de la media</a:t>
                      </a:r>
                      <a:endParaRPr b="0" lang="en-US" sz="1600" strike="noStrike" u="none">
                        <a:solidFill>
                          <a:srgbClr val="000000"/>
                        </a:solidFill>
                        <a:effectLst/>
                        <a:uFillTx/>
                        <a:latin typeface="Arial"/>
                      </a:endParaRPr>
                    </a:p>
                  </a:txBody>
                  <a:tcPr anchor="ctr" marL="101520" marR="101520">
                    <a:lnL>
                      <a:noFill/>
                    </a:lnL>
                    <a:lnR>
                      <a:noFill/>
                    </a:lnR>
                    <a:lnT w="18720">
                      <a:solidFill>
                        <a:srgbClr val="1a1e2b"/>
                      </a:solidFill>
                      <a:prstDash val="solid"/>
                    </a:lnT>
                    <a:lnB w="9360">
                      <a:solidFill>
                        <a:srgbClr val="c9ced6"/>
                      </a:solidFill>
                      <a:prstDash val="solid"/>
                    </a:lnB>
                    <a:noFill/>
                  </a:tcPr>
                </a:tc>
              </a:tr>
              <a:tr h="761760">
                <a:tc>
                  <a:txBody>
                    <a:bodyPr lIns="126720" rIns="101520" tIns="50760" bIns="50760" anchor="ctr">
                      <a:noAutofit/>
                    </a:bodyPr>
                    <a:p>
                      <a:pPr defTabSz="914400">
                        <a:lnSpc>
                          <a:spcPct val="100000"/>
                        </a:lnSpc>
                      </a:pPr>
                      <a:r>
                        <a:rPr b="1" lang="es-CL" sz="1600" strike="noStrike" u="none">
                          <a:solidFill>
                            <a:srgbClr val="1a1e2b"/>
                          </a:solidFill>
                          <a:effectLst/>
                          <a:uFillTx/>
                          <a:latin typeface="Calibri"/>
                        </a:rPr>
                        <a:t>Regla de Tukey (IQR)</a:t>
                      </a:r>
                      <a:endParaRPr b="0" lang="en-US" sz="1600" strike="noStrike" u="none">
                        <a:solidFill>
                          <a:srgbClr val="000000"/>
                        </a:solidFill>
                        <a:effectLst/>
                        <a:uFillTx/>
                        <a:latin typeface="Arial"/>
                      </a:endParaRPr>
                    </a:p>
                  </a:txBody>
                  <a:tcPr anchor="ctr" marL="126720" marR="101520">
                    <a:lnL>
                      <a:noFill/>
                    </a:lnL>
                    <a:lnR>
                      <a:noFill/>
                    </a:lnR>
                    <a:lnT w="9360">
                      <a:solidFill>
                        <a:srgbClr val="c9ced6"/>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una variable</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fuera de Q1 − 1,5·IQR o Q3 + 1,5·IQR</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noFill/>
                  </a:tcPr>
                </a:tc>
              </a:tr>
              <a:tr h="761760">
                <a:tc>
                  <a:txBody>
                    <a:bodyPr lIns="126720" rIns="101520" tIns="50760" bIns="50760" anchor="ctr">
                      <a:noAutofit/>
                    </a:bodyPr>
                    <a:p>
                      <a:pPr defTabSz="914400">
                        <a:lnSpc>
                          <a:spcPct val="100000"/>
                        </a:lnSpc>
                      </a:pPr>
                      <a:r>
                        <a:rPr b="1" lang="es-CL" sz="1600" strike="noStrike" u="none">
                          <a:solidFill>
                            <a:srgbClr val="1a1e2b"/>
                          </a:solidFill>
                          <a:effectLst/>
                          <a:uFillTx/>
                          <a:latin typeface="Calibri"/>
                        </a:rPr>
                        <a:t>LOF</a:t>
                      </a:r>
                      <a:endParaRPr b="0" lang="en-US" sz="1600" strike="noStrike" u="none">
                        <a:solidFill>
                          <a:srgbClr val="000000"/>
                        </a:solidFill>
                        <a:effectLst/>
                        <a:uFillTx/>
                        <a:latin typeface="Arial"/>
                      </a:endParaRPr>
                    </a:p>
                  </a:txBody>
                  <a:tcPr anchor="ctr" marL="126720" marR="101520">
                    <a:lnL>
                      <a:noFill/>
                    </a:lnL>
                    <a:lnR>
                      <a:noFill/>
                    </a:lnR>
                    <a:lnT w="9360">
                      <a:solidFill>
                        <a:srgbClr val="c9ced6"/>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varias variables</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no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el 5 % de reuniones más aisladas de sus vecinas</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noFill/>
                  </a:tcPr>
                </a:tc>
              </a:tr>
              <a:tr h="761760">
                <a:tc>
                  <a:txBody>
                    <a:bodyPr lIns="126720" rIns="101520" tIns="50760" bIns="50760" anchor="ctr">
                      <a:noAutofit/>
                    </a:bodyPr>
                    <a:p>
                      <a:pPr defTabSz="914400">
                        <a:lnSpc>
                          <a:spcPct val="100000"/>
                        </a:lnSpc>
                      </a:pPr>
                      <a:r>
                        <a:rPr b="1" lang="es-CL" sz="1600" strike="noStrike" u="none">
                          <a:solidFill>
                            <a:srgbClr val="1a1e2b"/>
                          </a:solidFill>
                          <a:effectLst/>
                          <a:uFillTx/>
                          <a:latin typeface="Calibri"/>
                        </a:rPr>
                        <a:t>MCD</a:t>
                      </a:r>
                      <a:endParaRPr b="0" lang="en-US" sz="1600" strike="noStrike" u="none">
                        <a:solidFill>
                          <a:srgbClr val="000000"/>
                        </a:solidFill>
                        <a:effectLst/>
                        <a:uFillTx/>
                        <a:latin typeface="Arial"/>
                      </a:endParaRPr>
                    </a:p>
                  </a:txBody>
                  <a:tcPr anchor="ctr" marL="126720" marR="101520">
                    <a:lnL>
                      <a:noFill/>
                    </a:lnL>
                    <a:lnR>
                      <a:noFill/>
                    </a:lnR>
                    <a:lnT w="9360">
                      <a:solidFill>
                        <a:srgbClr val="c9ced6"/>
                      </a:solidFill>
                      <a:prstDash val="solid"/>
                    </a:lnT>
                    <a:lnB w="9360">
                      <a:solidFill>
                        <a:srgbClr val="c9ced6"/>
                      </a:solidFill>
                      <a:prstDash val="solid"/>
                    </a:lnB>
                    <a:solidFill>
                      <a:srgbClr val="e6f1fc"/>
                    </a:solid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varias variables</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solidFill>
                      <a:srgbClr val="e6f1fc"/>
                    </a:solidFill>
                  </a:tcPr>
                </a:tc>
                <a:tc>
                  <a:txBody>
                    <a:bodyPr lIns="101520" rIns="101520" tIns="50760" bIns="50760" anchor="ctr">
                      <a:noAutofit/>
                    </a:bodyPr>
                    <a:p>
                      <a:pPr defTabSz="914400">
                        <a:lnSpc>
                          <a:spcPct val="100000"/>
                        </a:lnSpc>
                      </a:pPr>
                      <a:r>
                        <a:rPr b="0" lang="es-CL" sz="1600" strike="noStrike" u="none">
                          <a:solidFill>
                            <a:srgbClr val="1a1e2b"/>
                          </a:solidFill>
                          <a:effectLst/>
                          <a:uFillTx/>
                          <a:latin typeface="Calibri"/>
                        </a:rPr>
                        <a:t>distancia de Mahalanobis robusta sobre el cuantil 0,975 de χ²</a:t>
                      </a:r>
                      <a:endParaRPr b="0" lang="en-US" sz="1600" strike="noStrike" u="none">
                        <a:solidFill>
                          <a:srgbClr val="000000"/>
                        </a:solidFill>
                        <a:effectLst/>
                        <a:uFillTx/>
                        <a:latin typeface="Arial"/>
                      </a:endParaRPr>
                    </a:p>
                  </a:txBody>
                  <a:tcPr anchor="ctr" marL="101520" marR="101520">
                    <a:lnL>
                      <a:noFill/>
                    </a:lnL>
                    <a:lnR>
                      <a:noFill/>
                    </a:lnR>
                    <a:lnT w="9360">
                      <a:solidFill>
                        <a:srgbClr val="c9ced6"/>
                      </a:solidFill>
                      <a:prstDash val="solid"/>
                    </a:lnT>
                    <a:lnB w="9360">
                      <a:solidFill>
                        <a:srgbClr val="c9ced6"/>
                      </a:solidFill>
                      <a:prstDash val="solid"/>
                    </a:lnB>
                    <a:solidFill>
                      <a:srgbClr val="e6f1fc"/>
                    </a:solidFill>
                  </a:tcPr>
                </a:tc>
              </a:tr>
            </a:tbl>
          </a:graphicData>
        </a:graphic>
      </p:graphicFrame>
      <p:sp>
        <p:nvSpPr>
          <p:cNvPr id="489"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0"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1" name="Progreso 3"/>
          <p:cNvSpPr/>
          <p:nvPr/>
        </p:nvSpPr>
        <p:spPr>
          <a:xfrm>
            <a:off x="1050624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2"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3"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4"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5"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496"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37000">
    <p:fade/>
  </p:transition>
  <p:timing>
    <p:tnLst>
      <p:par>
        <p:cTn id="250" dur="indefinite" restart="never" nodeType="tmRoot">
          <p:childTnLst>
            <p:seq>
              <p:cTn id="251" dur="indefinite" nodeType="mainSeq">
                <p:childTnLst>
                  <p:par>
                    <p:cTn id="252" fill="hold">
                      <p:stCondLst>
                        <p:cond delay="indefinite"/>
                      </p:stCondLst>
                      <p:childTnLst>
                        <p:par>
                          <p:cTn id="253" fill="hold">
                            <p:stCondLst>
                              <p:cond delay="0"/>
                            </p:stCondLst>
                            <p:childTnLst>
                              <p:par>
                                <p:cTn id="254" nodeType="clickEffect" fill="hold" presetClass="entr" presetID="10">
                                  <p:stCondLst>
                                    <p:cond delay="0"/>
                                  </p:stCondLst>
                                  <p:childTnLst>
                                    <p:set>
                                      <p:cBhvr>
                                        <p:cTn id="255" dur="1" fill="hold">
                                          <p:stCondLst>
                                            <p:cond delay="0"/>
                                          </p:stCondLst>
                                        </p:cTn>
                                        <p:tgtEl>
                                          <p:spTgt spid="488"/>
                                        </p:tgtEl>
                                        <p:attrNameLst>
                                          <p:attrName>style.visibility</p:attrName>
                                        </p:attrNameLst>
                                      </p:cBhvr>
                                      <p:to>
                                        <p:strVal val="visible"/>
                                      </p:to>
                                    </p:set>
                                    <p:animEffect filter="fade" transition="in">
                                      <p:cBhvr additive="repl">
                                        <p:cTn id="256" dur="500"/>
                                        <p:tgtEl>
                                          <p:spTgt spid="488"/>
                                        </p:tgtEl>
                                      </p:cBhvr>
                                    </p:animEffect>
                                  </p:childTnLst>
                                </p:cTn>
                              </p:par>
                            </p:childTnLst>
                          </p:cTn>
                        </p:par>
                      </p:childTnLst>
                    </p:cTn>
                  </p:par>
                  <p:par>
                    <p:cTn id="257" fill="hold">
                      <p:stCondLst>
                        <p:cond delay="indefinite"/>
                      </p:stCondLst>
                      <p:childTnLst>
                        <p:par>
                          <p:cTn id="258" fill="hold">
                            <p:stCondLst>
                              <p:cond delay="0"/>
                            </p:stCondLst>
                            <p:childTnLst>
                              <p:par>
                                <p:cTn id="259" nodeType="clickEffect" fill="hold" presetClass="entr" presetID="10">
                                  <p:stCondLst>
                                    <p:cond delay="0"/>
                                  </p:stCondLst>
                                  <p:childTnLst>
                                    <p:set>
                                      <p:cBhvr>
                                        <p:cTn id="260" dur="1" fill="hold">
                                          <p:stCondLst>
                                            <p:cond delay="0"/>
                                          </p:stCondLst>
                                        </p:cTn>
                                        <p:tgtEl>
                                          <p:spTgt spid="485"/>
                                        </p:tgtEl>
                                        <p:attrNameLst>
                                          <p:attrName>style.visibility</p:attrName>
                                        </p:attrNameLst>
                                      </p:cBhvr>
                                      <p:to>
                                        <p:strVal val="visible"/>
                                      </p:to>
                                    </p:set>
                                    <p:animEffect filter="fade" transition="in">
                                      <p:cBhvr additive="repl">
                                        <p:cTn id="261" dur="500"/>
                                        <p:tgtEl>
                                          <p:spTgt spid="485"/>
                                        </p:tgtEl>
                                      </p:cBhvr>
                                    </p:animEffect>
                                  </p:childTnLst>
                                </p:cTn>
                              </p:par>
                              <p:par>
                                <p:cTn id="262" nodeType="withEffect" fill="hold" presetClass="entr" presetID="10">
                                  <p:stCondLst>
                                    <p:cond delay="0"/>
                                  </p:stCondLst>
                                  <p:childTnLst>
                                    <p:set>
                                      <p:cBhvr>
                                        <p:cTn id="263" dur="1" fill="hold">
                                          <p:stCondLst>
                                            <p:cond delay="0"/>
                                          </p:stCondLst>
                                        </p:cTn>
                                        <p:tgtEl>
                                          <p:spTgt spid="486"/>
                                        </p:tgtEl>
                                        <p:attrNameLst>
                                          <p:attrName>style.visibility</p:attrName>
                                        </p:attrNameLst>
                                      </p:cBhvr>
                                      <p:to>
                                        <p:strVal val="visible"/>
                                      </p:to>
                                    </p:set>
                                    <p:animEffect filter="fade" transition="in">
                                      <p:cBhvr additive="repl">
                                        <p:cTn id="264" dur="5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03 · Calidad y limpieza</a:t>
            </a:r>
            <a:endParaRPr b="0" lang="es-CL" sz="1200" strike="noStrike" u="none">
              <a:solidFill>
                <a:srgbClr val="1a1e2b"/>
              </a:solidFill>
              <a:effectLst/>
              <a:uFillTx/>
              <a:latin typeface="Calibri"/>
            </a:endParaRPr>
          </a:p>
        </p:txBody>
      </p:sp>
      <p:sp>
        <p:nvSpPr>
          <p:cNvPr id="498"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Ningún dato se eliminó, corrigió ni imputó: solo se marcó</a:t>
            </a:r>
            <a:endParaRPr b="0" lang="es-CL" sz="3000" strike="noStrike" u="none">
              <a:solidFill>
                <a:schemeClr val="dk1"/>
              </a:solidFill>
              <a:effectLst/>
              <a:uFillTx/>
              <a:latin typeface="Calibri"/>
            </a:endParaRPr>
          </a:p>
        </p:txBody>
      </p:sp>
      <p:sp>
        <p:nvSpPr>
          <p:cNvPr id="499" name="PlaceHolder 3"/>
          <p:cNvSpPr>
            <a:spLocks noGrp="1"/>
          </p:cNvSpPr>
          <p:nvPr>
            <p:ph/>
          </p:nvPr>
        </p:nvSpPr>
        <p:spPr>
          <a:xfrm>
            <a:off x="609480" y="1854360"/>
            <a:ext cx="6603480" cy="2031480"/>
          </a:xfrm>
          <a:prstGeom prst="rect">
            <a:avLst/>
          </a:prstGeom>
          <a:noFill/>
          <a:ln w="0">
            <a:noFill/>
          </a:ln>
        </p:spPr>
        <p:txBody>
          <a:bodyPr lIns="0" rIns="0" tIns="0" bIns="0" anchor="b">
            <a:noAutofit/>
          </a:bodyPr>
          <a:p>
            <a:pPr indent="0" defTabSz="914400">
              <a:lnSpc>
                <a:spcPct val="85000"/>
              </a:lnSpc>
              <a:buNone/>
              <a:tabLst>
                <a:tab algn="l" pos="0"/>
              </a:tabLst>
            </a:pPr>
            <a:r>
              <a:rPr b="1" lang="es-CL" sz="12000" strike="noStrike" u="none">
                <a:solidFill>
                  <a:srgbClr val="0176de"/>
                </a:solidFill>
                <a:effectLst/>
                <a:uFillTx/>
                <a:latin typeface="Calibri"/>
              </a:rPr>
              <a:t>0</a:t>
            </a:r>
            <a:endParaRPr b="0" lang="es-CL" sz="12000" strike="noStrike" u="none">
              <a:solidFill>
                <a:srgbClr val="1a1e2b"/>
              </a:solidFill>
              <a:effectLst/>
              <a:uFillTx/>
              <a:latin typeface="Calibri"/>
            </a:endParaRPr>
          </a:p>
        </p:txBody>
      </p:sp>
      <p:sp>
        <p:nvSpPr>
          <p:cNvPr id="500" name="PlaceHolder 4"/>
          <p:cNvSpPr>
            <a:spLocks noGrp="1"/>
          </p:cNvSpPr>
          <p:nvPr>
            <p:ph/>
          </p:nvPr>
        </p:nvSpPr>
        <p:spPr>
          <a:xfrm>
            <a:off x="609480" y="4241880"/>
            <a:ext cx="6603480" cy="914040"/>
          </a:xfrm>
          <a:prstGeom prst="rect">
            <a:avLst/>
          </a:prstGeom>
          <a:noFill/>
          <a:ln w="0">
            <a:noFill/>
          </a:ln>
        </p:spPr>
        <p:txBody>
          <a:bodyPr lIns="0" rIns="0" tIns="0" bIns="0" anchor="t">
            <a:noAutofit/>
          </a:bodyPr>
          <a:p>
            <a:pPr indent="0" defTabSz="914400">
              <a:lnSpc>
                <a:spcPct val="95000"/>
              </a:lnSpc>
              <a:buNone/>
              <a:tabLst>
                <a:tab algn="l" pos="0"/>
              </a:tabLst>
            </a:pPr>
            <a:r>
              <a:rPr b="1" lang="es-CL" sz="2400" strike="noStrike" u="none">
                <a:solidFill>
                  <a:srgbClr val="1a1e2b"/>
                </a:solidFill>
                <a:effectLst/>
                <a:uFillTx/>
                <a:latin typeface="Calibri"/>
              </a:rPr>
              <a:t>filas eliminadas, corregidas o imputadas</a:t>
            </a:r>
            <a:endParaRPr b="0" lang="es-CL" sz="2400" strike="noStrike" u="none">
              <a:solidFill>
                <a:srgbClr val="1a1e2b"/>
              </a:solidFill>
              <a:effectLst/>
              <a:uFillTx/>
              <a:latin typeface="Calibri"/>
            </a:endParaRPr>
          </a:p>
        </p:txBody>
      </p:sp>
      <p:sp>
        <p:nvSpPr>
          <p:cNvPr id="501" name="PlaceHolder 5"/>
          <p:cNvSpPr>
            <a:spLocks noGrp="1"/>
          </p:cNvSpPr>
          <p:nvPr>
            <p:ph/>
          </p:nvPr>
        </p:nvSpPr>
        <p:spPr>
          <a:xfrm>
            <a:off x="609480" y="5232240"/>
            <a:ext cx="660348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600" strike="noStrike" u="none">
                <a:solidFill>
                  <a:srgbClr val="5f6670"/>
                </a:solidFill>
                <a:effectLst/>
                <a:uFillTx/>
                <a:latin typeface="Calibri"/>
              </a:rPr>
              <a:t>Política del EDA: no inventar datos ni eliminarlos sin una justificación documentada.</a:t>
            </a:r>
            <a:endParaRPr b="0" lang="es-CL" sz="1600" strike="noStrike" u="none">
              <a:solidFill>
                <a:srgbClr val="1a1e2b"/>
              </a:solidFill>
              <a:effectLst/>
              <a:uFillTx/>
              <a:latin typeface="Calibri"/>
            </a:endParaRPr>
          </a:p>
        </p:txBody>
      </p:sp>
      <p:sp>
        <p:nvSpPr>
          <p:cNvPr id="502" name="PlaceHolder 6"/>
          <p:cNvSpPr>
            <a:spLocks noGrp="1"/>
          </p:cNvSpPr>
          <p:nvPr>
            <p:ph/>
          </p:nvPr>
        </p:nvSpPr>
        <p:spPr>
          <a:xfrm>
            <a:off x="8026560" y="1905120"/>
            <a:ext cx="3555720" cy="2285640"/>
          </a:xfrm>
          <a:prstGeom prst="rect">
            <a:avLst/>
          </a:prstGeom>
          <a:noFill/>
          <a:ln w="0">
            <a:noFill/>
          </a:ln>
        </p:spPr>
        <p:txBody>
          <a:bodyPr lIns="0" rIns="0" tIns="0" bIns="0" anchor="t">
            <a:noAutofit/>
          </a:bodyPr>
          <a:p>
            <a:pPr indent="0" defTabSz="914400">
              <a:lnSpc>
                <a:spcPct val="105000"/>
              </a:lnSpc>
              <a:spcAft>
                <a:spcPts val="1001"/>
              </a:spcAft>
              <a:buNone/>
              <a:tabLst>
                <a:tab algn="l" pos="0"/>
              </a:tabLst>
            </a:pPr>
            <a:r>
              <a:rPr b="1" lang="es-CL" sz="1400" spc="99" strike="noStrike" u="none" cap="all">
                <a:solidFill>
                  <a:srgbClr val="0176de"/>
                </a:solidFill>
                <a:effectLst/>
                <a:uFillTx/>
                <a:latin typeface="Calibri"/>
              </a:rPr>
              <a:t>Lo que se marcó</a:t>
            </a:r>
            <a:endParaRPr b="0" lang="es-CL" sz="1400" strike="noStrike" u="none">
              <a:solidFill>
                <a:srgbClr val="1a1e2b"/>
              </a:solidFill>
              <a:effectLst/>
              <a:uFillTx/>
              <a:latin typeface="Calibri"/>
            </a:endParaRPr>
          </a:p>
          <a:p>
            <a:pPr indent="0" defTabSz="914400">
              <a:lnSpc>
                <a:spcPct val="105000"/>
              </a:lnSpc>
              <a:spcAft>
                <a:spcPts val="1199"/>
              </a:spcAft>
              <a:buNone/>
              <a:tabLst>
                <a:tab algn="l" pos="0"/>
              </a:tabLst>
            </a:pPr>
            <a:r>
              <a:rPr b="1" lang="es-CL" sz="1800" strike="noStrike" u="none">
                <a:solidFill>
                  <a:srgbClr val="0176de"/>
                </a:solidFill>
                <a:effectLst/>
                <a:uFillTx/>
                <a:latin typeface="Calibri"/>
              </a:rPr>
              <a:t>26 de 343</a:t>
            </a:r>
            <a:r>
              <a:rPr b="0" lang="es-CL" sz="1800" strike="noStrike" u="none">
                <a:solidFill>
                  <a:srgbClr val="1a1e2b"/>
                </a:solidFill>
                <a:effectLst/>
                <a:uFillTx/>
                <a:latin typeface="Calibri"/>
              </a:rPr>
              <a:t> decisiones sin evidencia</a:t>
            </a:r>
            <a:endParaRPr b="0" lang="es-CL" sz="1800" strike="noStrike" u="none">
              <a:solidFill>
                <a:srgbClr val="1a1e2b"/>
              </a:solidFill>
              <a:effectLst/>
              <a:uFillTx/>
              <a:latin typeface="Calibri"/>
            </a:endParaRPr>
          </a:p>
          <a:p>
            <a:pPr indent="0" defTabSz="914400">
              <a:lnSpc>
                <a:spcPct val="105000"/>
              </a:lnSpc>
              <a:spcAft>
                <a:spcPts val="1199"/>
              </a:spcAft>
              <a:buNone/>
              <a:tabLst>
                <a:tab algn="l" pos="0"/>
              </a:tabLst>
            </a:pPr>
            <a:r>
              <a:rPr b="1" lang="es-CL" sz="1800" strike="noStrike" u="none">
                <a:solidFill>
                  <a:srgbClr val="0176de"/>
                </a:solidFill>
                <a:effectLst/>
                <a:uFillTx/>
                <a:latin typeface="Calibri"/>
              </a:rPr>
              <a:t>15 de 56</a:t>
            </a:r>
            <a:r>
              <a:rPr b="0" lang="es-CL" sz="1800" strike="noStrike" u="none">
                <a:solidFill>
                  <a:srgbClr val="1a1e2b"/>
                </a:solidFill>
                <a:effectLst/>
                <a:uFillTx/>
                <a:latin typeface="Calibri"/>
              </a:rPr>
              <a:t> reuniones atípicas</a:t>
            </a:r>
            <a:endParaRPr b="0" lang="es-CL" sz="1800" strike="noStrike" u="none">
              <a:solidFill>
                <a:srgbClr val="1a1e2b"/>
              </a:solidFill>
              <a:effectLst/>
              <a:uFillTx/>
              <a:latin typeface="Calibri"/>
            </a:endParaRPr>
          </a:p>
          <a:p>
            <a:pPr indent="0" defTabSz="914400">
              <a:lnSpc>
                <a:spcPct val="105000"/>
              </a:lnSpc>
              <a:spcAft>
                <a:spcPts val="1199"/>
              </a:spcAft>
              <a:buNone/>
              <a:tabLst>
                <a:tab algn="l" pos="0"/>
              </a:tabLst>
            </a:pPr>
            <a:r>
              <a:rPr b="1" lang="es-CL" sz="1800" strike="noStrike" u="none">
                <a:solidFill>
                  <a:srgbClr val="0176de"/>
                </a:solidFill>
                <a:effectLst/>
                <a:uFillTx/>
                <a:latin typeface="Calibri"/>
              </a:rPr>
              <a:t>4 + 8</a:t>
            </a:r>
            <a:r>
              <a:rPr b="0" lang="es-CL" sz="1800" strike="noStrike" u="none">
                <a:solidFill>
                  <a:srgbClr val="1a1e2b"/>
                </a:solidFill>
                <a:effectLst/>
                <a:uFillTx/>
                <a:latin typeface="Calibri"/>
              </a:rPr>
              <a:t> frases idénticas y casi idénticas (posibles reafirmaciones)</a:t>
            </a:r>
            <a:endParaRPr b="0" lang="es-CL" sz="1800" strike="noStrike" u="none">
              <a:solidFill>
                <a:srgbClr val="1a1e2b"/>
              </a:solidFill>
              <a:effectLst/>
              <a:uFillTx/>
              <a:latin typeface="Calibri"/>
            </a:endParaRPr>
          </a:p>
        </p:txBody>
      </p:sp>
      <p:pic>
        <p:nvPicPr>
          <p:cNvPr id="503"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sp>
        <p:nvSpPr>
          <p:cNvPr id="504"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05"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06" name="Progreso 3"/>
          <p:cNvSpPr/>
          <p:nvPr/>
        </p:nvSpPr>
        <p:spPr>
          <a:xfrm>
            <a:off x="1050624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07" name="Progreso 4"/>
          <p:cNvSpPr/>
          <p:nvPr/>
        </p:nvSpPr>
        <p:spPr>
          <a:xfrm>
            <a:off x="1069164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08"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09"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10"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11"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27000">
    <p:fade/>
  </p:transition>
  <p:timing>
    <p:tnLst>
      <p:par>
        <p:cTn id="265" dur="indefinite" restart="never" nodeType="tmRoot">
          <p:childTnLst>
            <p:seq>
              <p:cTn id="266" dur="indefinite" nodeType="mainSeq">
                <p:childTnLst>
                  <p:par>
                    <p:cTn id="267" fill="hold">
                      <p:stCondLst>
                        <p:cond delay="indefinite"/>
                      </p:stCondLst>
                      <p:childTnLst>
                        <p:par>
                          <p:cTn id="268" fill="hold">
                            <p:stCondLst>
                              <p:cond delay="0"/>
                            </p:stCondLst>
                            <p:childTnLst>
                              <p:par>
                                <p:cTn id="269" nodeType="clickEffect" fill="hold" presetClass="entr" presetID="10">
                                  <p:stCondLst>
                                    <p:cond delay="0"/>
                                  </p:stCondLst>
                                  <p:childTnLst>
                                    <p:set>
                                      <p:cBhvr>
                                        <p:cTn id="270" dur="1" fill="hold">
                                          <p:stCondLst>
                                            <p:cond delay="0"/>
                                          </p:stCondLst>
                                        </p:cTn>
                                        <p:tgtEl>
                                          <p:spTgt spid="499"/>
                                        </p:tgtEl>
                                        <p:attrNameLst>
                                          <p:attrName>style.visibility</p:attrName>
                                        </p:attrNameLst>
                                      </p:cBhvr>
                                      <p:to>
                                        <p:strVal val="visible"/>
                                      </p:to>
                                    </p:set>
                                    <p:animEffect filter="fade" transition="in">
                                      <p:cBhvr additive="repl">
                                        <p:cTn id="271" dur="500"/>
                                        <p:tgtEl>
                                          <p:spTgt spid="499"/>
                                        </p:tgtEl>
                                      </p:cBhvr>
                                    </p:animEffect>
                                  </p:childTnLst>
                                </p:cTn>
                              </p:par>
                              <p:par>
                                <p:cTn id="272" nodeType="withEffect" fill="hold" presetClass="entr" presetID="10">
                                  <p:stCondLst>
                                    <p:cond delay="0"/>
                                  </p:stCondLst>
                                  <p:childTnLst>
                                    <p:set>
                                      <p:cBhvr>
                                        <p:cTn id="273" dur="1" fill="hold">
                                          <p:stCondLst>
                                            <p:cond delay="0"/>
                                          </p:stCondLst>
                                        </p:cTn>
                                        <p:tgtEl>
                                          <p:spTgt spid="500"/>
                                        </p:tgtEl>
                                        <p:attrNameLst>
                                          <p:attrName>style.visibility</p:attrName>
                                        </p:attrNameLst>
                                      </p:cBhvr>
                                      <p:to>
                                        <p:strVal val="visible"/>
                                      </p:to>
                                    </p:set>
                                    <p:animEffect filter="fade" transition="in">
                                      <p:cBhvr additive="repl">
                                        <p:cTn id="274" dur="500"/>
                                        <p:tgtEl>
                                          <p:spTgt spid="500"/>
                                        </p:tgtEl>
                                      </p:cBhvr>
                                    </p:animEffect>
                                  </p:childTnLst>
                                </p:cTn>
                              </p:par>
                            </p:childTnLst>
                          </p:cTn>
                        </p:par>
                      </p:childTnLst>
                    </p:cTn>
                  </p:par>
                  <p:par>
                    <p:cTn id="275" fill="hold">
                      <p:stCondLst>
                        <p:cond delay="indefinite"/>
                      </p:stCondLst>
                      <p:childTnLst>
                        <p:par>
                          <p:cTn id="276" fill="hold">
                            <p:stCondLst>
                              <p:cond delay="0"/>
                            </p:stCondLst>
                            <p:childTnLst>
                              <p:par>
                                <p:cTn id="277" nodeType="clickEffect" fill="hold" presetClass="entr" presetID="10">
                                  <p:stCondLst>
                                    <p:cond delay="0"/>
                                  </p:stCondLst>
                                  <p:childTnLst>
                                    <p:set>
                                      <p:cBhvr>
                                        <p:cTn id="278" dur="1" fill="hold">
                                          <p:stCondLst>
                                            <p:cond delay="0"/>
                                          </p:stCondLst>
                                        </p:cTn>
                                        <p:tgtEl>
                                          <p:spTgt spid="501"/>
                                        </p:tgtEl>
                                        <p:attrNameLst>
                                          <p:attrName>style.visibility</p:attrName>
                                        </p:attrNameLst>
                                      </p:cBhvr>
                                      <p:to>
                                        <p:strVal val="visible"/>
                                      </p:to>
                                    </p:set>
                                    <p:animEffect filter="fade" transition="in">
                                      <p:cBhvr additive="repl">
                                        <p:cTn id="279" dur="500"/>
                                        <p:tgtEl>
                                          <p:spTgt spid="501"/>
                                        </p:tgtEl>
                                      </p:cBhvr>
                                    </p:animEffect>
                                  </p:childTnLst>
                                </p:cTn>
                              </p:par>
                            </p:childTnLst>
                          </p:cTn>
                        </p:par>
                      </p:childTnLst>
                    </p:cTn>
                  </p:par>
                  <p:par>
                    <p:cTn id="280" fill="hold">
                      <p:stCondLst>
                        <p:cond delay="indefinite"/>
                      </p:stCondLst>
                      <p:childTnLst>
                        <p:par>
                          <p:cTn id="281" fill="hold">
                            <p:stCondLst>
                              <p:cond delay="0"/>
                            </p:stCondLst>
                            <p:childTnLst>
                              <p:par>
                                <p:cTn id="282" nodeType="clickEffect" fill="hold" presetClass="entr" presetID="10">
                                  <p:stCondLst>
                                    <p:cond delay="0"/>
                                  </p:stCondLst>
                                  <p:childTnLst>
                                    <p:set>
                                      <p:cBhvr>
                                        <p:cTn id="283" dur="1" fill="hold">
                                          <p:stCondLst>
                                            <p:cond delay="0"/>
                                          </p:stCondLst>
                                        </p:cTn>
                                        <p:tgtEl>
                                          <p:spTgt spid="502"/>
                                        </p:tgtEl>
                                        <p:attrNameLst>
                                          <p:attrName>style.visibility</p:attrName>
                                        </p:attrNameLst>
                                      </p:cBhvr>
                                      <p:to>
                                        <p:strVal val="visible"/>
                                      </p:to>
                                    </p:set>
                                    <p:animEffect filter="fade" transition="in">
                                      <p:cBhvr additive="repl">
                                        <p:cTn id="284" dur="500"/>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04 · Hallazgo sobre las reuniones</a:t>
            </a:r>
            <a:endParaRPr b="0" lang="es-CL" sz="1200" strike="noStrike" u="none">
              <a:solidFill>
                <a:srgbClr val="1a1e2b"/>
              </a:solidFill>
              <a:effectLst/>
              <a:uFillTx/>
              <a:latin typeface="Calibri"/>
            </a:endParaRPr>
          </a:p>
        </p:txBody>
      </p:sp>
      <p:sp>
        <p:nvSpPr>
          <p:cNvPr id="513"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La primera reunión contiene aproximadamente la mitad de decisiones que las siguientes</a:t>
            </a:r>
            <a:endParaRPr b="0" lang="es-CL" sz="3000" strike="noStrike" u="none">
              <a:solidFill>
                <a:schemeClr val="dk1"/>
              </a:solidFill>
              <a:effectLst/>
              <a:uFillTx/>
              <a:latin typeface="Calibri"/>
            </a:endParaRPr>
          </a:p>
        </p:txBody>
      </p:sp>
      <p:sp>
        <p:nvSpPr>
          <p:cNvPr id="514" name="PlaceHolder 3"/>
          <p:cNvSpPr>
            <a:spLocks noGrp="1"/>
          </p:cNvSpPr>
          <p:nvPr>
            <p:ph/>
          </p:nvPr>
        </p:nvSpPr>
        <p:spPr>
          <a:xfrm>
            <a:off x="609480" y="5486400"/>
            <a:ext cx="10972440" cy="355320"/>
          </a:xfrm>
          <a:prstGeom prst="rect">
            <a:avLst/>
          </a:prstGeom>
          <a:noFill/>
          <a:ln w="0">
            <a:noFill/>
          </a:ln>
        </p:spPr>
        <p:txBody>
          <a:bodyPr lIns="0" rIns="0" tIns="0" bIns="0" anchor="ctr">
            <a:noAutofit/>
          </a:bodyPr>
          <a:p>
            <a:pPr indent="0" defTabSz="914400">
              <a:lnSpc>
                <a:spcPct val="95000"/>
              </a:lnSpc>
              <a:buNone/>
              <a:tabLst>
                <a:tab algn="l" pos="0"/>
              </a:tabLst>
            </a:pPr>
            <a:r>
              <a:rPr b="1" lang="es-CL" sz="1800" strike="noStrike" u="none">
                <a:solidFill>
                  <a:srgbClr val="1a1e2b"/>
                </a:solidFill>
                <a:effectLst/>
                <a:uFillTx/>
                <a:latin typeface="Calibri"/>
              </a:rPr>
              <a:t>Mediana 3,5 frente a 8,0 · 6,5 · 7,0</a:t>
            </a:r>
            <a:r>
              <a:rPr b="0" lang="es-CL" sz="1800" strike="noStrike" u="none">
                <a:solidFill>
                  <a:srgbClr val="0176de"/>
                </a:solidFill>
                <a:effectLst/>
                <a:uFillTx/>
                <a:latin typeface="Calibri"/>
              </a:rPr>
              <a:t>   →   las preguntas de evolución se apoyan en b, c y d</a:t>
            </a:r>
            <a:endParaRPr b="0" lang="es-CL" sz="1800" strike="noStrike" u="none">
              <a:solidFill>
                <a:srgbClr val="1a1e2b"/>
              </a:solidFill>
              <a:effectLst/>
              <a:uFillTx/>
              <a:latin typeface="Calibri"/>
            </a:endParaRPr>
          </a:p>
        </p:txBody>
      </p:sp>
      <p:sp>
        <p:nvSpPr>
          <p:cNvPr id="515" name="PlaceHolder 4"/>
          <p:cNvSpPr>
            <a:spLocks noGrp="1"/>
          </p:cNvSpPr>
          <p:nvPr>
            <p:ph/>
          </p:nvPr>
        </p:nvSpPr>
        <p:spPr>
          <a:xfrm>
            <a:off x="609480" y="6019920"/>
            <a:ext cx="10972440" cy="228240"/>
          </a:xfrm>
          <a:prstGeom prst="rect">
            <a:avLst/>
          </a:prstGeom>
          <a:noFill/>
          <a:ln w="0">
            <a:noFill/>
          </a:ln>
        </p:spPr>
        <p:txBody>
          <a:bodyPr lIns="0" rIns="0" tIns="0" bIns="0" anchor="b">
            <a:normAutofit/>
          </a:bodyPr>
          <a:p>
            <a:pPr indent="0" defTabSz="914400">
              <a:lnSpc>
                <a:spcPct val="95000"/>
              </a:lnSpc>
              <a:buNone/>
              <a:tabLst>
                <a:tab algn="l" pos="0"/>
              </a:tabLst>
            </a:pPr>
            <a:r>
              <a:rPr b="0" lang="es-CL" sz="1100" strike="noStrike" u="none">
                <a:solidFill>
                  <a:srgbClr val="5f6670"/>
                </a:solidFill>
                <a:effectLst/>
                <a:uFillTx/>
                <a:latin typeface="Calibri"/>
              </a:rPr>
              <a:t>Fuente: EDA de AFG2 (notebook 03; figura 3 del notebook 11). 14 series × 4 posiciones.</a:t>
            </a:r>
            <a:endParaRPr b="0" lang="es-CL" sz="1100" strike="noStrike" u="none">
              <a:solidFill>
                <a:srgbClr val="1a1e2b"/>
              </a:solidFill>
              <a:effectLst/>
              <a:uFillTx/>
              <a:latin typeface="Calibri"/>
            </a:endParaRPr>
          </a:p>
        </p:txBody>
      </p:sp>
      <p:sp>
        <p:nvSpPr>
          <p:cNvPr id="516" name="Etiqueta gráfico"/>
          <p:cNvSpPr/>
          <p:nvPr/>
        </p:nvSpPr>
        <p:spPr>
          <a:xfrm>
            <a:off x="609480" y="1752480"/>
            <a:ext cx="1097244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5f6670"/>
                </a:solidFill>
                <a:effectLst/>
                <a:uFillTx/>
                <a:latin typeface="Calibri"/>
              </a:rPr>
              <a:t>Mediana de decisiones por reunión, según su posición en la serie</a:t>
            </a:r>
            <a:endParaRPr b="0" lang="en-US" sz="1400" strike="noStrike" u="none">
              <a:solidFill>
                <a:srgbClr val="000000"/>
              </a:solidFill>
              <a:effectLst/>
              <a:uFillTx/>
              <a:latin typeface="Arial"/>
            </a:endParaRPr>
          </a:p>
        </p:txBody>
      </p:sp>
      <p:sp>
        <p:nvSpPr>
          <p:cNvPr id="517"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18"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19"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20" name="Progreso 4"/>
          <p:cNvSpPr/>
          <p:nvPr/>
        </p:nvSpPr>
        <p:spPr>
          <a:xfrm>
            <a:off x="1069164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21" name="Progreso 5"/>
          <p:cNvSpPr/>
          <p:nvPr/>
        </p:nvSpPr>
        <p:spPr>
          <a:xfrm>
            <a:off x="1087740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22"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23"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24"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pic>
        <p:nvPicPr>
          <p:cNvPr id="525" name="Picture 710" descr="boxplot_decisiones_posicion.png"/>
          <p:cNvPicPr/>
          <p:nvPr/>
        </p:nvPicPr>
        <p:blipFill>
          <a:blip r:embed="rId1"/>
          <a:stretch/>
        </p:blipFill>
        <p:spPr>
          <a:xfrm>
            <a:off x="4600440" y="1874520"/>
            <a:ext cx="2996640" cy="3456000"/>
          </a:xfrm>
          <a:prstGeom prst="rect">
            <a:avLst/>
          </a:prstGeom>
          <a:noFill/>
          <a:ln w="0">
            <a:noFill/>
          </a:ln>
        </p:spPr>
      </p:pic>
    </p:spTree>
  </p:cSld>
  <p:transition spd="med" advTm="35000">
    <p:fade/>
  </p:transition>
  <p:timing>
    <p:tnLst>
      <p:par>
        <p:cTn id="285" dur="indefinite" restart="never" nodeType="tmRoot">
          <p:childTnLst>
            <p:seq>
              <p:cTn id="286" dur="indefinite" nodeType="mainSeq">
                <p:childTnLst>
                  <p:par>
                    <p:cTn id="287" fill="hold">
                      <p:stCondLst>
                        <p:cond delay="indefinite"/>
                      </p:stCondLst>
                      <p:childTnLst>
                        <p:par>
                          <p:cTn id="288" fill="hold">
                            <p:stCondLst>
                              <p:cond delay="0"/>
                            </p:stCondLst>
                            <p:childTnLst>
                              <p:par>
                                <p:cTn id="289" nodeType="clickEffect" fill="hold" presetClass="entr" presetID="10">
                                  <p:stCondLst>
                                    <p:cond delay="0"/>
                                  </p:stCondLst>
                                  <p:childTnLst>
                                    <p:set>
                                      <p:cBhvr>
                                        <p:cTn id="290" dur="1" fill="hold">
                                          <p:stCondLst>
                                            <p:cond delay="0"/>
                                          </p:stCondLst>
                                        </p:cTn>
                                        <p:tgtEl>
                                          <p:spTgt spid="514"/>
                                        </p:tgtEl>
                                        <p:attrNameLst>
                                          <p:attrName>style.visibility</p:attrName>
                                        </p:attrNameLst>
                                      </p:cBhvr>
                                      <p:to>
                                        <p:strVal val="visible"/>
                                      </p:to>
                                    </p:set>
                                    <p:animEffect filter="fade" transition="in">
                                      <p:cBhvr additive="repl">
                                        <p:cTn id="291" dur="500"/>
                                        <p:tgtEl>
                                          <p:spTgt spid="5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p:nvPr>
        </p:nvSpPr>
        <p:spPr>
          <a:xfrm>
            <a:off x="609480" y="1219320"/>
            <a:ext cx="3352320" cy="1218960"/>
          </a:xfrm>
          <a:prstGeom prst="rect">
            <a:avLst/>
          </a:prstGeom>
          <a:noFill/>
          <a:ln w="0">
            <a:noFill/>
          </a:ln>
        </p:spPr>
        <p:txBody>
          <a:bodyPr lIns="0" rIns="0" tIns="0" bIns="0" anchor="b">
            <a:noAutofit/>
          </a:bodyPr>
          <a:p>
            <a:pPr indent="0" defTabSz="914400">
              <a:lnSpc>
                <a:spcPct val="85000"/>
              </a:lnSpc>
              <a:buNone/>
              <a:tabLst>
                <a:tab algn="l" pos="0"/>
              </a:tabLst>
            </a:pPr>
            <a:r>
              <a:rPr b="1" lang="es-CL" sz="7200" strike="noStrike" u="none">
                <a:solidFill>
                  <a:srgbClr val="fec60d"/>
                </a:solidFill>
                <a:effectLst/>
                <a:uFillTx/>
                <a:latin typeface="Calibri"/>
              </a:rPr>
              <a:t>05</a:t>
            </a:r>
            <a:endParaRPr b="0" lang="es-CL" sz="7200" strike="noStrike" u="none">
              <a:solidFill>
                <a:srgbClr val="1a1e2b"/>
              </a:solidFill>
              <a:effectLst/>
              <a:uFillTx/>
              <a:latin typeface="Calibri"/>
            </a:endParaRPr>
          </a:p>
        </p:txBody>
      </p:sp>
      <p:sp>
        <p:nvSpPr>
          <p:cNvPr id="527" name="PlaceHolder 2"/>
          <p:cNvSpPr>
            <a:spLocks noGrp="1"/>
          </p:cNvSpPr>
          <p:nvPr>
            <p:ph type="title"/>
          </p:nvPr>
        </p:nvSpPr>
        <p:spPr>
          <a:xfrm>
            <a:off x="609480" y="2793960"/>
            <a:ext cx="3352320" cy="13204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Filtro léxico (blocking)</a:t>
            </a:r>
            <a:endParaRPr b="0" lang="es-CL" sz="3200" strike="noStrike" u="none">
              <a:solidFill>
                <a:schemeClr val="dk1"/>
              </a:solidFill>
              <a:effectLst/>
              <a:uFillTx/>
              <a:latin typeface="Calibri"/>
            </a:endParaRPr>
          </a:p>
        </p:txBody>
      </p:sp>
      <p:sp>
        <p:nvSpPr>
          <p:cNvPr id="528" name="PlaceHolder 3"/>
          <p:cNvSpPr>
            <a:spLocks noGrp="1"/>
          </p:cNvSpPr>
          <p:nvPr>
            <p:ph/>
          </p:nvPr>
        </p:nvSpPr>
        <p:spPr>
          <a:xfrm>
            <a:off x="609480" y="4191120"/>
            <a:ext cx="335232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800" strike="noStrike" u="none">
                <a:solidFill>
                  <a:srgbClr val="c9d3e0"/>
                </a:solidFill>
                <a:effectLst/>
                <a:uFillTx/>
                <a:latin typeface="Calibri"/>
              </a:rPr>
              <a:t>Cómo se reduce el número de pares que hay que revisar, y a qué costo</a:t>
            </a:r>
            <a:endParaRPr b="0" lang="es-CL" sz="1800" strike="noStrike" u="none">
              <a:solidFill>
                <a:srgbClr val="1a1e2b"/>
              </a:solidFill>
              <a:effectLst/>
              <a:uFillTx/>
              <a:latin typeface="Calibri"/>
            </a:endParaRPr>
          </a:p>
        </p:txBody>
      </p:sp>
      <p:pic>
        <p:nvPicPr>
          <p:cNvPr id="529" name="" descr="">
            <a:hlinkClick r:id="" action="ppaction://media"/>
          </p:cNvPr>
          <p:cNvPicPr/>
          <p:nvPr>
            <a:videoFile r:link="rId1"/>
            <p:extLst>
              <p:ext uri="{DAA4B4D4-6D71-4841-9C94-3DE7FCFB9230}">
                <p14:media r:link="rId2"/>
              </p:ext>
            </p:extLst>
          </p:nvPr>
        </p:nvPicPr>
        <p:blipFill>
          <a:blip r:embed="rId3"/>
          <a:stretch>
            <a:fillRect/>
          </a:stretch>
        </p:blipFill>
        <p:spPr>
          <a:xfrm>
            <a:off x="4267080" y="1219320"/>
            <a:ext cx="7314840" cy="4114440"/>
          </a:xfrm>
          <a:prstGeom prst="rect">
            <a:avLst/>
          </a:prstGeom>
          <a:ln w="0">
            <a:noFill/>
          </a:ln>
        </p:spPr>
      </p:pic>
      <p:sp>
        <p:nvSpPr>
          <p:cNvPr id="530" name="PlaceHolder 4"/>
          <p:cNvSpPr>
            <a:spLocks noGrp="1"/>
          </p:cNvSpPr>
          <p:nvPr>
            <p:ph/>
          </p:nvPr>
        </p:nvSpPr>
        <p:spPr>
          <a:xfrm>
            <a:off x="4267080" y="5511960"/>
            <a:ext cx="73148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c9d3e0"/>
                </a:solidFill>
                <a:effectLst/>
                <a:uFillTx/>
                <a:latin typeface="Calibri"/>
              </a:rPr>
              <a:t>Gustavo Martínez</a:t>
            </a:r>
            <a:endParaRPr b="0" lang="es-CL" sz="1400" strike="noStrike" u="none">
              <a:solidFill>
                <a:srgbClr val="1a1e2b"/>
              </a:solidFill>
              <a:effectLst/>
              <a:uFillTx/>
              <a:latin typeface="Calibri"/>
            </a:endParaRPr>
          </a:p>
        </p:txBody>
      </p:sp>
      <p:sp>
        <p:nvSpPr>
          <p:cNvPr id="531" name="Progreso etiqueta"/>
          <p:cNvSpPr/>
          <p:nvPr/>
        </p:nvSpPr>
        <p:spPr>
          <a:xfrm>
            <a:off x="609480" y="5435640"/>
            <a:ext cx="3352320" cy="168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s-CL" sz="1100" strike="noStrike" u="none">
                <a:solidFill>
                  <a:srgbClr val="9aa6b8"/>
                </a:solidFill>
                <a:effectLst/>
                <a:uFillTx/>
                <a:latin typeface="Calibri"/>
              </a:rPr>
              <a:t>SECCIÓN 05 DE 08</a:t>
            </a:r>
            <a:endParaRPr b="0" lang="en-US" sz="1100" strike="noStrike" u="none">
              <a:solidFill>
                <a:srgbClr val="ffffff"/>
              </a:solidFill>
              <a:effectLst/>
              <a:uFillTx/>
              <a:latin typeface="Arial"/>
            </a:endParaRPr>
          </a:p>
        </p:txBody>
      </p:sp>
      <p:sp>
        <p:nvSpPr>
          <p:cNvPr id="532" name="Progreso 1"/>
          <p:cNvSpPr/>
          <p:nvPr/>
        </p:nvSpPr>
        <p:spPr>
          <a:xfrm>
            <a:off x="60948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3" name="Progreso 2"/>
          <p:cNvSpPr/>
          <p:nvPr/>
        </p:nvSpPr>
        <p:spPr>
          <a:xfrm>
            <a:off x="103500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4" name="Progreso 3"/>
          <p:cNvSpPr/>
          <p:nvPr/>
        </p:nvSpPr>
        <p:spPr>
          <a:xfrm>
            <a:off x="146052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5" name="Progreso 4"/>
          <p:cNvSpPr/>
          <p:nvPr/>
        </p:nvSpPr>
        <p:spPr>
          <a:xfrm>
            <a:off x="188604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6" name="Progreso 5"/>
          <p:cNvSpPr/>
          <p:nvPr/>
        </p:nvSpPr>
        <p:spPr>
          <a:xfrm>
            <a:off x="2311560" y="5740560"/>
            <a:ext cx="374400" cy="50400"/>
          </a:xfrm>
          <a:prstGeom prst="rect">
            <a:avLst/>
          </a:prstGeom>
          <a:solidFill>
            <a:srgbClr val="fec60d"/>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7" name="Progreso 6"/>
          <p:cNvSpPr/>
          <p:nvPr/>
        </p:nvSpPr>
        <p:spPr>
          <a:xfrm>
            <a:off x="273672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8" name="Progreso 7"/>
          <p:cNvSpPr/>
          <p:nvPr/>
        </p:nvSpPr>
        <p:spPr>
          <a:xfrm>
            <a:off x="316224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539" name="Progreso 8"/>
          <p:cNvSpPr/>
          <p:nvPr/>
        </p:nvSpPr>
        <p:spPr>
          <a:xfrm>
            <a:off x="35877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40000">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05 · Filtro léxico (blocking)</a:t>
            </a:r>
            <a:endParaRPr b="0" lang="es-CL" sz="1200" strike="noStrike" u="none">
              <a:solidFill>
                <a:srgbClr val="1a1e2b"/>
              </a:solidFill>
              <a:effectLst/>
              <a:uFillTx/>
              <a:latin typeface="Calibri"/>
            </a:endParaRPr>
          </a:p>
        </p:txBody>
      </p:sp>
      <p:sp>
        <p:nvSpPr>
          <p:cNvPr id="541"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El par del botón turbo supera el filtro léxico con 0,67</a:t>
            </a:r>
            <a:endParaRPr b="0" lang="es-CL" sz="3000" strike="noStrike" u="none">
              <a:solidFill>
                <a:schemeClr val="dk1"/>
              </a:solidFill>
              <a:effectLst/>
              <a:uFillTx/>
              <a:latin typeface="Calibri"/>
            </a:endParaRPr>
          </a:p>
        </p:txBody>
      </p:sp>
      <p:sp>
        <p:nvSpPr>
          <p:cNvPr id="542" name="PlaceHolder 3"/>
          <p:cNvSpPr>
            <a:spLocks noGrp="1"/>
          </p:cNvSpPr>
          <p:nvPr>
            <p:ph/>
          </p:nvPr>
        </p:nvSpPr>
        <p:spPr>
          <a:xfrm>
            <a:off x="609480" y="6070680"/>
            <a:ext cx="10972440" cy="253800"/>
          </a:xfrm>
          <a:prstGeom prst="rect">
            <a:avLst/>
          </a:prstGeom>
          <a:noFill/>
          <a:ln w="0">
            <a:noFill/>
          </a:ln>
        </p:spPr>
        <p:txBody>
          <a:bodyPr lIns="0" rIns="0" tIns="0" bIns="0" anchor="b">
            <a:noAutofit/>
          </a:bodyPr>
          <a:p>
            <a:pPr indent="0">
              <a:lnSpc>
                <a:spcPct val="90000"/>
              </a:lnSpc>
              <a:spcBef>
                <a:spcPts val="1417"/>
              </a:spcBef>
              <a:buNone/>
            </a:pPr>
            <a:endParaRPr b="0" lang="es-CL" sz="1100" strike="noStrike" u="none">
              <a:solidFill>
                <a:srgbClr val="5f6670"/>
              </a:solidFill>
              <a:effectLst/>
              <a:uFillTx/>
              <a:latin typeface="Calibri"/>
            </a:endParaRPr>
          </a:p>
        </p:txBody>
      </p:sp>
      <p:sp>
        <p:nvSpPr>
          <p:cNvPr id="543" name="Etiqueta 600"/>
          <p:cNvSpPr/>
          <p:nvPr/>
        </p:nvSpPr>
        <p:spPr>
          <a:xfrm>
            <a:off x="609480" y="1727280"/>
            <a:ext cx="38095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1 · Frase larga</a:t>
            </a:r>
            <a:endParaRPr b="0" lang="en-US" sz="1200" strike="noStrike" u="none">
              <a:solidFill>
                <a:srgbClr val="000000"/>
              </a:solidFill>
              <a:effectLst/>
              <a:uFillTx/>
              <a:latin typeface="Arial"/>
            </a:endParaRPr>
          </a:p>
        </p:txBody>
      </p:sp>
      <p:sp>
        <p:nvSpPr>
          <p:cNvPr id="544" name="Frase larga 601"/>
          <p:cNvSpPr/>
          <p:nvPr/>
        </p:nvSpPr>
        <p:spPr>
          <a:xfrm>
            <a:off x="609480" y="1981080"/>
            <a:ext cx="10972440" cy="6091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800" strike="noStrike" u="none">
                <a:solidFill>
                  <a:srgbClr val="1a1e2b"/>
                </a:solidFill>
                <a:effectLst/>
                <a:uFillTx/>
                <a:latin typeface="Calibri"/>
              </a:rPr>
              <a:t>«el control tendrá rueda de desplazamiento, pantalla, botón turbo, botón de encendido y carcasa amarilla»</a:t>
            </a:r>
            <a:endParaRPr b="0" lang="en-US" sz="1800" strike="noStrike" u="none">
              <a:solidFill>
                <a:srgbClr val="000000"/>
              </a:solidFill>
              <a:effectLst/>
              <a:uFillTx/>
              <a:latin typeface="Arial"/>
            </a:endParaRPr>
          </a:p>
        </p:txBody>
      </p:sp>
      <p:sp>
        <p:nvSpPr>
          <p:cNvPr id="545" name="Etiqueta 602"/>
          <p:cNvSpPr/>
          <p:nvPr/>
        </p:nvSpPr>
        <p:spPr>
          <a:xfrm>
            <a:off x="609480" y="2692440"/>
            <a:ext cx="38095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2 · Frase corta</a:t>
            </a:r>
            <a:endParaRPr b="0" lang="en-US" sz="1200" strike="noStrike" u="none">
              <a:solidFill>
                <a:srgbClr val="000000"/>
              </a:solidFill>
              <a:effectLst/>
              <a:uFillTx/>
              <a:latin typeface="Arial"/>
            </a:endParaRPr>
          </a:p>
        </p:txBody>
      </p:sp>
      <p:sp>
        <p:nvSpPr>
          <p:cNvPr id="546" name="Frase corta 603"/>
          <p:cNvSpPr/>
          <p:nvPr/>
        </p:nvSpPr>
        <p:spPr>
          <a:xfrm>
            <a:off x="609480" y="2946240"/>
            <a:ext cx="10972440" cy="3297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800" strike="noStrike" u="none">
                <a:solidFill>
                  <a:srgbClr val="1a1e2b"/>
                </a:solidFill>
                <a:effectLst/>
                <a:uFillTx/>
                <a:latin typeface="Calibri"/>
              </a:rPr>
              <a:t>«se elimina el botón turbo»</a:t>
            </a:r>
            <a:endParaRPr b="0" lang="en-US" sz="1800" strike="noStrike" u="none">
              <a:solidFill>
                <a:srgbClr val="000000"/>
              </a:solidFill>
              <a:effectLst/>
              <a:uFillTx/>
              <a:latin typeface="Arial"/>
            </a:endParaRPr>
          </a:p>
        </p:txBody>
      </p:sp>
      <p:sp>
        <p:nvSpPr>
          <p:cNvPr id="547" name="Resaltado larga 604"/>
          <p:cNvSpPr/>
          <p:nvPr/>
        </p:nvSpPr>
        <p:spPr>
          <a:xfrm>
            <a:off x="609480" y="1981080"/>
            <a:ext cx="10972440" cy="6091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800" strike="noStrike" u="none">
                <a:solidFill>
                  <a:srgbClr val="1a1e2b"/>
                </a:solidFill>
                <a:effectLst/>
                <a:uFillTx/>
                <a:latin typeface="Calibri"/>
              </a:rPr>
              <a:t>«el control tendrá rueda de desplazamiento, pantalla, </a:t>
            </a:r>
            <a:r>
              <a:rPr b="0" lang="es-CL" sz="1800" strike="noStrike" u="none">
                <a:solidFill>
                  <a:srgbClr val="1a1e2b"/>
                </a:solidFill>
                <a:effectLst/>
                <a:highlight>
                  <a:srgbClr val="fec60d"/>
                </a:highlight>
                <a:uFillTx/>
                <a:latin typeface="Calibri"/>
              </a:rPr>
              <a:t>botón turbo</a:t>
            </a:r>
            <a:r>
              <a:rPr b="0" lang="es-CL" sz="1800" strike="noStrike" u="none">
                <a:solidFill>
                  <a:srgbClr val="1a1e2b"/>
                </a:solidFill>
                <a:effectLst/>
                <a:uFillTx/>
                <a:latin typeface="Calibri"/>
              </a:rPr>
              <a:t>, botón de encendido y carcasa amarilla»</a:t>
            </a:r>
            <a:endParaRPr b="0" lang="en-US" sz="1800" strike="noStrike" u="none">
              <a:solidFill>
                <a:srgbClr val="000000"/>
              </a:solidFill>
              <a:effectLst/>
              <a:uFillTx/>
              <a:latin typeface="Arial"/>
            </a:endParaRPr>
          </a:p>
        </p:txBody>
      </p:sp>
      <p:sp>
        <p:nvSpPr>
          <p:cNvPr id="548" name="Resaltado corta 605"/>
          <p:cNvSpPr/>
          <p:nvPr/>
        </p:nvSpPr>
        <p:spPr>
          <a:xfrm>
            <a:off x="609480" y="2946240"/>
            <a:ext cx="10972440" cy="3297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800" strike="noStrike" u="none">
                <a:solidFill>
                  <a:srgbClr val="1a1e2b"/>
                </a:solidFill>
                <a:effectLst/>
                <a:uFillTx/>
                <a:latin typeface="Calibri"/>
              </a:rPr>
              <a:t>«se elimina el </a:t>
            </a:r>
            <a:r>
              <a:rPr b="0" lang="es-CL" sz="1800" strike="noStrike" u="none">
                <a:solidFill>
                  <a:srgbClr val="1a1e2b"/>
                </a:solidFill>
                <a:effectLst/>
                <a:highlight>
                  <a:srgbClr val="fec60d"/>
                </a:highlight>
                <a:uFillTx/>
                <a:latin typeface="Calibri"/>
              </a:rPr>
              <a:t>botón turbo</a:t>
            </a:r>
            <a:r>
              <a:rPr b="0" lang="es-CL" sz="1800" strike="noStrike" u="none">
                <a:solidFill>
                  <a:srgbClr val="1a1e2b"/>
                </a:solidFill>
                <a:effectLst/>
                <a:uFillTx/>
                <a:latin typeface="Calibri"/>
              </a:rPr>
              <a:t>»</a:t>
            </a:r>
            <a:endParaRPr b="0" lang="en-US" sz="1800" strike="noStrike" u="none">
              <a:solidFill>
                <a:srgbClr val="000000"/>
              </a:solidFill>
              <a:effectLst/>
              <a:uFillTx/>
              <a:latin typeface="Arial"/>
            </a:endParaRPr>
          </a:p>
        </p:txBody>
      </p:sp>
      <p:sp>
        <p:nvSpPr>
          <p:cNvPr id="549" name="Línea 606"/>
          <p:cNvSpPr/>
          <p:nvPr/>
        </p:nvSpPr>
        <p:spPr>
          <a:xfrm>
            <a:off x="609480" y="3403440"/>
            <a:ext cx="10972440" cy="1224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50" name="Etiqueta 607"/>
          <p:cNvSpPr/>
          <p:nvPr/>
        </p:nvSpPr>
        <p:spPr>
          <a:xfrm>
            <a:off x="609480" y="3581280"/>
            <a:ext cx="507960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3 · Palabras relevantes de la frase corta</a:t>
            </a:r>
            <a:endParaRPr b="0" lang="en-US" sz="1200" strike="noStrike" u="none">
              <a:solidFill>
                <a:srgbClr val="000000"/>
              </a:solidFill>
              <a:effectLst/>
              <a:uFillTx/>
              <a:latin typeface="Arial"/>
            </a:endParaRPr>
          </a:p>
        </p:txBody>
      </p:sp>
      <p:sp>
        <p:nvSpPr>
          <p:cNvPr id="551" name="Ficha elimina 608"/>
          <p:cNvSpPr/>
          <p:nvPr/>
        </p:nvSpPr>
        <p:spPr>
          <a:xfrm>
            <a:off x="609480" y="3886200"/>
            <a:ext cx="1269720" cy="456840"/>
          </a:xfrm>
          <a:prstGeom prst="roundRect">
            <a:avLst>
              <a:gd name="adj" fmla="val 25000"/>
            </a:avLst>
          </a:prstGeom>
          <a:noFill/>
          <a:ln w="15875">
            <a:solidFill>
              <a:srgbClr val="9aa3ae"/>
            </a:solidFill>
            <a:round/>
          </a:ln>
        </p:spPr>
        <p:style>
          <a:lnRef idx="0"/>
          <a:fillRef idx="0"/>
          <a:effectRef idx="0"/>
          <a:fontRef idx="minor"/>
        </p:style>
        <p:txBody>
          <a:bodyPr lIns="0" rIns="0" tIns="0" bIns="0" anchor="ctr">
            <a:noAutofit/>
          </a:bodyPr>
          <a:p>
            <a:pPr algn="ctr" defTabSz="914400">
              <a:lnSpc>
                <a:spcPct val="100000"/>
              </a:lnSpc>
            </a:pPr>
            <a:r>
              <a:rPr b="0" lang="es-CL" sz="1800" strike="noStrike" u="none">
                <a:solidFill>
                  <a:srgbClr val="5f6670"/>
                </a:solidFill>
                <a:effectLst/>
                <a:uFillTx/>
                <a:latin typeface="Calibri"/>
              </a:rPr>
              <a:t>elimina</a:t>
            </a:r>
            <a:endParaRPr b="0" lang="en-US" sz="1800" strike="noStrike" u="none">
              <a:solidFill>
                <a:srgbClr val="000000"/>
              </a:solidFill>
              <a:effectLst/>
              <a:uFillTx/>
              <a:latin typeface="Arial"/>
            </a:endParaRPr>
          </a:p>
        </p:txBody>
      </p:sp>
      <p:sp>
        <p:nvSpPr>
          <p:cNvPr id="552" name="Ficha botón 609"/>
          <p:cNvSpPr/>
          <p:nvPr/>
        </p:nvSpPr>
        <p:spPr>
          <a:xfrm>
            <a:off x="2006640" y="3886200"/>
            <a:ext cx="1142640" cy="456840"/>
          </a:xfrm>
          <a:prstGeom prst="roundRect">
            <a:avLst>
              <a:gd name="adj" fmla="val 25000"/>
            </a:avLst>
          </a:prstGeom>
          <a:solidFill>
            <a:srgbClr val="fec60d"/>
          </a:solidFill>
          <a:ln w="0">
            <a:noFill/>
          </a:ln>
        </p:spPr>
        <p:style>
          <a:lnRef idx="0"/>
          <a:fillRef idx="0"/>
          <a:effectRef idx="0"/>
          <a:fontRef idx="minor"/>
        </p:style>
        <p:txBody>
          <a:bodyPr lIns="0" rIns="0" tIns="0" bIns="0" anchor="ctr">
            <a:noAutofit/>
          </a:bodyPr>
          <a:p>
            <a:pPr algn="ctr" defTabSz="914400">
              <a:lnSpc>
                <a:spcPct val="100000"/>
              </a:lnSpc>
            </a:pPr>
            <a:r>
              <a:rPr b="1" lang="es-CL" sz="1800" strike="noStrike" u="none">
                <a:solidFill>
                  <a:srgbClr val="1a1e2b"/>
                </a:solidFill>
                <a:effectLst/>
                <a:uFillTx/>
                <a:latin typeface="Calibri"/>
              </a:rPr>
              <a:t>botón</a:t>
            </a:r>
            <a:endParaRPr b="0" lang="en-US" sz="1800" strike="noStrike" u="none">
              <a:solidFill>
                <a:srgbClr val="000000"/>
              </a:solidFill>
              <a:effectLst/>
              <a:uFillTx/>
              <a:latin typeface="Arial"/>
            </a:endParaRPr>
          </a:p>
        </p:txBody>
      </p:sp>
      <p:sp>
        <p:nvSpPr>
          <p:cNvPr id="553" name="Ficha turbo 610"/>
          <p:cNvSpPr/>
          <p:nvPr/>
        </p:nvSpPr>
        <p:spPr>
          <a:xfrm>
            <a:off x="3276720" y="3886200"/>
            <a:ext cx="1142640" cy="456840"/>
          </a:xfrm>
          <a:prstGeom prst="roundRect">
            <a:avLst>
              <a:gd name="adj" fmla="val 25000"/>
            </a:avLst>
          </a:prstGeom>
          <a:solidFill>
            <a:srgbClr val="fec60d"/>
          </a:solidFill>
          <a:ln w="0">
            <a:noFill/>
          </a:ln>
        </p:spPr>
        <p:style>
          <a:lnRef idx="0"/>
          <a:fillRef idx="0"/>
          <a:effectRef idx="0"/>
          <a:fontRef idx="minor"/>
        </p:style>
        <p:txBody>
          <a:bodyPr lIns="0" rIns="0" tIns="0" bIns="0" anchor="ctr">
            <a:noAutofit/>
          </a:bodyPr>
          <a:p>
            <a:pPr algn="ctr" defTabSz="914400">
              <a:lnSpc>
                <a:spcPct val="100000"/>
              </a:lnSpc>
            </a:pPr>
            <a:r>
              <a:rPr b="1" lang="es-CL" sz="1800" strike="noStrike" u="none">
                <a:solidFill>
                  <a:srgbClr val="1a1e2b"/>
                </a:solidFill>
                <a:effectLst/>
                <a:uFillTx/>
                <a:latin typeface="Calibri"/>
              </a:rPr>
              <a:t>turbo</a:t>
            </a:r>
            <a:endParaRPr b="0" lang="en-US" sz="1800" strike="noStrike" u="none">
              <a:solidFill>
                <a:srgbClr val="000000"/>
              </a:solidFill>
              <a:effectLst/>
              <a:uFillTx/>
              <a:latin typeface="Arial"/>
            </a:endParaRPr>
          </a:p>
        </p:txBody>
      </p:sp>
      <p:sp>
        <p:nvSpPr>
          <p:cNvPr id="554" name="Compartidas 611"/>
          <p:cNvSpPr/>
          <p:nvPr/>
        </p:nvSpPr>
        <p:spPr>
          <a:xfrm>
            <a:off x="609480" y="4470480"/>
            <a:ext cx="482580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800" strike="noStrike" u="none">
                <a:solidFill>
                  <a:srgbClr val="1a1e2b"/>
                </a:solidFill>
                <a:effectLst/>
                <a:uFillTx/>
                <a:latin typeface="Calibri"/>
              </a:rPr>
              <a:t>2</a:t>
            </a:r>
            <a:r>
              <a:rPr b="0" lang="es-CL" sz="1600" strike="noStrike" u="none">
                <a:solidFill>
                  <a:srgbClr val="1a1e2b"/>
                </a:solidFill>
                <a:effectLst/>
                <a:uFillTx/>
                <a:latin typeface="Calibri"/>
              </a:rPr>
              <a:t> de 3 también están en la frase larga</a:t>
            </a:r>
            <a:endParaRPr b="0" lang="en-US" sz="1600" strike="noStrike" u="none">
              <a:solidFill>
                <a:srgbClr val="000000"/>
              </a:solidFill>
              <a:effectLst/>
              <a:uFillTx/>
              <a:latin typeface="Arial"/>
            </a:endParaRPr>
          </a:p>
        </p:txBody>
      </p:sp>
      <p:sp>
        <p:nvSpPr>
          <p:cNvPr id="555" name="Separador 612"/>
          <p:cNvSpPr/>
          <p:nvPr/>
        </p:nvSpPr>
        <p:spPr>
          <a:xfrm>
            <a:off x="6095880" y="3530520"/>
            <a:ext cx="12240" cy="253980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56" name="Etiqueta 613"/>
          <p:cNvSpPr/>
          <p:nvPr/>
        </p:nvSpPr>
        <p:spPr>
          <a:xfrm>
            <a:off x="6451560" y="3581280"/>
            <a:ext cx="51303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200" spc="99" strike="noStrike" u="none" cap="all">
                <a:solidFill>
                  <a:srgbClr val="0176de"/>
                </a:solidFill>
                <a:effectLst/>
                <a:uFillTx/>
                <a:latin typeface="Calibri"/>
              </a:rPr>
              <a:t>4 · Coeficiente de solapamiento</a:t>
            </a:r>
            <a:endParaRPr b="0" lang="en-US" sz="1200" strike="noStrike" u="none">
              <a:solidFill>
                <a:srgbClr val="000000"/>
              </a:solidFill>
              <a:effectLst/>
              <a:uFillTx/>
              <a:latin typeface="Arial"/>
            </a:endParaRPr>
          </a:p>
        </p:txBody>
      </p:sp>
      <p:sp>
        <p:nvSpPr>
          <p:cNvPr id="557" name="Fórmula 614"/>
          <p:cNvSpPr/>
          <p:nvPr/>
        </p:nvSpPr>
        <p:spPr>
          <a:xfrm>
            <a:off x="6451560" y="3835440"/>
            <a:ext cx="51303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400" strike="noStrike" u="none">
                <a:solidFill>
                  <a:srgbClr val="5f6670"/>
                </a:solidFill>
                <a:effectLst/>
                <a:uFillTx/>
                <a:latin typeface="Calibri"/>
              </a:rPr>
              <a:t>compartidas ÷ relevantes de la frase más corta</a:t>
            </a:r>
            <a:endParaRPr b="0" lang="en-US" sz="1400" strike="noStrike" u="none">
              <a:solidFill>
                <a:srgbClr val="000000"/>
              </a:solidFill>
              <a:effectLst/>
              <a:uFillTx/>
              <a:latin typeface="Arial"/>
            </a:endParaRPr>
          </a:p>
        </p:txBody>
      </p:sp>
      <p:sp>
        <p:nvSpPr>
          <p:cNvPr id="558" name="División 615"/>
          <p:cNvSpPr/>
          <p:nvPr/>
        </p:nvSpPr>
        <p:spPr>
          <a:xfrm>
            <a:off x="6451560" y="4140360"/>
            <a:ext cx="1472760" cy="71100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4400" strike="noStrike" u="none">
                <a:solidFill>
                  <a:srgbClr val="1a1e2b"/>
                </a:solidFill>
                <a:effectLst/>
                <a:uFillTx/>
                <a:latin typeface="Calibri"/>
              </a:rPr>
              <a:t>2 ÷ 3</a:t>
            </a:r>
            <a:endParaRPr b="0" lang="en-US" sz="4400" strike="noStrike" u="none">
              <a:solidFill>
                <a:srgbClr val="000000"/>
              </a:solidFill>
              <a:effectLst/>
              <a:uFillTx/>
              <a:latin typeface="Arial"/>
            </a:endParaRPr>
          </a:p>
        </p:txBody>
      </p:sp>
      <p:sp>
        <p:nvSpPr>
          <p:cNvPr id="559" name="Resultado 616"/>
          <p:cNvSpPr/>
          <p:nvPr/>
        </p:nvSpPr>
        <p:spPr>
          <a:xfrm>
            <a:off x="7950240" y="4140360"/>
            <a:ext cx="2945880" cy="71100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s-CL" sz="4400" strike="noStrike" u="none">
                <a:solidFill>
                  <a:srgbClr val="0176de"/>
                </a:solidFill>
                <a:effectLst/>
                <a:uFillTx/>
                <a:latin typeface="Calibri"/>
              </a:rPr>
              <a:t>= 0,67</a:t>
            </a:r>
            <a:endParaRPr b="0" lang="en-US" sz="4400" strike="noStrike" u="none">
              <a:solidFill>
                <a:srgbClr val="000000"/>
              </a:solidFill>
              <a:effectLst/>
              <a:uFillTx/>
              <a:latin typeface="Arial"/>
            </a:endParaRPr>
          </a:p>
        </p:txBody>
      </p:sp>
      <p:sp>
        <p:nvSpPr>
          <p:cNvPr id="560" name="Medidor 617"/>
          <p:cNvSpPr/>
          <p:nvPr/>
        </p:nvSpPr>
        <p:spPr>
          <a:xfrm>
            <a:off x="6451560" y="5334120"/>
            <a:ext cx="4825800" cy="101160"/>
          </a:xfrm>
          <a:prstGeom prst="rect">
            <a:avLst/>
          </a:prstGeom>
          <a:solidFill>
            <a:srgbClr val="e3e7ed"/>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61" name="Zona que pasa 618"/>
          <p:cNvSpPr/>
          <p:nvPr/>
        </p:nvSpPr>
        <p:spPr>
          <a:xfrm>
            <a:off x="7899480" y="5334120"/>
            <a:ext cx="3377880" cy="101160"/>
          </a:xfrm>
          <a:prstGeom prst="rect">
            <a:avLst/>
          </a:prstGeom>
          <a:solidFill>
            <a:srgbClr val="bfdcf7"/>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62" name="Umbral 619"/>
          <p:cNvSpPr/>
          <p:nvPr/>
        </p:nvSpPr>
        <p:spPr>
          <a:xfrm>
            <a:off x="7886880" y="5181480"/>
            <a:ext cx="25200" cy="406080"/>
          </a:xfrm>
          <a:prstGeom prst="rect">
            <a:avLst/>
          </a:prstGeom>
          <a:solidFill>
            <a:srgbClr val="1a1e2b"/>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63" name="Etiqueta umbral 620"/>
          <p:cNvSpPr/>
          <p:nvPr/>
        </p:nvSpPr>
        <p:spPr>
          <a:xfrm>
            <a:off x="7137360" y="4902120"/>
            <a:ext cx="152352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s-CL" sz="1400" strike="noStrike" u="none">
                <a:solidFill>
                  <a:srgbClr val="1a1e2b"/>
                </a:solidFill>
                <a:effectLst/>
                <a:uFillTx/>
                <a:latin typeface="Calibri"/>
              </a:rPr>
              <a:t>umbral 0,30</a:t>
            </a:r>
            <a:endParaRPr b="0" lang="en-US" sz="1400" strike="noStrike" u="none">
              <a:solidFill>
                <a:srgbClr val="000000"/>
              </a:solidFill>
              <a:effectLst/>
              <a:uFillTx/>
              <a:latin typeface="Arial"/>
            </a:endParaRPr>
          </a:p>
        </p:txBody>
      </p:sp>
      <p:sp>
        <p:nvSpPr>
          <p:cNvPr id="564" name="Cero 621"/>
          <p:cNvSpPr/>
          <p:nvPr/>
        </p:nvSpPr>
        <p:spPr>
          <a:xfrm>
            <a:off x="6324480" y="5511960"/>
            <a:ext cx="25380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0" lang="es-CL" sz="1200" strike="noStrike" u="none">
                <a:solidFill>
                  <a:srgbClr val="5f6670"/>
                </a:solidFill>
                <a:effectLst/>
                <a:uFillTx/>
                <a:latin typeface="Calibri"/>
              </a:rPr>
              <a:t>0</a:t>
            </a:r>
            <a:endParaRPr b="0" lang="en-US" sz="1200" strike="noStrike" u="none">
              <a:solidFill>
                <a:srgbClr val="000000"/>
              </a:solidFill>
              <a:effectLst/>
              <a:uFillTx/>
              <a:latin typeface="Arial"/>
            </a:endParaRPr>
          </a:p>
        </p:txBody>
      </p:sp>
      <p:sp>
        <p:nvSpPr>
          <p:cNvPr id="565" name="Uno 622"/>
          <p:cNvSpPr/>
          <p:nvPr/>
        </p:nvSpPr>
        <p:spPr>
          <a:xfrm>
            <a:off x="11150640" y="5511960"/>
            <a:ext cx="25380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0" lang="es-CL" sz="1200" strike="noStrike" u="none">
                <a:solidFill>
                  <a:srgbClr val="5f6670"/>
                </a:solidFill>
                <a:effectLst/>
                <a:uFillTx/>
                <a:latin typeface="Calibri"/>
              </a:rPr>
              <a:t>1</a:t>
            </a:r>
            <a:endParaRPr b="0" lang="en-US" sz="1200" strike="noStrike" u="none">
              <a:solidFill>
                <a:srgbClr val="000000"/>
              </a:solidFill>
              <a:effectLst/>
              <a:uFillTx/>
              <a:latin typeface="Arial"/>
            </a:endParaRPr>
          </a:p>
        </p:txBody>
      </p:sp>
      <p:sp>
        <p:nvSpPr>
          <p:cNvPr id="566" name="Marcador 0,67 623"/>
          <p:cNvSpPr/>
          <p:nvPr/>
        </p:nvSpPr>
        <p:spPr>
          <a:xfrm>
            <a:off x="9583560" y="5283360"/>
            <a:ext cx="202680" cy="202680"/>
          </a:xfrm>
          <a:prstGeom prst="ellipse">
            <a:avLst/>
          </a:prstGeom>
          <a:solidFill>
            <a:srgbClr val="0176de"/>
          </a:solidFill>
          <a:ln w="25400">
            <a:solidFill>
              <a:srgbClr val="ffffff"/>
            </a:solidFill>
            <a:round/>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567" name="Etiqueta 0,67 624"/>
          <p:cNvSpPr/>
          <p:nvPr/>
        </p:nvSpPr>
        <p:spPr>
          <a:xfrm>
            <a:off x="9177120" y="5537160"/>
            <a:ext cx="1015560" cy="253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s-CL" sz="1600" strike="noStrike" u="none">
                <a:solidFill>
                  <a:srgbClr val="0176de"/>
                </a:solidFill>
                <a:effectLst/>
                <a:uFillTx/>
                <a:latin typeface="Calibri"/>
              </a:rPr>
              <a:t>0,67</a:t>
            </a:r>
            <a:endParaRPr b="0" lang="en-US" sz="1600" strike="noStrike" u="none">
              <a:solidFill>
                <a:srgbClr val="000000"/>
              </a:solidFill>
              <a:effectLst/>
              <a:uFillTx/>
              <a:latin typeface="Arial"/>
            </a:endParaRPr>
          </a:p>
        </p:txBody>
      </p:sp>
      <p:sp>
        <p:nvSpPr>
          <p:cNvPr id="568" name="Decisión 625"/>
          <p:cNvSpPr/>
          <p:nvPr/>
        </p:nvSpPr>
        <p:spPr>
          <a:xfrm>
            <a:off x="609480" y="5079960"/>
            <a:ext cx="2793600" cy="558360"/>
          </a:xfrm>
          <a:prstGeom prst="roundRect">
            <a:avLst>
              <a:gd name="adj" fmla="val 20000"/>
            </a:avLst>
          </a:prstGeom>
          <a:solidFill>
            <a:srgbClr val="0176de"/>
          </a:solidFill>
          <a:ln w="0">
            <a:noFill/>
          </a:ln>
        </p:spPr>
        <p:style>
          <a:lnRef idx="0"/>
          <a:fillRef idx="0"/>
          <a:effectRef idx="0"/>
          <a:fontRef idx="minor"/>
        </p:style>
        <p:txBody>
          <a:bodyPr lIns="0" rIns="0" tIns="0" bIns="0" anchor="ctr">
            <a:noAutofit/>
          </a:bodyPr>
          <a:p>
            <a:pPr algn="ctr" defTabSz="914400">
              <a:lnSpc>
                <a:spcPct val="100000"/>
              </a:lnSpc>
            </a:pPr>
            <a:r>
              <a:rPr b="1" lang="es-CL" sz="2200" strike="noStrike" u="none">
                <a:solidFill>
                  <a:srgbClr val="ffffff"/>
                </a:solidFill>
                <a:effectLst/>
                <a:uFillTx/>
                <a:latin typeface="Calibri"/>
              </a:rPr>
              <a:t>PASA el filtro</a:t>
            </a:r>
            <a:endParaRPr b="0" lang="en-US" sz="2200" strike="noStrike" u="none">
              <a:solidFill>
                <a:srgbClr val="ffffff"/>
              </a:solidFill>
              <a:effectLst/>
              <a:uFillTx/>
              <a:latin typeface="Arial"/>
            </a:endParaRPr>
          </a:p>
        </p:txBody>
      </p:sp>
      <p:sp>
        <p:nvSpPr>
          <p:cNvPr id="569" name="Criterio 626"/>
          <p:cNvSpPr/>
          <p:nvPr/>
        </p:nvSpPr>
        <p:spPr>
          <a:xfrm>
            <a:off x="609480" y="5740560"/>
            <a:ext cx="533376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600" strike="noStrike" u="none">
                <a:solidFill>
                  <a:srgbClr val="1a1e2b"/>
                </a:solidFill>
                <a:effectLst/>
                <a:uFillTx/>
                <a:latin typeface="Calibri"/>
              </a:rPr>
              <a:t>0,67 ≥ 0,30  y  2 ≥ 2 palabras compartidas</a:t>
            </a:r>
            <a:endParaRPr b="0" lang="en-US" sz="1600" strike="noStrike" u="none">
              <a:solidFill>
                <a:srgbClr val="000000"/>
              </a:solidFill>
              <a:effectLst/>
              <a:uFillTx/>
              <a:latin typeface="Arial"/>
            </a:endParaRPr>
          </a:p>
        </p:txBody>
      </p:sp>
      <p:sp>
        <p:nvSpPr>
          <p:cNvPr id="570"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1"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2"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3"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4" name="Progreso 5"/>
          <p:cNvSpPr/>
          <p:nvPr/>
        </p:nvSpPr>
        <p:spPr>
          <a:xfrm>
            <a:off x="1087740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5"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6"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77"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55000">
    <p:fade/>
  </p:transition>
  <p:timing>
    <p:tnLst>
      <p:par>
        <p:cTn id="292" dur="indefinite" restart="never" nodeType="tmRoot">
          <p:childTnLst>
            <p:seq>
              <p:cTn id="293" dur="indefinite" nodeType="mainSeq">
                <p:childTnLst>
                  <p:par>
                    <p:cTn id="294" fill="hold">
                      <p:stCondLst>
                        <p:cond delay="indefinite"/>
                      </p:stCondLst>
                      <p:childTnLst>
                        <p:par>
                          <p:cTn id="295" fill="hold">
                            <p:stCondLst>
                              <p:cond delay="0"/>
                            </p:stCondLst>
                            <p:childTnLst>
                              <p:par>
                                <p:cTn id="296" nodeType="clickEffect" fill="hold" presetClass="entr" presetID="10">
                                  <p:stCondLst>
                                    <p:cond delay="0"/>
                                  </p:stCondLst>
                                  <p:childTnLst>
                                    <p:set>
                                      <p:cBhvr>
                                        <p:cTn id="297" dur="1" fill="hold">
                                          <p:stCondLst>
                                            <p:cond delay="0"/>
                                          </p:stCondLst>
                                        </p:cTn>
                                        <p:tgtEl>
                                          <p:spTgt spid="543"/>
                                        </p:tgtEl>
                                        <p:attrNameLst>
                                          <p:attrName>style.visibility</p:attrName>
                                        </p:attrNameLst>
                                      </p:cBhvr>
                                      <p:to>
                                        <p:strVal val="visible"/>
                                      </p:to>
                                    </p:set>
                                    <p:animEffect filter="fade" transition="in">
                                      <p:cBhvr additive="repl">
                                        <p:cTn id="298" dur="500"/>
                                        <p:tgtEl>
                                          <p:spTgt spid="543"/>
                                        </p:tgtEl>
                                      </p:cBhvr>
                                    </p:animEffect>
                                  </p:childTnLst>
                                </p:cTn>
                              </p:par>
                              <p:par>
                                <p:cTn id="299" nodeType="withEffect" fill="hold" presetClass="entr" presetID="10">
                                  <p:stCondLst>
                                    <p:cond delay="0"/>
                                  </p:stCondLst>
                                  <p:childTnLst>
                                    <p:set>
                                      <p:cBhvr>
                                        <p:cTn id="300" dur="1" fill="hold">
                                          <p:stCondLst>
                                            <p:cond delay="0"/>
                                          </p:stCondLst>
                                        </p:cTn>
                                        <p:tgtEl>
                                          <p:spTgt spid="544"/>
                                        </p:tgtEl>
                                        <p:attrNameLst>
                                          <p:attrName>style.visibility</p:attrName>
                                        </p:attrNameLst>
                                      </p:cBhvr>
                                      <p:to>
                                        <p:strVal val="visible"/>
                                      </p:to>
                                    </p:set>
                                    <p:animEffect filter="fade" transition="in">
                                      <p:cBhvr additive="repl">
                                        <p:cTn id="301" dur="500"/>
                                        <p:tgtEl>
                                          <p:spTgt spid="544"/>
                                        </p:tgtEl>
                                      </p:cBhvr>
                                    </p:animEffect>
                                  </p:childTnLst>
                                </p:cTn>
                              </p:par>
                            </p:childTnLst>
                          </p:cTn>
                        </p:par>
                      </p:childTnLst>
                    </p:cTn>
                  </p:par>
                  <p:par>
                    <p:cTn id="302" fill="hold">
                      <p:stCondLst>
                        <p:cond delay="indefinite"/>
                      </p:stCondLst>
                      <p:childTnLst>
                        <p:par>
                          <p:cTn id="303" fill="hold">
                            <p:stCondLst>
                              <p:cond delay="0"/>
                            </p:stCondLst>
                            <p:childTnLst>
                              <p:par>
                                <p:cTn id="304" nodeType="clickEffect" fill="hold" presetClass="entr" presetID="10">
                                  <p:stCondLst>
                                    <p:cond delay="0"/>
                                  </p:stCondLst>
                                  <p:childTnLst>
                                    <p:set>
                                      <p:cBhvr>
                                        <p:cTn id="305" dur="1" fill="hold">
                                          <p:stCondLst>
                                            <p:cond delay="0"/>
                                          </p:stCondLst>
                                        </p:cTn>
                                        <p:tgtEl>
                                          <p:spTgt spid="545"/>
                                        </p:tgtEl>
                                        <p:attrNameLst>
                                          <p:attrName>style.visibility</p:attrName>
                                        </p:attrNameLst>
                                      </p:cBhvr>
                                      <p:to>
                                        <p:strVal val="visible"/>
                                      </p:to>
                                    </p:set>
                                    <p:animEffect filter="fade" transition="in">
                                      <p:cBhvr additive="repl">
                                        <p:cTn id="306" dur="500"/>
                                        <p:tgtEl>
                                          <p:spTgt spid="545"/>
                                        </p:tgtEl>
                                      </p:cBhvr>
                                    </p:animEffect>
                                  </p:childTnLst>
                                </p:cTn>
                              </p:par>
                              <p:par>
                                <p:cTn id="307" nodeType="withEffect" fill="hold" presetClass="entr" presetID="10">
                                  <p:stCondLst>
                                    <p:cond delay="0"/>
                                  </p:stCondLst>
                                  <p:childTnLst>
                                    <p:set>
                                      <p:cBhvr>
                                        <p:cTn id="308" dur="1" fill="hold">
                                          <p:stCondLst>
                                            <p:cond delay="0"/>
                                          </p:stCondLst>
                                        </p:cTn>
                                        <p:tgtEl>
                                          <p:spTgt spid="546"/>
                                        </p:tgtEl>
                                        <p:attrNameLst>
                                          <p:attrName>style.visibility</p:attrName>
                                        </p:attrNameLst>
                                      </p:cBhvr>
                                      <p:to>
                                        <p:strVal val="visible"/>
                                      </p:to>
                                    </p:set>
                                    <p:animEffect filter="fade" transition="in">
                                      <p:cBhvr additive="repl">
                                        <p:cTn id="309" dur="500"/>
                                        <p:tgtEl>
                                          <p:spTgt spid="546"/>
                                        </p:tgtEl>
                                      </p:cBhvr>
                                    </p:animEffect>
                                  </p:childTnLst>
                                </p:cTn>
                              </p:par>
                            </p:childTnLst>
                          </p:cTn>
                        </p:par>
                      </p:childTnLst>
                    </p:cTn>
                  </p:par>
                  <p:par>
                    <p:cTn id="310" fill="hold">
                      <p:stCondLst>
                        <p:cond delay="indefinite"/>
                      </p:stCondLst>
                      <p:childTnLst>
                        <p:par>
                          <p:cTn id="311" fill="hold">
                            <p:stCondLst>
                              <p:cond delay="0"/>
                            </p:stCondLst>
                            <p:childTnLst>
                              <p:par>
                                <p:cTn id="312" nodeType="clickEffect" fill="hold" presetClass="entr" presetID="10">
                                  <p:stCondLst>
                                    <p:cond delay="0"/>
                                  </p:stCondLst>
                                  <p:childTnLst>
                                    <p:set>
                                      <p:cBhvr>
                                        <p:cTn id="313" dur="1" fill="hold">
                                          <p:stCondLst>
                                            <p:cond delay="0"/>
                                          </p:stCondLst>
                                        </p:cTn>
                                        <p:tgtEl>
                                          <p:spTgt spid="547"/>
                                        </p:tgtEl>
                                        <p:attrNameLst>
                                          <p:attrName>style.visibility</p:attrName>
                                        </p:attrNameLst>
                                      </p:cBhvr>
                                      <p:to>
                                        <p:strVal val="visible"/>
                                      </p:to>
                                    </p:set>
                                    <p:animEffect filter="fade" transition="in">
                                      <p:cBhvr additive="repl">
                                        <p:cTn id="314" dur="500"/>
                                        <p:tgtEl>
                                          <p:spTgt spid="547"/>
                                        </p:tgtEl>
                                      </p:cBhvr>
                                    </p:animEffect>
                                  </p:childTnLst>
                                </p:cTn>
                              </p:par>
                              <p:par>
                                <p:cTn id="315" nodeType="withEffect" fill="hold" presetClass="entr" presetID="10">
                                  <p:stCondLst>
                                    <p:cond delay="0"/>
                                  </p:stCondLst>
                                  <p:childTnLst>
                                    <p:set>
                                      <p:cBhvr>
                                        <p:cTn id="316" dur="1" fill="hold">
                                          <p:stCondLst>
                                            <p:cond delay="0"/>
                                          </p:stCondLst>
                                        </p:cTn>
                                        <p:tgtEl>
                                          <p:spTgt spid="548"/>
                                        </p:tgtEl>
                                        <p:attrNameLst>
                                          <p:attrName>style.visibility</p:attrName>
                                        </p:attrNameLst>
                                      </p:cBhvr>
                                      <p:to>
                                        <p:strVal val="visible"/>
                                      </p:to>
                                    </p:set>
                                    <p:animEffect filter="fade" transition="in">
                                      <p:cBhvr additive="repl">
                                        <p:cTn id="317" dur="500"/>
                                        <p:tgtEl>
                                          <p:spTgt spid="548"/>
                                        </p:tgtEl>
                                      </p:cBhvr>
                                    </p:animEffect>
                                  </p:childTnLst>
                                </p:cTn>
                              </p:par>
                              <p:par>
                                <p:cTn id="318" nodeType="withEffect" fill="hold" presetClass="entr" presetID="10">
                                  <p:stCondLst>
                                    <p:cond delay="0"/>
                                  </p:stCondLst>
                                  <p:childTnLst>
                                    <p:set>
                                      <p:cBhvr>
                                        <p:cTn id="319" dur="1" fill="hold">
                                          <p:stCondLst>
                                            <p:cond delay="0"/>
                                          </p:stCondLst>
                                        </p:cTn>
                                        <p:tgtEl>
                                          <p:spTgt spid="549"/>
                                        </p:tgtEl>
                                        <p:attrNameLst>
                                          <p:attrName>style.visibility</p:attrName>
                                        </p:attrNameLst>
                                      </p:cBhvr>
                                      <p:to>
                                        <p:strVal val="visible"/>
                                      </p:to>
                                    </p:set>
                                    <p:animEffect filter="fade" transition="in">
                                      <p:cBhvr additive="repl">
                                        <p:cTn id="320" dur="500"/>
                                        <p:tgtEl>
                                          <p:spTgt spid="549"/>
                                        </p:tgtEl>
                                      </p:cBhvr>
                                    </p:animEffect>
                                  </p:childTnLst>
                                </p:cTn>
                              </p:par>
                              <p:par>
                                <p:cTn id="321" nodeType="withEffect" fill="hold" presetClass="entr" presetID="10">
                                  <p:stCondLst>
                                    <p:cond delay="0"/>
                                  </p:stCondLst>
                                  <p:childTnLst>
                                    <p:set>
                                      <p:cBhvr>
                                        <p:cTn id="322" dur="1" fill="hold">
                                          <p:stCondLst>
                                            <p:cond delay="0"/>
                                          </p:stCondLst>
                                        </p:cTn>
                                        <p:tgtEl>
                                          <p:spTgt spid="550"/>
                                        </p:tgtEl>
                                        <p:attrNameLst>
                                          <p:attrName>style.visibility</p:attrName>
                                        </p:attrNameLst>
                                      </p:cBhvr>
                                      <p:to>
                                        <p:strVal val="visible"/>
                                      </p:to>
                                    </p:set>
                                    <p:animEffect filter="fade" transition="in">
                                      <p:cBhvr additive="repl">
                                        <p:cTn id="323" dur="500"/>
                                        <p:tgtEl>
                                          <p:spTgt spid="550"/>
                                        </p:tgtEl>
                                      </p:cBhvr>
                                    </p:animEffect>
                                  </p:childTnLst>
                                </p:cTn>
                              </p:par>
                              <p:par>
                                <p:cTn id="324" nodeType="withEffect" fill="hold" presetClass="entr" presetID="10">
                                  <p:stCondLst>
                                    <p:cond delay="0"/>
                                  </p:stCondLst>
                                  <p:childTnLst>
                                    <p:set>
                                      <p:cBhvr>
                                        <p:cTn id="325" dur="1" fill="hold">
                                          <p:stCondLst>
                                            <p:cond delay="0"/>
                                          </p:stCondLst>
                                        </p:cTn>
                                        <p:tgtEl>
                                          <p:spTgt spid="551"/>
                                        </p:tgtEl>
                                        <p:attrNameLst>
                                          <p:attrName>style.visibility</p:attrName>
                                        </p:attrNameLst>
                                      </p:cBhvr>
                                      <p:to>
                                        <p:strVal val="visible"/>
                                      </p:to>
                                    </p:set>
                                    <p:animEffect filter="fade" transition="in">
                                      <p:cBhvr additive="repl">
                                        <p:cTn id="326" dur="500"/>
                                        <p:tgtEl>
                                          <p:spTgt spid="551"/>
                                        </p:tgtEl>
                                      </p:cBhvr>
                                    </p:animEffect>
                                  </p:childTnLst>
                                </p:cTn>
                              </p:par>
                              <p:par>
                                <p:cTn id="327" nodeType="withEffect" fill="hold" presetClass="entr" presetID="10">
                                  <p:stCondLst>
                                    <p:cond delay="0"/>
                                  </p:stCondLst>
                                  <p:childTnLst>
                                    <p:set>
                                      <p:cBhvr>
                                        <p:cTn id="328" dur="1" fill="hold">
                                          <p:stCondLst>
                                            <p:cond delay="0"/>
                                          </p:stCondLst>
                                        </p:cTn>
                                        <p:tgtEl>
                                          <p:spTgt spid="552"/>
                                        </p:tgtEl>
                                        <p:attrNameLst>
                                          <p:attrName>style.visibility</p:attrName>
                                        </p:attrNameLst>
                                      </p:cBhvr>
                                      <p:to>
                                        <p:strVal val="visible"/>
                                      </p:to>
                                    </p:set>
                                    <p:animEffect filter="fade" transition="in">
                                      <p:cBhvr additive="repl">
                                        <p:cTn id="329" dur="500"/>
                                        <p:tgtEl>
                                          <p:spTgt spid="552"/>
                                        </p:tgtEl>
                                      </p:cBhvr>
                                    </p:animEffect>
                                  </p:childTnLst>
                                </p:cTn>
                              </p:par>
                              <p:par>
                                <p:cTn id="330" nodeType="withEffect" fill="hold" presetClass="entr" presetID="10">
                                  <p:stCondLst>
                                    <p:cond delay="0"/>
                                  </p:stCondLst>
                                  <p:childTnLst>
                                    <p:set>
                                      <p:cBhvr>
                                        <p:cTn id="331" dur="1" fill="hold">
                                          <p:stCondLst>
                                            <p:cond delay="0"/>
                                          </p:stCondLst>
                                        </p:cTn>
                                        <p:tgtEl>
                                          <p:spTgt spid="553"/>
                                        </p:tgtEl>
                                        <p:attrNameLst>
                                          <p:attrName>style.visibility</p:attrName>
                                        </p:attrNameLst>
                                      </p:cBhvr>
                                      <p:to>
                                        <p:strVal val="visible"/>
                                      </p:to>
                                    </p:set>
                                    <p:animEffect filter="fade" transition="in">
                                      <p:cBhvr additive="repl">
                                        <p:cTn id="332" dur="500"/>
                                        <p:tgtEl>
                                          <p:spTgt spid="553"/>
                                        </p:tgtEl>
                                      </p:cBhvr>
                                    </p:animEffect>
                                  </p:childTnLst>
                                </p:cTn>
                              </p:par>
                              <p:par>
                                <p:cTn id="333" nodeType="withEffect" fill="hold" presetClass="entr" presetID="10">
                                  <p:stCondLst>
                                    <p:cond delay="0"/>
                                  </p:stCondLst>
                                  <p:childTnLst>
                                    <p:set>
                                      <p:cBhvr>
                                        <p:cTn id="334" dur="1" fill="hold">
                                          <p:stCondLst>
                                            <p:cond delay="0"/>
                                          </p:stCondLst>
                                        </p:cTn>
                                        <p:tgtEl>
                                          <p:spTgt spid="554"/>
                                        </p:tgtEl>
                                        <p:attrNameLst>
                                          <p:attrName>style.visibility</p:attrName>
                                        </p:attrNameLst>
                                      </p:cBhvr>
                                      <p:to>
                                        <p:strVal val="visible"/>
                                      </p:to>
                                    </p:set>
                                    <p:animEffect filter="fade" transition="in">
                                      <p:cBhvr additive="repl">
                                        <p:cTn id="335" dur="500"/>
                                        <p:tgtEl>
                                          <p:spTgt spid="554"/>
                                        </p:tgtEl>
                                      </p:cBhvr>
                                    </p:animEffect>
                                  </p:childTnLst>
                                </p:cTn>
                              </p:par>
                            </p:childTnLst>
                          </p:cTn>
                        </p:par>
                      </p:childTnLst>
                    </p:cTn>
                  </p:par>
                  <p:par>
                    <p:cTn id="336" fill="hold">
                      <p:stCondLst>
                        <p:cond delay="indefinite"/>
                      </p:stCondLst>
                      <p:childTnLst>
                        <p:par>
                          <p:cTn id="337" fill="hold">
                            <p:stCondLst>
                              <p:cond delay="0"/>
                            </p:stCondLst>
                            <p:childTnLst>
                              <p:par>
                                <p:cTn id="338" nodeType="clickEffect" fill="hold" presetClass="entr" presetID="10">
                                  <p:stCondLst>
                                    <p:cond delay="0"/>
                                  </p:stCondLst>
                                  <p:childTnLst>
                                    <p:set>
                                      <p:cBhvr>
                                        <p:cTn id="339" dur="1" fill="hold">
                                          <p:stCondLst>
                                            <p:cond delay="0"/>
                                          </p:stCondLst>
                                        </p:cTn>
                                        <p:tgtEl>
                                          <p:spTgt spid="555"/>
                                        </p:tgtEl>
                                        <p:attrNameLst>
                                          <p:attrName>style.visibility</p:attrName>
                                        </p:attrNameLst>
                                      </p:cBhvr>
                                      <p:to>
                                        <p:strVal val="visible"/>
                                      </p:to>
                                    </p:set>
                                    <p:animEffect filter="fade" transition="in">
                                      <p:cBhvr additive="repl">
                                        <p:cTn id="340" dur="500"/>
                                        <p:tgtEl>
                                          <p:spTgt spid="555"/>
                                        </p:tgtEl>
                                      </p:cBhvr>
                                    </p:animEffect>
                                  </p:childTnLst>
                                </p:cTn>
                              </p:par>
                              <p:par>
                                <p:cTn id="341" nodeType="withEffect" fill="hold" presetClass="entr" presetID="10">
                                  <p:stCondLst>
                                    <p:cond delay="0"/>
                                  </p:stCondLst>
                                  <p:childTnLst>
                                    <p:set>
                                      <p:cBhvr>
                                        <p:cTn id="342" dur="1" fill="hold">
                                          <p:stCondLst>
                                            <p:cond delay="0"/>
                                          </p:stCondLst>
                                        </p:cTn>
                                        <p:tgtEl>
                                          <p:spTgt spid="556"/>
                                        </p:tgtEl>
                                        <p:attrNameLst>
                                          <p:attrName>style.visibility</p:attrName>
                                        </p:attrNameLst>
                                      </p:cBhvr>
                                      <p:to>
                                        <p:strVal val="visible"/>
                                      </p:to>
                                    </p:set>
                                    <p:animEffect filter="fade" transition="in">
                                      <p:cBhvr additive="repl">
                                        <p:cTn id="343" dur="500"/>
                                        <p:tgtEl>
                                          <p:spTgt spid="556"/>
                                        </p:tgtEl>
                                      </p:cBhvr>
                                    </p:animEffect>
                                  </p:childTnLst>
                                </p:cTn>
                              </p:par>
                              <p:par>
                                <p:cTn id="344" nodeType="withEffect" fill="hold" presetClass="entr" presetID="10">
                                  <p:stCondLst>
                                    <p:cond delay="0"/>
                                  </p:stCondLst>
                                  <p:childTnLst>
                                    <p:set>
                                      <p:cBhvr>
                                        <p:cTn id="345" dur="1" fill="hold">
                                          <p:stCondLst>
                                            <p:cond delay="0"/>
                                          </p:stCondLst>
                                        </p:cTn>
                                        <p:tgtEl>
                                          <p:spTgt spid="557"/>
                                        </p:tgtEl>
                                        <p:attrNameLst>
                                          <p:attrName>style.visibility</p:attrName>
                                        </p:attrNameLst>
                                      </p:cBhvr>
                                      <p:to>
                                        <p:strVal val="visible"/>
                                      </p:to>
                                    </p:set>
                                    <p:animEffect filter="fade" transition="in">
                                      <p:cBhvr additive="repl">
                                        <p:cTn id="346" dur="500"/>
                                        <p:tgtEl>
                                          <p:spTgt spid="557"/>
                                        </p:tgtEl>
                                      </p:cBhvr>
                                    </p:animEffect>
                                  </p:childTnLst>
                                </p:cTn>
                              </p:par>
                              <p:par>
                                <p:cTn id="347" nodeType="withEffect" fill="hold" presetClass="entr" presetID="10">
                                  <p:stCondLst>
                                    <p:cond delay="0"/>
                                  </p:stCondLst>
                                  <p:childTnLst>
                                    <p:set>
                                      <p:cBhvr>
                                        <p:cTn id="348" dur="1" fill="hold">
                                          <p:stCondLst>
                                            <p:cond delay="0"/>
                                          </p:stCondLst>
                                        </p:cTn>
                                        <p:tgtEl>
                                          <p:spTgt spid="558"/>
                                        </p:tgtEl>
                                        <p:attrNameLst>
                                          <p:attrName>style.visibility</p:attrName>
                                        </p:attrNameLst>
                                      </p:cBhvr>
                                      <p:to>
                                        <p:strVal val="visible"/>
                                      </p:to>
                                    </p:set>
                                    <p:animEffect filter="fade" transition="in">
                                      <p:cBhvr additive="repl">
                                        <p:cTn id="349" dur="500"/>
                                        <p:tgtEl>
                                          <p:spTgt spid="558"/>
                                        </p:tgtEl>
                                      </p:cBhvr>
                                    </p:animEffect>
                                  </p:childTnLst>
                                </p:cTn>
                              </p:par>
                            </p:childTnLst>
                          </p:cTn>
                        </p:par>
                      </p:childTnLst>
                    </p:cTn>
                  </p:par>
                  <p:par>
                    <p:cTn id="350" fill="hold">
                      <p:stCondLst>
                        <p:cond delay="indefinite"/>
                      </p:stCondLst>
                      <p:childTnLst>
                        <p:par>
                          <p:cTn id="351" fill="hold">
                            <p:stCondLst>
                              <p:cond delay="0"/>
                            </p:stCondLst>
                            <p:childTnLst>
                              <p:par>
                                <p:cTn id="352" nodeType="clickEffect" fill="hold" presetClass="entr" presetID="10">
                                  <p:stCondLst>
                                    <p:cond delay="0"/>
                                  </p:stCondLst>
                                  <p:childTnLst>
                                    <p:set>
                                      <p:cBhvr>
                                        <p:cTn id="353" dur="1" fill="hold">
                                          <p:stCondLst>
                                            <p:cond delay="0"/>
                                          </p:stCondLst>
                                        </p:cTn>
                                        <p:tgtEl>
                                          <p:spTgt spid="559"/>
                                        </p:tgtEl>
                                        <p:attrNameLst>
                                          <p:attrName>style.visibility</p:attrName>
                                        </p:attrNameLst>
                                      </p:cBhvr>
                                      <p:to>
                                        <p:strVal val="visible"/>
                                      </p:to>
                                    </p:set>
                                    <p:animEffect filter="fade" transition="in">
                                      <p:cBhvr additive="repl">
                                        <p:cTn id="354" dur="500"/>
                                        <p:tgtEl>
                                          <p:spTgt spid="559"/>
                                        </p:tgtEl>
                                      </p:cBhvr>
                                    </p:animEffect>
                                  </p:childTnLst>
                                </p:cTn>
                              </p:par>
                            </p:childTnLst>
                          </p:cTn>
                        </p:par>
                      </p:childTnLst>
                    </p:cTn>
                  </p:par>
                  <p:par>
                    <p:cTn id="355" fill="hold">
                      <p:stCondLst>
                        <p:cond delay="indefinite"/>
                      </p:stCondLst>
                      <p:childTnLst>
                        <p:par>
                          <p:cTn id="356" fill="hold">
                            <p:stCondLst>
                              <p:cond delay="0"/>
                            </p:stCondLst>
                            <p:childTnLst>
                              <p:par>
                                <p:cTn id="357" nodeType="clickEffect" fill="hold" presetClass="entr" presetID="10">
                                  <p:stCondLst>
                                    <p:cond delay="0"/>
                                  </p:stCondLst>
                                  <p:childTnLst>
                                    <p:set>
                                      <p:cBhvr>
                                        <p:cTn id="358" dur="1" fill="hold">
                                          <p:stCondLst>
                                            <p:cond delay="0"/>
                                          </p:stCondLst>
                                        </p:cTn>
                                        <p:tgtEl>
                                          <p:spTgt spid="560"/>
                                        </p:tgtEl>
                                        <p:attrNameLst>
                                          <p:attrName>style.visibility</p:attrName>
                                        </p:attrNameLst>
                                      </p:cBhvr>
                                      <p:to>
                                        <p:strVal val="visible"/>
                                      </p:to>
                                    </p:set>
                                    <p:animEffect filter="fade" transition="in">
                                      <p:cBhvr additive="repl">
                                        <p:cTn id="359" dur="500"/>
                                        <p:tgtEl>
                                          <p:spTgt spid="560"/>
                                        </p:tgtEl>
                                      </p:cBhvr>
                                    </p:animEffect>
                                  </p:childTnLst>
                                </p:cTn>
                              </p:par>
                              <p:par>
                                <p:cTn id="360" nodeType="withEffect" fill="hold" presetClass="entr" presetID="10">
                                  <p:stCondLst>
                                    <p:cond delay="0"/>
                                  </p:stCondLst>
                                  <p:childTnLst>
                                    <p:set>
                                      <p:cBhvr>
                                        <p:cTn id="361" dur="1" fill="hold">
                                          <p:stCondLst>
                                            <p:cond delay="0"/>
                                          </p:stCondLst>
                                        </p:cTn>
                                        <p:tgtEl>
                                          <p:spTgt spid="561"/>
                                        </p:tgtEl>
                                        <p:attrNameLst>
                                          <p:attrName>style.visibility</p:attrName>
                                        </p:attrNameLst>
                                      </p:cBhvr>
                                      <p:to>
                                        <p:strVal val="visible"/>
                                      </p:to>
                                    </p:set>
                                    <p:animEffect filter="fade" transition="in">
                                      <p:cBhvr additive="repl">
                                        <p:cTn id="362" dur="500"/>
                                        <p:tgtEl>
                                          <p:spTgt spid="561"/>
                                        </p:tgtEl>
                                      </p:cBhvr>
                                    </p:animEffect>
                                  </p:childTnLst>
                                </p:cTn>
                              </p:par>
                              <p:par>
                                <p:cTn id="363" nodeType="withEffect" fill="hold" presetClass="entr" presetID="10">
                                  <p:stCondLst>
                                    <p:cond delay="0"/>
                                  </p:stCondLst>
                                  <p:childTnLst>
                                    <p:set>
                                      <p:cBhvr>
                                        <p:cTn id="364" dur="1" fill="hold">
                                          <p:stCondLst>
                                            <p:cond delay="0"/>
                                          </p:stCondLst>
                                        </p:cTn>
                                        <p:tgtEl>
                                          <p:spTgt spid="562"/>
                                        </p:tgtEl>
                                        <p:attrNameLst>
                                          <p:attrName>style.visibility</p:attrName>
                                        </p:attrNameLst>
                                      </p:cBhvr>
                                      <p:to>
                                        <p:strVal val="visible"/>
                                      </p:to>
                                    </p:set>
                                    <p:animEffect filter="fade" transition="in">
                                      <p:cBhvr additive="repl">
                                        <p:cTn id="365" dur="500"/>
                                        <p:tgtEl>
                                          <p:spTgt spid="562"/>
                                        </p:tgtEl>
                                      </p:cBhvr>
                                    </p:animEffect>
                                  </p:childTnLst>
                                </p:cTn>
                              </p:par>
                              <p:par>
                                <p:cTn id="366" nodeType="withEffect" fill="hold" presetClass="entr" presetID="10">
                                  <p:stCondLst>
                                    <p:cond delay="0"/>
                                  </p:stCondLst>
                                  <p:childTnLst>
                                    <p:set>
                                      <p:cBhvr>
                                        <p:cTn id="367" dur="1" fill="hold">
                                          <p:stCondLst>
                                            <p:cond delay="0"/>
                                          </p:stCondLst>
                                        </p:cTn>
                                        <p:tgtEl>
                                          <p:spTgt spid="563"/>
                                        </p:tgtEl>
                                        <p:attrNameLst>
                                          <p:attrName>style.visibility</p:attrName>
                                        </p:attrNameLst>
                                      </p:cBhvr>
                                      <p:to>
                                        <p:strVal val="visible"/>
                                      </p:to>
                                    </p:set>
                                    <p:animEffect filter="fade" transition="in">
                                      <p:cBhvr additive="repl">
                                        <p:cTn id="368" dur="500"/>
                                        <p:tgtEl>
                                          <p:spTgt spid="563"/>
                                        </p:tgtEl>
                                      </p:cBhvr>
                                    </p:animEffect>
                                  </p:childTnLst>
                                </p:cTn>
                              </p:par>
                              <p:par>
                                <p:cTn id="369" nodeType="withEffect" fill="hold" presetClass="entr" presetID="10">
                                  <p:stCondLst>
                                    <p:cond delay="0"/>
                                  </p:stCondLst>
                                  <p:childTnLst>
                                    <p:set>
                                      <p:cBhvr>
                                        <p:cTn id="370" dur="1" fill="hold">
                                          <p:stCondLst>
                                            <p:cond delay="0"/>
                                          </p:stCondLst>
                                        </p:cTn>
                                        <p:tgtEl>
                                          <p:spTgt spid="564"/>
                                        </p:tgtEl>
                                        <p:attrNameLst>
                                          <p:attrName>style.visibility</p:attrName>
                                        </p:attrNameLst>
                                      </p:cBhvr>
                                      <p:to>
                                        <p:strVal val="visible"/>
                                      </p:to>
                                    </p:set>
                                    <p:animEffect filter="fade" transition="in">
                                      <p:cBhvr additive="repl">
                                        <p:cTn id="371" dur="500"/>
                                        <p:tgtEl>
                                          <p:spTgt spid="564"/>
                                        </p:tgtEl>
                                      </p:cBhvr>
                                    </p:animEffect>
                                  </p:childTnLst>
                                </p:cTn>
                              </p:par>
                              <p:par>
                                <p:cTn id="372" nodeType="withEffect" fill="hold" presetClass="entr" presetID="10">
                                  <p:stCondLst>
                                    <p:cond delay="0"/>
                                  </p:stCondLst>
                                  <p:childTnLst>
                                    <p:set>
                                      <p:cBhvr>
                                        <p:cTn id="373" dur="1" fill="hold">
                                          <p:stCondLst>
                                            <p:cond delay="0"/>
                                          </p:stCondLst>
                                        </p:cTn>
                                        <p:tgtEl>
                                          <p:spTgt spid="565"/>
                                        </p:tgtEl>
                                        <p:attrNameLst>
                                          <p:attrName>style.visibility</p:attrName>
                                        </p:attrNameLst>
                                      </p:cBhvr>
                                      <p:to>
                                        <p:strVal val="visible"/>
                                      </p:to>
                                    </p:set>
                                    <p:animEffect filter="fade" transition="in">
                                      <p:cBhvr additive="repl">
                                        <p:cTn id="374" dur="500"/>
                                        <p:tgtEl>
                                          <p:spTgt spid="565"/>
                                        </p:tgtEl>
                                      </p:cBhvr>
                                    </p:animEffect>
                                  </p:childTnLst>
                                </p:cTn>
                              </p:par>
                              <p:par>
                                <p:cTn id="375" nodeType="withEffect" fill="hold" presetClass="entr" presetID="10">
                                  <p:stCondLst>
                                    <p:cond delay="0"/>
                                  </p:stCondLst>
                                  <p:childTnLst>
                                    <p:set>
                                      <p:cBhvr>
                                        <p:cTn id="376" dur="1" fill="hold">
                                          <p:stCondLst>
                                            <p:cond delay="0"/>
                                          </p:stCondLst>
                                        </p:cTn>
                                        <p:tgtEl>
                                          <p:spTgt spid="566"/>
                                        </p:tgtEl>
                                        <p:attrNameLst>
                                          <p:attrName>style.visibility</p:attrName>
                                        </p:attrNameLst>
                                      </p:cBhvr>
                                      <p:to>
                                        <p:strVal val="visible"/>
                                      </p:to>
                                    </p:set>
                                    <p:animEffect filter="fade" transition="in">
                                      <p:cBhvr additive="repl">
                                        <p:cTn id="377" dur="500"/>
                                        <p:tgtEl>
                                          <p:spTgt spid="566"/>
                                        </p:tgtEl>
                                      </p:cBhvr>
                                    </p:animEffect>
                                  </p:childTnLst>
                                </p:cTn>
                              </p:par>
                              <p:par>
                                <p:cTn id="378" nodeType="withEffect" fill="hold" presetClass="entr" presetID="10">
                                  <p:stCondLst>
                                    <p:cond delay="0"/>
                                  </p:stCondLst>
                                  <p:childTnLst>
                                    <p:set>
                                      <p:cBhvr>
                                        <p:cTn id="379" dur="1" fill="hold">
                                          <p:stCondLst>
                                            <p:cond delay="0"/>
                                          </p:stCondLst>
                                        </p:cTn>
                                        <p:tgtEl>
                                          <p:spTgt spid="567"/>
                                        </p:tgtEl>
                                        <p:attrNameLst>
                                          <p:attrName>style.visibility</p:attrName>
                                        </p:attrNameLst>
                                      </p:cBhvr>
                                      <p:to>
                                        <p:strVal val="visible"/>
                                      </p:to>
                                    </p:set>
                                    <p:animEffect filter="fade" transition="in">
                                      <p:cBhvr additive="repl">
                                        <p:cTn id="380" dur="500"/>
                                        <p:tgtEl>
                                          <p:spTgt spid="567"/>
                                        </p:tgtEl>
                                      </p:cBhvr>
                                    </p:animEffect>
                                  </p:childTnLst>
                                </p:cTn>
                              </p:par>
                            </p:childTnLst>
                          </p:cTn>
                        </p:par>
                      </p:childTnLst>
                    </p:cTn>
                  </p:par>
                  <p:par>
                    <p:cTn id="381" fill="hold">
                      <p:stCondLst>
                        <p:cond delay="indefinite"/>
                      </p:stCondLst>
                      <p:childTnLst>
                        <p:par>
                          <p:cTn id="382" fill="hold">
                            <p:stCondLst>
                              <p:cond delay="0"/>
                            </p:stCondLst>
                            <p:childTnLst>
                              <p:par>
                                <p:cTn id="383" nodeType="clickEffect" fill="hold" presetClass="entr" presetID="10">
                                  <p:stCondLst>
                                    <p:cond delay="0"/>
                                  </p:stCondLst>
                                  <p:childTnLst>
                                    <p:set>
                                      <p:cBhvr>
                                        <p:cTn id="384" dur="1" fill="hold">
                                          <p:stCondLst>
                                            <p:cond delay="0"/>
                                          </p:stCondLst>
                                        </p:cTn>
                                        <p:tgtEl>
                                          <p:spTgt spid="568"/>
                                        </p:tgtEl>
                                        <p:attrNameLst>
                                          <p:attrName>style.visibility</p:attrName>
                                        </p:attrNameLst>
                                      </p:cBhvr>
                                      <p:to>
                                        <p:strVal val="visible"/>
                                      </p:to>
                                    </p:set>
                                    <p:animEffect filter="fade" transition="in">
                                      <p:cBhvr additive="repl">
                                        <p:cTn id="385" dur="500"/>
                                        <p:tgtEl>
                                          <p:spTgt spid="568"/>
                                        </p:tgtEl>
                                      </p:cBhvr>
                                    </p:animEffect>
                                  </p:childTnLst>
                                </p:cTn>
                              </p:par>
                              <p:par>
                                <p:cTn id="386" nodeType="withEffect" fill="hold" presetClass="entr" presetID="10">
                                  <p:stCondLst>
                                    <p:cond delay="0"/>
                                  </p:stCondLst>
                                  <p:childTnLst>
                                    <p:set>
                                      <p:cBhvr>
                                        <p:cTn id="387" dur="1" fill="hold">
                                          <p:stCondLst>
                                            <p:cond delay="0"/>
                                          </p:stCondLst>
                                        </p:cTn>
                                        <p:tgtEl>
                                          <p:spTgt spid="569"/>
                                        </p:tgtEl>
                                        <p:attrNameLst>
                                          <p:attrName>style.visibility</p:attrName>
                                        </p:attrNameLst>
                                      </p:cBhvr>
                                      <p:to>
                                        <p:strVal val="visible"/>
                                      </p:to>
                                    </p:set>
                                    <p:animEffect filter="fade" transition="in">
                                      <p:cBhvr additive="repl">
                                        <p:cTn id="388" dur="5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05 · Filtro léxico (blocking)</a:t>
            </a:r>
            <a:endParaRPr b="0" lang="es-CL" sz="1200" strike="noStrike" u="none">
              <a:solidFill>
                <a:srgbClr val="1a1e2b"/>
              </a:solidFill>
              <a:effectLst/>
              <a:uFillTx/>
              <a:latin typeface="Calibri"/>
            </a:endParaRPr>
          </a:p>
        </p:txBody>
      </p:sp>
      <p:sp>
        <p:nvSpPr>
          <p:cNvPr id="579"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El filtro completo reduce 3.071 pares a 92, y la revisión manual de ≈77 a ≈2,3 horas</a:t>
            </a:r>
            <a:endParaRPr b="0" lang="es-CL" sz="3000" strike="noStrike" u="none">
              <a:solidFill>
                <a:schemeClr val="dk1"/>
              </a:solidFill>
              <a:effectLst/>
              <a:uFillTx/>
              <a:latin typeface="Calibri"/>
            </a:endParaRPr>
          </a:p>
        </p:txBody>
      </p:sp>
      <p:sp>
        <p:nvSpPr>
          <p:cNvPr id="580" name="PlaceHolder 3"/>
          <p:cNvSpPr>
            <a:spLocks noGrp="1"/>
          </p:cNvSpPr>
          <p:nvPr>
            <p:ph/>
          </p:nvPr>
        </p:nvSpPr>
        <p:spPr>
          <a:xfrm>
            <a:off x="609480" y="6070680"/>
            <a:ext cx="731484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EDA de AFG2 (figura 4 del notebook 11). Revisión estimada: 1,5 min por par.</a:t>
            </a:r>
            <a:endParaRPr b="0" lang="es-CL" sz="1100" strike="noStrike" u="none">
              <a:solidFill>
                <a:srgbClr val="1a1e2b"/>
              </a:solidFill>
              <a:effectLst/>
              <a:uFillTx/>
              <a:latin typeface="Calibri"/>
            </a:endParaRPr>
          </a:p>
        </p:txBody>
      </p:sp>
      <p:sp>
        <p:nvSpPr>
          <p:cNvPr id="581" name="PlaceHolder 4"/>
          <p:cNvSpPr>
            <a:spLocks noGrp="1"/>
          </p:cNvSpPr>
          <p:nvPr>
            <p:ph/>
          </p:nvPr>
        </p:nvSpPr>
        <p:spPr>
          <a:xfrm>
            <a:off x="8331120" y="2793960"/>
            <a:ext cx="3250800" cy="60912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712</a:t>
            </a:r>
            <a:endParaRPr b="0" lang="es-CL" sz="4000" strike="noStrike" u="none">
              <a:solidFill>
                <a:srgbClr val="1a1e2b"/>
              </a:solidFill>
              <a:effectLst/>
              <a:uFillTx/>
              <a:latin typeface="Calibri"/>
            </a:endParaRPr>
          </a:p>
        </p:txBody>
      </p:sp>
      <p:sp>
        <p:nvSpPr>
          <p:cNvPr id="582" name="PlaceHolder 5"/>
          <p:cNvSpPr>
            <a:spLocks noGrp="1"/>
          </p:cNvSpPr>
          <p:nvPr>
            <p:ph/>
          </p:nvPr>
        </p:nvSpPr>
        <p:spPr>
          <a:xfrm>
            <a:off x="8331120" y="3429000"/>
            <a:ext cx="3250800" cy="27900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solo con el coeficiente ≥ 0,30</a:t>
            </a:r>
            <a:endParaRPr b="0" lang="es-CL" sz="1400" strike="noStrike" u="none">
              <a:solidFill>
                <a:srgbClr val="1a1e2b"/>
              </a:solidFill>
              <a:effectLst/>
              <a:uFillTx/>
              <a:latin typeface="Calibri"/>
            </a:endParaRPr>
          </a:p>
        </p:txBody>
      </p:sp>
      <p:sp>
        <p:nvSpPr>
          <p:cNvPr id="583" name="PlaceHolder 6"/>
          <p:cNvSpPr>
            <a:spLocks noGrp="1"/>
          </p:cNvSpPr>
          <p:nvPr>
            <p:ph/>
          </p:nvPr>
        </p:nvSpPr>
        <p:spPr>
          <a:xfrm>
            <a:off x="8331120" y="3860640"/>
            <a:ext cx="3250800" cy="60912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92</a:t>
            </a:r>
            <a:endParaRPr b="0" lang="es-CL" sz="4000" strike="noStrike" u="none">
              <a:solidFill>
                <a:srgbClr val="1a1e2b"/>
              </a:solidFill>
              <a:effectLst/>
              <a:uFillTx/>
              <a:latin typeface="Calibri"/>
            </a:endParaRPr>
          </a:p>
        </p:txBody>
      </p:sp>
      <p:sp>
        <p:nvSpPr>
          <p:cNvPr id="584" name="PlaceHolder 7"/>
          <p:cNvSpPr>
            <a:spLocks noGrp="1"/>
          </p:cNvSpPr>
          <p:nvPr>
            <p:ph/>
          </p:nvPr>
        </p:nvSpPr>
        <p:spPr>
          <a:xfrm>
            <a:off x="8331120" y="4495680"/>
            <a:ext cx="3250800" cy="27900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con el filtro completo</a:t>
            </a:r>
            <a:endParaRPr b="0" lang="es-CL" sz="1400" strike="noStrike" u="none">
              <a:solidFill>
                <a:srgbClr val="1a1e2b"/>
              </a:solidFill>
              <a:effectLst/>
              <a:uFillTx/>
              <a:latin typeface="Calibri"/>
            </a:endParaRPr>
          </a:p>
        </p:txBody>
      </p:sp>
      <p:sp>
        <p:nvSpPr>
          <p:cNvPr id="585" name="PlaceHolder 8"/>
          <p:cNvSpPr>
            <a:spLocks noGrp="1"/>
          </p:cNvSpPr>
          <p:nvPr>
            <p:ph/>
          </p:nvPr>
        </p:nvSpPr>
        <p:spPr>
          <a:xfrm>
            <a:off x="8331120" y="4952880"/>
            <a:ext cx="3250800" cy="609120"/>
          </a:xfrm>
          <a:prstGeom prst="rect">
            <a:avLst/>
          </a:prstGeom>
          <a:noFill/>
          <a:ln w="0">
            <a:noFill/>
          </a:ln>
        </p:spPr>
        <p:txBody>
          <a:bodyPr lIns="0" rIns="0" tIns="0" bIns="0" anchor="b">
            <a:noAutofit/>
          </a:bodyPr>
          <a:p>
            <a:pPr indent="0" defTabSz="914400">
              <a:lnSpc>
                <a:spcPct val="85000"/>
              </a:lnSpc>
              <a:buNone/>
              <a:tabLst>
                <a:tab algn="l" pos="0"/>
              </a:tabLst>
            </a:pPr>
            <a:r>
              <a:rPr b="1" lang="es-CL" sz="4000" strike="noStrike" u="none">
                <a:solidFill>
                  <a:srgbClr val="0176de"/>
                </a:solidFill>
                <a:effectLst/>
                <a:uFillTx/>
                <a:latin typeface="Calibri"/>
              </a:rPr>
              <a:t>≈2,3 h</a:t>
            </a:r>
            <a:endParaRPr b="0" lang="es-CL" sz="4000" strike="noStrike" u="none">
              <a:solidFill>
                <a:srgbClr val="1a1e2b"/>
              </a:solidFill>
              <a:effectLst/>
              <a:uFillTx/>
              <a:latin typeface="Calibri"/>
            </a:endParaRPr>
          </a:p>
        </p:txBody>
      </p:sp>
      <p:sp>
        <p:nvSpPr>
          <p:cNvPr id="586" name="PlaceHolder 9"/>
          <p:cNvSpPr>
            <a:spLocks noGrp="1"/>
          </p:cNvSpPr>
          <p:nvPr>
            <p:ph/>
          </p:nvPr>
        </p:nvSpPr>
        <p:spPr>
          <a:xfrm>
            <a:off x="8331120" y="5587920"/>
            <a:ext cx="3250800" cy="279000"/>
          </a:xfrm>
          <a:prstGeom prst="rect">
            <a:avLst/>
          </a:prstGeom>
          <a:noFill/>
          <a:ln w="0">
            <a:noFill/>
          </a:ln>
        </p:spPr>
        <p:txBody>
          <a:bodyPr lIns="0" rIns="0" tIns="0" bIns="0" anchor="t">
            <a:noAutofit/>
          </a:bodyPr>
          <a:p>
            <a:pPr indent="0" defTabSz="914400">
              <a:lnSpc>
                <a:spcPct val="100000"/>
              </a:lnSpc>
              <a:buNone/>
              <a:tabLst>
                <a:tab algn="l" pos="0"/>
              </a:tabLst>
            </a:pPr>
            <a:r>
              <a:rPr b="0" lang="es-CL" sz="1400" strike="noStrike" u="none">
                <a:solidFill>
                  <a:srgbClr val="1a1e2b"/>
                </a:solidFill>
                <a:effectLst/>
                <a:uFillTx/>
                <a:latin typeface="Calibri"/>
              </a:rPr>
              <a:t>de revisión, frente a ≈77 h</a:t>
            </a:r>
            <a:endParaRPr b="0" lang="es-CL" sz="1400" strike="noStrike" u="none">
              <a:solidFill>
                <a:srgbClr val="1a1e2b"/>
              </a:solidFill>
              <a:effectLst/>
              <a:uFillTx/>
              <a:latin typeface="Calibri"/>
            </a:endParaRPr>
          </a:p>
        </p:txBody>
      </p:sp>
      <p:sp>
        <p:nvSpPr>
          <p:cNvPr id="587" name="Cifra 505"/>
          <p:cNvSpPr/>
          <p:nvPr/>
        </p:nvSpPr>
        <p:spPr>
          <a:xfrm>
            <a:off x="8331120" y="1727280"/>
            <a:ext cx="3250800" cy="609120"/>
          </a:xfrm>
          <a:noFill/>
          <a:ln w="0">
            <a:noFill/>
          </a:ln>
        </p:spPr>
        <p:style>
          <a:lnRef idx="0"/>
          <a:fillRef idx="0"/>
          <a:effectRef idx="0"/>
          <a:fontRef idx="minor"/>
        </p:style>
        <p:txBody>
          <a:bodyPr lIns="0" rIns="0" tIns="0" bIns="0" anchor="b">
            <a:noAutofit/>
          </a:bodyPr>
          <a:p>
            <a:pPr defTabSz="914400">
              <a:lnSpc>
                <a:spcPct val="85000"/>
              </a:lnSpc>
            </a:pPr>
            <a:r>
              <a:rPr b="1" lang="es-CL" sz="4000" strike="noStrike" u="none">
                <a:solidFill>
                  <a:srgbClr val="5f6670"/>
                </a:solidFill>
                <a:effectLst/>
                <a:uFillTx/>
                <a:latin typeface="Calibri"/>
              </a:rPr>
              <a:t>3.071</a:t>
            </a:r>
            <a:endParaRPr b="0" lang="en-US" sz="4000" strike="noStrike" u="none">
              <a:solidFill>
                <a:srgbClr val="000000"/>
              </a:solidFill>
              <a:effectLst/>
              <a:uFillTx/>
              <a:latin typeface="Arial"/>
            </a:endParaRPr>
          </a:p>
        </p:txBody>
      </p:sp>
      <p:sp>
        <p:nvSpPr>
          <p:cNvPr id="588" name="Cifra 506"/>
          <p:cNvSpPr/>
          <p:nvPr/>
        </p:nvSpPr>
        <p:spPr>
          <a:xfrm>
            <a:off x="8331120" y="2362320"/>
            <a:ext cx="3250800" cy="279000"/>
          </a:xfrm>
          <a:noFill/>
          <a:ln w="0">
            <a:noFill/>
          </a:ln>
        </p:spPr>
        <p:style>
          <a:lnRef idx="0"/>
          <a:fillRef idx="0"/>
          <a:effectRef idx="0"/>
          <a:fontRef idx="minor"/>
        </p:style>
        <p:txBody>
          <a:bodyPr lIns="0" rIns="0" tIns="0" bIns="0" anchor="t">
            <a:noAutofit/>
          </a:bodyPr>
          <a:p>
            <a:pPr defTabSz="914400">
              <a:lnSpc>
                <a:spcPct val="100000"/>
              </a:lnSpc>
            </a:pPr>
            <a:r>
              <a:rPr b="0" lang="es-CL" sz="1400" strike="noStrike" u="none">
                <a:solidFill>
                  <a:srgbClr val="1a1e2b"/>
                </a:solidFill>
                <a:effectLst/>
                <a:uFillTx/>
                <a:latin typeface="Calibri"/>
              </a:rPr>
              <a:t>pares de decisiones posibles</a:t>
            </a:r>
            <a:endParaRPr b="0" lang="en-US" sz="1400" strike="noStrike" u="none">
              <a:solidFill>
                <a:srgbClr val="000000"/>
              </a:solidFill>
              <a:effectLst/>
              <a:uFillTx/>
              <a:latin typeface="Arial"/>
            </a:endParaRPr>
          </a:p>
        </p:txBody>
      </p:sp>
      <p:graphicFrame>
        <p:nvGraphicFramePr>
          <p:cNvPr id="589" name="Chart"/>
          <p:cNvGraphicFramePr/>
          <p:nvPr/>
        </p:nvGraphicFramePr>
        <p:xfrm>
          <a:off x="609480" y="2031840"/>
          <a:ext cx="7314840" cy="3708000"/>
        </p:xfrm>
        <a:graphic>
          <a:graphicData uri="http://schemas.openxmlformats.org/drawingml/2006/chart">
            <c:chart xmlns:c="http://schemas.openxmlformats.org/drawingml/2006/chart" xmlns:r="http://schemas.openxmlformats.org/officeDocument/2006/relationships" r:id="rId1"/>
          </a:graphicData>
        </a:graphic>
      </p:graphicFrame>
      <p:sp>
        <p:nvSpPr>
          <p:cNvPr id="590" name="Etiqueta gráfico"/>
          <p:cNvSpPr/>
          <p:nvPr/>
        </p:nvSpPr>
        <p:spPr>
          <a:xfrm>
            <a:off x="609480" y="1752480"/>
            <a:ext cx="731484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5f6670"/>
                </a:solidFill>
                <a:effectLst/>
                <a:uFillTx/>
                <a:latin typeface="Calibri"/>
              </a:rPr>
              <a:t>Pares de decisiones que llegan a revisión manual</a:t>
            </a:r>
            <a:endParaRPr b="0" lang="en-US" sz="1400" strike="noStrike" u="none">
              <a:solidFill>
                <a:srgbClr val="000000"/>
              </a:solidFill>
              <a:effectLst/>
              <a:uFillTx/>
              <a:latin typeface="Arial"/>
            </a:endParaRPr>
          </a:p>
        </p:txBody>
      </p:sp>
      <p:sp>
        <p:nvSpPr>
          <p:cNvPr id="591"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2"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3"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4"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5" name="Progreso 5"/>
          <p:cNvSpPr/>
          <p:nvPr/>
        </p:nvSpPr>
        <p:spPr>
          <a:xfrm>
            <a:off x="1087740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6"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7"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598"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16000">
    <p:fade/>
  </p:transition>
  <p:timing>
    <p:tnLst>
      <p:par>
        <p:cTn id="389" dur="indefinite" restart="never" nodeType="tmRoot">
          <p:childTnLst>
            <p:seq>
              <p:cTn id="390" dur="indefinite" nodeType="mainSeq">
                <p:childTnLst>
                  <p:par>
                    <p:cTn id="391" fill="hold">
                      <p:stCondLst>
                        <p:cond delay="indefinite"/>
                      </p:stCondLst>
                      <p:childTnLst>
                        <p:par>
                          <p:cTn id="392" fill="hold">
                            <p:stCondLst>
                              <p:cond delay="0"/>
                            </p:stCondLst>
                            <p:childTnLst>
                              <p:par>
                                <p:cTn id="393" nodeType="clickEffect" fill="hold" presetClass="entr" presetID="10">
                                  <p:stCondLst>
                                    <p:cond delay="0"/>
                                  </p:stCondLst>
                                  <p:childTnLst>
                                    <p:set>
                                      <p:cBhvr>
                                        <p:cTn id="394" dur="1" fill="hold">
                                          <p:stCondLst>
                                            <p:cond delay="0"/>
                                          </p:stCondLst>
                                        </p:cTn>
                                        <p:tgtEl>
                                          <p:spTgt spid="589"/>
                                        </p:tgtEl>
                                        <p:attrNameLst>
                                          <p:attrName>style.visibility</p:attrName>
                                        </p:attrNameLst>
                                      </p:cBhvr>
                                      <p:to>
                                        <p:strVal val="visible"/>
                                      </p:to>
                                    </p:set>
                                    <p:animEffect filter="fade" transition="in">
                                      <p:cBhvr additive="repl">
                                        <p:cTn id="395" dur="500"/>
                                        <p:tgtEl>
                                          <p:spTgt spid="589"/>
                                        </p:tgtEl>
                                      </p:cBhvr>
                                    </p:animEffect>
                                  </p:childTnLst>
                                </p:cTn>
                              </p:par>
                              <p:par>
                                <p:cTn id="396" nodeType="withEffect" fill="hold" presetClass="entr" presetID="10">
                                  <p:stCondLst>
                                    <p:cond delay="0"/>
                                  </p:stCondLst>
                                  <p:childTnLst>
                                    <p:set>
                                      <p:cBhvr>
                                        <p:cTn id="397" dur="1" fill="hold">
                                          <p:stCondLst>
                                            <p:cond delay="0"/>
                                          </p:stCondLst>
                                        </p:cTn>
                                        <p:tgtEl>
                                          <p:spTgt spid="587"/>
                                        </p:tgtEl>
                                        <p:attrNameLst>
                                          <p:attrName>style.visibility</p:attrName>
                                        </p:attrNameLst>
                                      </p:cBhvr>
                                      <p:to>
                                        <p:strVal val="visible"/>
                                      </p:to>
                                    </p:set>
                                    <p:animEffect filter="fade" transition="in">
                                      <p:cBhvr additive="repl">
                                        <p:cTn id="398" dur="500"/>
                                        <p:tgtEl>
                                          <p:spTgt spid="587"/>
                                        </p:tgtEl>
                                      </p:cBhvr>
                                    </p:animEffect>
                                  </p:childTnLst>
                                </p:cTn>
                              </p:par>
                              <p:par>
                                <p:cTn id="399" nodeType="withEffect" fill="hold" presetClass="entr" presetID="10">
                                  <p:stCondLst>
                                    <p:cond delay="0"/>
                                  </p:stCondLst>
                                  <p:childTnLst>
                                    <p:set>
                                      <p:cBhvr>
                                        <p:cTn id="400" dur="1" fill="hold">
                                          <p:stCondLst>
                                            <p:cond delay="0"/>
                                          </p:stCondLst>
                                        </p:cTn>
                                        <p:tgtEl>
                                          <p:spTgt spid="588"/>
                                        </p:tgtEl>
                                        <p:attrNameLst>
                                          <p:attrName>style.visibility</p:attrName>
                                        </p:attrNameLst>
                                      </p:cBhvr>
                                      <p:to>
                                        <p:strVal val="visible"/>
                                      </p:to>
                                    </p:set>
                                    <p:animEffect filter="fade" transition="in">
                                      <p:cBhvr additive="repl">
                                        <p:cTn id="401" dur="500"/>
                                        <p:tgtEl>
                                          <p:spTgt spid="588"/>
                                        </p:tgtEl>
                                      </p:cBhvr>
                                    </p:animEffect>
                                  </p:childTnLst>
                                </p:cTn>
                              </p:par>
                            </p:childTnLst>
                          </p:cTn>
                        </p:par>
                      </p:childTnLst>
                    </p:cTn>
                  </p:par>
                  <p:par>
                    <p:cTn id="402" fill="hold">
                      <p:stCondLst>
                        <p:cond delay="indefinite"/>
                      </p:stCondLst>
                      <p:childTnLst>
                        <p:par>
                          <p:cTn id="403" fill="hold">
                            <p:stCondLst>
                              <p:cond delay="0"/>
                            </p:stCondLst>
                            <p:childTnLst>
                              <p:par>
                                <p:cTn id="404" nodeType="clickEffect" fill="hold" presetClass="entr" presetID="10">
                                  <p:stCondLst>
                                    <p:cond delay="0"/>
                                  </p:stCondLst>
                                  <p:childTnLst>
                                    <p:set>
                                      <p:cBhvr>
                                        <p:cTn id="405" dur="1" fill="hold">
                                          <p:stCondLst>
                                            <p:cond delay="0"/>
                                          </p:stCondLst>
                                        </p:cTn>
                                        <p:tgtEl>
                                          <p:spTgt spid="581"/>
                                        </p:tgtEl>
                                        <p:attrNameLst>
                                          <p:attrName>style.visibility</p:attrName>
                                        </p:attrNameLst>
                                      </p:cBhvr>
                                      <p:to>
                                        <p:strVal val="visible"/>
                                      </p:to>
                                    </p:set>
                                    <p:animEffect filter="fade" transition="in">
                                      <p:cBhvr additive="repl">
                                        <p:cTn id="406" dur="500"/>
                                        <p:tgtEl>
                                          <p:spTgt spid="581"/>
                                        </p:tgtEl>
                                      </p:cBhvr>
                                    </p:animEffect>
                                  </p:childTnLst>
                                </p:cTn>
                              </p:par>
                              <p:par>
                                <p:cTn id="407" nodeType="withEffect" fill="hold" presetClass="entr" presetID="10">
                                  <p:stCondLst>
                                    <p:cond delay="0"/>
                                  </p:stCondLst>
                                  <p:childTnLst>
                                    <p:set>
                                      <p:cBhvr>
                                        <p:cTn id="408" dur="1" fill="hold">
                                          <p:stCondLst>
                                            <p:cond delay="0"/>
                                          </p:stCondLst>
                                        </p:cTn>
                                        <p:tgtEl>
                                          <p:spTgt spid="582"/>
                                        </p:tgtEl>
                                        <p:attrNameLst>
                                          <p:attrName>style.visibility</p:attrName>
                                        </p:attrNameLst>
                                      </p:cBhvr>
                                      <p:to>
                                        <p:strVal val="visible"/>
                                      </p:to>
                                    </p:set>
                                    <p:animEffect filter="fade" transition="in">
                                      <p:cBhvr additive="repl">
                                        <p:cTn id="409" dur="500"/>
                                        <p:tgtEl>
                                          <p:spTgt spid="582"/>
                                        </p:tgtEl>
                                      </p:cBhvr>
                                    </p:animEffect>
                                  </p:childTnLst>
                                </p:cTn>
                              </p:par>
                            </p:childTnLst>
                          </p:cTn>
                        </p:par>
                      </p:childTnLst>
                    </p:cTn>
                  </p:par>
                  <p:par>
                    <p:cTn id="410" fill="hold">
                      <p:stCondLst>
                        <p:cond delay="indefinite"/>
                      </p:stCondLst>
                      <p:childTnLst>
                        <p:par>
                          <p:cTn id="411" fill="hold">
                            <p:stCondLst>
                              <p:cond delay="0"/>
                            </p:stCondLst>
                            <p:childTnLst>
                              <p:par>
                                <p:cTn id="412" nodeType="clickEffect" fill="hold" presetClass="entr" presetID="10">
                                  <p:stCondLst>
                                    <p:cond delay="0"/>
                                  </p:stCondLst>
                                  <p:childTnLst>
                                    <p:set>
                                      <p:cBhvr>
                                        <p:cTn id="413" dur="1" fill="hold">
                                          <p:stCondLst>
                                            <p:cond delay="0"/>
                                          </p:stCondLst>
                                        </p:cTn>
                                        <p:tgtEl>
                                          <p:spTgt spid="583"/>
                                        </p:tgtEl>
                                        <p:attrNameLst>
                                          <p:attrName>style.visibility</p:attrName>
                                        </p:attrNameLst>
                                      </p:cBhvr>
                                      <p:to>
                                        <p:strVal val="visible"/>
                                      </p:to>
                                    </p:set>
                                    <p:animEffect filter="fade" transition="in">
                                      <p:cBhvr additive="repl">
                                        <p:cTn id="414" dur="500"/>
                                        <p:tgtEl>
                                          <p:spTgt spid="583"/>
                                        </p:tgtEl>
                                      </p:cBhvr>
                                    </p:animEffect>
                                  </p:childTnLst>
                                </p:cTn>
                              </p:par>
                              <p:par>
                                <p:cTn id="415" nodeType="withEffect" fill="hold" presetClass="entr" presetID="10">
                                  <p:stCondLst>
                                    <p:cond delay="0"/>
                                  </p:stCondLst>
                                  <p:childTnLst>
                                    <p:set>
                                      <p:cBhvr>
                                        <p:cTn id="416" dur="1" fill="hold">
                                          <p:stCondLst>
                                            <p:cond delay="0"/>
                                          </p:stCondLst>
                                        </p:cTn>
                                        <p:tgtEl>
                                          <p:spTgt spid="584"/>
                                        </p:tgtEl>
                                        <p:attrNameLst>
                                          <p:attrName>style.visibility</p:attrName>
                                        </p:attrNameLst>
                                      </p:cBhvr>
                                      <p:to>
                                        <p:strVal val="visible"/>
                                      </p:to>
                                    </p:set>
                                    <p:animEffect filter="fade" transition="in">
                                      <p:cBhvr additive="repl">
                                        <p:cTn id="417" dur="500"/>
                                        <p:tgtEl>
                                          <p:spTgt spid="584"/>
                                        </p:tgtEl>
                                      </p:cBhvr>
                                    </p:animEffect>
                                  </p:childTnLst>
                                </p:cTn>
                              </p:par>
                            </p:childTnLst>
                          </p:cTn>
                        </p:par>
                      </p:childTnLst>
                    </p:cTn>
                  </p:par>
                  <p:par>
                    <p:cTn id="418" fill="hold">
                      <p:stCondLst>
                        <p:cond delay="indefinite"/>
                      </p:stCondLst>
                      <p:childTnLst>
                        <p:par>
                          <p:cTn id="419" fill="hold">
                            <p:stCondLst>
                              <p:cond delay="0"/>
                            </p:stCondLst>
                            <p:childTnLst>
                              <p:par>
                                <p:cTn id="420" nodeType="clickEffect" fill="hold" presetClass="entr" presetID="10">
                                  <p:stCondLst>
                                    <p:cond delay="0"/>
                                  </p:stCondLst>
                                  <p:childTnLst>
                                    <p:set>
                                      <p:cBhvr>
                                        <p:cTn id="421" dur="1" fill="hold">
                                          <p:stCondLst>
                                            <p:cond delay="0"/>
                                          </p:stCondLst>
                                        </p:cTn>
                                        <p:tgtEl>
                                          <p:spTgt spid="585"/>
                                        </p:tgtEl>
                                        <p:attrNameLst>
                                          <p:attrName>style.visibility</p:attrName>
                                        </p:attrNameLst>
                                      </p:cBhvr>
                                      <p:to>
                                        <p:strVal val="visible"/>
                                      </p:to>
                                    </p:set>
                                    <p:animEffect filter="fade" transition="in">
                                      <p:cBhvr additive="repl">
                                        <p:cTn id="422" dur="500"/>
                                        <p:tgtEl>
                                          <p:spTgt spid="585"/>
                                        </p:tgtEl>
                                      </p:cBhvr>
                                    </p:animEffect>
                                  </p:childTnLst>
                                </p:cTn>
                              </p:par>
                              <p:par>
                                <p:cTn id="423" nodeType="withEffect" fill="hold" presetClass="entr" presetID="10">
                                  <p:stCondLst>
                                    <p:cond delay="0"/>
                                  </p:stCondLst>
                                  <p:childTnLst>
                                    <p:set>
                                      <p:cBhvr>
                                        <p:cTn id="424" dur="1" fill="hold">
                                          <p:stCondLst>
                                            <p:cond delay="0"/>
                                          </p:stCondLst>
                                        </p:cTn>
                                        <p:tgtEl>
                                          <p:spTgt spid="586"/>
                                        </p:tgtEl>
                                        <p:attrNameLst>
                                          <p:attrName>style.visibility</p:attrName>
                                        </p:attrNameLst>
                                      </p:cBhvr>
                                      <p:to>
                                        <p:strVal val="visible"/>
                                      </p:to>
                                    </p:set>
                                    <p:animEffect filter="fade" transition="in">
                                      <p:cBhvr additive="repl">
                                        <p:cTn id="425" dur="5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05 · Filtro léxico (blocking)</a:t>
            </a:r>
            <a:endParaRPr b="0" lang="es-CL" sz="1200" strike="noStrike" u="none">
              <a:solidFill>
                <a:srgbClr val="1a1e2b"/>
              </a:solidFill>
              <a:effectLst/>
              <a:uFillTx/>
              <a:latin typeface="Calibri"/>
            </a:endParaRPr>
          </a:p>
        </p:txBody>
      </p:sp>
      <p:sp>
        <p:nvSpPr>
          <p:cNvPr id="600"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Las decisiones son frases cortas: lo más común, 3 palabras</a:t>
            </a:r>
            <a:endParaRPr b="0" lang="es-CL" sz="3000" strike="noStrike" u="none">
              <a:solidFill>
                <a:schemeClr val="dk1"/>
              </a:solidFill>
              <a:effectLst/>
              <a:uFillTx/>
              <a:latin typeface="Calibri"/>
            </a:endParaRPr>
          </a:p>
        </p:txBody>
      </p:sp>
      <p:sp>
        <p:nvSpPr>
          <p:cNvPr id="601" name="PlaceHolder 3"/>
          <p:cNvSpPr>
            <a:spLocks noGrp="1"/>
          </p:cNvSpPr>
          <p:nvPr>
            <p:ph/>
          </p:nvPr>
        </p:nvSpPr>
        <p:spPr>
          <a:xfrm>
            <a:off x="609480" y="6070680"/>
            <a:ext cx="10972440" cy="253800"/>
          </a:xfrm>
          <a:prstGeom prst="rect">
            <a:avLst/>
          </a:prstGeom>
          <a:noFill/>
          <a:ln w="0">
            <a:noFill/>
          </a:ln>
        </p:spPr>
        <p:txBody>
          <a:bodyPr lIns="0" rIns="0" tIns="0" bIns="0" anchor="b">
            <a:noAutofit/>
          </a:bodyPr>
          <a:p>
            <a:pPr indent="0" defTabSz="914400">
              <a:lnSpc>
                <a:spcPct val="95000"/>
              </a:lnSpc>
              <a:buNone/>
              <a:tabLst>
                <a:tab algn="l" pos="0"/>
              </a:tabLst>
            </a:pPr>
            <a:r>
              <a:rPr b="0" lang="es-CL" sz="1100" strike="noStrike" u="none">
                <a:solidFill>
                  <a:srgbClr val="5f6670"/>
                </a:solidFill>
                <a:effectLst/>
                <a:uFillTx/>
                <a:latin typeface="Calibri"/>
              </a:rPr>
              <a:t>Fuente: EDA de AFG2 (notebook 03, §4 y §10). Valores por reunión, en promedio; decisiones por reunión: rango 1 a 15.</a:t>
            </a:r>
            <a:endParaRPr b="0" lang="es-CL" sz="1100" strike="noStrike" u="none">
              <a:solidFill>
                <a:srgbClr val="1a1e2b"/>
              </a:solidFill>
              <a:effectLst/>
              <a:uFillTx/>
              <a:latin typeface="Calibri"/>
            </a:endParaRPr>
          </a:p>
        </p:txBody>
      </p:sp>
      <p:sp>
        <p:nvSpPr>
          <p:cNvPr id="602" name="Etiqueta 740"/>
          <p:cNvSpPr/>
          <p:nvPr/>
        </p:nvSpPr>
        <p:spPr>
          <a:xfrm>
            <a:off x="609480" y="1828800"/>
            <a:ext cx="76197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300" strike="noStrike" u="none">
                <a:solidFill>
                  <a:srgbClr val="0176de"/>
                </a:solidFill>
                <a:effectLst/>
                <a:uFillTx/>
                <a:latin typeface="Calibri"/>
              </a:rPr>
              <a:t>UNA REUNIÓN, EN PROMEDIO</a:t>
            </a:r>
            <a:endParaRPr b="0" lang="en-US" sz="1300" strike="noStrike" u="none">
              <a:solidFill>
                <a:srgbClr val="000000"/>
              </a:solidFill>
              <a:effectLst/>
              <a:uFillTx/>
              <a:latin typeface="Arial"/>
            </a:endParaRPr>
          </a:p>
        </p:txBody>
      </p:sp>
      <p:sp>
        <p:nvSpPr>
          <p:cNvPr id="603" name="Cifra 741"/>
          <p:cNvSpPr/>
          <p:nvPr/>
        </p:nvSpPr>
        <p:spPr>
          <a:xfrm>
            <a:off x="609480" y="2184480"/>
            <a:ext cx="2539800" cy="812520"/>
          </a:xfrm>
          <a:prstGeom prst="rect">
            <a:avLst/>
          </a:prstGeom>
          <a:noFill/>
          <a:ln w="0">
            <a:noFill/>
          </a:ln>
        </p:spPr>
        <p:style>
          <a:lnRef idx="0"/>
          <a:fillRef idx="0"/>
          <a:effectRef idx="0"/>
          <a:fontRef idx="minor"/>
        </p:style>
        <p:txBody>
          <a:bodyPr lIns="0" rIns="0" tIns="0" bIns="0" anchor="b">
            <a:noAutofit/>
          </a:bodyPr>
          <a:p>
            <a:pPr defTabSz="914400">
              <a:lnSpc>
                <a:spcPct val="100000"/>
              </a:lnSpc>
            </a:pPr>
            <a:r>
              <a:rPr b="1" lang="es-CL" sz="4400" strike="noStrike" u="none">
                <a:solidFill>
                  <a:srgbClr val="1a1e2b"/>
                </a:solidFill>
                <a:effectLst/>
                <a:uFillTx/>
                <a:latin typeface="Calibri"/>
              </a:rPr>
              <a:t>≈32 min</a:t>
            </a:r>
            <a:endParaRPr b="0" lang="en-US" sz="4400" strike="noStrike" u="none">
              <a:solidFill>
                <a:srgbClr val="000000"/>
              </a:solidFill>
              <a:effectLst/>
              <a:uFillTx/>
              <a:latin typeface="Arial"/>
            </a:endParaRPr>
          </a:p>
        </p:txBody>
      </p:sp>
      <p:sp>
        <p:nvSpPr>
          <p:cNvPr id="604" name="Etiqueta cifra 742"/>
          <p:cNvSpPr/>
          <p:nvPr/>
        </p:nvSpPr>
        <p:spPr>
          <a:xfrm>
            <a:off x="609480" y="3048120"/>
            <a:ext cx="253980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600" strike="noStrike" u="none">
                <a:solidFill>
                  <a:srgbClr val="5f6670"/>
                </a:solidFill>
                <a:effectLst/>
                <a:uFillTx/>
                <a:latin typeface="Calibri"/>
              </a:rPr>
              <a:t>de duración</a:t>
            </a:r>
            <a:endParaRPr b="0" lang="en-US" sz="1600" strike="noStrike" u="none">
              <a:solidFill>
                <a:srgbClr val="000000"/>
              </a:solidFill>
              <a:effectLst/>
              <a:uFillTx/>
              <a:latin typeface="Arial"/>
            </a:endParaRPr>
          </a:p>
        </p:txBody>
      </p:sp>
      <p:sp>
        <p:nvSpPr>
          <p:cNvPr id="605" name="Cifra 743"/>
          <p:cNvSpPr/>
          <p:nvPr/>
        </p:nvSpPr>
        <p:spPr>
          <a:xfrm>
            <a:off x="3429000" y="2184480"/>
            <a:ext cx="2539800" cy="812520"/>
          </a:xfrm>
          <a:prstGeom prst="rect">
            <a:avLst/>
          </a:prstGeom>
          <a:noFill/>
          <a:ln w="0">
            <a:noFill/>
          </a:ln>
        </p:spPr>
        <p:style>
          <a:lnRef idx="0"/>
          <a:fillRef idx="0"/>
          <a:effectRef idx="0"/>
          <a:fontRef idx="minor"/>
        </p:style>
        <p:txBody>
          <a:bodyPr lIns="0" rIns="0" tIns="0" bIns="0" anchor="b">
            <a:noAutofit/>
          </a:bodyPr>
          <a:p>
            <a:pPr defTabSz="914400">
              <a:lnSpc>
                <a:spcPct val="100000"/>
              </a:lnSpc>
            </a:pPr>
            <a:r>
              <a:rPr b="1" lang="es-CL" sz="4400" strike="noStrike" u="none">
                <a:solidFill>
                  <a:srgbClr val="1a1e2b"/>
                </a:solidFill>
                <a:effectLst/>
                <a:uFillTx/>
                <a:latin typeface="Calibri"/>
              </a:rPr>
              <a:t>≈5.010</a:t>
            </a:r>
            <a:endParaRPr b="0" lang="en-US" sz="4400" strike="noStrike" u="none">
              <a:solidFill>
                <a:srgbClr val="000000"/>
              </a:solidFill>
              <a:effectLst/>
              <a:uFillTx/>
              <a:latin typeface="Arial"/>
            </a:endParaRPr>
          </a:p>
        </p:txBody>
      </p:sp>
      <p:sp>
        <p:nvSpPr>
          <p:cNvPr id="606" name="Etiqueta cifra 744"/>
          <p:cNvSpPr/>
          <p:nvPr/>
        </p:nvSpPr>
        <p:spPr>
          <a:xfrm>
            <a:off x="3429000" y="3048120"/>
            <a:ext cx="253980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600" strike="noStrike" u="none">
                <a:solidFill>
                  <a:srgbClr val="5f6670"/>
                </a:solidFill>
                <a:effectLst/>
                <a:uFillTx/>
                <a:latin typeface="Calibri"/>
              </a:rPr>
              <a:t>palabras</a:t>
            </a:r>
            <a:endParaRPr b="0" lang="en-US" sz="1600" strike="noStrike" u="none">
              <a:solidFill>
                <a:srgbClr val="000000"/>
              </a:solidFill>
              <a:effectLst/>
              <a:uFillTx/>
              <a:latin typeface="Arial"/>
            </a:endParaRPr>
          </a:p>
        </p:txBody>
      </p:sp>
      <p:sp>
        <p:nvSpPr>
          <p:cNvPr id="607" name="Cifra 745"/>
          <p:cNvSpPr/>
          <p:nvPr/>
        </p:nvSpPr>
        <p:spPr>
          <a:xfrm>
            <a:off x="6248520" y="2184480"/>
            <a:ext cx="2539800" cy="812520"/>
          </a:xfrm>
          <a:prstGeom prst="rect">
            <a:avLst/>
          </a:prstGeom>
          <a:noFill/>
          <a:ln w="0">
            <a:noFill/>
          </a:ln>
        </p:spPr>
        <p:style>
          <a:lnRef idx="0"/>
          <a:fillRef idx="0"/>
          <a:effectRef idx="0"/>
          <a:fontRef idx="minor"/>
        </p:style>
        <p:txBody>
          <a:bodyPr lIns="0" rIns="0" tIns="0" bIns="0" anchor="b">
            <a:noAutofit/>
          </a:bodyPr>
          <a:p>
            <a:pPr defTabSz="914400">
              <a:lnSpc>
                <a:spcPct val="100000"/>
              </a:lnSpc>
            </a:pPr>
            <a:r>
              <a:rPr b="1" lang="es-CL" sz="4400" strike="noStrike" u="none">
                <a:solidFill>
                  <a:srgbClr val="1a1e2b"/>
                </a:solidFill>
                <a:effectLst/>
                <a:uFillTx/>
                <a:latin typeface="Calibri"/>
              </a:rPr>
              <a:t>462</a:t>
            </a:r>
            <a:endParaRPr b="0" lang="en-US" sz="4400" strike="noStrike" u="none">
              <a:solidFill>
                <a:srgbClr val="000000"/>
              </a:solidFill>
              <a:effectLst/>
              <a:uFillTx/>
              <a:latin typeface="Arial"/>
            </a:endParaRPr>
          </a:p>
        </p:txBody>
      </p:sp>
      <p:sp>
        <p:nvSpPr>
          <p:cNvPr id="608" name="Etiqueta cifra 746"/>
          <p:cNvSpPr/>
          <p:nvPr/>
        </p:nvSpPr>
        <p:spPr>
          <a:xfrm>
            <a:off x="6248520" y="3048120"/>
            <a:ext cx="253980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600" strike="noStrike" u="none">
                <a:solidFill>
                  <a:srgbClr val="5f6670"/>
                </a:solidFill>
                <a:effectLst/>
                <a:uFillTx/>
                <a:latin typeface="Calibri"/>
              </a:rPr>
              <a:t>turnos de habla</a:t>
            </a:r>
            <a:endParaRPr b="0" lang="en-US" sz="1600" strike="noStrike" u="none">
              <a:solidFill>
                <a:srgbClr val="000000"/>
              </a:solidFill>
              <a:effectLst/>
              <a:uFillTx/>
              <a:latin typeface="Arial"/>
            </a:endParaRPr>
          </a:p>
        </p:txBody>
      </p:sp>
      <p:sp>
        <p:nvSpPr>
          <p:cNvPr id="609" name="Cifra 747"/>
          <p:cNvSpPr/>
          <p:nvPr/>
        </p:nvSpPr>
        <p:spPr>
          <a:xfrm>
            <a:off x="9067680" y="2184480"/>
            <a:ext cx="2539800" cy="812520"/>
          </a:xfrm>
          <a:prstGeom prst="rect">
            <a:avLst/>
          </a:prstGeom>
          <a:noFill/>
          <a:ln w="0">
            <a:noFill/>
          </a:ln>
        </p:spPr>
        <p:style>
          <a:lnRef idx="0"/>
          <a:fillRef idx="0"/>
          <a:effectRef idx="0"/>
          <a:fontRef idx="minor"/>
        </p:style>
        <p:txBody>
          <a:bodyPr lIns="0" rIns="0" tIns="0" bIns="0" anchor="b">
            <a:noAutofit/>
          </a:bodyPr>
          <a:p>
            <a:pPr defTabSz="914400">
              <a:lnSpc>
                <a:spcPct val="100000"/>
              </a:lnSpc>
            </a:pPr>
            <a:r>
              <a:rPr b="1" lang="es-CL" sz="4400" strike="noStrike" u="none">
                <a:solidFill>
                  <a:srgbClr val="0176de"/>
                </a:solidFill>
                <a:effectLst/>
                <a:uFillTx/>
                <a:latin typeface="Calibri"/>
              </a:rPr>
              <a:t>6,1</a:t>
            </a:r>
            <a:endParaRPr b="0" lang="en-US" sz="4400" strike="noStrike" u="none">
              <a:solidFill>
                <a:srgbClr val="000000"/>
              </a:solidFill>
              <a:effectLst/>
              <a:uFillTx/>
              <a:latin typeface="Arial"/>
            </a:endParaRPr>
          </a:p>
        </p:txBody>
      </p:sp>
      <p:sp>
        <p:nvSpPr>
          <p:cNvPr id="610" name="Etiqueta cifra 748"/>
          <p:cNvSpPr/>
          <p:nvPr/>
        </p:nvSpPr>
        <p:spPr>
          <a:xfrm>
            <a:off x="9067680" y="3048120"/>
            <a:ext cx="253980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s-CL" sz="1600" strike="noStrike" u="none">
                <a:solidFill>
                  <a:srgbClr val="5f6670"/>
                </a:solidFill>
                <a:effectLst/>
                <a:uFillTx/>
                <a:latin typeface="Calibri"/>
              </a:rPr>
              <a:t>decisiones</a:t>
            </a:r>
            <a:endParaRPr b="0" lang="en-US" sz="1600" strike="noStrike" u="none">
              <a:solidFill>
                <a:srgbClr val="000000"/>
              </a:solidFill>
              <a:effectLst/>
              <a:uFillTx/>
              <a:latin typeface="Arial"/>
            </a:endParaRPr>
          </a:p>
        </p:txBody>
      </p:sp>
      <p:sp>
        <p:nvSpPr>
          <p:cNvPr id="611" name="Línea 749"/>
          <p:cNvSpPr/>
          <p:nvPr/>
        </p:nvSpPr>
        <p:spPr>
          <a:xfrm>
            <a:off x="609480" y="3708360"/>
            <a:ext cx="10972440" cy="12240"/>
          </a:xfrm>
          <a:prstGeom prst="rect">
            <a:avLst/>
          </a:prstGeom>
          <a:solidFill>
            <a:srgbClr val="c9ced6"/>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612" name="Etiqueta 750"/>
          <p:cNvSpPr/>
          <p:nvPr/>
        </p:nvSpPr>
        <p:spPr>
          <a:xfrm>
            <a:off x="609480" y="3962520"/>
            <a:ext cx="53337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300" strike="noStrike" u="none">
                <a:solidFill>
                  <a:srgbClr val="0176de"/>
                </a:solidFill>
                <a:effectLst/>
                <a:uFillTx/>
                <a:latin typeface="Calibri"/>
              </a:rPr>
              <a:t>UNA DECISIÓN</a:t>
            </a:r>
            <a:endParaRPr b="0" lang="en-US" sz="1300" strike="noStrike" u="none">
              <a:solidFill>
                <a:srgbClr val="000000"/>
              </a:solidFill>
              <a:effectLst/>
              <a:uFillTx/>
              <a:latin typeface="Arial"/>
            </a:endParaRPr>
          </a:p>
        </p:txBody>
      </p:sp>
      <p:sp>
        <p:nvSpPr>
          <p:cNvPr id="613" name="Decisión 751"/>
          <p:cNvSpPr/>
          <p:nvPr/>
        </p:nvSpPr>
        <p:spPr>
          <a:xfrm>
            <a:off x="609480" y="4292640"/>
            <a:ext cx="5333760" cy="12189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4400" strike="noStrike" u="none">
                <a:solidFill>
                  <a:srgbClr val="1a1e2b"/>
                </a:solidFill>
                <a:effectLst/>
                <a:uFillTx/>
                <a:latin typeface="Calibri"/>
              </a:rPr>
              <a:t>≈6</a:t>
            </a:r>
            <a:r>
              <a:rPr b="0" lang="es-CL" sz="1800" strike="noStrike" u="none">
                <a:solidFill>
                  <a:srgbClr val="1a1e2b"/>
                </a:solidFill>
                <a:effectLst/>
                <a:uFillTx/>
                <a:latin typeface="Calibri"/>
              </a:rPr>
              <a:t>  palabras de contenido</a:t>
            </a:r>
            <a:endParaRPr b="0" lang="en-US" sz="1800" strike="noStrike" u="none">
              <a:solidFill>
                <a:srgbClr val="000000"/>
              </a:solidFill>
              <a:effectLst/>
              <a:uFillTx/>
              <a:latin typeface="Arial"/>
            </a:endParaRPr>
          </a:p>
          <a:p>
            <a:pPr defTabSz="914400">
              <a:lnSpc>
                <a:spcPct val="100000"/>
              </a:lnSpc>
            </a:pPr>
            <a:r>
              <a:rPr b="0" lang="es-CL" sz="1800" strike="noStrike" u="none">
                <a:solidFill>
                  <a:srgbClr val="5f6670"/>
                </a:solidFill>
                <a:effectLst/>
                <a:uFillTx/>
                <a:latin typeface="Calibri"/>
              </a:rPr>
              <a:t>Lo más común: </a:t>
            </a:r>
            <a:r>
              <a:rPr b="1" lang="es-CL" sz="1800" strike="noStrike" u="none">
                <a:solidFill>
                  <a:srgbClr val="0176de"/>
                </a:solidFill>
                <a:effectLst/>
                <a:uFillTx/>
                <a:latin typeface="Calibri"/>
              </a:rPr>
              <a:t>3 palabras</a:t>
            </a:r>
            <a:endParaRPr b="0" lang="en-US" sz="1800" strike="noStrike" u="none">
              <a:solidFill>
                <a:srgbClr val="000000"/>
              </a:solidFill>
              <a:effectLst/>
              <a:uFillTx/>
              <a:latin typeface="Arial"/>
            </a:endParaRPr>
          </a:p>
        </p:txBody>
      </p:sp>
      <p:sp>
        <p:nvSpPr>
          <p:cNvPr id="614" name="Etiqueta 752"/>
          <p:cNvSpPr/>
          <p:nvPr/>
        </p:nvSpPr>
        <p:spPr>
          <a:xfrm>
            <a:off x="6248520" y="3962520"/>
            <a:ext cx="533376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300" strike="noStrike" u="none">
                <a:solidFill>
                  <a:srgbClr val="0176de"/>
                </a:solidFill>
                <a:effectLst/>
                <a:uFillTx/>
                <a:latin typeface="Calibri"/>
              </a:rPr>
              <a:t>UN TURNO DE HABLA</a:t>
            </a:r>
            <a:endParaRPr b="0" lang="en-US" sz="1300" strike="noStrike" u="none">
              <a:solidFill>
                <a:srgbClr val="000000"/>
              </a:solidFill>
              <a:effectLst/>
              <a:uFillTx/>
              <a:latin typeface="Arial"/>
            </a:endParaRPr>
          </a:p>
        </p:txBody>
      </p:sp>
      <p:sp>
        <p:nvSpPr>
          <p:cNvPr id="615" name="Turno 753"/>
          <p:cNvSpPr/>
          <p:nvPr/>
        </p:nvSpPr>
        <p:spPr>
          <a:xfrm>
            <a:off x="6248520" y="4292640"/>
            <a:ext cx="5333760" cy="12189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4400" strike="noStrike" u="none">
                <a:solidFill>
                  <a:srgbClr val="1a1e2b"/>
                </a:solidFill>
                <a:effectLst/>
                <a:uFillTx/>
                <a:latin typeface="Calibri"/>
              </a:rPr>
              <a:t>4</a:t>
            </a:r>
            <a:r>
              <a:rPr b="0" lang="es-CL" sz="1800" strike="noStrike" u="none">
                <a:solidFill>
                  <a:srgbClr val="1a1e2b"/>
                </a:solidFill>
                <a:effectLst/>
                <a:uFillTx/>
                <a:latin typeface="Calibri"/>
              </a:rPr>
              <a:t>  palabras (mediana)</a:t>
            </a:r>
            <a:endParaRPr b="0" lang="en-US" sz="1800" strike="noStrike" u="none">
              <a:solidFill>
                <a:srgbClr val="000000"/>
              </a:solidFill>
              <a:effectLst/>
              <a:uFillTx/>
              <a:latin typeface="Arial"/>
            </a:endParaRPr>
          </a:p>
          <a:p>
            <a:pPr defTabSz="914400">
              <a:lnSpc>
                <a:spcPct val="100000"/>
              </a:lnSpc>
            </a:pPr>
            <a:r>
              <a:rPr b="1" lang="es-CL" sz="1800" strike="noStrike" u="none">
                <a:solidFill>
                  <a:srgbClr val="1a1e2b"/>
                </a:solidFill>
                <a:effectLst/>
                <a:uFillTx/>
                <a:latin typeface="Calibri"/>
              </a:rPr>
              <a:t>31,5 %</a:t>
            </a:r>
            <a:r>
              <a:rPr b="0" lang="es-CL" sz="1800" strike="noStrike" u="none">
                <a:solidFill>
                  <a:srgbClr val="5f6670"/>
                </a:solidFill>
                <a:effectLst/>
                <a:uFillTx/>
                <a:latin typeface="Calibri"/>
              </a:rPr>
              <a:t> de los turnos tiene una sola palabra</a:t>
            </a:r>
            <a:endParaRPr b="0" lang="en-US" sz="1800" strike="noStrike" u="none">
              <a:solidFill>
                <a:srgbClr val="000000"/>
              </a:solidFill>
              <a:effectLst/>
              <a:uFillTx/>
              <a:latin typeface="Arial"/>
            </a:endParaRPr>
          </a:p>
        </p:txBody>
      </p:sp>
      <p:sp>
        <p:nvSpPr>
          <p:cNvPr id="616"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17"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18"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19"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20" name="Progreso 5"/>
          <p:cNvSpPr/>
          <p:nvPr/>
        </p:nvSpPr>
        <p:spPr>
          <a:xfrm>
            <a:off x="1087740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21" name="Progreso 6"/>
          <p:cNvSpPr/>
          <p:nvPr/>
        </p:nvSpPr>
        <p:spPr>
          <a:xfrm>
            <a:off x="1106316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22"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23"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18000">
    <p:fade/>
  </p:transition>
  <p:timing>
    <p:tnLst>
      <p:par>
        <p:cTn id="426" dur="indefinite" restart="never" nodeType="tmRoot">
          <p:childTnLst>
            <p:seq>
              <p:cTn id="427" dur="indefinite" nodeType="mainSeq">
                <p:childTnLst>
                  <p:par>
                    <p:cTn id="428" fill="hold">
                      <p:stCondLst>
                        <p:cond delay="indefinite"/>
                      </p:stCondLst>
                      <p:childTnLst>
                        <p:par>
                          <p:cTn id="429" fill="hold">
                            <p:stCondLst>
                              <p:cond delay="0"/>
                            </p:stCondLst>
                            <p:childTnLst>
                              <p:par>
                                <p:cTn id="430" nodeType="clickEffect" fill="hold" presetClass="entr" presetID="10">
                                  <p:stCondLst>
                                    <p:cond delay="0"/>
                                  </p:stCondLst>
                                  <p:childTnLst>
                                    <p:set>
                                      <p:cBhvr>
                                        <p:cTn id="431" dur="1" fill="hold">
                                          <p:stCondLst>
                                            <p:cond delay="0"/>
                                          </p:stCondLst>
                                        </p:cTn>
                                        <p:tgtEl>
                                          <p:spTgt spid="602"/>
                                        </p:tgtEl>
                                        <p:attrNameLst>
                                          <p:attrName>style.visibility</p:attrName>
                                        </p:attrNameLst>
                                      </p:cBhvr>
                                      <p:to>
                                        <p:strVal val="visible"/>
                                      </p:to>
                                    </p:set>
                                    <p:animEffect filter="fade" transition="in">
                                      <p:cBhvr additive="repl">
                                        <p:cTn id="432" dur="500"/>
                                        <p:tgtEl>
                                          <p:spTgt spid="602"/>
                                        </p:tgtEl>
                                      </p:cBhvr>
                                    </p:animEffect>
                                  </p:childTnLst>
                                </p:cTn>
                              </p:par>
                              <p:par>
                                <p:cTn id="433" nodeType="withEffect" fill="hold" presetClass="entr" presetID="10">
                                  <p:stCondLst>
                                    <p:cond delay="0"/>
                                  </p:stCondLst>
                                  <p:childTnLst>
                                    <p:set>
                                      <p:cBhvr>
                                        <p:cTn id="434" dur="1" fill="hold">
                                          <p:stCondLst>
                                            <p:cond delay="0"/>
                                          </p:stCondLst>
                                        </p:cTn>
                                        <p:tgtEl>
                                          <p:spTgt spid="603"/>
                                        </p:tgtEl>
                                        <p:attrNameLst>
                                          <p:attrName>style.visibility</p:attrName>
                                        </p:attrNameLst>
                                      </p:cBhvr>
                                      <p:to>
                                        <p:strVal val="visible"/>
                                      </p:to>
                                    </p:set>
                                    <p:animEffect filter="fade" transition="in">
                                      <p:cBhvr additive="repl">
                                        <p:cTn id="435" dur="500"/>
                                        <p:tgtEl>
                                          <p:spTgt spid="603"/>
                                        </p:tgtEl>
                                      </p:cBhvr>
                                    </p:animEffect>
                                  </p:childTnLst>
                                </p:cTn>
                              </p:par>
                              <p:par>
                                <p:cTn id="436" nodeType="withEffect" fill="hold" presetClass="entr" presetID="10">
                                  <p:stCondLst>
                                    <p:cond delay="0"/>
                                  </p:stCondLst>
                                  <p:childTnLst>
                                    <p:set>
                                      <p:cBhvr>
                                        <p:cTn id="437" dur="1" fill="hold">
                                          <p:stCondLst>
                                            <p:cond delay="0"/>
                                          </p:stCondLst>
                                        </p:cTn>
                                        <p:tgtEl>
                                          <p:spTgt spid="604"/>
                                        </p:tgtEl>
                                        <p:attrNameLst>
                                          <p:attrName>style.visibility</p:attrName>
                                        </p:attrNameLst>
                                      </p:cBhvr>
                                      <p:to>
                                        <p:strVal val="visible"/>
                                      </p:to>
                                    </p:set>
                                    <p:animEffect filter="fade" transition="in">
                                      <p:cBhvr additive="repl">
                                        <p:cTn id="438" dur="500"/>
                                        <p:tgtEl>
                                          <p:spTgt spid="604"/>
                                        </p:tgtEl>
                                      </p:cBhvr>
                                    </p:animEffect>
                                  </p:childTnLst>
                                </p:cTn>
                              </p:par>
                              <p:par>
                                <p:cTn id="439" nodeType="withEffect" fill="hold" presetClass="entr" presetID="10">
                                  <p:stCondLst>
                                    <p:cond delay="0"/>
                                  </p:stCondLst>
                                  <p:childTnLst>
                                    <p:set>
                                      <p:cBhvr>
                                        <p:cTn id="440" dur="1" fill="hold">
                                          <p:stCondLst>
                                            <p:cond delay="0"/>
                                          </p:stCondLst>
                                        </p:cTn>
                                        <p:tgtEl>
                                          <p:spTgt spid="605"/>
                                        </p:tgtEl>
                                        <p:attrNameLst>
                                          <p:attrName>style.visibility</p:attrName>
                                        </p:attrNameLst>
                                      </p:cBhvr>
                                      <p:to>
                                        <p:strVal val="visible"/>
                                      </p:to>
                                    </p:set>
                                    <p:animEffect filter="fade" transition="in">
                                      <p:cBhvr additive="repl">
                                        <p:cTn id="441" dur="500"/>
                                        <p:tgtEl>
                                          <p:spTgt spid="605"/>
                                        </p:tgtEl>
                                      </p:cBhvr>
                                    </p:animEffect>
                                  </p:childTnLst>
                                </p:cTn>
                              </p:par>
                              <p:par>
                                <p:cTn id="442" nodeType="withEffect" fill="hold" presetClass="entr" presetID="10">
                                  <p:stCondLst>
                                    <p:cond delay="0"/>
                                  </p:stCondLst>
                                  <p:childTnLst>
                                    <p:set>
                                      <p:cBhvr>
                                        <p:cTn id="443" dur="1" fill="hold">
                                          <p:stCondLst>
                                            <p:cond delay="0"/>
                                          </p:stCondLst>
                                        </p:cTn>
                                        <p:tgtEl>
                                          <p:spTgt spid="606"/>
                                        </p:tgtEl>
                                        <p:attrNameLst>
                                          <p:attrName>style.visibility</p:attrName>
                                        </p:attrNameLst>
                                      </p:cBhvr>
                                      <p:to>
                                        <p:strVal val="visible"/>
                                      </p:to>
                                    </p:set>
                                    <p:animEffect filter="fade" transition="in">
                                      <p:cBhvr additive="repl">
                                        <p:cTn id="444" dur="500"/>
                                        <p:tgtEl>
                                          <p:spTgt spid="606"/>
                                        </p:tgtEl>
                                      </p:cBhvr>
                                    </p:animEffect>
                                  </p:childTnLst>
                                </p:cTn>
                              </p:par>
                              <p:par>
                                <p:cTn id="445" nodeType="withEffect" fill="hold" presetClass="entr" presetID="10">
                                  <p:stCondLst>
                                    <p:cond delay="0"/>
                                  </p:stCondLst>
                                  <p:childTnLst>
                                    <p:set>
                                      <p:cBhvr>
                                        <p:cTn id="446" dur="1" fill="hold">
                                          <p:stCondLst>
                                            <p:cond delay="0"/>
                                          </p:stCondLst>
                                        </p:cTn>
                                        <p:tgtEl>
                                          <p:spTgt spid="607"/>
                                        </p:tgtEl>
                                        <p:attrNameLst>
                                          <p:attrName>style.visibility</p:attrName>
                                        </p:attrNameLst>
                                      </p:cBhvr>
                                      <p:to>
                                        <p:strVal val="visible"/>
                                      </p:to>
                                    </p:set>
                                    <p:animEffect filter="fade" transition="in">
                                      <p:cBhvr additive="repl">
                                        <p:cTn id="447" dur="500"/>
                                        <p:tgtEl>
                                          <p:spTgt spid="607"/>
                                        </p:tgtEl>
                                      </p:cBhvr>
                                    </p:animEffect>
                                  </p:childTnLst>
                                </p:cTn>
                              </p:par>
                              <p:par>
                                <p:cTn id="448" nodeType="withEffect" fill="hold" presetClass="entr" presetID="10">
                                  <p:stCondLst>
                                    <p:cond delay="0"/>
                                  </p:stCondLst>
                                  <p:childTnLst>
                                    <p:set>
                                      <p:cBhvr>
                                        <p:cTn id="449" dur="1" fill="hold">
                                          <p:stCondLst>
                                            <p:cond delay="0"/>
                                          </p:stCondLst>
                                        </p:cTn>
                                        <p:tgtEl>
                                          <p:spTgt spid="608"/>
                                        </p:tgtEl>
                                        <p:attrNameLst>
                                          <p:attrName>style.visibility</p:attrName>
                                        </p:attrNameLst>
                                      </p:cBhvr>
                                      <p:to>
                                        <p:strVal val="visible"/>
                                      </p:to>
                                    </p:set>
                                    <p:animEffect filter="fade" transition="in">
                                      <p:cBhvr additive="repl">
                                        <p:cTn id="450" dur="500"/>
                                        <p:tgtEl>
                                          <p:spTgt spid="608"/>
                                        </p:tgtEl>
                                      </p:cBhvr>
                                    </p:animEffect>
                                  </p:childTnLst>
                                </p:cTn>
                              </p:par>
                              <p:par>
                                <p:cTn id="451" nodeType="withEffect" fill="hold" presetClass="entr" presetID="10">
                                  <p:stCondLst>
                                    <p:cond delay="0"/>
                                  </p:stCondLst>
                                  <p:childTnLst>
                                    <p:set>
                                      <p:cBhvr>
                                        <p:cTn id="452" dur="1" fill="hold">
                                          <p:stCondLst>
                                            <p:cond delay="0"/>
                                          </p:stCondLst>
                                        </p:cTn>
                                        <p:tgtEl>
                                          <p:spTgt spid="609"/>
                                        </p:tgtEl>
                                        <p:attrNameLst>
                                          <p:attrName>style.visibility</p:attrName>
                                        </p:attrNameLst>
                                      </p:cBhvr>
                                      <p:to>
                                        <p:strVal val="visible"/>
                                      </p:to>
                                    </p:set>
                                    <p:animEffect filter="fade" transition="in">
                                      <p:cBhvr additive="repl">
                                        <p:cTn id="453" dur="500"/>
                                        <p:tgtEl>
                                          <p:spTgt spid="609"/>
                                        </p:tgtEl>
                                      </p:cBhvr>
                                    </p:animEffect>
                                  </p:childTnLst>
                                </p:cTn>
                              </p:par>
                              <p:par>
                                <p:cTn id="454" nodeType="withEffect" fill="hold" presetClass="entr" presetID="10">
                                  <p:stCondLst>
                                    <p:cond delay="0"/>
                                  </p:stCondLst>
                                  <p:childTnLst>
                                    <p:set>
                                      <p:cBhvr>
                                        <p:cTn id="455" dur="1" fill="hold">
                                          <p:stCondLst>
                                            <p:cond delay="0"/>
                                          </p:stCondLst>
                                        </p:cTn>
                                        <p:tgtEl>
                                          <p:spTgt spid="610"/>
                                        </p:tgtEl>
                                        <p:attrNameLst>
                                          <p:attrName>style.visibility</p:attrName>
                                        </p:attrNameLst>
                                      </p:cBhvr>
                                      <p:to>
                                        <p:strVal val="visible"/>
                                      </p:to>
                                    </p:set>
                                    <p:animEffect filter="fade" transition="in">
                                      <p:cBhvr additive="repl">
                                        <p:cTn id="456" dur="500"/>
                                        <p:tgtEl>
                                          <p:spTgt spid="610"/>
                                        </p:tgtEl>
                                      </p:cBhvr>
                                    </p:animEffect>
                                  </p:childTnLst>
                                </p:cTn>
                              </p:par>
                            </p:childTnLst>
                          </p:cTn>
                        </p:par>
                      </p:childTnLst>
                    </p:cTn>
                  </p:par>
                  <p:par>
                    <p:cTn id="457" fill="hold">
                      <p:stCondLst>
                        <p:cond delay="indefinite"/>
                      </p:stCondLst>
                      <p:childTnLst>
                        <p:par>
                          <p:cTn id="458" fill="hold">
                            <p:stCondLst>
                              <p:cond delay="0"/>
                            </p:stCondLst>
                            <p:childTnLst>
                              <p:par>
                                <p:cTn id="459" nodeType="clickEffect" fill="hold" presetClass="entr" presetID="10">
                                  <p:stCondLst>
                                    <p:cond delay="0"/>
                                  </p:stCondLst>
                                  <p:childTnLst>
                                    <p:set>
                                      <p:cBhvr>
                                        <p:cTn id="460" dur="1" fill="hold">
                                          <p:stCondLst>
                                            <p:cond delay="0"/>
                                          </p:stCondLst>
                                        </p:cTn>
                                        <p:tgtEl>
                                          <p:spTgt spid="611"/>
                                        </p:tgtEl>
                                        <p:attrNameLst>
                                          <p:attrName>style.visibility</p:attrName>
                                        </p:attrNameLst>
                                      </p:cBhvr>
                                      <p:to>
                                        <p:strVal val="visible"/>
                                      </p:to>
                                    </p:set>
                                    <p:animEffect filter="fade" transition="in">
                                      <p:cBhvr additive="repl">
                                        <p:cTn id="461" dur="500"/>
                                        <p:tgtEl>
                                          <p:spTgt spid="611"/>
                                        </p:tgtEl>
                                      </p:cBhvr>
                                    </p:animEffect>
                                  </p:childTnLst>
                                </p:cTn>
                              </p:par>
                              <p:par>
                                <p:cTn id="462" nodeType="withEffect" fill="hold" presetClass="entr" presetID="10">
                                  <p:stCondLst>
                                    <p:cond delay="0"/>
                                  </p:stCondLst>
                                  <p:childTnLst>
                                    <p:set>
                                      <p:cBhvr>
                                        <p:cTn id="463" dur="1" fill="hold">
                                          <p:stCondLst>
                                            <p:cond delay="0"/>
                                          </p:stCondLst>
                                        </p:cTn>
                                        <p:tgtEl>
                                          <p:spTgt spid="612"/>
                                        </p:tgtEl>
                                        <p:attrNameLst>
                                          <p:attrName>style.visibility</p:attrName>
                                        </p:attrNameLst>
                                      </p:cBhvr>
                                      <p:to>
                                        <p:strVal val="visible"/>
                                      </p:to>
                                    </p:set>
                                    <p:animEffect filter="fade" transition="in">
                                      <p:cBhvr additive="repl">
                                        <p:cTn id="464" dur="500"/>
                                        <p:tgtEl>
                                          <p:spTgt spid="612"/>
                                        </p:tgtEl>
                                      </p:cBhvr>
                                    </p:animEffect>
                                  </p:childTnLst>
                                </p:cTn>
                              </p:par>
                              <p:par>
                                <p:cTn id="465" nodeType="withEffect" fill="hold" presetClass="entr" presetID="10">
                                  <p:stCondLst>
                                    <p:cond delay="0"/>
                                  </p:stCondLst>
                                  <p:childTnLst>
                                    <p:set>
                                      <p:cBhvr>
                                        <p:cTn id="466" dur="1" fill="hold">
                                          <p:stCondLst>
                                            <p:cond delay="0"/>
                                          </p:stCondLst>
                                        </p:cTn>
                                        <p:tgtEl>
                                          <p:spTgt spid="613"/>
                                        </p:tgtEl>
                                        <p:attrNameLst>
                                          <p:attrName>style.visibility</p:attrName>
                                        </p:attrNameLst>
                                      </p:cBhvr>
                                      <p:to>
                                        <p:strVal val="visible"/>
                                      </p:to>
                                    </p:set>
                                    <p:animEffect filter="fade" transition="in">
                                      <p:cBhvr additive="repl">
                                        <p:cTn id="467" dur="500"/>
                                        <p:tgtEl>
                                          <p:spTgt spid="613"/>
                                        </p:tgtEl>
                                      </p:cBhvr>
                                    </p:animEffect>
                                  </p:childTnLst>
                                </p:cTn>
                              </p:par>
                              <p:par>
                                <p:cTn id="468" nodeType="withEffect" fill="hold" presetClass="entr" presetID="10">
                                  <p:stCondLst>
                                    <p:cond delay="0"/>
                                  </p:stCondLst>
                                  <p:childTnLst>
                                    <p:set>
                                      <p:cBhvr>
                                        <p:cTn id="469" dur="1" fill="hold">
                                          <p:stCondLst>
                                            <p:cond delay="0"/>
                                          </p:stCondLst>
                                        </p:cTn>
                                        <p:tgtEl>
                                          <p:spTgt spid="614"/>
                                        </p:tgtEl>
                                        <p:attrNameLst>
                                          <p:attrName>style.visibility</p:attrName>
                                        </p:attrNameLst>
                                      </p:cBhvr>
                                      <p:to>
                                        <p:strVal val="visible"/>
                                      </p:to>
                                    </p:set>
                                    <p:animEffect filter="fade" transition="in">
                                      <p:cBhvr additive="repl">
                                        <p:cTn id="470" dur="500"/>
                                        <p:tgtEl>
                                          <p:spTgt spid="614"/>
                                        </p:tgtEl>
                                      </p:cBhvr>
                                    </p:animEffect>
                                  </p:childTnLst>
                                </p:cTn>
                              </p:par>
                              <p:par>
                                <p:cTn id="471" nodeType="withEffect" fill="hold" presetClass="entr" presetID="10">
                                  <p:stCondLst>
                                    <p:cond delay="0"/>
                                  </p:stCondLst>
                                  <p:childTnLst>
                                    <p:set>
                                      <p:cBhvr>
                                        <p:cTn id="472" dur="1" fill="hold">
                                          <p:stCondLst>
                                            <p:cond delay="0"/>
                                          </p:stCondLst>
                                        </p:cTn>
                                        <p:tgtEl>
                                          <p:spTgt spid="615"/>
                                        </p:tgtEl>
                                        <p:attrNameLst>
                                          <p:attrName>style.visibility</p:attrName>
                                        </p:attrNameLst>
                                      </p:cBhvr>
                                      <p:to>
                                        <p:strVal val="visible"/>
                                      </p:to>
                                    </p:set>
                                    <p:animEffect filter="fade" transition="in">
                                      <p:cBhvr additive="repl">
                                        <p:cTn id="473"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06 · Limitación del filtro</a:t>
            </a:r>
            <a:endParaRPr b="0" lang="es-CL" sz="1200" strike="noStrike" u="none">
              <a:solidFill>
                <a:srgbClr val="1a1e2b"/>
              </a:solidFill>
              <a:effectLst/>
              <a:uFillTx/>
              <a:latin typeface="Calibri"/>
            </a:endParaRPr>
          </a:p>
        </p:txBody>
      </p:sp>
      <p:sp>
        <p:nvSpPr>
          <p:cNvPr id="625"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Las frases cortas son el punto débil del filtro</a:t>
            </a:r>
            <a:endParaRPr b="0" lang="es-CL" sz="3000" strike="noStrike" u="none">
              <a:solidFill>
                <a:schemeClr val="dk1"/>
              </a:solidFill>
              <a:effectLst/>
              <a:uFillTx/>
              <a:latin typeface="Calibri"/>
            </a:endParaRPr>
          </a:p>
        </p:txBody>
      </p:sp>
      <p:sp>
        <p:nvSpPr>
          <p:cNvPr id="626" name="PlaceHolder 3"/>
          <p:cNvSpPr>
            <a:spLocks noGrp="1"/>
          </p:cNvSpPr>
          <p:nvPr>
            <p:ph/>
          </p:nvPr>
        </p:nvSpPr>
        <p:spPr>
          <a:xfrm>
            <a:off x="7264440" y="1803240"/>
            <a:ext cx="431748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119" strike="noStrike" u="none" cap="all">
                <a:solidFill>
                  <a:srgbClr val="b3261e"/>
                </a:solidFill>
                <a:effectLst/>
                <a:uFillTx/>
                <a:latin typeface="Calibri"/>
              </a:rPr>
              <a:t>Limitación</a:t>
            </a:r>
            <a:endParaRPr b="0" lang="es-CL" sz="1400" strike="noStrike" u="none">
              <a:solidFill>
                <a:srgbClr val="1a1e2b"/>
              </a:solidFill>
              <a:effectLst/>
              <a:uFillTx/>
              <a:latin typeface="Calibri"/>
            </a:endParaRPr>
          </a:p>
        </p:txBody>
      </p:sp>
      <p:sp>
        <p:nvSpPr>
          <p:cNvPr id="627" name="PlaceHolder 4"/>
          <p:cNvSpPr>
            <a:spLocks noGrp="1"/>
          </p:cNvSpPr>
          <p:nvPr>
            <p:ph/>
          </p:nvPr>
        </p:nvSpPr>
        <p:spPr>
          <a:xfrm>
            <a:off x="7264440" y="2158920"/>
            <a:ext cx="4317480" cy="1422000"/>
          </a:xfrm>
          <a:prstGeom prst="rect">
            <a:avLst/>
          </a:prstGeom>
          <a:noFill/>
          <a:ln w="0">
            <a:noFill/>
          </a:ln>
        </p:spPr>
        <p:txBody>
          <a:bodyPr lIns="0" rIns="0" tIns="0" bIns="0" anchor="t">
            <a:noAutofit/>
          </a:bodyPr>
          <a:p>
            <a:pPr indent="0" defTabSz="914400">
              <a:lnSpc>
                <a:spcPct val="95000"/>
              </a:lnSpc>
              <a:spcAft>
                <a:spcPts val="400"/>
              </a:spcAft>
              <a:buNone/>
              <a:tabLst>
                <a:tab algn="l" pos="0"/>
              </a:tabLst>
            </a:pPr>
            <a:r>
              <a:rPr b="1" lang="es-CL" sz="2000" strike="noStrike" u="none">
                <a:solidFill>
                  <a:srgbClr val="1a1e2b"/>
                </a:solidFill>
                <a:effectLst/>
                <a:uFillTx/>
                <a:latin typeface="Calibri"/>
              </a:rPr>
              <a:t>Con frases de tres palabras</a:t>
            </a:r>
            <a:endParaRPr b="0" lang="es-CL" sz="2000" strike="noStrike" u="none">
              <a:solidFill>
                <a:srgbClr val="1a1e2b"/>
              </a:solidFill>
              <a:effectLst/>
              <a:uFillTx/>
              <a:latin typeface="Calibri"/>
            </a:endParaRPr>
          </a:p>
          <a:p>
            <a:pPr indent="0" defTabSz="914400">
              <a:lnSpc>
                <a:spcPct val="95000"/>
              </a:lnSpc>
              <a:buNone/>
              <a:tabLst>
                <a:tab algn="l" pos="0"/>
              </a:tabLst>
            </a:pPr>
            <a:r>
              <a:rPr b="1" lang="es-CL" sz="3200" strike="noStrike" u="none">
                <a:solidFill>
                  <a:srgbClr val="1a1e2b"/>
                </a:solidFill>
                <a:effectLst/>
                <a:uFillTx/>
                <a:latin typeface="Calibri"/>
              </a:rPr>
              <a:t>42,1 %</a:t>
            </a:r>
            <a:r>
              <a:rPr b="0" lang="es-CL" sz="2800" strike="noStrike" u="none">
                <a:solidFill>
                  <a:srgbClr val="5f6670"/>
                </a:solidFill>
                <a:effectLst/>
                <a:uFillTx/>
                <a:latin typeface="Calibri"/>
              </a:rPr>
              <a:t>  →  </a:t>
            </a:r>
            <a:r>
              <a:rPr b="1" lang="es-CL" sz="3200" strike="noStrike" u="none">
                <a:solidFill>
                  <a:srgbClr val="b3261e"/>
                </a:solidFill>
                <a:effectLst/>
                <a:uFillTx/>
                <a:latin typeface="Calibri"/>
              </a:rPr>
              <a:t>2,0 %</a:t>
            </a:r>
            <a:endParaRPr b="0" lang="es-CL" sz="3200" strike="noStrike" u="none">
              <a:solidFill>
                <a:srgbClr val="1a1e2b"/>
              </a:solidFill>
              <a:effectLst/>
              <a:uFillTx/>
              <a:latin typeface="Calibri"/>
            </a:endParaRPr>
          </a:p>
          <a:p>
            <a:pPr indent="0" defTabSz="914400">
              <a:lnSpc>
                <a:spcPct val="95000"/>
              </a:lnSpc>
              <a:buNone/>
              <a:tabLst>
                <a:tab algn="l" pos="0"/>
              </a:tabLst>
            </a:pPr>
            <a:r>
              <a:rPr b="0" lang="es-CL" sz="1400" strike="noStrike" u="none">
                <a:solidFill>
                  <a:srgbClr val="5f6670"/>
                </a:solidFill>
                <a:effectLst/>
                <a:uFillTx/>
                <a:latin typeface="Calibri"/>
              </a:rPr>
              <a:t>solo coeficiente  →  filtro completo</a:t>
            </a:r>
            <a:endParaRPr b="0" lang="es-CL" sz="1400" strike="noStrike" u="none">
              <a:solidFill>
                <a:srgbClr val="1a1e2b"/>
              </a:solidFill>
              <a:effectLst/>
              <a:uFillTx/>
              <a:latin typeface="Calibri"/>
            </a:endParaRPr>
          </a:p>
        </p:txBody>
      </p:sp>
      <p:sp>
        <p:nvSpPr>
          <p:cNvPr id="628" name="PlaceHolder 5"/>
          <p:cNvSpPr>
            <a:spLocks noGrp="1"/>
          </p:cNvSpPr>
          <p:nvPr>
            <p:ph/>
          </p:nvPr>
        </p:nvSpPr>
        <p:spPr>
          <a:xfrm>
            <a:off x="7264440" y="3683160"/>
            <a:ext cx="4317480" cy="558360"/>
          </a:xfrm>
          <a:prstGeom prst="rect">
            <a:avLst/>
          </a:prstGeom>
          <a:noFill/>
          <a:ln w="0">
            <a:noFill/>
          </a:ln>
        </p:spPr>
        <p:txBody>
          <a:bodyPr lIns="0" rIns="0" tIns="0" bIns="0" anchor="t">
            <a:noAutofit/>
          </a:bodyPr>
          <a:p>
            <a:pPr indent="0" defTabSz="914400">
              <a:lnSpc>
                <a:spcPct val="105000"/>
              </a:lnSpc>
              <a:spcAft>
                <a:spcPts val="799"/>
              </a:spcAft>
              <a:buNone/>
              <a:tabLst>
                <a:tab algn="l" pos="0"/>
              </a:tabLst>
            </a:pPr>
            <a:r>
              <a:rPr b="1" lang="es-CL" sz="1600" strike="noStrike" u="none">
                <a:solidFill>
                  <a:srgbClr val="1a1e2b"/>
                </a:solidFill>
                <a:effectLst/>
                <a:uFillTx/>
                <a:latin typeface="Calibri"/>
              </a:rPr>
              <a:t>Calibrado con un solo par de control. </a:t>
            </a:r>
            <a:r>
              <a:rPr b="0" lang="es-CL" sz="1600" strike="noStrike" u="none">
                <a:solidFill>
                  <a:srgbClr val="1a1e2b"/>
                </a:solidFill>
                <a:effectLst/>
                <a:uFillTx/>
                <a:latin typeface="Calibri"/>
              </a:rPr>
              <a:t>Como mucho 92 relaciones; puede haber otras fuera del filtro.</a:t>
            </a:r>
            <a:endParaRPr b="0" lang="es-CL" sz="1600" strike="noStrike" u="none">
              <a:solidFill>
                <a:srgbClr val="1a1e2b"/>
              </a:solidFill>
              <a:effectLst/>
              <a:uFillTx/>
              <a:latin typeface="Calibri"/>
            </a:endParaRPr>
          </a:p>
        </p:txBody>
      </p:sp>
      <p:sp>
        <p:nvSpPr>
          <p:cNvPr id="629" name="PlaceHolder 6"/>
          <p:cNvSpPr>
            <a:spLocks noGrp="1"/>
          </p:cNvSpPr>
          <p:nvPr>
            <p:ph/>
          </p:nvPr>
        </p:nvSpPr>
        <p:spPr>
          <a:xfrm>
            <a:off x="609480" y="6070680"/>
            <a:ext cx="5994000" cy="253800"/>
          </a:xfrm>
          <a:prstGeom prst="rect">
            <a:avLst/>
          </a:prstGeom>
          <a:noFill/>
          <a:ln w="0">
            <a:noFill/>
          </a:ln>
        </p:spPr>
        <p:txBody>
          <a:bodyPr lIns="0" rIns="0" tIns="0" bIns="0" anchor="t">
            <a:noAutofit/>
          </a:bodyPr>
          <a:p>
            <a:pPr indent="0" defTabSz="914400">
              <a:lnSpc>
                <a:spcPct val="95000"/>
              </a:lnSpc>
              <a:buNone/>
              <a:tabLst>
                <a:tab algn="l" pos="0"/>
              </a:tabLst>
            </a:pPr>
            <a:r>
              <a:rPr b="0" lang="es-CL" sz="1100" strike="noStrike" u="none">
                <a:solidFill>
                  <a:srgbClr val="5f6670"/>
                </a:solidFill>
                <a:effectLst/>
                <a:uFillTx/>
                <a:latin typeface="Calibri"/>
              </a:rPr>
              <a:t>Fuente: EDA de AFG2 (figura 5 del notebook 11). Desde cuatro palabras, ambos criterios coinciden.</a:t>
            </a:r>
            <a:endParaRPr b="0" lang="es-CL" sz="1100" strike="noStrike" u="none">
              <a:solidFill>
                <a:srgbClr val="1a1e2b"/>
              </a:solidFill>
              <a:effectLst/>
              <a:uFillTx/>
              <a:latin typeface="Calibri"/>
            </a:endParaRPr>
          </a:p>
        </p:txBody>
      </p:sp>
      <p:pic>
        <p:nvPicPr>
          <p:cNvPr id="630"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sp>
        <p:nvSpPr>
          <p:cNvPr id="631" name="Etiqueta gráfico"/>
          <p:cNvSpPr/>
          <p:nvPr/>
        </p:nvSpPr>
        <p:spPr>
          <a:xfrm>
            <a:off x="609480" y="1752480"/>
            <a:ext cx="599400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5f6670"/>
                </a:solidFill>
                <a:effectLst/>
                <a:uFillTx/>
                <a:latin typeface="Calibri"/>
              </a:rPr>
              <a:t>Pares que pasan, según palabras de la frase más corta, %</a:t>
            </a:r>
            <a:endParaRPr b="0" lang="en-US" sz="1400" strike="noStrike" u="none">
              <a:solidFill>
                <a:srgbClr val="000000"/>
              </a:solidFill>
              <a:effectLst/>
              <a:uFillTx/>
              <a:latin typeface="Arial"/>
            </a:endParaRPr>
          </a:p>
        </p:txBody>
      </p:sp>
      <p:sp>
        <p:nvSpPr>
          <p:cNvPr id="632"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3"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4"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5"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6" name="Progreso 5"/>
          <p:cNvSpPr/>
          <p:nvPr/>
        </p:nvSpPr>
        <p:spPr>
          <a:xfrm>
            <a:off x="1087740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7" name="Progreso 6"/>
          <p:cNvSpPr/>
          <p:nvPr/>
        </p:nvSpPr>
        <p:spPr>
          <a:xfrm>
            <a:off x="1106316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8" name="Progreso 7"/>
          <p:cNvSpPr/>
          <p:nvPr/>
        </p:nvSpPr>
        <p:spPr>
          <a:xfrm>
            <a:off x="1124892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39"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pic>
        <p:nvPicPr>
          <p:cNvPr id="640" name="Picture 710" descr="filter_length_right.png"/>
          <p:cNvPicPr/>
          <p:nvPr/>
        </p:nvPicPr>
        <p:blipFill>
          <a:blip r:embed="rId4"/>
          <a:stretch/>
        </p:blipFill>
        <p:spPr>
          <a:xfrm>
            <a:off x="729360" y="1938600"/>
            <a:ext cx="5764680" cy="3931560"/>
          </a:xfrm>
          <a:prstGeom prst="rect">
            <a:avLst/>
          </a:prstGeom>
          <a:noFill/>
          <a:ln w="0">
            <a:noFill/>
          </a:ln>
        </p:spPr>
      </p:pic>
    </p:spTree>
  </p:cSld>
  <p:transition spd="med" advTm="45000">
    <p:fade/>
  </p:transition>
  <p:timing>
    <p:tnLst>
      <p:par>
        <p:cTn id="474" dur="indefinite" restart="never" nodeType="tmRoot">
          <p:childTnLst>
            <p:seq>
              <p:cTn id="475" dur="indefinite" nodeType="mainSeq">
                <p:childTnLst>
                  <p:par>
                    <p:cTn id="476" fill="hold">
                      <p:stCondLst>
                        <p:cond delay="indefinite"/>
                      </p:stCondLst>
                      <p:childTnLst>
                        <p:par>
                          <p:cTn id="477" fill="hold">
                            <p:stCondLst>
                              <p:cond delay="0"/>
                            </p:stCondLst>
                            <p:childTnLst>
                              <p:par>
                                <p:cTn id="478" nodeType="clickEffect" fill="hold" presetClass="entr" presetID="10">
                                  <p:stCondLst>
                                    <p:cond delay="0"/>
                                  </p:stCondLst>
                                  <p:childTnLst>
                                    <p:set>
                                      <p:cBhvr>
                                        <p:cTn id="479" dur="1" fill="hold">
                                          <p:stCondLst>
                                            <p:cond delay="0"/>
                                          </p:stCondLst>
                                        </p:cTn>
                                        <p:tgtEl>
                                          <p:spTgt spid="626"/>
                                        </p:tgtEl>
                                        <p:attrNameLst>
                                          <p:attrName>style.visibility</p:attrName>
                                        </p:attrNameLst>
                                      </p:cBhvr>
                                      <p:to>
                                        <p:strVal val="visible"/>
                                      </p:to>
                                    </p:set>
                                    <p:animEffect filter="fade" transition="in">
                                      <p:cBhvr additive="repl">
                                        <p:cTn id="480" dur="500"/>
                                        <p:tgtEl>
                                          <p:spTgt spid="626"/>
                                        </p:tgtEl>
                                      </p:cBhvr>
                                    </p:animEffect>
                                  </p:childTnLst>
                                </p:cTn>
                              </p:par>
                              <p:par>
                                <p:cTn id="481" nodeType="withEffect" fill="hold" presetClass="entr" presetID="10">
                                  <p:stCondLst>
                                    <p:cond delay="0"/>
                                  </p:stCondLst>
                                  <p:childTnLst>
                                    <p:set>
                                      <p:cBhvr>
                                        <p:cTn id="482" dur="1" fill="hold">
                                          <p:stCondLst>
                                            <p:cond delay="0"/>
                                          </p:stCondLst>
                                        </p:cTn>
                                        <p:tgtEl>
                                          <p:spTgt spid="627"/>
                                        </p:tgtEl>
                                        <p:attrNameLst>
                                          <p:attrName>style.visibility</p:attrName>
                                        </p:attrNameLst>
                                      </p:cBhvr>
                                      <p:to>
                                        <p:strVal val="visible"/>
                                      </p:to>
                                    </p:set>
                                    <p:animEffect filter="fade" transition="in">
                                      <p:cBhvr additive="repl">
                                        <p:cTn id="483" dur="500"/>
                                        <p:tgtEl>
                                          <p:spTgt spid="627"/>
                                        </p:tgtEl>
                                      </p:cBhvr>
                                    </p:animEffect>
                                  </p:childTnLst>
                                </p:cTn>
                              </p:par>
                            </p:childTnLst>
                          </p:cTn>
                        </p:par>
                      </p:childTnLst>
                    </p:cTn>
                  </p:par>
                  <p:par>
                    <p:cTn id="484" fill="hold">
                      <p:stCondLst>
                        <p:cond delay="indefinite"/>
                      </p:stCondLst>
                      <p:childTnLst>
                        <p:par>
                          <p:cTn id="485" fill="hold">
                            <p:stCondLst>
                              <p:cond delay="0"/>
                            </p:stCondLst>
                            <p:childTnLst>
                              <p:par>
                                <p:cTn id="486" nodeType="clickEffect" fill="hold" presetClass="entr" presetID="10">
                                  <p:stCondLst>
                                    <p:cond delay="0"/>
                                  </p:stCondLst>
                                  <p:childTnLst>
                                    <p:set>
                                      <p:cBhvr>
                                        <p:cTn id="487" dur="1" fill="hold">
                                          <p:stCondLst>
                                            <p:cond delay="0"/>
                                          </p:stCondLst>
                                        </p:cTn>
                                        <p:tgtEl>
                                          <p:spTgt spid="628"/>
                                        </p:tgtEl>
                                        <p:attrNameLst>
                                          <p:attrName>style.visibility</p:attrName>
                                        </p:attrNameLst>
                                      </p:cBhvr>
                                      <p:to>
                                        <p:strVal val="visible"/>
                                      </p:to>
                                    </p:set>
                                    <p:animEffect filter="fade" transition="in">
                                      <p:cBhvr additive="repl">
                                        <p:cTn id="488" dur="5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p:nvPr>
        </p:nvSpPr>
        <p:spPr>
          <a:xfrm>
            <a:off x="609480" y="1219320"/>
            <a:ext cx="3352320" cy="1218960"/>
          </a:xfrm>
          <a:prstGeom prst="rect">
            <a:avLst/>
          </a:prstGeom>
          <a:noFill/>
          <a:ln w="0">
            <a:noFill/>
          </a:ln>
        </p:spPr>
        <p:txBody>
          <a:bodyPr lIns="0" rIns="0" tIns="0" bIns="0" anchor="b">
            <a:noAutofit/>
          </a:bodyPr>
          <a:p>
            <a:pPr indent="0" defTabSz="914400">
              <a:lnSpc>
                <a:spcPct val="85000"/>
              </a:lnSpc>
              <a:buNone/>
              <a:tabLst>
                <a:tab algn="l" pos="0"/>
              </a:tabLst>
            </a:pPr>
            <a:r>
              <a:rPr b="1" lang="es-CL" sz="7200" strike="noStrike" u="none">
                <a:solidFill>
                  <a:srgbClr val="fec60d"/>
                </a:solidFill>
                <a:effectLst/>
                <a:uFillTx/>
                <a:latin typeface="Calibri"/>
              </a:rPr>
              <a:t>07</a:t>
            </a:r>
            <a:endParaRPr b="0" lang="es-CL" sz="7200" strike="noStrike" u="none">
              <a:solidFill>
                <a:srgbClr val="1a1e2b"/>
              </a:solidFill>
              <a:effectLst/>
              <a:uFillTx/>
              <a:latin typeface="Calibri"/>
            </a:endParaRPr>
          </a:p>
        </p:txBody>
      </p:sp>
      <p:sp>
        <p:nvSpPr>
          <p:cNvPr id="642" name="PlaceHolder 2"/>
          <p:cNvSpPr>
            <a:spLocks noGrp="1"/>
          </p:cNvSpPr>
          <p:nvPr>
            <p:ph type="title"/>
          </p:nvPr>
        </p:nvSpPr>
        <p:spPr>
          <a:xfrm>
            <a:off x="609480" y="2793960"/>
            <a:ext cx="3352320" cy="13204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Ventana de contexto</a:t>
            </a:r>
            <a:endParaRPr b="0" lang="es-CL" sz="3200" strike="noStrike" u="none">
              <a:solidFill>
                <a:schemeClr val="dk1"/>
              </a:solidFill>
              <a:effectLst/>
              <a:uFillTx/>
              <a:latin typeface="Calibri"/>
            </a:endParaRPr>
          </a:p>
        </p:txBody>
      </p:sp>
      <p:sp>
        <p:nvSpPr>
          <p:cNvPr id="643" name="PlaceHolder 3"/>
          <p:cNvSpPr>
            <a:spLocks noGrp="1"/>
          </p:cNvSpPr>
          <p:nvPr>
            <p:ph/>
          </p:nvPr>
        </p:nvSpPr>
        <p:spPr>
          <a:xfrm>
            <a:off x="609480" y="4191120"/>
            <a:ext cx="3352320" cy="914040"/>
          </a:xfrm>
          <a:prstGeom prst="rect">
            <a:avLst/>
          </a:prstGeom>
          <a:noFill/>
          <a:ln w="0">
            <a:noFill/>
          </a:ln>
        </p:spPr>
        <p:txBody>
          <a:bodyPr lIns="0" rIns="0" tIns="0" bIns="0" anchor="t">
            <a:noAutofit/>
          </a:bodyPr>
          <a:p>
            <a:pPr indent="0" defTabSz="914400">
              <a:lnSpc>
                <a:spcPct val="95000"/>
              </a:lnSpc>
              <a:buNone/>
              <a:tabLst>
                <a:tab algn="l" pos="0"/>
              </a:tabLst>
            </a:pPr>
            <a:r>
              <a:rPr b="0" lang="es-CL" sz="1800" strike="noStrike" u="none">
                <a:solidFill>
                  <a:srgbClr val="c9d3e0"/>
                </a:solidFill>
                <a:effectLst/>
                <a:uFillTx/>
                <a:latin typeface="Calibri"/>
              </a:rPr>
              <a:t>Cuánto texto entra de una vez en la ventana del modelo</a:t>
            </a:r>
            <a:endParaRPr b="0" lang="es-CL" sz="1800" strike="noStrike" u="none">
              <a:solidFill>
                <a:srgbClr val="1a1e2b"/>
              </a:solidFill>
              <a:effectLst/>
              <a:uFillTx/>
              <a:latin typeface="Calibri"/>
            </a:endParaRPr>
          </a:p>
        </p:txBody>
      </p:sp>
      <p:pic>
        <p:nvPicPr>
          <p:cNvPr id="644" name="" descr="">
            <a:hlinkClick r:id="" action="ppaction://media"/>
          </p:cNvPr>
          <p:cNvPicPr/>
          <p:nvPr>
            <a:videoFile r:link="rId1"/>
            <p:extLst>
              <p:ext uri="{DAA4B4D4-6D71-4841-9C94-3DE7FCFB9230}">
                <p14:media r:link="rId2"/>
              </p:ext>
            </p:extLst>
          </p:nvPr>
        </p:nvPicPr>
        <p:blipFill>
          <a:blip r:embed="rId3"/>
          <a:stretch>
            <a:fillRect/>
          </a:stretch>
        </p:blipFill>
        <p:spPr>
          <a:xfrm>
            <a:off x="4267080" y="1219320"/>
            <a:ext cx="7314840" cy="4114440"/>
          </a:xfrm>
          <a:prstGeom prst="rect">
            <a:avLst/>
          </a:prstGeom>
          <a:ln w="0">
            <a:noFill/>
          </a:ln>
        </p:spPr>
      </p:pic>
      <p:sp>
        <p:nvSpPr>
          <p:cNvPr id="645" name="PlaceHolder 4"/>
          <p:cNvSpPr>
            <a:spLocks noGrp="1"/>
          </p:cNvSpPr>
          <p:nvPr>
            <p:ph/>
          </p:nvPr>
        </p:nvSpPr>
        <p:spPr>
          <a:xfrm>
            <a:off x="4267080" y="5511960"/>
            <a:ext cx="73148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trike="noStrike" u="none">
                <a:solidFill>
                  <a:srgbClr val="c9d3e0"/>
                </a:solidFill>
                <a:effectLst/>
                <a:uFillTx/>
                <a:latin typeface="Calibri"/>
              </a:rPr>
              <a:t>Jason Sepúlveda</a:t>
            </a:r>
            <a:endParaRPr b="0" lang="es-CL" sz="1400" strike="noStrike" u="none">
              <a:solidFill>
                <a:srgbClr val="1a1e2b"/>
              </a:solidFill>
              <a:effectLst/>
              <a:uFillTx/>
              <a:latin typeface="Calibri"/>
            </a:endParaRPr>
          </a:p>
        </p:txBody>
      </p:sp>
      <p:sp>
        <p:nvSpPr>
          <p:cNvPr id="646" name="Progreso etiqueta"/>
          <p:cNvSpPr/>
          <p:nvPr/>
        </p:nvSpPr>
        <p:spPr>
          <a:xfrm>
            <a:off x="609480" y="5435640"/>
            <a:ext cx="3352320" cy="168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s-CL" sz="1100" strike="noStrike" u="none">
                <a:solidFill>
                  <a:srgbClr val="9aa6b8"/>
                </a:solidFill>
                <a:effectLst/>
                <a:uFillTx/>
                <a:latin typeface="Calibri"/>
              </a:rPr>
              <a:t>SECCIÓN 07 DE 08</a:t>
            </a:r>
            <a:endParaRPr b="0" lang="en-US" sz="1100" strike="noStrike" u="none">
              <a:solidFill>
                <a:srgbClr val="ffffff"/>
              </a:solidFill>
              <a:effectLst/>
              <a:uFillTx/>
              <a:latin typeface="Arial"/>
            </a:endParaRPr>
          </a:p>
        </p:txBody>
      </p:sp>
      <p:sp>
        <p:nvSpPr>
          <p:cNvPr id="647" name="Progreso 1"/>
          <p:cNvSpPr/>
          <p:nvPr/>
        </p:nvSpPr>
        <p:spPr>
          <a:xfrm>
            <a:off x="60948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48" name="Progreso 2"/>
          <p:cNvSpPr/>
          <p:nvPr/>
        </p:nvSpPr>
        <p:spPr>
          <a:xfrm>
            <a:off x="103500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49" name="Progreso 3"/>
          <p:cNvSpPr/>
          <p:nvPr/>
        </p:nvSpPr>
        <p:spPr>
          <a:xfrm>
            <a:off x="146052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50" name="Progreso 4"/>
          <p:cNvSpPr/>
          <p:nvPr/>
        </p:nvSpPr>
        <p:spPr>
          <a:xfrm>
            <a:off x="188604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51" name="Progreso 5"/>
          <p:cNvSpPr/>
          <p:nvPr/>
        </p:nvSpPr>
        <p:spPr>
          <a:xfrm>
            <a:off x="231156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52" name="Progreso 6"/>
          <p:cNvSpPr/>
          <p:nvPr/>
        </p:nvSpPr>
        <p:spPr>
          <a:xfrm>
            <a:off x="2736720" y="5740560"/>
            <a:ext cx="374400" cy="50400"/>
          </a:xfrm>
          <a:prstGeom prst="rect">
            <a:avLst/>
          </a:prstGeom>
          <a:solidFill>
            <a:srgbClr val="c9d3e0"/>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53" name="Progreso 7"/>
          <p:cNvSpPr/>
          <p:nvPr/>
        </p:nvSpPr>
        <p:spPr>
          <a:xfrm>
            <a:off x="3162240" y="5740560"/>
            <a:ext cx="374400" cy="50400"/>
          </a:xfrm>
          <a:prstGeom prst="rect">
            <a:avLst/>
          </a:prstGeom>
          <a:solidFill>
            <a:srgbClr val="fec60d"/>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
        <p:nvSpPr>
          <p:cNvPr id="654" name="Progreso 8"/>
          <p:cNvSpPr/>
          <p:nvPr/>
        </p:nvSpPr>
        <p:spPr>
          <a:xfrm>
            <a:off x="3587760" y="5740560"/>
            <a:ext cx="374400" cy="50400"/>
          </a:xfrm>
          <a:prstGeom prst="rect">
            <a:avLst/>
          </a:prstGeom>
          <a:solidFill>
            <a:srgbClr val="3a4256"/>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5760" bIns="576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6000">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07 · Ventana de contexto</a:t>
            </a:r>
            <a:endParaRPr b="0" lang="es-CL" sz="1200" strike="noStrike" u="none">
              <a:solidFill>
                <a:srgbClr val="1a1e2b"/>
              </a:solidFill>
              <a:effectLst/>
              <a:uFillTx/>
              <a:latin typeface="Calibri"/>
            </a:endParaRPr>
          </a:p>
        </p:txBody>
      </p:sp>
      <p:sp>
        <p:nvSpPr>
          <p:cNvPr id="656"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Cabe una reunión, pero no cabe una serie completa</a:t>
            </a:r>
            <a:endParaRPr b="0" lang="es-CL" sz="3000" strike="noStrike" u="none">
              <a:solidFill>
                <a:schemeClr val="dk1"/>
              </a:solidFill>
              <a:effectLst/>
              <a:uFillTx/>
              <a:latin typeface="Calibri"/>
            </a:endParaRPr>
          </a:p>
        </p:txBody>
      </p:sp>
      <p:sp>
        <p:nvSpPr>
          <p:cNvPr id="657" name="PlaceHolder 3"/>
          <p:cNvSpPr>
            <a:spLocks noGrp="1"/>
          </p:cNvSpPr>
          <p:nvPr>
            <p:ph/>
          </p:nvPr>
        </p:nvSpPr>
        <p:spPr>
          <a:xfrm>
            <a:off x="609480" y="5816520"/>
            <a:ext cx="10972440" cy="431280"/>
          </a:xfrm>
          <a:prstGeom prst="rect">
            <a:avLst/>
          </a:prstGeom>
          <a:noFill/>
          <a:ln w="0">
            <a:noFill/>
          </a:ln>
        </p:spPr>
        <p:txBody>
          <a:bodyPr lIns="0" rIns="0" tIns="0" bIns="0" anchor="b">
            <a:noAutofit/>
          </a:bodyPr>
          <a:p>
            <a:pPr indent="0" defTabSz="914400">
              <a:lnSpc>
                <a:spcPct val="95000"/>
              </a:lnSpc>
              <a:buNone/>
              <a:tabLst>
                <a:tab algn="l" pos="0"/>
              </a:tabLst>
            </a:pPr>
            <a:r>
              <a:rPr b="0" lang="es-CL" sz="1600" strike="noStrike" u="none">
                <a:solidFill>
                  <a:srgbClr val="5f6670"/>
                </a:solidFill>
                <a:effectLst/>
                <a:uFillTx/>
                <a:latin typeface="Calibri"/>
              </a:rPr>
              <a:t>Cada reunión cabe por separado; ninguna serie completa cabe: cada una equivale a ≈1,6–2,8 veces la ventana.</a:t>
            </a:r>
            <a:endParaRPr b="0" lang="es-CL" sz="1600" strike="noStrike" u="none">
              <a:solidFill>
                <a:srgbClr val="1a1e2b"/>
              </a:solidFill>
              <a:effectLst/>
              <a:uFillTx/>
              <a:latin typeface="Calibri"/>
            </a:endParaRPr>
          </a:p>
        </p:txBody>
      </p:sp>
      <p:pic>
        <p:nvPicPr>
          <p:cNvPr id="658"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sp>
        <p:nvSpPr>
          <p:cNvPr id="659" name="Ventana 201"/>
          <p:cNvSpPr/>
          <p:nvPr/>
        </p:nvSpPr>
        <p:spPr>
          <a:xfrm>
            <a:off x="3301920" y="2260440"/>
            <a:ext cx="2920680" cy="2997000"/>
          </a:xfrm>
          <a:prstGeom prst="rect">
            <a:avLst/>
          </a:prstGeom>
          <a:solidFill>
            <a:srgbClr val="e6f1fc"/>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660" name="Límite ventana 202"/>
          <p:cNvSpPr/>
          <p:nvPr/>
        </p:nvSpPr>
        <p:spPr>
          <a:xfrm>
            <a:off x="6210360" y="2158920"/>
            <a:ext cx="25200" cy="3200040"/>
          </a:xfrm>
          <a:prstGeom prst="rect">
            <a:avLst/>
          </a:prstGeom>
          <a:solidFill>
            <a:srgbClr val="0176de"/>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661" name="Forma 203"/>
          <p:cNvSpPr/>
          <p:nvPr/>
        </p:nvSpPr>
        <p:spPr>
          <a:xfrm>
            <a:off x="3301920" y="1854360"/>
            <a:ext cx="7619760" cy="279000"/>
          </a:xfrm>
          <a:prstGeom prst="rect">
            <a:avLst/>
          </a:prstGeom>
          <a:noFill/>
          <a:ln w="0">
            <a:noFill/>
          </a:ln>
        </p:spPr>
        <p:style>
          <a:lnRef idx="0"/>
          <a:fillRef idx="0"/>
          <a:effectRef idx="0"/>
          <a:fontRef idx="minor"/>
        </p:style>
        <p:txBody>
          <a:bodyPr lIns="0" rIns="0" tIns="0" bIns="0" anchor="b">
            <a:noAutofit/>
          </a:bodyPr>
          <a:p>
            <a:pPr defTabSz="914400">
              <a:lnSpc>
                <a:spcPct val="100000"/>
              </a:lnSpc>
            </a:pPr>
            <a:r>
              <a:rPr b="1" lang="es-CL" sz="1600" strike="noStrike" u="none">
                <a:solidFill>
                  <a:srgbClr val="0176de"/>
                </a:solidFill>
                <a:effectLst/>
                <a:uFillTx/>
                <a:latin typeface="Calibri"/>
              </a:rPr>
              <a:t>Ventana: 12.288 tokens ≈ 9.452 palabras</a:t>
            </a:r>
            <a:endParaRPr b="0" lang="en-US" sz="1600" strike="noStrike" u="none">
              <a:solidFill>
                <a:srgbClr val="000000"/>
              </a:solidFill>
              <a:effectLst/>
              <a:uFillTx/>
              <a:latin typeface="Arial"/>
            </a:endParaRPr>
          </a:p>
        </p:txBody>
      </p:sp>
      <p:sp>
        <p:nvSpPr>
          <p:cNvPr id="662" name="Forma 204"/>
          <p:cNvSpPr/>
          <p:nvPr/>
        </p:nvSpPr>
        <p:spPr>
          <a:xfrm>
            <a:off x="609480" y="2489040"/>
            <a:ext cx="2539800" cy="279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600" strike="noStrike" u="none">
                <a:solidFill>
                  <a:srgbClr val="1a1e2b"/>
                </a:solidFill>
                <a:effectLst/>
                <a:uFillTx/>
                <a:latin typeface="Calibri"/>
              </a:rPr>
              <a:t>Reunión más grande</a:t>
            </a:r>
            <a:endParaRPr b="0" lang="en-US" sz="1600" strike="noStrike" u="none">
              <a:solidFill>
                <a:srgbClr val="000000"/>
              </a:solidFill>
              <a:effectLst/>
              <a:uFillTx/>
              <a:latin typeface="Arial"/>
            </a:endParaRPr>
          </a:p>
        </p:txBody>
      </p:sp>
      <p:sp>
        <p:nvSpPr>
          <p:cNvPr id="663" name="Forma 205"/>
          <p:cNvSpPr/>
          <p:nvPr/>
        </p:nvSpPr>
        <p:spPr>
          <a:xfrm>
            <a:off x="609480" y="2793960"/>
            <a:ext cx="253980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0176de"/>
                </a:solidFill>
                <a:effectLst/>
                <a:uFillTx/>
                <a:latin typeface="Calibri"/>
              </a:rPr>
              <a:t>Cabe</a:t>
            </a:r>
            <a:endParaRPr b="0" lang="en-US" sz="1400" strike="noStrike" u="none">
              <a:solidFill>
                <a:srgbClr val="000000"/>
              </a:solidFill>
              <a:effectLst/>
              <a:uFillTx/>
              <a:latin typeface="Arial"/>
            </a:endParaRPr>
          </a:p>
        </p:txBody>
      </p:sp>
      <p:sp>
        <p:nvSpPr>
          <p:cNvPr id="664" name="Forma 206"/>
          <p:cNvSpPr/>
          <p:nvPr/>
        </p:nvSpPr>
        <p:spPr>
          <a:xfrm>
            <a:off x="3301920" y="2540160"/>
            <a:ext cx="2815560" cy="456840"/>
          </a:xfrm>
          <a:prstGeom prst="rect">
            <a:avLst/>
          </a:prstGeom>
          <a:solidFill>
            <a:srgbClr val="1a1e2b"/>
          </a:solidFill>
          <a:ln w="0">
            <a:noFill/>
          </a:ln>
        </p:spPr>
        <p:style>
          <a:lnRef idx="0"/>
          <a:fillRef idx="0"/>
          <a:effectRef idx="0"/>
          <a:fontRef idx="minor"/>
        </p:style>
        <p:txBody>
          <a:bodyPr lIns="127080" rIns="127080" tIns="0" bIns="0" anchor="ctr">
            <a:noAutofit/>
          </a:bodyPr>
          <a:p>
            <a:pPr algn="r" defTabSz="914400">
              <a:lnSpc>
                <a:spcPct val="100000"/>
              </a:lnSpc>
            </a:pPr>
            <a:r>
              <a:rPr b="1" lang="es-CL" sz="1600" strike="noStrike" u="none">
                <a:solidFill>
                  <a:srgbClr val="ffffff"/>
                </a:solidFill>
                <a:effectLst/>
                <a:uFillTx/>
                <a:latin typeface="Calibri"/>
              </a:rPr>
              <a:t>96,4 %</a:t>
            </a:r>
            <a:endParaRPr b="0" lang="en-US" sz="1600" strike="noStrike" u="none">
              <a:solidFill>
                <a:srgbClr val="ffffff"/>
              </a:solidFill>
              <a:effectLst/>
              <a:uFillTx/>
              <a:latin typeface="Arial"/>
            </a:endParaRPr>
          </a:p>
        </p:txBody>
      </p:sp>
      <p:sp>
        <p:nvSpPr>
          <p:cNvPr id="665" name="Forma 207"/>
          <p:cNvSpPr/>
          <p:nvPr/>
        </p:nvSpPr>
        <p:spPr>
          <a:xfrm>
            <a:off x="609480" y="3403440"/>
            <a:ext cx="2539800" cy="279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600" strike="noStrike" u="none">
                <a:solidFill>
                  <a:srgbClr val="1a1e2b"/>
                </a:solidFill>
                <a:effectLst/>
                <a:uFillTx/>
                <a:latin typeface="Calibri"/>
              </a:rPr>
              <a:t>Serie más breve</a:t>
            </a:r>
            <a:endParaRPr b="0" lang="en-US" sz="1600" strike="noStrike" u="none">
              <a:solidFill>
                <a:srgbClr val="000000"/>
              </a:solidFill>
              <a:effectLst/>
              <a:uFillTx/>
              <a:latin typeface="Arial"/>
            </a:endParaRPr>
          </a:p>
        </p:txBody>
      </p:sp>
      <p:sp>
        <p:nvSpPr>
          <p:cNvPr id="666" name="Forma 208"/>
          <p:cNvSpPr/>
          <p:nvPr/>
        </p:nvSpPr>
        <p:spPr>
          <a:xfrm>
            <a:off x="609480" y="3708360"/>
            <a:ext cx="253980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b3261e"/>
                </a:solidFill>
                <a:effectLst/>
                <a:uFillTx/>
                <a:latin typeface="Calibri"/>
              </a:rPr>
              <a:t>No cabe</a:t>
            </a:r>
            <a:endParaRPr b="0" lang="en-US" sz="1400" strike="noStrike" u="none">
              <a:solidFill>
                <a:srgbClr val="000000"/>
              </a:solidFill>
              <a:effectLst/>
              <a:uFillTx/>
              <a:latin typeface="Arial"/>
            </a:endParaRPr>
          </a:p>
        </p:txBody>
      </p:sp>
      <p:sp>
        <p:nvSpPr>
          <p:cNvPr id="667" name="Forma 209"/>
          <p:cNvSpPr/>
          <p:nvPr/>
        </p:nvSpPr>
        <p:spPr>
          <a:xfrm>
            <a:off x="3301920" y="3454560"/>
            <a:ext cx="2920680" cy="456840"/>
          </a:xfrm>
          <a:prstGeom prst="rect">
            <a:avLst/>
          </a:prstGeom>
          <a:solidFill>
            <a:srgbClr val="1a1e2b"/>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668" name="Forma 210"/>
          <p:cNvSpPr/>
          <p:nvPr/>
        </p:nvSpPr>
        <p:spPr>
          <a:xfrm>
            <a:off x="6222960" y="3454560"/>
            <a:ext cx="1752120" cy="456840"/>
          </a:xfrm>
          <a:prstGeom prst="rect">
            <a:avLst/>
          </a:prstGeom>
          <a:solidFill>
            <a:srgbClr val="f9d5d6"/>
          </a:solidFill>
          <a:ln w="12700">
            <a:solidFill>
              <a:srgbClr val="e0464b"/>
            </a:solidFill>
            <a:prstDash val="dash"/>
            <a:round/>
          </a:ln>
        </p:spPr>
        <p:style>
          <a:lnRef idx="0"/>
          <a:fillRef idx="0"/>
          <a:effectRef idx="0"/>
          <a:fontRef idx="minor"/>
        </p:style>
        <p:txBody>
          <a:bodyPr lIns="127080" rIns="127080" tIns="0" bIns="0" anchor="ctr">
            <a:noAutofit/>
          </a:bodyPr>
          <a:p>
            <a:pPr algn="r" defTabSz="914400">
              <a:lnSpc>
                <a:spcPct val="100000"/>
              </a:lnSpc>
            </a:pPr>
            <a:r>
              <a:rPr b="1" lang="es-CL" sz="1600" strike="noStrike" u="none">
                <a:solidFill>
                  <a:srgbClr val="b3261e"/>
                </a:solidFill>
                <a:effectLst/>
                <a:uFillTx/>
                <a:latin typeface="Calibri"/>
              </a:rPr>
              <a:t>≈1,6 × ventana</a:t>
            </a:r>
            <a:endParaRPr b="0" lang="en-US" sz="1600" strike="noStrike" u="none">
              <a:solidFill>
                <a:srgbClr val="000000"/>
              </a:solidFill>
              <a:effectLst/>
              <a:uFillTx/>
              <a:latin typeface="Arial"/>
            </a:endParaRPr>
          </a:p>
        </p:txBody>
      </p:sp>
      <p:sp>
        <p:nvSpPr>
          <p:cNvPr id="669" name="Forma 211"/>
          <p:cNvSpPr/>
          <p:nvPr/>
        </p:nvSpPr>
        <p:spPr>
          <a:xfrm>
            <a:off x="609480" y="4317840"/>
            <a:ext cx="2539800" cy="279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600" strike="noStrike" u="none">
                <a:solidFill>
                  <a:srgbClr val="1a1e2b"/>
                </a:solidFill>
                <a:effectLst/>
                <a:uFillTx/>
                <a:latin typeface="Calibri"/>
              </a:rPr>
              <a:t>Serie más extensa</a:t>
            </a:r>
            <a:endParaRPr b="0" lang="en-US" sz="1600" strike="noStrike" u="none">
              <a:solidFill>
                <a:srgbClr val="000000"/>
              </a:solidFill>
              <a:effectLst/>
              <a:uFillTx/>
              <a:latin typeface="Arial"/>
            </a:endParaRPr>
          </a:p>
        </p:txBody>
      </p:sp>
      <p:sp>
        <p:nvSpPr>
          <p:cNvPr id="670" name="Forma 212"/>
          <p:cNvSpPr/>
          <p:nvPr/>
        </p:nvSpPr>
        <p:spPr>
          <a:xfrm>
            <a:off x="609480" y="4622760"/>
            <a:ext cx="2539800" cy="253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s-CL" sz="1400" strike="noStrike" u="none">
                <a:solidFill>
                  <a:srgbClr val="b3261e"/>
                </a:solidFill>
                <a:effectLst/>
                <a:uFillTx/>
                <a:latin typeface="Calibri"/>
              </a:rPr>
              <a:t>No cabe</a:t>
            </a:r>
            <a:endParaRPr b="0" lang="en-US" sz="1400" strike="noStrike" u="none">
              <a:solidFill>
                <a:srgbClr val="000000"/>
              </a:solidFill>
              <a:effectLst/>
              <a:uFillTx/>
              <a:latin typeface="Arial"/>
            </a:endParaRPr>
          </a:p>
        </p:txBody>
      </p:sp>
      <p:sp>
        <p:nvSpPr>
          <p:cNvPr id="671" name="Forma 213"/>
          <p:cNvSpPr/>
          <p:nvPr/>
        </p:nvSpPr>
        <p:spPr>
          <a:xfrm>
            <a:off x="3301920" y="4368960"/>
            <a:ext cx="2920680" cy="456840"/>
          </a:xfrm>
          <a:prstGeom prst="rect">
            <a:avLst/>
          </a:prstGeom>
          <a:solidFill>
            <a:srgbClr val="1a1e2b"/>
          </a:solidFill>
          <a:ln w="0">
            <a:noFill/>
          </a:ln>
        </p:spPr>
        <p:style>
          <a:lnRef idx="0"/>
          <a:fillRef idx="0"/>
          <a:effectRef idx="0"/>
          <a:fontRef idx="minor"/>
        </p:style>
        <p:txBody>
          <a:bodyPr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672" name="Forma 214"/>
          <p:cNvSpPr/>
          <p:nvPr/>
        </p:nvSpPr>
        <p:spPr>
          <a:xfrm>
            <a:off x="6222960" y="4368960"/>
            <a:ext cx="5257440" cy="456840"/>
          </a:xfrm>
          <a:prstGeom prst="rect">
            <a:avLst/>
          </a:prstGeom>
          <a:solidFill>
            <a:srgbClr val="f9d5d6"/>
          </a:solidFill>
          <a:ln w="12700">
            <a:solidFill>
              <a:srgbClr val="e0464b"/>
            </a:solidFill>
            <a:prstDash val="dash"/>
            <a:round/>
          </a:ln>
        </p:spPr>
        <p:style>
          <a:lnRef idx="0"/>
          <a:fillRef idx="0"/>
          <a:effectRef idx="0"/>
          <a:fontRef idx="minor"/>
        </p:style>
        <p:txBody>
          <a:bodyPr lIns="127080" rIns="127080" tIns="0" bIns="0" anchor="ctr">
            <a:noAutofit/>
          </a:bodyPr>
          <a:p>
            <a:pPr algn="r" defTabSz="914400">
              <a:lnSpc>
                <a:spcPct val="100000"/>
              </a:lnSpc>
            </a:pPr>
            <a:r>
              <a:rPr b="1" lang="es-CL" sz="1600" strike="noStrike" u="none">
                <a:solidFill>
                  <a:srgbClr val="b3261e"/>
                </a:solidFill>
                <a:effectLst/>
                <a:uFillTx/>
                <a:latin typeface="Calibri"/>
              </a:rPr>
              <a:t>≈2,8 × ventana</a:t>
            </a:r>
            <a:endParaRPr b="0" lang="en-US" sz="1600" strike="noStrike" u="none">
              <a:solidFill>
                <a:srgbClr val="000000"/>
              </a:solidFill>
              <a:effectLst/>
              <a:uFillTx/>
              <a:latin typeface="Arial"/>
            </a:endParaRPr>
          </a:p>
        </p:txBody>
      </p:sp>
      <p:sp>
        <p:nvSpPr>
          <p:cNvPr id="673"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4"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5"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6"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7" name="Progreso 5"/>
          <p:cNvSpPr/>
          <p:nvPr/>
        </p:nvSpPr>
        <p:spPr>
          <a:xfrm>
            <a:off x="1087740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8" name="Progreso 6"/>
          <p:cNvSpPr/>
          <p:nvPr/>
        </p:nvSpPr>
        <p:spPr>
          <a:xfrm>
            <a:off x="1106316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79" name="Progreso 7"/>
          <p:cNvSpPr/>
          <p:nvPr/>
        </p:nvSpPr>
        <p:spPr>
          <a:xfrm>
            <a:off x="1124892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80" name="Progreso 8"/>
          <p:cNvSpPr/>
          <p:nvPr/>
        </p:nvSpPr>
        <p:spPr>
          <a:xfrm>
            <a:off x="11434680" y="457200"/>
            <a:ext cx="147240" cy="37800"/>
          </a:xfrm>
          <a:prstGeom prst="rect">
            <a:avLst/>
          </a:prstGeom>
          <a:solidFill>
            <a:srgbClr val="e1e5ea"/>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27000">
    <p:fade/>
  </p:transition>
  <p:timing>
    <p:tnLst>
      <p:par>
        <p:cTn id="489" dur="indefinite" restart="never" nodeType="tmRoot">
          <p:childTnLst>
            <p:seq>
              <p:cTn id="490" dur="indefinite" nodeType="mainSeq">
                <p:childTnLst>
                  <p:par>
                    <p:cTn id="491" fill="hold">
                      <p:stCondLst>
                        <p:cond delay="indefinite"/>
                      </p:stCondLst>
                      <p:childTnLst>
                        <p:par>
                          <p:cTn id="492" fill="hold">
                            <p:stCondLst>
                              <p:cond delay="0"/>
                            </p:stCondLst>
                            <p:childTnLst>
                              <p:par>
                                <p:cTn id="493" nodeType="clickEffect" fill="hold" presetClass="entr" presetID="10">
                                  <p:stCondLst>
                                    <p:cond delay="0"/>
                                  </p:stCondLst>
                                  <p:childTnLst>
                                    <p:set>
                                      <p:cBhvr>
                                        <p:cTn id="494" dur="1" fill="hold">
                                          <p:stCondLst>
                                            <p:cond delay="0"/>
                                          </p:stCondLst>
                                        </p:cTn>
                                        <p:tgtEl>
                                          <p:spTgt spid="659"/>
                                        </p:tgtEl>
                                        <p:attrNameLst>
                                          <p:attrName>style.visibility</p:attrName>
                                        </p:attrNameLst>
                                      </p:cBhvr>
                                      <p:to>
                                        <p:strVal val="visible"/>
                                      </p:to>
                                    </p:set>
                                    <p:animEffect filter="fade" transition="in">
                                      <p:cBhvr additive="repl">
                                        <p:cTn id="495" dur="500"/>
                                        <p:tgtEl>
                                          <p:spTgt spid="659"/>
                                        </p:tgtEl>
                                      </p:cBhvr>
                                    </p:animEffect>
                                  </p:childTnLst>
                                </p:cTn>
                              </p:par>
                              <p:par>
                                <p:cTn id="496" nodeType="withEffect" fill="hold" presetClass="entr" presetID="10">
                                  <p:stCondLst>
                                    <p:cond delay="0"/>
                                  </p:stCondLst>
                                  <p:childTnLst>
                                    <p:set>
                                      <p:cBhvr>
                                        <p:cTn id="497" dur="1" fill="hold">
                                          <p:stCondLst>
                                            <p:cond delay="0"/>
                                          </p:stCondLst>
                                        </p:cTn>
                                        <p:tgtEl>
                                          <p:spTgt spid="660"/>
                                        </p:tgtEl>
                                        <p:attrNameLst>
                                          <p:attrName>style.visibility</p:attrName>
                                        </p:attrNameLst>
                                      </p:cBhvr>
                                      <p:to>
                                        <p:strVal val="visible"/>
                                      </p:to>
                                    </p:set>
                                    <p:animEffect filter="fade" transition="in">
                                      <p:cBhvr additive="repl">
                                        <p:cTn id="498" dur="500"/>
                                        <p:tgtEl>
                                          <p:spTgt spid="660"/>
                                        </p:tgtEl>
                                      </p:cBhvr>
                                    </p:animEffect>
                                  </p:childTnLst>
                                </p:cTn>
                              </p:par>
                              <p:par>
                                <p:cTn id="499" nodeType="withEffect" fill="hold" presetClass="entr" presetID="10">
                                  <p:stCondLst>
                                    <p:cond delay="0"/>
                                  </p:stCondLst>
                                  <p:childTnLst>
                                    <p:set>
                                      <p:cBhvr>
                                        <p:cTn id="500" dur="1" fill="hold">
                                          <p:stCondLst>
                                            <p:cond delay="0"/>
                                          </p:stCondLst>
                                        </p:cTn>
                                        <p:tgtEl>
                                          <p:spTgt spid="661"/>
                                        </p:tgtEl>
                                        <p:attrNameLst>
                                          <p:attrName>style.visibility</p:attrName>
                                        </p:attrNameLst>
                                      </p:cBhvr>
                                      <p:to>
                                        <p:strVal val="visible"/>
                                      </p:to>
                                    </p:set>
                                    <p:animEffect filter="fade" transition="in">
                                      <p:cBhvr additive="repl">
                                        <p:cTn id="501" dur="500"/>
                                        <p:tgtEl>
                                          <p:spTgt spid="661"/>
                                        </p:tgtEl>
                                      </p:cBhvr>
                                    </p:animEffect>
                                  </p:childTnLst>
                                </p:cTn>
                              </p:par>
                            </p:childTnLst>
                          </p:cTn>
                        </p:par>
                      </p:childTnLst>
                    </p:cTn>
                  </p:par>
                  <p:par>
                    <p:cTn id="502" fill="hold">
                      <p:stCondLst>
                        <p:cond delay="indefinite"/>
                      </p:stCondLst>
                      <p:childTnLst>
                        <p:par>
                          <p:cTn id="503" fill="hold">
                            <p:stCondLst>
                              <p:cond delay="0"/>
                            </p:stCondLst>
                            <p:childTnLst>
                              <p:par>
                                <p:cTn id="504" nodeType="clickEffect" fill="hold" presetClass="entr" presetID="10">
                                  <p:stCondLst>
                                    <p:cond delay="0"/>
                                  </p:stCondLst>
                                  <p:childTnLst>
                                    <p:set>
                                      <p:cBhvr>
                                        <p:cTn id="505" dur="1" fill="hold">
                                          <p:stCondLst>
                                            <p:cond delay="0"/>
                                          </p:stCondLst>
                                        </p:cTn>
                                        <p:tgtEl>
                                          <p:spTgt spid="662"/>
                                        </p:tgtEl>
                                        <p:attrNameLst>
                                          <p:attrName>style.visibility</p:attrName>
                                        </p:attrNameLst>
                                      </p:cBhvr>
                                      <p:to>
                                        <p:strVal val="visible"/>
                                      </p:to>
                                    </p:set>
                                    <p:animEffect filter="fade" transition="in">
                                      <p:cBhvr additive="repl">
                                        <p:cTn id="506" dur="500"/>
                                        <p:tgtEl>
                                          <p:spTgt spid="662"/>
                                        </p:tgtEl>
                                      </p:cBhvr>
                                    </p:animEffect>
                                  </p:childTnLst>
                                </p:cTn>
                              </p:par>
                              <p:par>
                                <p:cTn id="507" nodeType="withEffect" fill="hold" presetClass="entr" presetID="10">
                                  <p:stCondLst>
                                    <p:cond delay="0"/>
                                  </p:stCondLst>
                                  <p:childTnLst>
                                    <p:set>
                                      <p:cBhvr>
                                        <p:cTn id="508" dur="1" fill="hold">
                                          <p:stCondLst>
                                            <p:cond delay="0"/>
                                          </p:stCondLst>
                                        </p:cTn>
                                        <p:tgtEl>
                                          <p:spTgt spid="663"/>
                                        </p:tgtEl>
                                        <p:attrNameLst>
                                          <p:attrName>style.visibility</p:attrName>
                                        </p:attrNameLst>
                                      </p:cBhvr>
                                      <p:to>
                                        <p:strVal val="visible"/>
                                      </p:to>
                                    </p:set>
                                    <p:animEffect filter="fade" transition="in">
                                      <p:cBhvr additive="repl">
                                        <p:cTn id="509" dur="500"/>
                                        <p:tgtEl>
                                          <p:spTgt spid="663"/>
                                        </p:tgtEl>
                                      </p:cBhvr>
                                    </p:animEffect>
                                  </p:childTnLst>
                                </p:cTn>
                              </p:par>
                              <p:par>
                                <p:cTn id="510" nodeType="withEffect" fill="hold" presetClass="entr" presetID="22" presetSubtype="8">
                                  <p:stCondLst>
                                    <p:cond delay="0"/>
                                  </p:stCondLst>
                                  <p:childTnLst>
                                    <p:set>
                                      <p:cBhvr>
                                        <p:cTn id="511" dur="1" fill="hold">
                                          <p:stCondLst>
                                            <p:cond delay="0"/>
                                          </p:stCondLst>
                                        </p:cTn>
                                        <p:tgtEl>
                                          <p:spTgt spid="664"/>
                                        </p:tgtEl>
                                        <p:attrNameLst>
                                          <p:attrName>style.visibility</p:attrName>
                                        </p:attrNameLst>
                                      </p:cBhvr>
                                      <p:to>
                                        <p:strVal val="visible"/>
                                      </p:to>
                                    </p:set>
                                    <p:animEffect filter="wipe(left)" transition="in">
                                      <p:cBhvr additive="repl">
                                        <p:cTn id="512" dur="600"/>
                                        <p:tgtEl>
                                          <p:spTgt spid="664"/>
                                        </p:tgtEl>
                                      </p:cBhvr>
                                    </p:animEffect>
                                  </p:childTnLst>
                                </p:cTn>
                              </p:par>
                            </p:childTnLst>
                          </p:cTn>
                        </p:par>
                      </p:childTnLst>
                    </p:cTn>
                  </p:par>
                  <p:par>
                    <p:cTn id="513" fill="hold">
                      <p:stCondLst>
                        <p:cond delay="indefinite"/>
                      </p:stCondLst>
                      <p:childTnLst>
                        <p:par>
                          <p:cTn id="514" fill="hold">
                            <p:stCondLst>
                              <p:cond delay="0"/>
                            </p:stCondLst>
                            <p:childTnLst>
                              <p:par>
                                <p:cTn id="515" nodeType="clickEffect" fill="hold" presetClass="entr" presetID="10">
                                  <p:stCondLst>
                                    <p:cond delay="0"/>
                                  </p:stCondLst>
                                  <p:childTnLst>
                                    <p:set>
                                      <p:cBhvr>
                                        <p:cTn id="516" dur="1" fill="hold">
                                          <p:stCondLst>
                                            <p:cond delay="0"/>
                                          </p:stCondLst>
                                        </p:cTn>
                                        <p:tgtEl>
                                          <p:spTgt spid="665"/>
                                        </p:tgtEl>
                                        <p:attrNameLst>
                                          <p:attrName>style.visibility</p:attrName>
                                        </p:attrNameLst>
                                      </p:cBhvr>
                                      <p:to>
                                        <p:strVal val="visible"/>
                                      </p:to>
                                    </p:set>
                                    <p:animEffect filter="fade" transition="in">
                                      <p:cBhvr additive="repl">
                                        <p:cTn id="517" dur="500"/>
                                        <p:tgtEl>
                                          <p:spTgt spid="665"/>
                                        </p:tgtEl>
                                      </p:cBhvr>
                                    </p:animEffect>
                                  </p:childTnLst>
                                </p:cTn>
                              </p:par>
                              <p:par>
                                <p:cTn id="518" nodeType="withEffect" fill="hold" presetClass="entr" presetID="10">
                                  <p:stCondLst>
                                    <p:cond delay="0"/>
                                  </p:stCondLst>
                                  <p:childTnLst>
                                    <p:set>
                                      <p:cBhvr>
                                        <p:cTn id="519" dur="1" fill="hold">
                                          <p:stCondLst>
                                            <p:cond delay="0"/>
                                          </p:stCondLst>
                                        </p:cTn>
                                        <p:tgtEl>
                                          <p:spTgt spid="666"/>
                                        </p:tgtEl>
                                        <p:attrNameLst>
                                          <p:attrName>style.visibility</p:attrName>
                                        </p:attrNameLst>
                                      </p:cBhvr>
                                      <p:to>
                                        <p:strVal val="visible"/>
                                      </p:to>
                                    </p:set>
                                    <p:animEffect filter="fade" transition="in">
                                      <p:cBhvr additive="repl">
                                        <p:cTn id="520" dur="500"/>
                                        <p:tgtEl>
                                          <p:spTgt spid="666"/>
                                        </p:tgtEl>
                                      </p:cBhvr>
                                    </p:animEffect>
                                  </p:childTnLst>
                                </p:cTn>
                              </p:par>
                              <p:par>
                                <p:cTn id="521" nodeType="withEffect" fill="hold" presetClass="entr" presetID="22" presetSubtype="8">
                                  <p:stCondLst>
                                    <p:cond delay="0"/>
                                  </p:stCondLst>
                                  <p:childTnLst>
                                    <p:set>
                                      <p:cBhvr>
                                        <p:cTn id="522" dur="1" fill="hold">
                                          <p:stCondLst>
                                            <p:cond delay="0"/>
                                          </p:stCondLst>
                                        </p:cTn>
                                        <p:tgtEl>
                                          <p:spTgt spid="667"/>
                                        </p:tgtEl>
                                        <p:attrNameLst>
                                          <p:attrName>style.visibility</p:attrName>
                                        </p:attrNameLst>
                                      </p:cBhvr>
                                      <p:to>
                                        <p:strVal val="visible"/>
                                      </p:to>
                                    </p:set>
                                    <p:animEffect filter="wipe(left)" transition="in">
                                      <p:cBhvr additive="repl">
                                        <p:cTn id="523" dur="600"/>
                                        <p:tgtEl>
                                          <p:spTgt spid="667"/>
                                        </p:tgtEl>
                                      </p:cBhvr>
                                    </p:animEffect>
                                  </p:childTnLst>
                                </p:cTn>
                              </p:par>
                              <p:par>
                                <p:cTn id="524" nodeType="withEffect" fill="hold" presetClass="entr" presetID="22" presetSubtype="8">
                                  <p:stCondLst>
                                    <p:cond delay="0"/>
                                  </p:stCondLst>
                                  <p:childTnLst>
                                    <p:set>
                                      <p:cBhvr>
                                        <p:cTn id="525" dur="1" fill="hold">
                                          <p:stCondLst>
                                            <p:cond delay="0"/>
                                          </p:stCondLst>
                                        </p:cTn>
                                        <p:tgtEl>
                                          <p:spTgt spid="668"/>
                                        </p:tgtEl>
                                        <p:attrNameLst>
                                          <p:attrName>style.visibility</p:attrName>
                                        </p:attrNameLst>
                                      </p:cBhvr>
                                      <p:to>
                                        <p:strVal val="visible"/>
                                      </p:to>
                                    </p:set>
                                    <p:animEffect filter="wipe(left)" transition="in">
                                      <p:cBhvr additive="repl">
                                        <p:cTn id="526" dur="600"/>
                                        <p:tgtEl>
                                          <p:spTgt spid="668"/>
                                        </p:tgtEl>
                                      </p:cBhvr>
                                    </p:animEffect>
                                  </p:childTnLst>
                                </p:cTn>
                              </p:par>
                            </p:childTnLst>
                          </p:cTn>
                        </p:par>
                      </p:childTnLst>
                    </p:cTn>
                  </p:par>
                  <p:par>
                    <p:cTn id="527" fill="hold">
                      <p:stCondLst>
                        <p:cond delay="indefinite"/>
                      </p:stCondLst>
                      <p:childTnLst>
                        <p:par>
                          <p:cTn id="528" fill="hold">
                            <p:stCondLst>
                              <p:cond delay="0"/>
                            </p:stCondLst>
                            <p:childTnLst>
                              <p:par>
                                <p:cTn id="529" nodeType="clickEffect" fill="hold" presetClass="entr" presetID="10">
                                  <p:stCondLst>
                                    <p:cond delay="0"/>
                                  </p:stCondLst>
                                  <p:childTnLst>
                                    <p:set>
                                      <p:cBhvr>
                                        <p:cTn id="530" dur="1" fill="hold">
                                          <p:stCondLst>
                                            <p:cond delay="0"/>
                                          </p:stCondLst>
                                        </p:cTn>
                                        <p:tgtEl>
                                          <p:spTgt spid="669"/>
                                        </p:tgtEl>
                                        <p:attrNameLst>
                                          <p:attrName>style.visibility</p:attrName>
                                        </p:attrNameLst>
                                      </p:cBhvr>
                                      <p:to>
                                        <p:strVal val="visible"/>
                                      </p:to>
                                    </p:set>
                                    <p:animEffect filter="fade" transition="in">
                                      <p:cBhvr additive="repl">
                                        <p:cTn id="531" dur="500"/>
                                        <p:tgtEl>
                                          <p:spTgt spid="669"/>
                                        </p:tgtEl>
                                      </p:cBhvr>
                                    </p:animEffect>
                                  </p:childTnLst>
                                </p:cTn>
                              </p:par>
                              <p:par>
                                <p:cTn id="532" nodeType="withEffect" fill="hold" presetClass="entr" presetID="10">
                                  <p:stCondLst>
                                    <p:cond delay="0"/>
                                  </p:stCondLst>
                                  <p:childTnLst>
                                    <p:set>
                                      <p:cBhvr>
                                        <p:cTn id="533" dur="1" fill="hold">
                                          <p:stCondLst>
                                            <p:cond delay="0"/>
                                          </p:stCondLst>
                                        </p:cTn>
                                        <p:tgtEl>
                                          <p:spTgt spid="670"/>
                                        </p:tgtEl>
                                        <p:attrNameLst>
                                          <p:attrName>style.visibility</p:attrName>
                                        </p:attrNameLst>
                                      </p:cBhvr>
                                      <p:to>
                                        <p:strVal val="visible"/>
                                      </p:to>
                                    </p:set>
                                    <p:animEffect filter="fade" transition="in">
                                      <p:cBhvr additive="repl">
                                        <p:cTn id="534" dur="500"/>
                                        <p:tgtEl>
                                          <p:spTgt spid="670"/>
                                        </p:tgtEl>
                                      </p:cBhvr>
                                    </p:animEffect>
                                  </p:childTnLst>
                                </p:cTn>
                              </p:par>
                              <p:par>
                                <p:cTn id="535" nodeType="withEffect" fill="hold" presetClass="entr" presetID="22" presetSubtype="8">
                                  <p:stCondLst>
                                    <p:cond delay="0"/>
                                  </p:stCondLst>
                                  <p:childTnLst>
                                    <p:set>
                                      <p:cBhvr>
                                        <p:cTn id="536" dur="1" fill="hold">
                                          <p:stCondLst>
                                            <p:cond delay="0"/>
                                          </p:stCondLst>
                                        </p:cTn>
                                        <p:tgtEl>
                                          <p:spTgt spid="671"/>
                                        </p:tgtEl>
                                        <p:attrNameLst>
                                          <p:attrName>style.visibility</p:attrName>
                                        </p:attrNameLst>
                                      </p:cBhvr>
                                      <p:to>
                                        <p:strVal val="visible"/>
                                      </p:to>
                                    </p:set>
                                    <p:animEffect filter="wipe(left)" transition="in">
                                      <p:cBhvr additive="repl">
                                        <p:cTn id="537" dur="600"/>
                                        <p:tgtEl>
                                          <p:spTgt spid="671"/>
                                        </p:tgtEl>
                                      </p:cBhvr>
                                    </p:animEffect>
                                  </p:childTnLst>
                                </p:cTn>
                              </p:par>
                              <p:par>
                                <p:cTn id="538" nodeType="withEffect" fill="hold" presetClass="entr" presetID="22" presetSubtype="8">
                                  <p:stCondLst>
                                    <p:cond delay="0"/>
                                  </p:stCondLst>
                                  <p:childTnLst>
                                    <p:set>
                                      <p:cBhvr>
                                        <p:cTn id="539" dur="1" fill="hold">
                                          <p:stCondLst>
                                            <p:cond delay="0"/>
                                          </p:stCondLst>
                                        </p:cTn>
                                        <p:tgtEl>
                                          <p:spTgt spid="672"/>
                                        </p:tgtEl>
                                        <p:attrNameLst>
                                          <p:attrName>style.visibility</p:attrName>
                                        </p:attrNameLst>
                                      </p:cBhvr>
                                      <p:to>
                                        <p:strVal val="visible"/>
                                      </p:to>
                                    </p:set>
                                    <p:animEffect filter="wipe(left)" transition="in">
                                      <p:cBhvr additive="repl">
                                        <p:cTn id="540" dur="600"/>
                                        <p:tgtEl>
                                          <p:spTgt spid="672"/>
                                        </p:tgtEl>
                                      </p:cBhvr>
                                    </p:animEffect>
                                  </p:childTnLst>
                                </p:cTn>
                              </p:par>
                            </p:childTnLst>
                          </p:cTn>
                        </p:par>
                      </p:childTnLst>
                    </p:cTn>
                  </p:par>
                  <p:par>
                    <p:cTn id="541" fill="hold">
                      <p:stCondLst>
                        <p:cond delay="indefinite"/>
                      </p:stCondLst>
                      <p:childTnLst>
                        <p:par>
                          <p:cTn id="542" fill="hold">
                            <p:stCondLst>
                              <p:cond delay="0"/>
                            </p:stCondLst>
                            <p:childTnLst>
                              <p:par>
                                <p:cTn id="543" nodeType="clickEffect" fill="hold" presetClass="entr" presetID="10">
                                  <p:stCondLst>
                                    <p:cond delay="0"/>
                                  </p:stCondLst>
                                  <p:childTnLst>
                                    <p:set>
                                      <p:cBhvr>
                                        <p:cTn id="544" dur="1" fill="hold">
                                          <p:stCondLst>
                                            <p:cond delay="0"/>
                                          </p:stCondLst>
                                        </p:cTn>
                                        <p:tgtEl>
                                          <p:spTgt spid="657"/>
                                        </p:tgtEl>
                                        <p:attrNameLst>
                                          <p:attrName>style.visibility</p:attrName>
                                        </p:attrNameLst>
                                      </p:cBhvr>
                                      <p:to>
                                        <p:strVal val="visible"/>
                                      </p:to>
                                    </p:set>
                                    <p:animEffect filter="fade" transition="in">
                                      <p:cBhvr additive="repl">
                                        <p:cTn id="545"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08 · Próximos pasos</a:t>
            </a:r>
            <a:endParaRPr b="0" lang="es-CL" sz="1200" strike="noStrike" u="none">
              <a:solidFill>
                <a:srgbClr val="1a1e2b"/>
              </a:solidFill>
              <a:effectLst/>
              <a:uFillTx/>
              <a:latin typeface="Calibri"/>
            </a:endParaRPr>
          </a:p>
        </p:txBody>
      </p:sp>
      <p:sp>
        <p:nvSpPr>
          <p:cNvPr id="682"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Próximos pasos</a:t>
            </a:r>
            <a:endParaRPr b="0" lang="es-CL" sz="3000" strike="noStrike" u="none">
              <a:solidFill>
                <a:schemeClr val="dk1"/>
              </a:solidFill>
              <a:effectLst/>
              <a:uFillTx/>
              <a:latin typeface="Calibri"/>
            </a:endParaRPr>
          </a:p>
        </p:txBody>
      </p:sp>
      <p:sp>
        <p:nvSpPr>
          <p:cNvPr id="683" name="PlaceHolder 3"/>
          <p:cNvSpPr>
            <a:spLocks noGrp="1"/>
          </p:cNvSpPr>
          <p:nvPr>
            <p:ph/>
          </p:nvPr>
        </p:nvSpPr>
        <p:spPr>
          <a:xfrm>
            <a:off x="1778040" y="180324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1" lang="es-CL" sz="2000" strike="noStrike" u="none">
                <a:solidFill>
                  <a:srgbClr val="1a1e2b"/>
                </a:solidFill>
                <a:effectLst/>
                <a:uFillTx/>
                <a:latin typeface="Calibri"/>
              </a:rPr>
              <a:t>Revisar a mano</a:t>
            </a:r>
            <a:r>
              <a:rPr b="0" lang="es-CL" sz="2000" strike="noStrike" u="none">
                <a:solidFill>
                  <a:srgbClr val="1a1e2b"/>
                </a:solidFill>
                <a:effectLst/>
                <a:uFillTx/>
                <a:latin typeface="Calibri"/>
              </a:rPr>
              <a:t> las 26 decisiones sin evidencia</a:t>
            </a:r>
            <a:endParaRPr b="0" lang="es-CL" sz="2000" strike="noStrike" u="none">
              <a:solidFill>
                <a:srgbClr val="1a1e2b"/>
              </a:solidFill>
              <a:effectLst/>
              <a:uFillTx/>
              <a:latin typeface="Calibri"/>
            </a:endParaRPr>
          </a:p>
          <a:p>
            <a:pPr indent="0" defTabSz="914400">
              <a:lnSpc>
                <a:spcPct val="100000"/>
              </a:lnSpc>
              <a:spcBef>
                <a:spcPts val="400"/>
              </a:spcBef>
              <a:buNone/>
              <a:tabLst>
                <a:tab algn="l" pos="0"/>
              </a:tabLst>
            </a:pPr>
            <a:r>
              <a:rPr b="0" lang="es-CL" sz="1500" strike="noStrike" u="none">
                <a:solidFill>
                  <a:srgbClr val="0176de"/>
                </a:solidFill>
                <a:effectLst/>
                <a:uFillTx/>
                <a:latin typeface="Calibri"/>
              </a:rPr>
              <a:t>Calidad y limpieza · 26 de 343 decisiones</a:t>
            </a:r>
            <a:endParaRPr b="0" lang="es-CL" sz="1500" strike="noStrike" u="none">
              <a:solidFill>
                <a:srgbClr val="1a1e2b"/>
              </a:solidFill>
              <a:effectLst/>
              <a:uFillTx/>
              <a:latin typeface="Calibri"/>
            </a:endParaRPr>
          </a:p>
        </p:txBody>
      </p:sp>
      <p:sp>
        <p:nvSpPr>
          <p:cNvPr id="684" name="PlaceHolder 4"/>
          <p:cNvSpPr>
            <a:spLocks noGrp="1"/>
          </p:cNvSpPr>
          <p:nvPr>
            <p:ph/>
          </p:nvPr>
        </p:nvSpPr>
        <p:spPr>
          <a:xfrm>
            <a:off x="1778040" y="287028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1" lang="es-CL" sz="2000" strike="noStrike" u="none">
                <a:solidFill>
                  <a:srgbClr val="1a1e2b"/>
                </a:solidFill>
                <a:effectLst/>
                <a:uFillTx/>
                <a:latin typeface="Calibri"/>
              </a:rPr>
              <a:t>Apoyar las preguntas de evolución</a:t>
            </a:r>
            <a:r>
              <a:rPr b="0" lang="es-CL" sz="2000" strike="noStrike" u="none">
                <a:solidFill>
                  <a:srgbClr val="1a1e2b"/>
                </a:solidFill>
                <a:effectLst/>
                <a:uFillTx/>
                <a:latin typeface="Calibri"/>
              </a:rPr>
              <a:t> en las reuniones b, c y d</a:t>
            </a:r>
            <a:endParaRPr b="0" lang="es-CL" sz="2000" strike="noStrike" u="none">
              <a:solidFill>
                <a:srgbClr val="1a1e2b"/>
              </a:solidFill>
              <a:effectLst/>
              <a:uFillTx/>
              <a:latin typeface="Calibri"/>
            </a:endParaRPr>
          </a:p>
          <a:p>
            <a:pPr indent="0" defTabSz="914400">
              <a:lnSpc>
                <a:spcPct val="100000"/>
              </a:lnSpc>
              <a:spcBef>
                <a:spcPts val="400"/>
              </a:spcBef>
              <a:buNone/>
              <a:tabLst>
                <a:tab algn="l" pos="0"/>
              </a:tabLst>
            </a:pPr>
            <a:r>
              <a:rPr b="0" lang="es-CL" sz="1500" strike="noStrike" u="none">
                <a:solidFill>
                  <a:srgbClr val="0176de"/>
                </a:solidFill>
                <a:effectLst/>
                <a:uFillTx/>
                <a:latin typeface="Calibri"/>
              </a:rPr>
              <a:t>Hallazgo · mediana de a: 3,5; b–d: 6,5–8,0</a:t>
            </a:r>
            <a:endParaRPr b="0" lang="es-CL" sz="1500" strike="noStrike" u="none">
              <a:solidFill>
                <a:srgbClr val="1a1e2b"/>
              </a:solidFill>
              <a:effectLst/>
              <a:uFillTx/>
              <a:latin typeface="Calibri"/>
            </a:endParaRPr>
          </a:p>
        </p:txBody>
      </p:sp>
      <p:sp>
        <p:nvSpPr>
          <p:cNvPr id="685" name="PlaceHolder 5"/>
          <p:cNvSpPr>
            <a:spLocks noGrp="1"/>
          </p:cNvSpPr>
          <p:nvPr>
            <p:ph/>
          </p:nvPr>
        </p:nvSpPr>
        <p:spPr>
          <a:xfrm>
            <a:off x="1778040" y="393696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1" lang="es-CL" sz="2000" strike="noStrike" u="none">
                <a:solidFill>
                  <a:srgbClr val="1a1e2b"/>
                </a:solidFill>
                <a:effectLst/>
                <a:uFillTx/>
                <a:latin typeface="Calibri"/>
              </a:rPr>
              <a:t>Mantener el filtro,</a:t>
            </a:r>
            <a:r>
              <a:rPr b="0" lang="es-CL" sz="2000" strike="noStrike" u="none">
                <a:solidFill>
                  <a:srgbClr val="1a1e2b"/>
                </a:solidFill>
                <a:effectLst/>
                <a:uFillTx/>
                <a:latin typeface="Calibri"/>
              </a:rPr>
              <a:t> declarar su sesgo y medir su recall</a:t>
            </a:r>
            <a:endParaRPr b="0" lang="es-CL" sz="2000" strike="noStrike" u="none">
              <a:solidFill>
                <a:srgbClr val="1a1e2b"/>
              </a:solidFill>
              <a:effectLst/>
              <a:uFillTx/>
              <a:latin typeface="Calibri"/>
            </a:endParaRPr>
          </a:p>
          <a:p>
            <a:pPr indent="0" defTabSz="914400">
              <a:lnSpc>
                <a:spcPct val="100000"/>
              </a:lnSpc>
              <a:spcBef>
                <a:spcPts val="400"/>
              </a:spcBef>
              <a:buNone/>
              <a:tabLst>
                <a:tab algn="l" pos="0"/>
              </a:tabLst>
            </a:pPr>
            <a:r>
              <a:rPr b="0" lang="es-CL" sz="1500" strike="noStrike" u="none">
                <a:solidFill>
                  <a:srgbClr val="0176de"/>
                </a:solidFill>
                <a:effectLst/>
                <a:uFillTx/>
                <a:latin typeface="Calibri"/>
              </a:rPr>
              <a:t>Limitación · 2,0 % pasa con frases de tres palabras</a:t>
            </a:r>
            <a:endParaRPr b="0" lang="es-CL" sz="1500" strike="noStrike" u="none">
              <a:solidFill>
                <a:srgbClr val="1a1e2b"/>
              </a:solidFill>
              <a:effectLst/>
              <a:uFillTx/>
              <a:latin typeface="Calibri"/>
            </a:endParaRPr>
          </a:p>
        </p:txBody>
      </p:sp>
      <p:sp>
        <p:nvSpPr>
          <p:cNvPr id="686" name="PlaceHolder 6"/>
          <p:cNvSpPr>
            <a:spLocks noGrp="1"/>
          </p:cNvSpPr>
          <p:nvPr>
            <p:ph/>
          </p:nvPr>
        </p:nvSpPr>
        <p:spPr>
          <a:xfrm>
            <a:off x="1778040" y="5003640"/>
            <a:ext cx="6756120" cy="914040"/>
          </a:xfrm>
          <a:prstGeom prst="rect">
            <a:avLst/>
          </a:prstGeom>
          <a:noFill/>
          <a:ln w="0">
            <a:noFill/>
          </a:ln>
        </p:spPr>
        <p:txBody>
          <a:bodyPr lIns="0" rIns="0" tIns="0" bIns="0" anchor="ctr">
            <a:noAutofit/>
          </a:bodyPr>
          <a:p>
            <a:pPr indent="0" defTabSz="914400">
              <a:lnSpc>
                <a:spcPct val="100000"/>
              </a:lnSpc>
              <a:buNone/>
              <a:tabLst>
                <a:tab algn="l" pos="0"/>
              </a:tabLst>
            </a:pPr>
            <a:r>
              <a:rPr b="1" lang="es-CL" sz="2000" strike="noStrike" u="none">
                <a:solidFill>
                  <a:srgbClr val="1a1e2b"/>
                </a:solidFill>
                <a:effectLst/>
                <a:uFillTx/>
                <a:latin typeface="Calibri"/>
              </a:rPr>
              <a:t>Comprobar robustez:</a:t>
            </a:r>
            <a:r>
              <a:rPr b="0" lang="es-CL" sz="2000" strike="noStrike" u="none">
                <a:solidFill>
                  <a:srgbClr val="1a1e2b"/>
                </a:solidFill>
                <a:effectLst/>
                <a:uFillTx/>
                <a:latin typeface="Calibri"/>
              </a:rPr>
              <a:t> FDR y bootstrap por serie</a:t>
            </a:r>
            <a:endParaRPr b="0" lang="es-CL" sz="2000" strike="noStrike" u="none">
              <a:solidFill>
                <a:srgbClr val="1a1e2b"/>
              </a:solidFill>
              <a:effectLst/>
              <a:uFillTx/>
              <a:latin typeface="Calibri"/>
            </a:endParaRPr>
          </a:p>
          <a:p>
            <a:pPr indent="0" defTabSz="914400">
              <a:lnSpc>
                <a:spcPct val="100000"/>
              </a:lnSpc>
              <a:spcBef>
                <a:spcPts val="400"/>
              </a:spcBef>
              <a:buNone/>
              <a:tabLst>
                <a:tab algn="l" pos="0"/>
              </a:tabLst>
            </a:pPr>
            <a:r>
              <a:rPr b="0" lang="es-CL" sz="1500" strike="noStrike" u="none">
                <a:solidFill>
                  <a:srgbClr val="0176de"/>
                </a:solidFill>
                <a:effectLst/>
                <a:uFillTx/>
                <a:latin typeface="Calibri"/>
              </a:rPr>
              <a:t>Robustez · IC 95 % ≈ [0,0118; 0,0393]</a:t>
            </a:r>
            <a:endParaRPr b="0" lang="es-CL" sz="1500" strike="noStrike" u="none">
              <a:solidFill>
                <a:srgbClr val="1a1e2b"/>
              </a:solidFill>
              <a:effectLst/>
              <a:uFillTx/>
              <a:latin typeface="Calibri"/>
            </a:endParaRPr>
          </a:p>
        </p:txBody>
      </p:sp>
      <p:pic>
        <p:nvPicPr>
          <p:cNvPr id="687" name="" descr="">
            <a:hlinkClick r:id="" action="ppaction://media"/>
          </p:cNvPr>
          <p:cNvPicPr/>
          <p:nvPr>
            <a:videoFile r:link="rId1"/>
            <p:extLst>
              <p:ext uri="{DAA4B4D4-6D71-4841-9C94-3DE7FCFB9230}">
                <p14:media r:link="rId2"/>
              </p:ext>
            </p:extLst>
          </p:nvPr>
        </p:nvPicPr>
        <p:blipFill>
          <a:blip r:embed="rId3"/>
          <a:stretch>
            <a:fillRect/>
          </a:stretch>
        </p:blipFill>
        <p:spPr>
          <a:xfrm>
            <a:off x="8940960" y="4406760"/>
            <a:ext cx="2641320" cy="1485720"/>
          </a:xfrm>
          <a:prstGeom prst="rect">
            <a:avLst/>
          </a:prstGeom>
          <a:ln w="0">
            <a:noFill/>
          </a:ln>
        </p:spPr>
      </p:pic>
      <p:sp>
        <p:nvSpPr>
          <p:cNvPr id="688"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89"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0"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1"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2" name="Progreso 5"/>
          <p:cNvSpPr/>
          <p:nvPr/>
        </p:nvSpPr>
        <p:spPr>
          <a:xfrm>
            <a:off x="1087740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3" name="Progreso 6"/>
          <p:cNvSpPr/>
          <p:nvPr/>
        </p:nvSpPr>
        <p:spPr>
          <a:xfrm>
            <a:off x="1106316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4" name="Progreso 7"/>
          <p:cNvSpPr/>
          <p:nvPr/>
        </p:nvSpPr>
        <p:spPr>
          <a:xfrm>
            <a:off x="112489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695" name="Progreso 8"/>
          <p:cNvSpPr/>
          <p:nvPr/>
        </p:nvSpPr>
        <p:spPr>
          <a:xfrm>
            <a:off x="1143468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33000">
    <p:fade/>
  </p:transition>
  <p:timing>
    <p:tnLst>
      <p:par>
        <p:cTn id="546" dur="indefinite" restart="never" nodeType="tmRoot">
          <p:childTnLst>
            <p:seq>
              <p:cTn id="547" dur="indefinite" nodeType="mainSeq">
                <p:childTnLst>
                  <p:par>
                    <p:cTn id="548" fill="hold">
                      <p:stCondLst>
                        <p:cond delay="indefinite"/>
                      </p:stCondLst>
                      <p:childTnLst>
                        <p:par>
                          <p:cTn id="549" fill="hold">
                            <p:stCondLst>
                              <p:cond delay="0"/>
                            </p:stCondLst>
                            <p:childTnLst>
                              <p:par>
                                <p:cTn id="550" nodeType="clickEffect" fill="hold" presetClass="entr" presetID="10">
                                  <p:stCondLst>
                                    <p:cond delay="0"/>
                                  </p:stCondLst>
                                  <p:childTnLst>
                                    <p:set>
                                      <p:cBhvr>
                                        <p:cTn id="551" dur="1" fill="hold">
                                          <p:stCondLst>
                                            <p:cond delay="0"/>
                                          </p:stCondLst>
                                        </p:cTn>
                                        <p:tgtEl>
                                          <p:spTgt spid="683"/>
                                        </p:tgtEl>
                                        <p:attrNameLst>
                                          <p:attrName>style.visibility</p:attrName>
                                        </p:attrNameLst>
                                      </p:cBhvr>
                                      <p:to>
                                        <p:strVal val="visible"/>
                                      </p:to>
                                    </p:set>
                                    <p:animEffect filter="fade" transition="in">
                                      <p:cBhvr additive="repl">
                                        <p:cTn id="552" dur="500"/>
                                        <p:tgtEl>
                                          <p:spTgt spid="683"/>
                                        </p:tgtEl>
                                      </p:cBhvr>
                                    </p:animEffec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0">
                                  <p:stCondLst>
                                    <p:cond delay="0"/>
                                  </p:stCondLst>
                                  <p:childTnLst>
                                    <p:set>
                                      <p:cBhvr>
                                        <p:cTn id="556" dur="1" fill="hold">
                                          <p:stCondLst>
                                            <p:cond delay="0"/>
                                          </p:stCondLst>
                                        </p:cTn>
                                        <p:tgtEl>
                                          <p:spTgt spid="684"/>
                                        </p:tgtEl>
                                        <p:attrNameLst>
                                          <p:attrName>style.visibility</p:attrName>
                                        </p:attrNameLst>
                                      </p:cBhvr>
                                      <p:to>
                                        <p:strVal val="visible"/>
                                      </p:to>
                                    </p:set>
                                    <p:animEffect filter="fade" transition="in">
                                      <p:cBhvr additive="repl">
                                        <p:cTn id="557" dur="500"/>
                                        <p:tgtEl>
                                          <p:spTgt spid="684"/>
                                        </p:tgtEl>
                                      </p:cBhvr>
                                    </p:animEffec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0">
                                  <p:stCondLst>
                                    <p:cond delay="0"/>
                                  </p:stCondLst>
                                  <p:childTnLst>
                                    <p:set>
                                      <p:cBhvr>
                                        <p:cTn id="561" dur="1" fill="hold">
                                          <p:stCondLst>
                                            <p:cond delay="0"/>
                                          </p:stCondLst>
                                        </p:cTn>
                                        <p:tgtEl>
                                          <p:spTgt spid="685"/>
                                        </p:tgtEl>
                                        <p:attrNameLst>
                                          <p:attrName>style.visibility</p:attrName>
                                        </p:attrNameLst>
                                      </p:cBhvr>
                                      <p:to>
                                        <p:strVal val="visible"/>
                                      </p:to>
                                    </p:set>
                                    <p:animEffect filter="fade" transition="in">
                                      <p:cBhvr additive="repl">
                                        <p:cTn id="562" dur="500"/>
                                        <p:tgtEl>
                                          <p:spTgt spid="685"/>
                                        </p:tgtEl>
                                      </p:cBhvr>
                                    </p:animEffect>
                                  </p:childTnLst>
                                </p:cTn>
                              </p:par>
                            </p:childTnLst>
                          </p:cTn>
                        </p:par>
                      </p:childTnLst>
                    </p:cTn>
                  </p:par>
                  <p:par>
                    <p:cTn id="563" fill="hold">
                      <p:stCondLst>
                        <p:cond delay="indefinite"/>
                      </p:stCondLst>
                      <p:childTnLst>
                        <p:par>
                          <p:cTn id="564" fill="hold">
                            <p:stCondLst>
                              <p:cond delay="0"/>
                            </p:stCondLst>
                            <p:childTnLst>
                              <p:par>
                                <p:cTn id="565" nodeType="clickEffect" fill="hold" presetClass="entr" presetID="10">
                                  <p:stCondLst>
                                    <p:cond delay="0"/>
                                  </p:stCondLst>
                                  <p:childTnLst>
                                    <p:set>
                                      <p:cBhvr>
                                        <p:cTn id="566" dur="1" fill="hold">
                                          <p:stCondLst>
                                            <p:cond delay="0"/>
                                          </p:stCondLst>
                                        </p:cTn>
                                        <p:tgtEl>
                                          <p:spTgt spid="686"/>
                                        </p:tgtEl>
                                        <p:attrNameLst>
                                          <p:attrName>style.visibility</p:attrName>
                                        </p:attrNameLst>
                                      </p:cBhvr>
                                      <p:to>
                                        <p:strVal val="visible"/>
                                      </p:to>
                                    </p:set>
                                    <p:animEffect filter="fade" transition="in">
                                      <p:cBhvr additive="repl">
                                        <p:cTn id="567" dur="500"/>
                                        <p:tgtEl>
                                          <p:spTgt spid="6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p:nvPr>
        </p:nvSpPr>
        <p:spPr>
          <a:xfrm>
            <a:off x="609480" y="355680"/>
            <a:ext cx="9651600" cy="253800"/>
          </a:xfrm>
          <a:prstGeom prst="rect">
            <a:avLst/>
          </a:prstGeom>
          <a:noFill/>
          <a:ln w="0">
            <a:noFill/>
          </a:ln>
        </p:spPr>
        <p:txBody>
          <a:bodyPr lIns="0" rIns="0" tIns="0" bIns="0" anchor="t">
            <a:noAutofit/>
          </a:bodyPr>
          <a:p>
            <a:pPr indent="0" defTabSz="914400">
              <a:lnSpc>
                <a:spcPct val="95000"/>
              </a:lnSpc>
              <a:buNone/>
              <a:tabLst>
                <a:tab algn="l" pos="0"/>
              </a:tabLst>
            </a:pPr>
            <a:r>
              <a:rPr b="1" lang="es-CL" sz="1200" spc="119" strike="noStrike" u="none" cap="all">
                <a:solidFill>
                  <a:srgbClr val="0176de"/>
                </a:solidFill>
                <a:effectLst/>
                <a:uFillTx/>
                <a:latin typeface="Calibri"/>
              </a:rPr>
              <a:t>08 · Próximos pasos · Robustez</a:t>
            </a:r>
            <a:endParaRPr b="0" lang="es-CL" sz="1200" strike="noStrike" u="none">
              <a:solidFill>
                <a:srgbClr val="1a1e2b"/>
              </a:solidFill>
              <a:effectLst/>
              <a:uFillTx/>
              <a:latin typeface="Calibri"/>
            </a:endParaRPr>
          </a:p>
        </p:txBody>
      </p:sp>
      <p:sp>
        <p:nvSpPr>
          <p:cNvPr id="697" name="PlaceHolder 2"/>
          <p:cNvSpPr>
            <a:spLocks noGrp="1"/>
          </p:cNvSpPr>
          <p:nvPr>
            <p:ph type="title"/>
          </p:nvPr>
        </p:nvSpPr>
        <p:spPr>
          <a:xfrm>
            <a:off x="609480" y="635040"/>
            <a:ext cx="10972440" cy="1015560"/>
          </a:xfrm>
          <a:prstGeom prst="rect">
            <a:avLst/>
          </a:prstGeom>
          <a:noFill/>
          <a:ln w="0">
            <a:noFill/>
          </a:ln>
        </p:spPr>
        <p:txBody>
          <a:bodyPr lIns="0" rIns="0" tIns="0" bIns="0" anchor="t">
            <a:noAutofit/>
          </a:bodyPr>
          <a:p>
            <a:pPr indent="0" defTabSz="914400">
              <a:lnSpc>
                <a:spcPct val="92000"/>
              </a:lnSpc>
              <a:buNone/>
              <a:tabLst>
                <a:tab algn="l" pos="0"/>
              </a:tabLst>
            </a:pPr>
            <a:r>
              <a:rPr b="1" lang="es-CL" sz="3000" strike="noStrike" u="none">
                <a:solidFill>
                  <a:srgbClr val="1a1e2b"/>
                </a:solidFill>
                <a:effectLst/>
                <a:uFillTx/>
                <a:latin typeface="Calibri"/>
              </a:rPr>
              <a:t>Dos controles de robustez respaldan los patrones revisados del EDA</a:t>
            </a:r>
            <a:endParaRPr b="0" lang="es-CL" sz="3000" strike="noStrike" u="none">
              <a:solidFill>
                <a:schemeClr val="dk1"/>
              </a:solidFill>
              <a:effectLst/>
              <a:uFillTx/>
              <a:latin typeface="Calibri"/>
            </a:endParaRPr>
          </a:p>
        </p:txBody>
      </p:sp>
      <p:sp>
        <p:nvSpPr>
          <p:cNvPr id="698" name="PlaceHolder 3"/>
          <p:cNvSpPr>
            <a:spLocks noGrp="1"/>
          </p:cNvSpPr>
          <p:nvPr>
            <p:ph/>
          </p:nvPr>
        </p:nvSpPr>
        <p:spPr>
          <a:xfrm>
            <a:off x="609480" y="180324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Comparaciones múltiples</a:t>
            </a:r>
            <a:endParaRPr b="0" lang="es-CL" sz="1400" strike="noStrike" u="none">
              <a:solidFill>
                <a:srgbClr val="1a1e2b"/>
              </a:solidFill>
              <a:effectLst/>
              <a:uFillTx/>
              <a:latin typeface="Calibri"/>
            </a:endParaRPr>
          </a:p>
        </p:txBody>
      </p:sp>
      <p:sp>
        <p:nvSpPr>
          <p:cNvPr id="699" name="PlaceHolder 4"/>
          <p:cNvSpPr>
            <a:spLocks noGrp="1"/>
          </p:cNvSpPr>
          <p:nvPr>
            <p:ph/>
          </p:nvPr>
        </p:nvSpPr>
        <p:spPr>
          <a:xfrm>
            <a:off x="609480" y="2108160"/>
            <a:ext cx="513036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600" strike="noStrike" u="none">
                <a:solidFill>
                  <a:srgbClr val="5f6670"/>
                </a:solidFill>
                <a:effectLst/>
                <a:uFillTx/>
                <a:latin typeface="Calibri"/>
              </a:rPr>
              <a:t>¿Siguen siendo significativos tras corregir por muchas pruebas? (Benjamini-Hochberg)</a:t>
            </a:r>
            <a:endParaRPr b="0" lang="es-CL" sz="1600" strike="noStrike" u="none">
              <a:solidFill>
                <a:srgbClr val="1a1e2b"/>
              </a:solidFill>
              <a:effectLst/>
              <a:uFillTx/>
              <a:latin typeface="Calibri"/>
            </a:endParaRPr>
          </a:p>
        </p:txBody>
      </p:sp>
      <p:sp>
        <p:nvSpPr>
          <p:cNvPr id="700" name="PlaceHolder 5"/>
          <p:cNvSpPr>
            <a:spLocks noGrp="1"/>
          </p:cNvSpPr>
          <p:nvPr>
            <p:ph/>
          </p:nvPr>
        </p:nvSpPr>
        <p:spPr>
          <a:xfrm>
            <a:off x="609480" y="4648320"/>
            <a:ext cx="5130360" cy="812520"/>
          </a:xfrm>
          <a:prstGeom prst="rect">
            <a:avLst/>
          </a:prstGeom>
          <a:noFill/>
          <a:ln w="0">
            <a:noFill/>
          </a:ln>
        </p:spPr>
        <p:txBody>
          <a:bodyPr lIns="0" rIns="0" tIns="0" bIns="0" anchor="b">
            <a:noAutofit/>
          </a:bodyPr>
          <a:p>
            <a:pPr indent="0" defTabSz="914400">
              <a:lnSpc>
                <a:spcPct val="100000"/>
              </a:lnSpc>
              <a:buNone/>
              <a:tabLst>
                <a:tab algn="l" pos="0"/>
              </a:tabLst>
            </a:pPr>
            <a:r>
              <a:rPr b="1" lang="es-CL" sz="1800" strike="noStrike" u="none">
                <a:solidFill>
                  <a:srgbClr val="1a1e2b"/>
                </a:solidFill>
                <a:effectLst/>
                <a:uFillTx/>
                <a:latin typeface="Calibri"/>
              </a:rPr>
              <a:t>Los resultados significativos revisados se mantienen después del ajuste FDR</a:t>
            </a:r>
            <a:endParaRPr b="0" lang="es-CL" sz="1800" strike="noStrike" u="none">
              <a:solidFill>
                <a:srgbClr val="1a1e2b"/>
              </a:solidFill>
              <a:effectLst/>
              <a:uFillTx/>
              <a:latin typeface="Calibri"/>
            </a:endParaRPr>
          </a:p>
        </p:txBody>
      </p:sp>
      <p:sp>
        <p:nvSpPr>
          <p:cNvPr id="701" name="PlaceHolder 6"/>
          <p:cNvSpPr>
            <a:spLocks noGrp="1"/>
          </p:cNvSpPr>
          <p:nvPr>
            <p:ph/>
          </p:nvPr>
        </p:nvSpPr>
        <p:spPr>
          <a:xfrm>
            <a:off x="6451560" y="1803240"/>
            <a:ext cx="513036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99" strike="noStrike" u="none" cap="all">
                <a:solidFill>
                  <a:srgbClr val="0176de"/>
                </a:solidFill>
                <a:effectLst/>
                <a:uFillTx/>
                <a:latin typeface="Calibri"/>
              </a:rPr>
              <a:t>Dependencia dentro de las series</a:t>
            </a:r>
            <a:endParaRPr b="0" lang="es-CL" sz="1400" strike="noStrike" u="none">
              <a:solidFill>
                <a:srgbClr val="1a1e2b"/>
              </a:solidFill>
              <a:effectLst/>
              <a:uFillTx/>
              <a:latin typeface="Calibri"/>
            </a:endParaRPr>
          </a:p>
        </p:txBody>
      </p:sp>
      <p:sp>
        <p:nvSpPr>
          <p:cNvPr id="702" name="PlaceHolder 7"/>
          <p:cNvSpPr>
            <a:spLocks noGrp="1"/>
          </p:cNvSpPr>
          <p:nvPr>
            <p:ph/>
          </p:nvPr>
        </p:nvSpPr>
        <p:spPr>
          <a:xfrm>
            <a:off x="6451560" y="2108160"/>
            <a:ext cx="5130360" cy="558360"/>
          </a:xfrm>
          <a:prstGeom prst="rect">
            <a:avLst/>
          </a:prstGeom>
          <a:noFill/>
          <a:ln w="0">
            <a:noFill/>
          </a:ln>
        </p:spPr>
        <p:txBody>
          <a:bodyPr lIns="0" rIns="0" tIns="0" bIns="0" anchor="t">
            <a:noAutofit/>
          </a:bodyPr>
          <a:p>
            <a:pPr indent="0" defTabSz="914400">
              <a:lnSpc>
                <a:spcPct val="100000"/>
              </a:lnSpc>
              <a:buNone/>
              <a:tabLst>
                <a:tab algn="l" pos="0"/>
              </a:tabLst>
            </a:pPr>
            <a:r>
              <a:rPr b="0" lang="es-CL" sz="1600" strike="noStrike" u="none">
                <a:solidFill>
                  <a:srgbClr val="5f6670"/>
                </a:solidFill>
                <a:effectLst/>
                <a:uFillTx/>
                <a:latin typeface="Calibri"/>
              </a:rPr>
              <a:t>¿Se mantiene el patrón al remuestrear series completas? (bootstrap por serie)</a:t>
            </a:r>
            <a:endParaRPr b="0" lang="es-CL" sz="1600" strike="noStrike" u="none">
              <a:solidFill>
                <a:srgbClr val="1a1e2b"/>
              </a:solidFill>
              <a:effectLst/>
              <a:uFillTx/>
              <a:latin typeface="Calibri"/>
            </a:endParaRPr>
          </a:p>
        </p:txBody>
      </p:sp>
      <p:sp>
        <p:nvSpPr>
          <p:cNvPr id="703" name="PlaceHolder 8"/>
          <p:cNvSpPr>
            <a:spLocks noGrp="1"/>
          </p:cNvSpPr>
          <p:nvPr>
            <p:ph/>
          </p:nvPr>
        </p:nvSpPr>
        <p:spPr>
          <a:xfrm>
            <a:off x="6451560" y="4648320"/>
            <a:ext cx="5130360" cy="812520"/>
          </a:xfrm>
          <a:prstGeom prst="rect">
            <a:avLst/>
          </a:prstGeom>
          <a:noFill/>
          <a:ln w="0">
            <a:noFill/>
          </a:ln>
        </p:spPr>
        <p:txBody>
          <a:bodyPr lIns="0" rIns="0" tIns="0" bIns="0" anchor="b">
            <a:noAutofit/>
          </a:bodyPr>
          <a:p>
            <a:pPr indent="0" defTabSz="914400">
              <a:lnSpc>
                <a:spcPct val="100000"/>
              </a:lnSpc>
              <a:buNone/>
              <a:tabLst>
                <a:tab algn="l" pos="0"/>
              </a:tabLst>
            </a:pPr>
            <a:r>
              <a:rPr b="1" lang="es-CL" sz="1800" strike="noStrike" u="none">
                <a:solidFill>
                  <a:srgbClr val="1a1e2b"/>
                </a:solidFill>
                <a:effectLst/>
                <a:uFillTx/>
                <a:latin typeface="Calibri"/>
              </a:rPr>
              <a:t>El patrón se mantiene al respetar la dependencia entre reuniones de una misma serie</a:t>
            </a:r>
            <a:endParaRPr b="0" lang="es-CL" sz="1800" strike="noStrike" u="none">
              <a:solidFill>
                <a:srgbClr val="1a1e2b"/>
              </a:solidFill>
              <a:effectLst/>
              <a:uFillTx/>
              <a:latin typeface="Calibri"/>
            </a:endParaRPr>
          </a:p>
        </p:txBody>
      </p:sp>
      <p:sp>
        <p:nvSpPr>
          <p:cNvPr id="704" name="PlaceHolder 9"/>
          <p:cNvSpPr>
            <a:spLocks noGrp="1"/>
          </p:cNvSpPr>
          <p:nvPr>
            <p:ph/>
          </p:nvPr>
        </p:nvSpPr>
        <p:spPr>
          <a:xfrm>
            <a:off x="685800" y="5664240"/>
            <a:ext cx="10896120" cy="583920"/>
          </a:xfrm>
          <a:prstGeom prst="rect">
            <a:avLst/>
          </a:prstGeom>
          <a:solidFill>
            <a:srgbClr val="f3f5f8"/>
          </a:solidFill>
          <a:ln w="0">
            <a:noFill/>
          </a:ln>
        </p:spPr>
        <p:txBody>
          <a:bodyPr lIns="254160" rIns="152280" tIns="0" bIns="0" anchor="ctr">
            <a:noAutofit/>
          </a:bodyPr>
          <a:p>
            <a:pPr indent="0" defTabSz="914400">
              <a:lnSpc>
                <a:spcPct val="95000"/>
              </a:lnSpc>
              <a:buNone/>
              <a:tabLst>
                <a:tab algn="l" pos="0"/>
              </a:tabLst>
            </a:pPr>
            <a:r>
              <a:rPr b="1" lang="es-CL" sz="1600" strike="noStrike" u="none">
                <a:solidFill>
                  <a:srgbClr val="1a1e2b"/>
                </a:solidFill>
                <a:effectLst/>
                <a:uFillTx/>
                <a:latin typeface="Calibri"/>
              </a:rPr>
              <a:t>Estos controles refuerzan el EDA, </a:t>
            </a:r>
            <a:r>
              <a:rPr b="1" lang="es-CL" sz="1600" strike="noStrike" u="none">
                <a:solidFill>
                  <a:srgbClr val="0176de"/>
                </a:solidFill>
                <a:effectLst/>
                <a:uFillTx/>
                <a:latin typeface="Calibri"/>
              </a:rPr>
              <a:t>pero no lo convierten en un análisis confirmatorio.</a:t>
            </a:r>
            <a:endParaRPr b="0" lang="es-CL" sz="1600" strike="noStrike" u="none">
              <a:solidFill>
                <a:srgbClr val="1a1e2b"/>
              </a:solidFill>
              <a:effectLst/>
              <a:uFillTx/>
              <a:latin typeface="Calibri"/>
            </a:endParaRPr>
          </a:p>
        </p:txBody>
      </p:sp>
      <p:sp>
        <p:nvSpPr>
          <p:cNvPr id="705" name="Forma 201"/>
          <p:cNvSpPr/>
          <p:nvPr/>
        </p:nvSpPr>
        <p:spPr>
          <a:xfrm>
            <a:off x="609480" y="2819520"/>
            <a:ext cx="5130360" cy="25380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pPr>
            <a:r>
              <a:rPr b="0" lang="es-CL" sz="1400" strike="noStrike" u="none">
                <a:solidFill>
                  <a:srgbClr val="5f6670"/>
                </a:solidFill>
                <a:effectLst/>
                <a:uFillTx/>
                <a:latin typeface="Calibri"/>
              </a:rPr>
              <a:t>17 pruebas revisadas</a:t>
            </a:r>
            <a:endParaRPr b="0" lang="en-US" sz="1400" strike="noStrike" u="none">
              <a:solidFill>
                <a:srgbClr val="000000"/>
              </a:solidFill>
              <a:effectLst/>
              <a:uFillTx/>
              <a:latin typeface="Arial"/>
            </a:endParaRPr>
          </a:p>
        </p:txBody>
      </p:sp>
      <p:sp>
        <p:nvSpPr>
          <p:cNvPr id="706" name="Forma 202"/>
          <p:cNvSpPr/>
          <p:nvPr/>
        </p:nvSpPr>
        <p:spPr>
          <a:xfrm>
            <a:off x="609480" y="3098880"/>
            <a:ext cx="1523520" cy="964800"/>
          </a:xfrm>
          <a:prstGeom prst="rect">
            <a:avLst/>
          </a:prstGeom>
          <a:noFill/>
          <a:ln w="0">
            <a:noFill/>
          </a:ln>
        </p:spPr>
        <p:style>
          <a:lnRef idx="0"/>
          <a:fillRef idx="0"/>
          <a:effectRef idx="0"/>
          <a:fontRef idx="minor"/>
        </p:style>
        <p:txBody>
          <a:bodyPr wrap="none" lIns="0" rIns="0" tIns="0" bIns="0" anchor="b">
            <a:noAutofit/>
          </a:bodyPr>
          <a:p>
            <a:pPr defTabSz="914400">
              <a:lnSpc>
                <a:spcPct val="100000"/>
              </a:lnSpc>
            </a:pPr>
            <a:r>
              <a:rPr b="1" lang="es-CL" sz="6400" strike="noStrike" u="none">
                <a:solidFill>
                  <a:srgbClr val="1a1e2b"/>
                </a:solidFill>
                <a:effectLst/>
                <a:uFillTx/>
                <a:latin typeface="Calibri"/>
              </a:rPr>
              <a:t>9</a:t>
            </a:r>
            <a:endParaRPr b="0" lang="en-US" sz="6400" strike="noStrike" u="none">
              <a:solidFill>
                <a:srgbClr val="000000"/>
              </a:solidFill>
              <a:effectLst/>
              <a:uFillTx/>
              <a:latin typeface="Arial"/>
            </a:endParaRPr>
          </a:p>
        </p:txBody>
      </p:sp>
      <p:sp>
        <p:nvSpPr>
          <p:cNvPr id="707" name="Forma 203"/>
          <p:cNvSpPr/>
          <p:nvPr/>
        </p:nvSpPr>
        <p:spPr>
          <a:xfrm>
            <a:off x="609480" y="4114800"/>
            <a:ext cx="2158560" cy="25380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pPr>
            <a:r>
              <a:rPr b="0" lang="es-CL" sz="1400" strike="noStrike" u="none">
                <a:solidFill>
                  <a:srgbClr val="1a1e2b"/>
                </a:solidFill>
                <a:effectLst/>
                <a:uFillTx/>
                <a:latin typeface="Calibri"/>
              </a:rPr>
              <a:t>significativas antes</a:t>
            </a:r>
            <a:endParaRPr b="0" lang="en-US" sz="1400" strike="noStrike" u="none">
              <a:solidFill>
                <a:srgbClr val="000000"/>
              </a:solidFill>
              <a:effectLst/>
              <a:uFillTx/>
              <a:latin typeface="Arial"/>
            </a:endParaRPr>
          </a:p>
        </p:txBody>
      </p:sp>
      <p:cxnSp>
        <p:nvCxnSpPr>
          <p:cNvPr id="708" name="Línea 204"/>
          <p:cNvCxnSpPr/>
          <p:nvPr/>
        </p:nvCxnSpPr>
        <p:spPr>
          <a:xfrm>
            <a:off x="1396800" y="3682800"/>
            <a:ext cx="1778400" cy="360"/>
          </a:xfrm>
          <a:prstGeom prst="straightConnector1">
            <a:avLst/>
          </a:prstGeom>
          <a:ln w="19050">
            <a:solidFill>
              <a:srgbClr val="9aa3ae"/>
            </a:solidFill>
            <a:round/>
            <a:tailEnd len="med" type="triangle" w="med"/>
          </a:ln>
        </p:spPr>
      </p:cxnSp>
      <p:sp>
        <p:nvSpPr>
          <p:cNvPr id="709" name="Forma 205"/>
          <p:cNvSpPr/>
          <p:nvPr/>
        </p:nvSpPr>
        <p:spPr>
          <a:xfrm>
            <a:off x="3429000" y="3098880"/>
            <a:ext cx="1523520" cy="964800"/>
          </a:xfrm>
          <a:prstGeom prst="rect">
            <a:avLst/>
          </a:prstGeom>
          <a:noFill/>
          <a:ln w="0">
            <a:noFill/>
          </a:ln>
        </p:spPr>
        <p:style>
          <a:lnRef idx="0"/>
          <a:fillRef idx="0"/>
          <a:effectRef idx="0"/>
          <a:fontRef idx="minor"/>
        </p:style>
        <p:txBody>
          <a:bodyPr wrap="none" lIns="0" rIns="0" tIns="0" bIns="0" anchor="b">
            <a:noAutofit/>
          </a:bodyPr>
          <a:p>
            <a:pPr defTabSz="914400">
              <a:lnSpc>
                <a:spcPct val="100000"/>
              </a:lnSpc>
            </a:pPr>
            <a:r>
              <a:rPr b="1" lang="es-CL" sz="6400" strike="noStrike" u="none">
                <a:solidFill>
                  <a:srgbClr val="0176de"/>
                </a:solidFill>
                <a:effectLst/>
                <a:uFillTx/>
                <a:latin typeface="Calibri"/>
              </a:rPr>
              <a:t>9</a:t>
            </a:r>
            <a:endParaRPr b="0" lang="en-US" sz="6400" strike="noStrike" u="none">
              <a:solidFill>
                <a:srgbClr val="000000"/>
              </a:solidFill>
              <a:effectLst/>
              <a:uFillTx/>
              <a:latin typeface="Arial"/>
            </a:endParaRPr>
          </a:p>
        </p:txBody>
      </p:sp>
      <p:sp>
        <p:nvSpPr>
          <p:cNvPr id="710" name="Forma 206"/>
          <p:cNvSpPr/>
          <p:nvPr/>
        </p:nvSpPr>
        <p:spPr>
          <a:xfrm>
            <a:off x="3429000" y="4114800"/>
            <a:ext cx="2285640" cy="25380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pPr>
            <a:r>
              <a:rPr b="0" lang="es-CL" sz="1400" strike="noStrike" u="none">
                <a:solidFill>
                  <a:srgbClr val="1a1e2b"/>
                </a:solidFill>
                <a:effectLst/>
                <a:uFillTx/>
                <a:latin typeface="Calibri"/>
              </a:rPr>
              <a:t>significativas después</a:t>
            </a:r>
            <a:endParaRPr b="0" lang="en-US" sz="1400" strike="noStrike" u="none">
              <a:solidFill>
                <a:srgbClr val="000000"/>
              </a:solidFill>
              <a:effectLst/>
              <a:uFillTx/>
              <a:latin typeface="Arial"/>
            </a:endParaRPr>
          </a:p>
        </p:txBody>
      </p:sp>
      <p:sp>
        <p:nvSpPr>
          <p:cNvPr id="711" name="Forma 207"/>
          <p:cNvSpPr/>
          <p:nvPr/>
        </p:nvSpPr>
        <p:spPr>
          <a:xfrm>
            <a:off x="6451560" y="2819520"/>
            <a:ext cx="5130360" cy="25380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pPr>
            <a:r>
              <a:rPr b="0" lang="es-CL" sz="1400" strike="noStrike" u="none">
                <a:solidFill>
                  <a:srgbClr val="5f6670"/>
                </a:solidFill>
                <a:effectLst/>
                <a:uFillTx/>
                <a:latin typeface="Calibri"/>
              </a:rPr>
              <a:t>Diferencia observada e IC 95 % (5.000 réplicas)</a:t>
            </a:r>
            <a:endParaRPr b="0" lang="en-US" sz="1400" strike="noStrike" u="none">
              <a:solidFill>
                <a:srgbClr val="000000"/>
              </a:solidFill>
              <a:effectLst/>
              <a:uFillTx/>
              <a:latin typeface="Arial"/>
            </a:endParaRPr>
          </a:p>
        </p:txBody>
      </p:sp>
      <p:cxnSp>
        <p:nvCxnSpPr>
          <p:cNvPr id="712" name="Línea 208"/>
          <p:cNvCxnSpPr/>
          <p:nvPr/>
        </p:nvCxnSpPr>
        <p:spPr>
          <a:xfrm>
            <a:off x="6451560" y="4012920"/>
            <a:ext cx="5131080" cy="360"/>
          </a:xfrm>
          <a:prstGeom prst="straightConnector1">
            <a:avLst/>
          </a:prstGeom>
          <a:ln w="12700">
            <a:solidFill>
              <a:srgbClr val="c9ced6"/>
            </a:solidFill>
            <a:round/>
          </a:ln>
        </p:spPr>
      </p:cxnSp>
      <p:cxnSp>
        <p:nvCxnSpPr>
          <p:cNvPr id="713" name="Línea 209"/>
          <p:cNvCxnSpPr/>
          <p:nvPr/>
        </p:nvCxnSpPr>
        <p:spPr>
          <a:xfrm>
            <a:off x="6964560" y="3174840"/>
            <a:ext cx="360" cy="1092600"/>
          </a:xfrm>
          <a:prstGeom prst="straightConnector1">
            <a:avLst/>
          </a:prstGeom>
          <a:ln w="12700">
            <a:solidFill>
              <a:srgbClr val="5f6670"/>
            </a:solidFill>
            <a:prstDash val="dash"/>
            <a:round/>
          </a:ln>
        </p:spPr>
      </p:cxnSp>
      <p:sp>
        <p:nvSpPr>
          <p:cNvPr id="714" name="Forma 210"/>
          <p:cNvSpPr/>
          <p:nvPr/>
        </p:nvSpPr>
        <p:spPr>
          <a:xfrm>
            <a:off x="6710760" y="4292640"/>
            <a:ext cx="507600" cy="228240"/>
          </a:xfrm>
          <a:prstGeom prst="rect">
            <a:avLst/>
          </a:prstGeom>
          <a:noFill/>
          <a:ln w="0">
            <a:noFill/>
          </a:ln>
        </p:spPr>
        <p:style>
          <a:lnRef idx="0"/>
          <a:fillRef idx="0"/>
          <a:effectRef idx="0"/>
          <a:fontRef idx="minor"/>
        </p:style>
        <p:txBody>
          <a:bodyPr wrap="none" lIns="0" rIns="0" tIns="0" bIns="0" anchor="t">
            <a:noAutofit/>
          </a:bodyPr>
          <a:p>
            <a:pPr algn="ctr" defTabSz="914400">
              <a:lnSpc>
                <a:spcPct val="100000"/>
              </a:lnSpc>
            </a:pPr>
            <a:r>
              <a:rPr b="1" lang="es-CL" sz="1400" strike="noStrike" u="none">
                <a:solidFill>
                  <a:srgbClr val="5f6670"/>
                </a:solidFill>
                <a:effectLst/>
                <a:uFillTx/>
                <a:latin typeface="Calibri"/>
              </a:rPr>
              <a:t>0</a:t>
            </a:r>
            <a:endParaRPr b="0" lang="en-US" sz="1400" strike="noStrike" u="none">
              <a:solidFill>
                <a:srgbClr val="000000"/>
              </a:solidFill>
              <a:effectLst/>
              <a:uFillTx/>
              <a:latin typeface="Arial"/>
            </a:endParaRPr>
          </a:p>
        </p:txBody>
      </p:sp>
      <p:sp>
        <p:nvSpPr>
          <p:cNvPr id="715" name="Forma 211"/>
          <p:cNvSpPr/>
          <p:nvPr/>
        </p:nvSpPr>
        <p:spPr>
          <a:xfrm>
            <a:off x="8175600" y="3962520"/>
            <a:ext cx="2821680" cy="101160"/>
          </a:xfrm>
          <a:prstGeom prst="rect">
            <a:avLst/>
          </a:prstGeom>
          <a:solidFill>
            <a:srgbClr val="0176de"/>
          </a:solidFill>
          <a:ln w="0">
            <a:noFill/>
          </a:ln>
        </p:spPr>
        <p:style>
          <a:lnRef idx="0"/>
          <a:fillRef idx="0"/>
          <a:effectRef idx="0"/>
          <a:fontRef idx="minor"/>
        </p:style>
        <p:txBody>
          <a:bodyPr wrap="none"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716" name="Forma 212"/>
          <p:cNvSpPr/>
          <p:nvPr/>
        </p:nvSpPr>
        <p:spPr>
          <a:xfrm>
            <a:off x="9482400" y="3924360"/>
            <a:ext cx="177480" cy="177480"/>
          </a:xfrm>
          <a:prstGeom prst="ellipse">
            <a:avLst/>
          </a:prstGeom>
          <a:solidFill>
            <a:srgbClr val="1a1e2b"/>
          </a:solidFill>
          <a:ln w="19050">
            <a:solidFill>
              <a:srgbClr val="ffffff"/>
            </a:solidFill>
            <a:round/>
          </a:ln>
        </p:spPr>
        <p:style>
          <a:lnRef idx="0"/>
          <a:fillRef idx="0"/>
          <a:effectRef idx="0"/>
          <a:fontRef idx="minor"/>
        </p:style>
        <p:txBody>
          <a:bodyPr wrap="none" lIns="0" rIns="0" tIns="0" bIns="0" anchor="t">
            <a:noAutofit/>
          </a:bodyPr>
          <a:p>
            <a:pPr defTabSz="914400">
              <a:lnSpc>
                <a:spcPct val="100000"/>
              </a:lnSpc>
            </a:pPr>
            <a:endParaRPr b="0" lang="es-CL" sz="1800" strike="noStrike" u="none">
              <a:solidFill>
                <a:schemeClr val="dk1"/>
              </a:solidFill>
              <a:effectLst/>
              <a:uFillTx/>
              <a:latin typeface="Calibri"/>
            </a:endParaRPr>
          </a:p>
        </p:txBody>
      </p:sp>
      <p:sp>
        <p:nvSpPr>
          <p:cNvPr id="717" name="Forma 213"/>
          <p:cNvSpPr/>
          <p:nvPr/>
        </p:nvSpPr>
        <p:spPr>
          <a:xfrm>
            <a:off x="8936280" y="3530520"/>
            <a:ext cx="1269720" cy="279000"/>
          </a:xfrm>
          <a:prstGeom prst="rect">
            <a:avLst/>
          </a:prstGeom>
          <a:noFill/>
          <a:ln w="0">
            <a:noFill/>
          </a:ln>
        </p:spPr>
        <p:style>
          <a:lnRef idx="0"/>
          <a:fillRef idx="0"/>
          <a:effectRef idx="0"/>
          <a:fontRef idx="minor"/>
        </p:style>
        <p:txBody>
          <a:bodyPr wrap="none" lIns="0" rIns="0" tIns="0" bIns="0" anchor="t">
            <a:noAutofit/>
          </a:bodyPr>
          <a:p>
            <a:pPr algn="ctr" defTabSz="914400">
              <a:lnSpc>
                <a:spcPct val="100000"/>
              </a:lnSpc>
            </a:pPr>
            <a:r>
              <a:rPr b="1" lang="es-CL" sz="1600" strike="noStrike" u="none">
                <a:solidFill>
                  <a:srgbClr val="1a1e2b"/>
                </a:solidFill>
                <a:effectLst/>
                <a:uFillTx/>
                <a:latin typeface="Calibri"/>
              </a:rPr>
              <a:t>≈ 0,0254</a:t>
            </a:r>
            <a:endParaRPr b="0" lang="en-US" sz="1600" strike="noStrike" u="none">
              <a:solidFill>
                <a:srgbClr val="000000"/>
              </a:solidFill>
              <a:effectLst/>
              <a:uFillTx/>
              <a:latin typeface="Arial"/>
            </a:endParaRPr>
          </a:p>
        </p:txBody>
      </p:sp>
      <p:sp>
        <p:nvSpPr>
          <p:cNvPr id="718" name="Forma 214"/>
          <p:cNvSpPr/>
          <p:nvPr/>
        </p:nvSpPr>
        <p:spPr>
          <a:xfrm>
            <a:off x="7667640" y="4191120"/>
            <a:ext cx="1015560" cy="228240"/>
          </a:xfrm>
          <a:prstGeom prst="rect">
            <a:avLst/>
          </a:prstGeom>
          <a:noFill/>
          <a:ln w="0">
            <a:noFill/>
          </a:ln>
        </p:spPr>
        <p:style>
          <a:lnRef idx="0"/>
          <a:fillRef idx="0"/>
          <a:effectRef idx="0"/>
          <a:fontRef idx="minor"/>
        </p:style>
        <p:txBody>
          <a:bodyPr wrap="none" lIns="0" rIns="0" tIns="0" bIns="0" anchor="t">
            <a:noAutofit/>
          </a:bodyPr>
          <a:p>
            <a:pPr algn="ctr" defTabSz="914400">
              <a:lnSpc>
                <a:spcPct val="100000"/>
              </a:lnSpc>
            </a:pPr>
            <a:r>
              <a:rPr b="0" lang="es-CL" sz="1400" strike="noStrike" u="none">
                <a:solidFill>
                  <a:srgbClr val="1a1e2b"/>
                </a:solidFill>
                <a:effectLst/>
                <a:uFillTx/>
                <a:latin typeface="Calibri"/>
              </a:rPr>
              <a:t>0,0118</a:t>
            </a:r>
            <a:endParaRPr b="0" lang="en-US" sz="1400" strike="noStrike" u="none">
              <a:solidFill>
                <a:srgbClr val="000000"/>
              </a:solidFill>
              <a:effectLst/>
              <a:uFillTx/>
              <a:latin typeface="Arial"/>
            </a:endParaRPr>
          </a:p>
        </p:txBody>
      </p:sp>
      <p:sp>
        <p:nvSpPr>
          <p:cNvPr id="719" name="Forma 215"/>
          <p:cNvSpPr/>
          <p:nvPr/>
        </p:nvSpPr>
        <p:spPr>
          <a:xfrm>
            <a:off x="10489320" y="4191120"/>
            <a:ext cx="1015560" cy="228240"/>
          </a:xfrm>
          <a:prstGeom prst="rect">
            <a:avLst/>
          </a:prstGeom>
          <a:noFill/>
          <a:ln w="0">
            <a:noFill/>
          </a:ln>
        </p:spPr>
        <p:style>
          <a:lnRef idx="0"/>
          <a:fillRef idx="0"/>
          <a:effectRef idx="0"/>
          <a:fontRef idx="minor"/>
        </p:style>
        <p:txBody>
          <a:bodyPr wrap="none" lIns="0" rIns="0" tIns="0" bIns="0" anchor="t">
            <a:noAutofit/>
          </a:bodyPr>
          <a:p>
            <a:pPr algn="ctr" defTabSz="914400">
              <a:lnSpc>
                <a:spcPct val="100000"/>
              </a:lnSpc>
            </a:pPr>
            <a:r>
              <a:rPr b="0" lang="es-CL" sz="1400" strike="noStrike" u="none">
                <a:solidFill>
                  <a:srgbClr val="1a1e2b"/>
                </a:solidFill>
                <a:effectLst/>
                <a:uFillTx/>
                <a:latin typeface="Calibri"/>
              </a:rPr>
              <a:t>0,0393</a:t>
            </a:r>
            <a:endParaRPr b="0" lang="en-US" sz="1400" strike="noStrike" u="none">
              <a:solidFill>
                <a:srgbClr val="000000"/>
              </a:solidFill>
              <a:effectLst/>
              <a:uFillTx/>
              <a:latin typeface="Arial"/>
            </a:endParaRPr>
          </a:p>
        </p:txBody>
      </p:sp>
      <p:sp>
        <p:nvSpPr>
          <p:cNvPr id="720" name="Forma 216"/>
          <p:cNvSpPr/>
          <p:nvPr/>
        </p:nvSpPr>
        <p:spPr>
          <a:xfrm>
            <a:off x="8175600" y="4470480"/>
            <a:ext cx="2821680" cy="228240"/>
          </a:xfrm>
          <a:prstGeom prst="rect">
            <a:avLst/>
          </a:prstGeom>
          <a:noFill/>
          <a:ln w="0">
            <a:noFill/>
          </a:ln>
        </p:spPr>
        <p:style>
          <a:lnRef idx="0"/>
          <a:fillRef idx="0"/>
          <a:effectRef idx="0"/>
          <a:fontRef idx="minor"/>
        </p:style>
        <p:txBody>
          <a:bodyPr wrap="none" lIns="0" rIns="0" tIns="0" bIns="0" anchor="t">
            <a:noAutofit/>
          </a:bodyPr>
          <a:p>
            <a:pPr algn="ctr" defTabSz="914400">
              <a:lnSpc>
                <a:spcPct val="100000"/>
              </a:lnSpc>
            </a:pPr>
            <a:r>
              <a:rPr b="1" lang="es-CL" sz="1400" strike="noStrike" u="none">
                <a:solidFill>
                  <a:srgbClr val="0176de"/>
                </a:solidFill>
                <a:effectLst/>
                <a:uFillTx/>
                <a:latin typeface="Calibri"/>
              </a:rPr>
              <a:t>el intervalo no contiene 0</a:t>
            </a:r>
            <a:endParaRPr b="0" lang="en-US" sz="1400" strike="noStrike" u="none">
              <a:solidFill>
                <a:srgbClr val="000000"/>
              </a:solidFill>
              <a:effectLst/>
              <a:uFillTx/>
              <a:latin typeface="Arial"/>
            </a:endParaRPr>
          </a:p>
        </p:txBody>
      </p:sp>
      <p:sp>
        <p:nvSpPr>
          <p:cNvPr id="721" name="Progreso 1"/>
          <p:cNvSpPr/>
          <p:nvPr/>
        </p:nvSpPr>
        <p:spPr>
          <a:xfrm>
            <a:off x="101347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2" name="Progreso 2"/>
          <p:cNvSpPr/>
          <p:nvPr/>
        </p:nvSpPr>
        <p:spPr>
          <a:xfrm>
            <a:off x="1032048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3" name="Progreso 3"/>
          <p:cNvSpPr/>
          <p:nvPr/>
        </p:nvSpPr>
        <p:spPr>
          <a:xfrm>
            <a:off x="105062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4" name="Progreso 4"/>
          <p:cNvSpPr/>
          <p:nvPr/>
        </p:nvSpPr>
        <p:spPr>
          <a:xfrm>
            <a:off x="1069164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5" name="Progreso 5"/>
          <p:cNvSpPr/>
          <p:nvPr/>
        </p:nvSpPr>
        <p:spPr>
          <a:xfrm>
            <a:off x="1087740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6" name="Progreso 6"/>
          <p:cNvSpPr/>
          <p:nvPr/>
        </p:nvSpPr>
        <p:spPr>
          <a:xfrm>
            <a:off x="1106316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7" name="Progreso 7"/>
          <p:cNvSpPr/>
          <p:nvPr/>
        </p:nvSpPr>
        <p:spPr>
          <a:xfrm>
            <a:off x="11248920" y="457200"/>
            <a:ext cx="147240" cy="37800"/>
          </a:xfrm>
          <a:prstGeom prst="rect">
            <a:avLst/>
          </a:prstGeom>
          <a:solidFill>
            <a:srgbClr val="9aa3a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
        <p:nvSpPr>
          <p:cNvPr id="728" name="Progreso 8"/>
          <p:cNvSpPr/>
          <p:nvPr/>
        </p:nvSpPr>
        <p:spPr>
          <a:xfrm>
            <a:off x="11434680" y="457200"/>
            <a:ext cx="147240" cy="37800"/>
          </a:xfrm>
          <a:prstGeom prst="rect">
            <a:avLst/>
          </a:prstGeom>
          <a:solidFill>
            <a:srgbClr val="0176de"/>
          </a:solidFill>
          <a:ln>
            <a:noFill/>
          </a:ln>
        </p:spPr>
        <p:style>
          <a:lnRef idx="2">
            <a:schemeClr val="accent1">
              <a:shade val="15000"/>
            </a:schemeClr>
          </a:lnRef>
          <a:fillRef idx="1">
            <a:schemeClr val="accent1"/>
          </a:fillRef>
          <a:effectRef idx="0">
            <a:schemeClr val="accent1"/>
          </a:effectRef>
          <a:fontRef idx="minor"/>
        </p:style>
        <p:txBody>
          <a:bodyPr horzOverflow="clip" vertOverflow="clip" lIns="90000" rIns="90000" tIns="-6840" bIns="-6840" anchor="t">
            <a:noAutofit/>
          </a:bodyPr>
          <a:p>
            <a:pPr defTabSz="914400">
              <a:lnSpc>
                <a:spcPct val="100000"/>
              </a:lnSpc>
            </a:pPr>
            <a:endParaRPr b="0" lang="es-CL" sz="1800" strike="noStrike" u="none">
              <a:solidFill>
                <a:schemeClr val="lt1"/>
              </a:solidFill>
              <a:effectLst/>
              <a:uFillTx/>
              <a:latin typeface="Calibri"/>
            </a:endParaRPr>
          </a:p>
        </p:txBody>
      </p:sp>
    </p:spTree>
  </p:cSld>
  <p:transition spd="med" advTm="30000">
    <p:fade/>
  </p:transition>
  <p:timing>
    <p:tnLst>
      <p:par>
        <p:cTn id="568" dur="indefinite" restart="never" nodeType="tmRoot">
          <p:childTnLst>
            <p:seq>
              <p:cTn id="569" dur="indefinite" nodeType="mainSeq">
                <p:childTnLst>
                  <p:par>
                    <p:cTn id="570" fill="hold">
                      <p:stCondLst>
                        <p:cond delay="indefinite"/>
                      </p:stCondLst>
                      <p:childTnLst>
                        <p:par>
                          <p:cTn id="571" fill="hold">
                            <p:stCondLst>
                              <p:cond delay="0"/>
                            </p:stCondLst>
                            <p:childTnLst>
                              <p:par>
                                <p:cTn id="572" nodeType="clickEffect" fill="hold" presetClass="entr" presetID="10">
                                  <p:stCondLst>
                                    <p:cond delay="0"/>
                                  </p:stCondLst>
                                  <p:childTnLst>
                                    <p:set>
                                      <p:cBhvr>
                                        <p:cTn id="573" dur="1" fill="hold">
                                          <p:stCondLst>
                                            <p:cond delay="0"/>
                                          </p:stCondLst>
                                        </p:cTn>
                                        <p:tgtEl>
                                          <p:spTgt spid="698"/>
                                        </p:tgtEl>
                                        <p:attrNameLst>
                                          <p:attrName>style.visibility</p:attrName>
                                        </p:attrNameLst>
                                      </p:cBhvr>
                                      <p:to>
                                        <p:strVal val="visible"/>
                                      </p:to>
                                    </p:set>
                                    <p:animEffect filter="fade" transition="in">
                                      <p:cBhvr additive="repl">
                                        <p:cTn id="574" dur="500"/>
                                        <p:tgtEl>
                                          <p:spTgt spid="698"/>
                                        </p:tgtEl>
                                      </p:cBhvr>
                                    </p:animEffect>
                                  </p:childTnLst>
                                </p:cTn>
                              </p:par>
                              <p:par>
                                <p:cTn id="575" nodeType="withEffect" fill="hold" presetClass="entr" presetID="10">
                                  <p:stCondLst>
                                    <p:cond delay="0"/>
                                  </p:stCondLst>
                                  <p:childTnLst>
                                    <p:set>
                                      <p:cBhvr>
                                        <p:cTn id="576" dur="1" fill="hold">
                                          <p:stCondLst>
                                            <p:cond delay="0"/>
                                          </p:stCondLst>
                                        </p:cTn>
                                        <p:tgtEl>
                                          <p:spTgt spid="699"/>
                                        </p:tgtEl>
                                        <p:attrNameLst>
                                          <p:attrName>style.visibility</p:attrName>
                                        </p:attrNameLst>
                                      </p:cBhvr>
                                      <p:to>
                                        <p:strVal val="visible"/>
                                      </p:to>
                                    </p:set>
                                    <p:animEffect filter="fade" transition="in">
                                      <p:cBhvr additive="repl">
                                        <p:cTn id="577" dur="500"/>
                                        <p:tgtEl>
                                          <p:spTgt spid="699"/>
                                        </p:tgtEl>
                                      </p:cBhvr>
                                    </p:animEffect>
                                  </p:childTnLst>
                                </p:cTn>
                              </p:par>
                              <p:par>
                                <p:cTn id="578" nodeType="withEffect" fill="hold" presetClass="entr" presetID="10">
                                  <p:stCondLst>
                                    <p:cond delay="0"/>
                                  </p:stCondLst>
                                  <p:childTnLst>
                                    <p:set>
                                      <p:cBhvr>
                                        <p:cTn id="579" dur="1" fill="hold">
                                          <p:stCondLst>
                                            <p:cond delay="0"/>
                                          </p:stCondLst>
                                        </p:cTn>
                                        <p:tgtEl>
                                          <p:spTgt spid="705"/>
                                        </p:tgtEl>
                                        <p:attrNameLst>
                                          <p:attrName>style.visibility</p:attrName>
                                        </p:attrNameLst>
                                      </p:cBhvr>
                                      <p:to>
                                        <p:strVal val="visible"/>
                                      </p:to>
                                    </p:set>
                                    <p:animEffect filter="fade" transition="in">
                                      <p:cBhvr additive="repl">
                                        <p:cTn id="580" dur="500"/>
                                        <p:tgtEl>
                                          <p:spTgt spid="705"/>
                                        </p:tgtEl>
                                      </p:cBhvr>
                                    </p:animEffect>
                                  </p:childTnLst>
                                </p:cTn>
                              </p:par>
                              <p:par>
                                <p:cTn id="581" nodeType="withEffect" fill="hold" presetClass="entr" presetID="10">
                                  <p:stCondLst>
                                    <p:cond delay="0"/>
                                  </p:stCondLst>
                                  <p:childTnLst>
                                    <p:set>
                                      <p:cBhvr>
                                        <p:cTn id="582" dur="1" fill="hold">
                                          <p:stCondLst>
                                            <p:cond delay="0"/>
                                          </p:stCondLst>
                                        </p:cTn>
                                        <p:tgtEl>
                                          <p:spTgt spid="706"/>
                                        </p:tgtEl>
                                        <p:attrNameLst>
                                          <p:attrName>style.visibility</p:attrName>
                                        </p:attrNameLst>
                                      </p:cBhvr>
                                      <p:to>
                                        <p:strVal val="visible"/>
                                      </p:to>
                                    </p:set>
                                    <p:animEffect filter="fade" transition="in">
                                      <p:cBhvr additive="repl">
                                        <p:cTn id="583" dur="500"/>
                                        <p:tgtEl>
                                          <p:spTgt spid="706"/>
                                        </p:tgtEl>
                                      </p:cBhvr>
                                    </p:animEffect>
                                  </p:childTnLst>
                                </p:cTn>
                              </p:par>
                              <p:par>
                                <p:cTn id="584" nodeType="withEffect" fill="hold" presetClass="entr" presetID="10">
                                  <p:stCondLst>
                                    <p:cond delay="0"/>
                                  </p:stCondLst>
                                  <p:childTnLst>
                                    <p:set>
                                      <p:cBhvr>
                                        <p:cTn id="585" dur="1" fill="hold">
                                          <p:stCondLst>
                                            <p:cond delay="0"/>
                                          </p:stCondLst>
                                        </p:cTn>
                                        <p:tgtEl>
                                          <p:spTgt spid="707"/>
                                        </p:tgtEl>
                                        <p:attrNameLst>
                                          <p:attrName>style.visibility</p:attrName>
                                        </p:attrNameLst>
                                      </p:cBhvr>
                                      <p:to>
                                        <p:strVal val="visible"/>
                                      </p:to>
                                    </p:set>
                                    <p:animEffect filter="fade" transition="in">
                                      <p:cBhvr additive="repl">
                                        <p:cTn id="586" dur="500"/>
                                        <p:tgtEl>
                                          <p:spTgt spid="707"/>
                                        </p:tgtEl>
                                      </p:cBhvr>
                                    </p:animEffect>
                                  </p:childTnLst>
                                </p:cTn>
                              </p:par>
                              <p:par>
                                <p:cTn id="587" nodeType="withEffect" fill="hold" presetClass="entr" presetID="10">
                                  <p:stCondLst>
                                    <p:cond delay="0"/>
                                  </p:stCondLst>
                                  <p:childTnLst>
                                    <p:set>
                                      <p:cBhvr>
                                        <p:cTn id="588" dur="1" fill="hold">
                                          <p:stCondLst>
                                            <p:cond delay="0"/>
                                          </p:stCondLst>
                                        </p:cTn>
                                        <p:tgtEl>
                                          <p:spTgt spid="708"/>
                                        </p:tgtEl>
                                        <p:attrNameLst>
                                          <p:attrName>style.visibility</p:attrName>
                                        </p:attrNameLst>
                                      </p:cBhvr>
                                      <p:to>
                                        <p:strVal val="visible"/>
                                      </p:to>
                                    </p:set>
                                    <p:animEffect filter="fade" transition="in">
                                      <p:cBhvr additive="repl">
                                        <p:cTn id="589" dur="500"/>
                                        <p:tgtEl>
                                          <p:spTgt spid="708"/>
                                        </p:tgtEl>
                                      </p:cBhvr>
                                    </p:animEffect>
                                  </p:childTnLst>
                                </p:cTn>
                              </p:par>
                              <p:par>
                                <p:cTn id="590" nodeType="withEffect" fill="hold" presetClass="entr" presetID="10">
                                  <p:stCondLst>
                                    <p:cond delay="0"/>
                                  </p:stCondLst>
                                  <p:childTnLst>
                                    <p:set>
                                      <p:cBhvr>
                                        <p:cTn id="591" dur="1" fill="hold">
                                          <p:stCondLst>
                                            <p:cond delay="0"/>
                                          </p:stCondLst>
                                        </p:cTn>
                                        <p:tgtEl>
                                          <p:spTgt spid="709"/>
                                        </p:tgtEl>
                                        <p:attrNameLst>
                                          <p:attrName>style.visibility</p:attrName>
                                        </p:attrNameLst>
                                      </p:cBhvr>
                                      <p:to>
                                        <p:strVal val="visible"/>
                                      </p:to>
                                    </p:set>
                                    <p:animEffect filter="fade" transition="in">
                                      <p:cBhvr additive="repl">
                                        <p:cTn id="592" dur="500"/>
                                        <p:tgtEl>
                                          <p:spTgt spid="709"/>
                                        </p:tgtEl>
                                      </p:cBhvr>
                                    </p:animEffect>
                                  </p:childTnLst>
                                </p:cTn>
                              </p:par>
                              <p:par>
                                <p:cTn id="593" nodeType="withEffect" fill="hold" presetClass="entr" presetID="10">
                                  <p:stCondLst>
                                    <p:cond delay="0"/>
                                  </p:stCondLst>
                                  <p:childTnLst>
                                    <p:set>
                                      <p:cBhvr>
                                        <p:cTn id="594" dur="1" fill="hold">
                                          <p:stCondLst>
                                            <p:cond delay="0"/>
                                          </p:stCondLst>
                                        </p:cTn>
                                        <p:tgtEl>
                                          <p:spTgt spid="710"/>
                                        </p:tgtEl>
                                        <p:attrNameLst>
                                          <p:attrName>style.visibility</p:attrName>
                                        </p:attrNameLst>
                                      </p:cBhvr>
                                      <p:to>
                                        <p:strVal val="visible"/>
                                      </p:to>
                                    </p:set>
                                    <p:animEffect filter="fade" transition="in">
                                      <p:cBhvr additive="repl">
                                        <p:cTn id="595" dur="500"/>
                                        <p:tgtEl>
                                          <p:spTgt spid="710"/>
                                        </p:tgtEl>
                                      </p:cBhvr>
                                    </p:animEffect>
                                  </p:childTnLst>
                                </p:cTn>
                              </p:par>
                            </p:childTnLst>
                          </p:cTn>
                        </p:par>
                      </p:childTnLst>
                    </p:cTn>
                  </p:par>
                  <p:par>
                    <p:cTn id="596" fill="hold">
                      <p:stCondLst>
                        <p:cond delay="indefinite"/>
                      </p:stCondLst>
                      <p:childTnLst>
                        <p:par>
                          <p:cTn id="597" fill="hold">
                            <p:stCondLst>
                              <p:cond delay="0"/>
                            </p:stCondLst>
                            <p:childTnLst>
                              <p:par>
                                <p:cTn id="598" nodeType="clickEffect" fill="hold" presetClass="entr" presetID="10">
                                  <p:stCondLst>
                                    <p:cond delay="0"/>
                                  </p:stCondLst>
                                  <p:childTnLst>
                                    <p:set>
                                      <p:cBhvr>
                                        <p:cTn id="599" dur="1" fill="hold">
                                          <p:stCondLst>
                                            <p:cond delay="0"/>
                                          </p:stCondLst>
                                        </p:cTn>
                                        <p:tgtEl>
                                          <p:spTgt spid="700"/>
                                        </p:tgtEl>
                                        <p:attrNameLst>
                                          <p:attrName>style.visibility</p:attrName>
                                        </p:attrNameLst>
                                      </p:cBhvr>
                                      <p:to>
                                        <p:strVal val="visible"/>
                                      </p:to>
                                    </p:set>
                                    <p:animEffect filter="fade" transition="in">
                                      <p:cBhvr additive="repl">
                                        <p:cTn id="600" dur="500"/>
                                        <p:tgtEl>
                                          <p:spTgt spid="700"/>
                                        </p:tgtEl>
                                      </p:cBhvr>
                                    </p:animEffect>
                                  </p:childTnLst>
                                </p:cTn>
                              </p:par>
                            </p:childTnLst>
                          </p:cTn>
                        </p:par>
                      </p:childTnLst>
                    </p:cTn>
                  </p:par>
                  <p:par>
                    <p:cTn id="601" fill="hold">
                      <p:stCondLst>
                        <p:cond delay="indefinite"/>
                      </p:stCondLst>
                      <p:childTnLst>
                        <p:par>
                          <p:cTn id="602" fill="hold">
                            <p:stCondLst>
                              <p:cond delay="0"/>
                            </p:stCondLst>
                            <p:childTnLst>
                              <p:par>
                                <p:cTn id="603" nodeType="clickEffect" fill="hold" presetClass="entr" presetID="10">
                                  <p:stCondLst>
                                    <p:cond delay="0"/>
                                  </p:stCondLst>
                                  <p:childTnLst>
                                    <p:set>
                                      <p:cBhvr>
                                        <p:cTn id="604" dur="1" fill="hold">
                                          <p:stCondLst>
                                            <p:cond delay="0"/>
                                          </p:stCondLst>
                                        </p:cTn>
                                        <p:tgtEl>
                                          <p:spTgt spid="701"/>
                                        </p:tgtEl>
                                        <p:attrNameLst>
                                          <p:attrName>style.visibility</p:attrName>
                                        </p:attrNameLst>
                                      </p:cBhvr>
                                      <p:to>
                                        <p:strVal val="visible"/>
                                      </p:to>
                                    </p:set>
                                    <p:animEffect filter="fade" transition="in">
                                      <p:cBhvr additive="repl">
                                        <p:cTn id="605" dur="500"/>
                                        <p:tgtEl>
                                          <p:spTgt spid="701"/>
                                        </p:tgtEl>
                                      </p:cBhvr>
                                    </p:animEffect>
                                  </p:childTnLst>
                                </p:cTn>
                              </p:par>
                              <p:par>
                                <p:cTn id="606" nodeType="withEffect" fill="hold" presetClass="entr" presetID="10">
                                  <p:stCondLst>
                                    <p:cond delay="0"/>
                                  </p:stCondLst>
                                  <p:childTnLst>
                                    <p:set>
                                      <p:cBhvr>
                                        <p:cTn id="607" dur="1" fill="hold">
                                          <p:stCondLst>
                                            <p:cond delay="0"/>
                                          </p:stCondLst>
                                        </p:cTn>
                                        <p:tgtEl>
                                          <p:spTgt spid="702"/>
                                        </p:tgtEl>
                                        <p:attrNameLst>
                                          <p:attrName>style.visibility</p:attrName>
                                        </p:attrNameLst>
                                      </p:cBhvr>
                                      <p:to>
                                        <p:strVal val="visible"/>
                                      </p:to>
                                    </p:set>
                                    <p:animEffect filter="fade" transition="in">
                                      <p:cBhvr additive="repl">
                                        <p:cTn id="608" dur="500"/>
                                        <p:tgtEl>
                                          <p:spTgt spid="702"/>
                                        </p:tgtEl>
                                      </p:cBhvr>
                                    </p:animEffect>
                                  </p:childTnLst>
                                </p:cTn>
                              </p:par>
                              <p:par>
                                <p:cTn id="609" nodeType="withEffect" fill="hold" presetClass="entr" presetID="10">
                                  <p:stCondLst>
                                    <p:cond delay="0"/>
                                  </p:stCondLst>
                                  <p:childTnLst>
                                    <p:set>
                                      <p:cBhvr>
                                        <p:cTn id="610" dur="1" fill="hold">
                                          <p:stCondLst>
                                            <p:cond delay="0"/>
                                          </p:stCondLst>
                                        </p:cTn>
                                        <p:tgtEl>
                                          <p:spTgt spid="711"/>
                                        </p:tgtEl>
                                        <p:attrNameLst>
                                          <p:attrName>style.visibility</p:attrName>
                                        </p:attrNameLst>
                                      </p:cBhvr>
                                      <p:to>
                                        <p:strVal val="visible"/>
                                      </p:to>
                                    </p:set>
                                    <p:animEffect filter="fade" transition="in">
                                      <p:cBhvr additive="repl">
                                        <p:cTn id="611" dur="500"/>
                                        <p:tgtEl>
                                          <p:spTgt spid="711"/>
                                        </p:tgtEl>
                                      </p:cBhvr>
                                    </p:animEffect>
                                  </p:childTnLst>
                                </p:cTn>
                              </p:par>
                              <p:par>
                                <p:cTn id="612" nodeType="withEffect" fill="hold" presetClass="entr" presetID="10">
                                  <p:stCondLst>
                                    <p:cond delay="0"/>
                                  </p:stCondLst>
                                  <p:childTnLst>
                                    <p:set>
                                      <p:cBhvr>
                                        <p:cTn id="613" dur="1" fill="hold">
                                          <p:stCondLst>
                                            <p:cond delay="0"/>
                                          </p:stCondLst>
                                        </p:cTn>
                                        <p:tgtEl>
                                          <p:spTgt spid="712"/>
                                        </p:tgtEl>
                                        <p:attrNameLst>
                                          <p:attrName>style.visibility</p:attrName>
                                        </p:attrNameLst>
                                      </p:cBhvr>
                                      <p:to>
                                        <p:strVal val="visible"/>
                                      </p:to>
                                    </p:set>
                                    <p:animEffect filter="fade" transition="in">
                                      <p:cBhvr additive="repl">
                                        <p:cTn id="614" dur="500"/>
                                        <p:tgtEl>
                                          <p:spTgt spid="712"/>
                                        </p:tgtEl>
                                      </p:cBhvr>
                                    </p:animEffect>
                                  </p:childTnLst>
                                </p:cTn>
                              </p:par>
                              <p:par>
                                <p:cTn id="615" nodeType="withEffect" fill="hold" presetClass="entr" presetID="10">
                                  <p:stCondLst>
                                    <p:cond delay="0"/>
                                  </p:stCondLst>
                                  <p:childTnLst>
                                    <p:set>
                                      <p:cBhvr>
                                        <p:cTn id="616" dur="1" fill="hold">
                                          <p:stCondLst>
                                            <p:cond delay="0"/>
                                          </p:stCondLst>
                                        </p:cTn>
                                        <p:tgtEl>
                                          <p:spTgt spid="713"/>
                                        </p:tgtEl>
                                        <p:attrNameLst>
                                          <p:attrName>style.visibility</p:attrName>
                                        </p:attrNameLst>
                                      </p:cBhvr>
                                      <p:to>
                                        <p:strVal val="visible"/>
                                      </p:to>
                                    </p:set>
                                    <p:animEffect filter="fade" transition="in">
                                      <p:cBhvr additive="repl">
                                        <p:cTn id="617" dur="500"/>
                                        <p:tgtEl>
                                          <p:spTgt spid="713"/>
                                        </p:tgtEl>
                                      </p:cBhvr>
                                    </p:animEffect>
                                  </p:childTnLst>
                                </p:cTn>
                              </p:par>
                              <p:par>
                                <p:cTn id="618" nodeType="withEffect" fill="hold" presetClass="entr" presetID="10">
                                  <p:stCondLst>
                                    <p:cond delay="0"/>
                                  </p:stCondLst>
                                  <p:childTnLst>
                                    <p:set>
                                      <p:cBhvr>
                                        <p:cTn id="619" dur="1" fill="hold">
                                          <p:stCondLst>
                                            <p:cond delay="0"/>
                                          </p:stCondLst>
                                        </p:cTn>
                                        <p:tgtEl>
                                          <p:spTgt spid="714"/>
                                        </p:tgtEl>
                                        <p:attrNameLst>
                                          <p:attrName>style.visibility</p:attrName>
                                        </p:attrNameLst>
                                      </p:cBhvr>
                                      <p:to>
                                        <p:strVal val="visible"/>
                                      </p:to>
                                    </p:set>
                                    <p:animEffect filter="fade" transition="in">
                                      <p:cBhvr additive="repl">
                                        <p:cTn id="620" dur="500"/>
                                        <p:tgtEl>
                                          <p:spTgt spid="714"/>
                                        </p:tgtEl>
                                      </p:cBhvr>
                                    </p:animEffect>
                                  </p:childTnLst>
                                </p:cTn>
                              </p:par>
                              <p:par>
                                <p:cTn id="621" nodeType="withEffect" fill="hold" presetClass="entr" presetID="10">
                                  <p:stCondLst>
                                    <p:cond delay="0"/>
                                  </p:stCondLst>
                                  <p:childTnLst>
                                    <p:set>
                                      <p:cBhvr>
                                        <p:cTn id="622" dur="1" fill="hold">
                                          <p:stCondLst>
                                            <p:cond delay="0"/>
                                          </p:stCondLst>
                                        </p:cTn>
                                        <p:tgtEl>
                                          <p:spTgt spid="715"/>
                                        </p:tgtEl>
                                        <p:attrNameLst>
                                          <p:attrName>style.visibility</p:attrName>
                                        </p:attrNameLst>
                                      </p:cBhvr>
                                      <p:to>
                                        <p:strVal val="visible"/>
                                      </p:to>
                                    </p:set>
                                    <p:animEffect filter="fade" transition="in">
                                      <p:cBhvr additive="repl">
                                        <p:cTn id="623" dur="500"/>
                                        <p:tgtEl>
                                          <p:spTgt spid="715"/>
                                        </p:tgtEl>
                                      </p:cBhvr>
                                    </p:animEffect>
                                  </p:childTnLst>
                                </p:cTn>
                              </p:par>
                              <p:par>
                                <p:cTn id="624" nodeType="withEffect" fill="hold" presetClass="entr" presetID="10">
                                  <p:stCondLst>
                                    <p:cond delay="0"/>
                                  </p:stCondLst>
                                  <p:childTnLst>
                                    <p:set>
                                      <p:cBhvr>
                                        <p:cTn id="625" dur="1" fill="hold">
                                          <p:stCondLst>
                                            <p:cond delay="0"/>
                                          </p:stCondLst>
                                        </p:cTn>
                                        <p:tgtEl>
                                          <p:spTgt spid="716"/>
                                        </p:tgtEl>
                                        <p:attrNameLst>
                                          <p:attrName>style.visibility</p:attrName>
                                        </p:attrNameLst>
                                      </p:cBhvr>
                                      <p:to>
                                        <p:strVal val="visible"/>
                                      </p:to>
                                    </p:set>
                                    <p:animEffect filter="fade" transition="in">
                                      <p:cBhvr additive="repl">
                                        <p:cTn id="626" dur="500"/>
                                        <p:tgtEl>
                                          <p:spTgt spid="716"/>
                                        </p:tgtEl>
                                      </p:cBhvr>
                                    </p:animEffect>
                                  </p:childTnLst>
                                </p:cTn>
                              </p:par>
                              <p:par>
                                <p:cTn id="627" nodeType="withEffect" fill="hold" presetClass="entr" presetID="10">
                                  <p:stCondLst>
                                    <p:cond delay="0"/>
                                  </p:stCondLst>
                                  <p:childTnLst>
                                    <p:set>
                                      <p:cBhvr>
                                        <p:cTn id="628" dur="1" fill="hold">
                                          <p:stCondLst>
                                            <p:cond delay="0"/>
                                          </p:stCondLst>
                                        </p:cTn>
                                        <p:tgtEl>
                                          <p:spTgt spid="717"/>
                                        </p:tgtEl>
                                        <p:attrNameLst>
                                          <p:attrName>style.visibility</p:attrName>
                                        </p:attrNameLst>
                                      </p:cBhvr>
                                      <p:to>
                                        <p:strVal val="visible"/>
                                      </p:to>
                                    </p:set>
                                    <p:animEffect filter="fade" transition="in">
                                      <p:cBhvr additive="repl">
                                        <p:cTn id="629" dur="500"/>
                                        <p:tgtEl>
                                          <p:spTgt spid="717"/>
                                        </p:tgtEl>
                                      </p:cBhvr>
                                    </p:animEffect>
                                  </p:childTnLst>
                                </p:cTn>
                              </p:par>
                              <p:par>
                                <p:cTn id="630" nodeType="withEffect" fill="hold" presetClass="entr" presetID="10">
                                  <p:stCondLst>
                                    <p:cond delay="0"/>
                                  </p:stCondLst>
                                  <p:childTnLst>
                                    <p:set>
                                      <p:cBhvr>
                                        <p:cTn id="631" dur="1" fill="hold">
                                          <p:stCondLst>
                                            <p:cond delay="0"/>
                                          </p:stCondLst>
                                        </p:cTn>
                                        <p:tgtEl>
                                          <p:spTgt spid="718"/>
                                        </p:tgtEl>
                                        <p:attrNameLst>
                                          <p:attrName>style.visibility</p:attrName>
                                        </p:attrNameLst>
                                      </p:cBhvr>
                                      <p:to>
                                        <p:strVal val="visible"/>
                                      </p:to>
                                    </p:set>
                                    <p:animEffect filter="fade" transition="in">
                                      <p:cBhvr additive="repl">
                                        <p:cTn id="632" dur="500"/>
                                        <p:tgtEl>
                                          <p:spTgt spid="718"/>
                                        </p:tgtEl>
                                      </p:cBhvr>
                                    </p:animEffect>
                                  </p:childTnLst>
                                </p:cTn>
                              </p:par>
                              <p:par>
                                <p:cTn id="633" nodeType="withEffect" fill="hold" presetClass="entr" presetID="10">
                                  <p:stCondLst>
                                    <p:cond delay="0"/>
                                  </p:stCondLst>
                                  <p:childTnLst>
                                    <p:set>
                                      <p:cBhvr>
                                        <p:cTn id="634" dur="1" fill="hold">
                                          <p:stCondLst>
                                            <p:cond delay="0"/>
                                          </p:stCondLst>
                                        </p:cTn>
                                        <p:tgtEl>
                                          <p:spTgt spid="719"/>
                                        </p:tgtEl>
                                        <p:attrNameLst>
                                          <p:attrName>style.visibility</p:attrName>
                                        </p:attrNameLst>
                                      </p:cBhvr>
                                      <p:to>
                                        <p:strVal val="visible"/>
                                      </p:to>
                                    </p:set>
                                    <p:animEffect filter="fade" transition="in">
                                      <p:cBhvr additive="repl">
                                        <p:cTn id="635" dur="500"/>
                                        <p:tgtEl>
                                          <p:spTgt spid="719"/>
                                        </p:tgtEl>
                                      </p:cBhvr>
                                    </p:animEffect>
                                  </p:childTnLst>
                                </p:cTn>
                              </p:par>
                              <p:par>
                                <p:cTn id="636" nodeType="withEffect" fill="hold" presetClass="entr" presetID="10">
                                  <p:stCondLst>
                                    <p:cond delay="0"/>
                                  </p:stCondLst>
                                  <p:childTnLst>
                                    <p:set>
                                      <p:cBhvr>
                                        <p:cTn id="637" dur="1" fill="hold">
                                          <p:stCondLst>
                                            <p:cond delay="0"/>
                                          </p:stCondLst>
                                        </p:cTn>
                                        <p:tgtEl>
                                          <p:spTgt spid="720"/>
                                        </p:tgtEl>
                                        <p:attrNameLst>
                                          <p:attrName>style.visibility</p:attrName>
                                        </p:attrNameLst>
                                      </p:cBhvr>
                                      <p:to>
                                        <p:strVal val="visible"/>
                                      </p:to>
                                    </p:set>
                                    <p:animEffect filter="fade" transition="in">
                                      <p:cBhvr additive="repl">
                                        <p:cTn id="638" dur="500"/>
                                        <p:tgtEl>
                                          <p:spTgt spid="720"/>
                                        </p:tgtEl>
                                      </p:cBhvr>
                                    </p:animEffect>
                                  </p:childTnLst>
                                </p:cTn>
                              </p:par>
                            </p:childTnLst>
                          </p:cTn>
                        </p:par>
                      </p:childTnLst>
                    </p:cTn>
                  </p:par>
                  <p:par>
                    <p:cTn id="639" fill="hold">
                      <p:stCondLst>
                        <p:cond delay="indefinite"/>
                      </p:stCondLst>
                      <p:childTnLst>
                        <p:par>
                          <p:cTn id="640" fill="hold">
                            <p:stCondLst>
                              <p:cond delay="0"/>
                            </p:stCondLst>
                            <p:childTnLst>
                              <p:par>
                                <p:cTn id="641" nodeType="clickEffect" fill="hold" presetClass="entr" presetID="10">
                                  <p:stCondLst>
                                    <p:cond delay="0"/>
                                  </p:stCondLst>
                                  <p:childTnLst>
                                    <p:set>
                                      <p:cBhvr>
                                        <p:cTn id="642" dur="1" fill="hold">
                                          <p:stCondLst>
                                            <p:cond delay="0"/>
                                          </p:stCondLst>
                                        </p:cTn>
                                        <p:tgtEl>
                                          <p:spTgt spid="703"/>
                                        </p:tgtEl>
                                        <p:attrNameLst>
                                          <p:attrName>style.visibility</p:attrName>
                                        </p:attrNameLst>
                                      </p:cBhvr>
                                      <p:to>
                                        <p:strVal val="visible"/>
                                      </p:to>
                                    </p:set>
                                    <p:animEffect filter="fade" transition="in">
                                      <p:cBhvr additive="repl">
                                        <p:cTn id="643" dur="500"/>
                                        <p:tgtEl>
                                          <p:spTgt spid="703"/>
                                        </p:tgtEl>
                                      </p:cBhvr>
                                    </p:animEffect>
                                  </p:childTnLst>
                                </p:cTn>
                              </p:par>
                            </p:childTnLst>
                          </p:cTn>
                        </p:par>
                      </p:childTnLst>
                    </p:cTn>
                  </p:par>
                  <p:par>
                    <p:cTn id="644" fill="hold">
                      <p:stCondLst>
                        <p:cond delay="indefinite"/>
                      </p:stCondLst>
                      <p:childTnLst>
                        <p:par>
                          <p:cTn id="645" fill="hold">
                            <p:stCondLst>
                              <p:cond delay="0"/>
                            </p:stCondLst>
                            <p:childTnLst>
                              <p:par>
                                <p:cTn id="646" nodeType="clickEffect" fill="hold" presetClass="entr" presetID="10">
                                  <p:stCondLst>
                                    <p:cond delay="0"/>
                                  </p:stCondLst>
                                  <p:childTnLst>
                                    <p:set>
                                      <p:cBhvr>
                                        <p:cTn id="647" dur="1" fill="hold">
                                          <p:stCondLst>
                                            <p:cond delay="0"/>
                                          </p:stCondLst>
                                        </p:cTn>
                                        <p:tgtEl>
                                          <p:spTgt spid="704"/>
                                        </p:tgtEl>
                                        <p:attrNameLst>
                                          <p:attrName>style.visibility</p:attrName>
                                        </p:attrNameLst>
                                      </p:cBhvr>
                                      <p:to>
                                        <p:strVal val="visible"/>
                                      </p:to>
                                    </p:set>
                                    <p:animEffect filter="fade" transition="in">
                                      <p:cBhvr additive="repl">
                                        <p:cTn id="648" dur="5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p:nvPr>
        </p:nvSpPr>
        <p:spPr>
          <a:xfrm>
            <a:off x="609480" y="812880"/>
            <a:ext cx="10972440" cy="279000"/>
          </a:xfrm>
          <a:prstGeom prst="rect">
            <a:avLst/>
          </a:prstGeom>
          <a:noFill/>
          <a:ln w="0">
            <a:noFill/>
          </a:ln>
        </p:spPr>
        <p:txBody>
          <a:bodyPr lIns="0" rIns="0" tIns="0" bIns="0" anchor="t">
            <a:noAutofit/>
          </a:bodyPr>
          <a:p>
            <a:pPr indent="0" defTabSz="914400">
              <a:lnSpc>
                <a:spcPct val="95000"/>
              </a:lnSpc>
              <a:buNone/>
              <a:tabLst>
                <a:tab algn="l" pos="0"/>
              </a:tabLst>
            </a:pPr>
            <a:r>
              <a:rPr b="1" lang="es-CL" sz="1400" spc="119" strike="noStrike" u="none" cap="all">
                <a:solidFill>
                  <a:srgbClr val="fec60d"/>
                </a:solidFill>
                <a:effectLst/>
                <a:uFillTx/>
                <a:latin typeface="Calibri"/>
              </a:rPr>
              <a:t>Volvemos al inicio</a:t>
            </a:r>
            <a:endParaRPr b="0" lang="es-CL" sz="1400" strike="noStrike" u="none">
              <a:solidFill>
                <a:srgbClr val="1a1e2b"/>
              </a:solidFill>
              <a:effectLst/>
              <a:uFillTx/>
              <a:latin typeface="Calibri"/>
            </a:endParaRPr>
          </a:p>
        </p:txBody>
      </p:sp>
      <p:sp>
        <p:nvSpPr>
          <p:cNvPr id="730" name="PlaceHolder 2"/>
          <p:cNvSpPr>
            <a:spLocks noGrp="1"/>
          </p:cNvSpPr>
          <p:nvPr>
            <p:ph type="title"/>
          </p:nvPr>
        </p:nvSpPr>
        <p:spPr>
          <a:xfrm>
            <a:off x="609480" y="1168560"/>
            <a:ext cx="10972440" cy="888480"/>
          </a:xfrm>
          <a:prstGeom prst="rect">
            <a:avLst/>
          </a:prstGeom>
          <a:noFill/>
          <a:ln w="0">
            <a:noFill/>
          </a:ln>
        </p:spPr>
        <p:txBody>
          <a:bodyPr lIns="0" rIns="0" tIns="0" bIns="0" anchor="t">
            <a:noAutofit/>
          </a:bodyPr>
          <a:p>
            <a:pPr indent="0" defTabSz="914400">
              <a:lnSpc>
                <a:spcPct val="90000"/>
              </a:lnSpc>
              <a:buNone/>
              <a:tabLst>
                <a:tab algn="l" pos="0"/>
              </a:tabLst>
            </a:pPr>
            <a:r>
              <a:rPr b="1" lang="es-CL" sz="3200" strike="noStrike" u="none">
                <a:solidFill>
                  <a:srgbClr val="ffffff"/>
                </a:solidFill>
                <a:effectLst/>
                <a:uFillTx/>
                <a:latin typeface="Calibri"/>
              </a:rPr>
              <a:t>¿Se eliminó el botón turbo?</a:t>
            </a:r>
            <a:endParaRPr b="0" lang="es-CL" sz="3200" strike="noStrike" u="none">
              <a:solidFill>
                <a:schemeClr val="dk1"/>
              </a:solidFill>
              <a:effectLst/>
              <a:uFillTx/>
              <a:latin typeface="Calibri"/>
            </a:endParaRPr>
          </a:p>
        </p:txBody>
      </p:sp>
      <p:sp>
        <p:nvSpPr>
          <p:cNvPr id="731" name="PlaceHolder 3"/>
          <p:cNvSpPr>
            <a:spLocks noGrp="1"/>
          </p:cNvSpPr>
          <p:nvPr>
            <p:ph/>
          </p:nvPr>
        </p:nvSpPr>
        <p:spPr>
          <a:xfrm>
            <a:off x="609480" y="2133720"/>
            <a:ext cx="10972440" cy="507600"/>
          </a:xfrm>
          <a:prstGeom prst="rect">
            <a:avLst/>
          </a:prstGeom>
          <a:noFill/>
          <a:ln w="0">
            <a:noFill/>
          </a:ln>
        </p:spPr>
        <p:txBody>
          <a:bodyPr lIns="0" rIns="0" tIns="0" bIns="0" anchor="t">
            <a:noAutofit/>
          </a:bodyPr>
          <a:p>
            <a:pPr indent="0" defTabSz="914400">
              <a:lnSpc>
                <a:spcPct val="95000"/>
              </a:lnSpc>
              <a:buNone/>
              <a:tabLst>
                <a:tab algn="l" pos="0"/>
              </a:tabLst>
            </a:pPr>
            <a:r>
              <a:rPr b="0" lang="es-CL" sz="2200" strike="noStrike" u="none">
                <a:solidFill>
                  <a:srgbClr val="c9d3e0"/>
                </a:solidFill>
                <a:effectLst/>
                <a:uFillTx/>
                <a:latin typeface="Calibri"/>
              </a:rPr>
              <a:t>Resumen: </a:t>
            </a:r>
            <a:r>
              <a:rPr b="1" lang="es-CL" sz="2200" strike="noStrike" u="none">
                <a:solidFill>
                  <a:srgbClr val="ffffff"/>
                </a:solidFill>
                <a:effectLst/>
                <a:uFillTx/>
                <a:latin typeface="Calibri"/>
              </a:rPr>
              <a:t>sí</a:t>
            </a:r>
            <a:r>
              <a:rPr b="0" lang="es-CL" sz="2200" strike="noStrike" u="none">
                <a:solidFill>
                  <a:srgbClr val="c9d3e0"/>
                </a:solidFill>
                <a:effectLst/>
                <a:uFillTx/>
                <a:latin typeface="Calibri"/>
              </a:rPr>
              <a:t>   ·   Transcripción: </a:t>
            </a:r>
            <a:r>
              <a:rPr b="1" lang="es-CL" sz="2200" strike="noStrike" u="none">
                <a:solidFill>
                  <a:srgbClr val="ffffff"/>
                </a:solidFill>
                <a:effectLst/>
                <a:uFillTx/>
                <a:latin typeface="Calibri"/>
              </a:rPr>
              <a:t>no</a:t>
            </a:r>
            <a:endParaRPr b="0" lang="es-CL" sz="2200" strike="noStrike" u="none">
              <a:solidFill>
                <a:srgbClr val="1a1e2b"/>
              </a:solidFill>
              <a:effectLst/>
              <a:uFillTx/>
              <a:latin typeface="Calibri"/>
            </a:endParaRPr>
          </a:p>
        </p:txBody>
      </p:sp>
      <p:sp>
        <p:nvSpPr>
          <p:cNvPr id="732" name="PlaceHolder 4"/>
          <p:cNvSpPr>
            <a:spLocks noGrp="1"/>
          </p:cNvSpPr>
          <p:nvPr>
            <p:ph/>
          </p:nvPr>
        </p:nvSpPr>
        <p:spPr>
          <a:xfrm>
            <a:off x="609480" y="3429000"/>
            <a:ext cx="8889480" cy="1218960"/>
          </a:xfrm>
          <a:prstGeom prst="rect">
            <a:avLst/>
          </a:prstGeom>
          <a:noFill/>
          <a:ln w="0">
            <a:noFill/>
          </a:ln>
        </p:spPr>
        <p:txBody>
          <a:bodyPr lIns="0" rIns="0" tIns="0" bIns="0" anchor="t">
            <a:noAutofit/>
          </a:bodyPr>
          <a:p>
            <a:pPr indent="0" defTabSz="914400">
              <a:lnSpc>
                <a:spcPct val="95000"/>
              </a:lnSpc>
              <a:buNone/>
              <a:tabLst>
                <a:tab algn="l" pos="0"/>
              </a:tabLst>
            </a:pPr>
            <a:r>
              <a:rPr b="1" lang="es-CL" sz="3600" strike="noStrike" u="none">
                <a:solidFill>
                  <a:srgbClr val="ffffff"/>
                </a:solidFill>
                <a:effectLst/>
                <a:uFillTx/>
                <a:latin typeface="Calibri"/>
              </a:rPr>
              <a:t>Los números por sí solos no encuentran un error de sentido.</a:t>
            </a:r>
            <a:endParaRPr b="0" lang="es-CL" sz="3600" strike="noStrike" u="none">
              <a:solidFill>
                <a:srgbClr val="1a1e2b"/>
              </a:solidFill>
              <a:effectLst/>
              <a:uFillTx/>
              <a:latin typeface="Calibri"/>
            </a:endParaRPr>
          </a:p>
        </p:txBody>
      </p:sp>
      <p:sp>
        <p:nvSpPr>
          <p:cNvPr id="733" name="PlaceHolder 5"/>
          <p:cNvSpPr>
            <a:spLocks noGrp="1"/>
          </p:cNvSpPr>
          <p:nvPr>
            <p:ph/>
          </p:nvPr>
        </p:nvSpPr>
        <p:spPr>
          <a:xfrm>
            <a:off x="609480" y="5969160"/>
            <a:ext cx="7619760" cy="558360"/>
          </a:xfrm>
          <a:prstGeom prst="rect">
            <a:avLst/>
          </a:prstGeom>
          <a:noFill/>
          <a:ln w="0">
            <a:noFill/>
          </a:ln>
        </p:spPr>
        <p:txBody>
          <a:bodyPr lIns="0" rIns="0" tIns="0" bIns="0" anchor="ctr">
            <a:noAutofit/>
          </a:bodyPr>
          <a:p>
            <a:pPr indent="0" defTabSz="914400">
              <a:lnSpc>
                <a:spcPct val="95000"/>
              </a:lnSpc>
              <a:buNone/>
              <a:tabLst>
                <a:tab algn="l" pos="0"/>
              </a:tabLst>
            </a:pPr>
            <a:r>
              <a:rPr b="1" lang="es-CL" sz="1400" strike="noStrike" u="none">
                <a:solidFill>
                  <a:srgbClr val="1a1e2b"/>
                </a:solidFill>
                <a:effectLst/>
                <a:uFillTx/>
                <a:latin typeface="Calibri"/>
              </a:rPr>
              <a:t>Jason Sepúlveda · Germán Vega · Gustavo Martínez</a:t>
            </a:r>
            <a:r>
              <a:rPr b="0" lang="es-CL" sz="1400" strike="noStrike" u="none">
                <a:solidFill>
                  <a:srgbClr val="1a1e2b"/>
                </a:solidFill>
                <a:effectLst/>
                <a:uFillTx/>
                <a:latin typeface="Calibri"/>
              </a:rPr>
              <a:t>  ·  Proyecto AFG2</a:t>
            </a:r>
            <a:endParaRPr b="0" lang="es-CL" sz="1400" strike="noStrike" u="none">
              <a:solidFill>
                <a:srgbClr val="1a1e2b"/>
              </a:solidFill>
              <a:effectLst/>
              <a:uFillTx/>
              <a:latin typeface="Calibri"/>
            </a:endParaRPr>
          </a:p>
        </p:txBody>
      </p:sp>
      <p:sp>
        <p:nvSpPr>
          <p:cNvPr id="734" name="Frase final"/>
          <p:cNvSpPr/>
          <p:nvPr/>
        </p:nvSpPr>
        <p:spPr>
          <a:xfrm>
            <a:off x="609480" y="4724280"/>
            <a:ext cx="10972440" cy="863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s-CL" sz="6000" strike="noStrike" u="none">
                <a:solidFill>
                  <a:srgbClr val="fec60d"/>
                </a:solidFill>
                <a:effectLst/>
                <a:uFillTx/>
                <a:latin typeface="Calibri"/>
              </a:rPr>
              <a:t>Hay que leer.</a:t>
            </a:r>
            <a:endParaRPr b="0" lang="en-US" sz="6000" strike="noStrike" u="none">
              <a:solidFill>
                <a:srgbClr val="ffffff"/>
              </a:solidFill>
              <a:effectLst/>
              <a:uFillTx/>
              <a:latin typeface="Arial"/>
            </a:endParaRPr>
          </a:p>
        </p:txBody>
      </p:sp>
    </p:spTree>
  </p:cSld>
  <p:transition spd="slow" advTm="14000">
    <p:fade/>
  </p:transition>
  <p:timing>
    <p:tnLst>
      <p:par>
        <p:cTn id="649" dur="indefinite" restart="never" nodeType="tmRoot">
          <p:childTnLst>
            <p:seq>
              <p:cTn id="650" dur="indefinite" nodeType="mainSeq">
                <p:childTnLst>
                  <p:par>
                    <p:cTn id="651" fill="hold">
                      <p:stCondLst>
                        <p:cond delay="indefinite"/>
                      </p:stCondLst>
                      <p:childTnLst>
                        <p:par>
                          <p:cTn id="652" fill="hold">
                            <p:stCondLst>
                              <p:cond delay="0"/>
                            </p:stCondLst>
                            <p:childTnLst>
                              <p:par>
                                <p:cTn id="653" nodeType="clickEffect" fill="hold" presetClass="entr" presetID="10">
                                  <p:stCondLst>
                                    <p:cond delay="0"/>
                                  </p:stCondLst>
                                  <p:childTnLst>
                                    <p:set>
                                      <p:cBhvr>
                                        <p:cTn id="654" dur="1" fill="hold">
                                          <p:stCondLst>
                                            <p:cond delay="0"/>
                                          </p:stCondLst>
                                        </p:cTn>
                                        <p:tgtEl>
                                          <p:spTgt spid="731"/>
                                        </p:tgtEl>
                                        <p:attrNameLst>
                                          <p:attrName>style.visibility</p:attrName>
                                        </p:attrNameLst>
                                      </p:cBhvr>
                                      <p:to>
                                        <p:strVal val="visible"/>
                                      </p:to>
                                    </p:set>
                                    <p:animEffect filter="fade" transition="in">
                                      <p:cBhvr additive="repl">
                                        <p:cTn id="655" dur="700"/>
                                        <p:tgtEl>
                                          <p:spTgt spid="731"/>
                                        </p:tgtEl>
                                      </p:cBhvr>
                                    </p:animEffect>
                                  </p:childTnLst>
                                </p:cTn>
                              </p:par>
                            </p:childTnLst>
                          </p:cTn>
                        </p:par>
                      </p:childTnLst>
                    </p:cTn>
                  </p:par>
                  <p:par>
                    <p:cTn id="656" fill="hold">
                      <p:stCondLst>
                        <p:cond delay="indefinite"/>
                      </p:stCondLst>
                      <p:childTnLst>
                        <p:par>
                          <p:cTn id="657" fill="hold">
                            <p:stCondLst>
                              <p:cond delay="0"/>
                            </p:stCondLst>
                            <p:childTnLst>
                              <p:par>
                                <p:cTn id="658" nodeType="clickEffect" fill="hold" presetClass="entr" presetID="10">
                                  <p:stCondLst>
                                    <p:cond delay="0"/>
                                  </p:stCondLst>
                                  <p:childTnLst>
                                    <p:set>
                                      <p:cBhvr>
                                        <p:cTn id="659" dur="1" fill="hold">
                                          <p:stCondLst>
                                            <p:cond delay="0"/>
                                          </p:stCondLst>
                                        </p:cTn>
                                        <p:tgtEl>
                                          <p:spTgt spid="732"/>
                                        </p:tgtEl>
                                        <p:attrNameLst>
                                          <p:attrName>style.visibility</p:attrName>
                                        </p:attrNameLst>
                                      </p:cBhvr>
                                      <p:to>
                                        <p:strVal val="visible"/>
                                      </p:to>
                                    </p:set>
                                    <p:animEffect filter="fade" transition="in">
                                      <p:cBhvr additive="repl">
                                        <p:cTn id="660" dur="700"/>
                                        <p:tgtEl>
                                          <p:spTgt spid="732"/>
                                        </p:tgtEl>
                                      </p:cBhvr>
                                    </p:animEffect>
                                  </p:childTnLst>
                                </p:cTn>
                              </p:par>
                            </p:childTnLst>
                          </p:cTn>
                        </p:par>
                      </p:childTnLst>
                    </p:cTn>
                  </p:par>
                  <p:par>
                    <p:cTn id="661" fill="hold">
                      <p:stCondLst>
                        <p:cond delay="indefinite"/>
                      </p:stCondLst>
                      <p:childTnLst>
                        <p:par>
                          <p:cTn id="662" fill="hold">
                            <p:stCondLst>
                              <p:cond delay="0"/>
                            </p:stCondLst>
                            <p:childTnLst>
                              <p:par>
                                <p:cTn id="663" nodeType="clickEffect" fill="hold" presetClass="entr" presetID="10">
                                  <p:stCondLst>
                                    <p:cond delay="0"/>
                                  </p:stCondLst>
                                  <p:childTnLst>
                                    <p:set>
                                      <p:cBhvr>
                                        <p:cTn id="664" dur="1" fill="hold">
                                          <p:stCondLst>
                                            <p:cond delay="0"/>
                                          </p:stCondLst>
                                        </p:cTn>
                                        <p:tgtEl>
                                          <p:spTgt spid="734"/>
                                        </p:tgtEl>
                                        <p:attrNameLst>
                                          <p:attrName>style.visibility</p:attrName>
                                        </p:attrNameLst>
                                      </p:cBhvr>
                                      <p:to>
                                        <p:strVal val="visible"/>
                                      </p:to>
                                    </p:set>
                                    <p:animEffect filter="fade" transition="in">
                                      <p:cBhvr additive="repl">
                                        <p:cTn id="665" dur="1000"/>
                                        <p:tgtEl>
                                          <p:spTgt spid="7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1792229107841]">
  <a:themeElements>
    <a:clrScheme name="AFG2 UC">
      <a:dk1>
        <a:srgbClr val="1a1e2b"/>
      </a:dk1>
      <a:lt1>
        <a:srgbClr val="ffffff"/>
      </a:lt1>
      <a:dk2>
        <a:srgbClr val="03122e"/>
      </a:dk2>
      <a:lt2>
        <a:srgbClr val="f3f5f8"/>
      </a:lt2>
      <a:accent1>
        <a:srgbClr val="0176de"/>
      </a:accent1>
      <a:accent2>
        <a:srgbClr val="fec60d"/>
      </a:accent2>
      <a:accent3>
        <a:srgbClr val="04c9fb"/>
      </a:accent3>
      <a:accent4>
        <a:srgbClr val="55565a"/>
      </a:accent4>
      <a:accent5>
        <a:srgbClr val="9aa3ae"/>
      </a:accent5>
      <a:accent6>
        <a:srgbClr val="e0464b"/>
      </a:accent6>
      <a:hlink>
        <a:srgbClr val="0176de"/>
      </a:hlink>
      <a:folHlink>
        <a:srgbClr val="0047ba"/>
      </a:folHlink>
    </a:clrScheme>
    <a:fontScheme name="AFG2 UC">
      <a:majorFont>
        <a:latin typeface="Calibri" panose="02110004020202020204" pitchFamily="0" charset="1"/>
        <a:ea typeface=""/>
        <a:cs typeface=""/>
      </a:majorFont>
      <a:minorFont>
        <a:latin typeface="Calibri"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docProps/app.xml><?xml version="1.0" encoding="utf-8"?>
<Properties xmlns="http://schemas.openxmlformats.org/officeDocument/2006/extended-properties" xmlns:vt="http://schemas.openxmlformats.org/officeDocument/2006/docPropsVTypes">
  <Template/>
  <TotalTime>160</TotalTime>
  <Application>LibreOffice/25.2.3.2$Linux_X86_64 LibreOffice_project/520$Build-2</Application>
  <AppVersion>15.0000</AppVersion>
  <Words>5731</Words>
  <Paragraphs>640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2026-10-17T08:14:23Z</dcterms:created>
  <dc:creator>Gustavo Adolfo Martínez Barra</dc:creator>
  <dc:description/>
  <dc:language>en-US</dc:language>
  <cp:lastModifiedBy>Gustavo Adolfo Martínez Barra</cp:lastModifiedBy>
  <dcterms:modified xsi:type="dcterms:W3CDTF">2026-10-17T10:55:10Z</dcterms:modified>
  <cp:revision>17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Panorámica</vt:lpwstr>
  </property>
  <property fmtid="{D5CDD505-2E9C-101B-9397-08002B2CF9AE}" pid="4" name="Slides">
    <vt:r8>21</vt:r8>
  </property>
</Properties>
</file>